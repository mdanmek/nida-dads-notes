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68" r:id="rId4"/>
    <p:sldId id="269" r:id="rId5"/>
    <p:sldId id="262" r:id="rId6"/>
    <p:sldId id="264" r:id="rId7"/>
    <p:sldId id="274" r:id="rId8"/>
    <p:sldId id="270" r:id="rId9"/>
    <p:sldId id="265" r:id="rId10"/>
    <p:sldId id="275" r:id="rId11"/>
    <p:sldId id="272" r:id="rId12"/>
    <p:sldId id="282" r:id="rId13"/>
    <p:sldId id="284" r:id="rId14"/>
    <p:sldId id="285" r:id="rId15"/>
  </p:sldIdLst>
  <p:sldSz cx="12192000" cy="6858000"/>
  <p:notesSz cx="7010400" cy="92964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35" autoAdjust="0"/>
    <p:restoredTop sz="94660"/>
  </p:normalViewPr>
  <p:slideViewPr>
    <p:cSldViewPr snapToGrid="0">
      <p:cViewPr varScale="1">
        <p:scale>
          <a:sx n="56" d="100"/>
          <a:sy n="56" d="100"/>
        </p:scale>
        <p:origin x="940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F01E9-059F-48EF-BB2C-0A6A813E751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1797A-6FC2-48EB-99CC-BF2428A6A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98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EFE2-93A7-4114-83BE-43B603653A64}" type="datetime1">
              <a:rPr lang="th-TH" smtClean="0"/>
              <a:t>24/07/68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99179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66C8-69A3-4B7D-83A8-E32C347E4FF4}" type="datetime1">
              <a:rPr lang="th-TH" smtClean="0"/>
              <a:t>24/07/68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42771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3560B-8579-4CD5-88CA-5781680123C6}" type="datetime1">
              <a:rPr lang="th-TH" smtClean="0"/>
              <a:t>24/07/68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4390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C77F7-ED2A-4BEB-8D4D-77AA18384ABF}" type="datetime1">
              <a:rPr lang="th-TH" smtClean="0"/>
              <a:t>24/07/68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22435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1A75-3A37-437D-BD79-349A658A040C}" type="datetime1">
              <a:rPr lang="th-TH" smtClean="0"/>
              <a:t>24/07/68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100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99BDA-B0B3-4BCB-8DF1-23DDB903116F}" type="datetime1">
              <a:rPr lang="th-TH" smtClean="0"/>
              <a:t>24/07/68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5829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4D17-73B8-4138-BD67-ABB4E3FE622D}" type="datetime1">
              <a:rPr lang="th-TH" smtClean="0"/>
              <a:t>24/07/68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9045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6CAD-B45E-46D5-8B05-0FFA18F1E66E}" type="datetime1">
              <a:rPr lang="th-TH" smtClean="0"/>
              <a:t>24/07/68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9689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E249-F572-4C3E-8A81-5784DF2D5A16}" type="datetime1">
              <a:rPr lang="th-TH" smtClean="0"/>
              <a:t>24/07/68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7984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78621-BC85-4FDC-B78B-C80C93DFC0BD}" type="datetime1">
              <a:rPr lang="th-TH" smtClean="0"/>
              <a:t>24/07/68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3129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092F5-5A16-4ACF-BA37-EDAA84336FE1}" type="datetime1">
              <a:rPr lang="th-TH" smtClean="0"/>
              <a:t>24/07/68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438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616CD-070E-4376-8AC3-63D30BC73D80}" type="datetime1">
              <a:rPr lang="th-TH" smtClean="0"/>
              <a:t>24/07/68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5DE9A-CFBD-42F6-911C-BD1B318E8FB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430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8758" y="625645"/>
            <a:ext cx="116786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Jackknife and Bootstrap Method for Estimation</a:t>
            </a:r>
            <a:endParaRPr lang="th-TH" sz="60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316" y="2879558"/>
            <a:ext cx="1207168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References  </a:t>
            </a:r>
          </a:p>
          <a:p>
            <a:pPr marL="273050" indent="-273050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Efron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B. (1979). Bootstrap Methods: Another Look at the Jackknife,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Ann. Statist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 7, 1 – 26.</a:t>
            </a:r>
          </a:p>
          <a:p>
            <a:pPr marL="273050" indent="-273050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Efron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B. (1982).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The Jackknife, the Bootstrap, and Other Resampling Plans.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Volume 38 of CBMS-NSF Regional Conference Series in Applied Mathematics. Philadelphia: SIAM.</a:t>
            </a:r>
          </a:p>
          <a:p>
            <a:pPr marL="273050" indent="-273050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	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Efron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B. and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Tibshirani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R. J. (1993). An Introduction to the Bootstrap. London: Chapman &amp; Hall</a:t>
            </a:r>
          </a:p>
          <a:p>
            <a:pPr marL="273050" indent="-273050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	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Quenouille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M. H. (1949). Approximate Tests of Correlation in Time Series.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J. Roy. Statist. Soc. Ser. B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11, 18 – 44.</a:t>
            </a:r>
          </a:p>
          <a:p>
            <a:pPr marL="273050" indent="-273050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5. 	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Quenouille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, M. H. (1956) Notes on Bias in Estimation. </a:t>
            </a:r>
            <a:r>
              <a:rPr lang="en-US" b="1" i="1" dirty="0" err="1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Biometrika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43, 353 – 360.</a:t>
            </a:r>
          </a:p>
          <a:p>
            <a:pPr marL="273050" indent="-273050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6. 	Tukey, J. W. (1958). Bias and Confidence in Not Quite Large Samples.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Ann. Math. Statist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 29, 614.</a:t>
            </a:r>
            <a:endParaRPr lang="th-TH" b="1" dirty="0">
              <a:solidFill>
                <a:schemeClr val="accent5">
                  <a:lumMod val="7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2DBFBB-3BF5-4A2B-A179-B45643F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3763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316" y="30082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Recall for Classical Statistical Method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317" y="687873"/>
            <a:ext cx="1674708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Population: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491" y="2082244"/>
            <a:ext cx="414294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Random Sample: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… , </a:t>
            </a:r>
            <a:r>
              <a:rPr lang="en-US" sz="3200" b="1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</a:t>
            </a:r>
            <a:endParaRPr lang="en-US" sz="40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72776" y="2265763"/>
            <a:ext cx="7813667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sz="32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" panose="05000000000000000000" pitchFamily="2" charset="2"/>
              </a:rPr>
              <a:t>   </a:t>
            </a:r>
            <a:r>
              <a:rPr lang="en-US" sz="3200" b="1" dirty="0" err="1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iid</a:t>
            </a:r>
            <a:r>
              <a:rPr lang="en-US" sz="32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</a:t>
            </a:r>
            <a:r>
              <a:rPr lang="en-US" sz="32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ndependent </a:t>
            </a:r>
            <a:r>
              <a:rPr lang="en-US" sz="32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dentically </a:t>
            </a:r>
            <a:r>
              <a:rPr lang="en-US" sz="32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istributed) </a:t>
            </a:r>
            <a:r>
              <a:rPr lang="en-US" sz="32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Random Variable</a:t>
            </a:r>
            <a:endParaRPr lang="th-TH" sz="32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259933" y="678461"/>
            <a:ext cx="2771634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 Mean: 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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5067" y="1512937"/>
            <a:ext cx="1674708" cy="58477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Sample: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344712" y="673209"/>
            <a:ext cx="3180484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 Variance: 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</a:t>
            </a:r>
            <a:r>
              <a:rPr lang="en-US" sz="4000" b="1" baseline="3000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2</a:t>
            </a:r>
            <a:endParaRPr lang="th-TH" sz="4000" b="1" baseline="30000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839388" y="678469"/>
            <a:ext cx="3283236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 Proportion: 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p</a:t>
            </a:r>
            <a:endParaRPr lang="th-TH" sz="32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364858" y="1550820"/>
            <a:ext cx="3180484" cy="58477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Sample Variance: 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</a:t>
            </a:r>
            <a:r>
              <a:rPr lang="en-US" sz="4000" b="1" baseline="3000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2</a:t>
            </a:r>
            <a:endParaRPr lang="th-TH" sz="4000" b="1" baseline="30000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2259933" y="1526128"/>
            <a:ext cx="2771634" cy="584775"/>
            <a:chOff x="2254679" y="1617822"/>
            <a:chExt cx="2771634" cy="584775"/>
          </a:xfrm>
        </p:grpSpPr>
        <p:sp>
          <p:nvSpPr>
            <p:cNvPr id="68" name="TextBox 67"/>
            <p:cNvSpPr txBox="1"/>
            <p:nvPr/>
          </p:nvSpPr>
          <p:spPr>
            <a:xfrm>
              <a:off x="2254679" y="1617822"/>
              <a:ext cx="2771634" cy="584775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Sample Mean: 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X</a:t>
              </a:r>
              <a:endParaRPr lang="th-TH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4088523" y="1765737"/>
              <a:ext cx="180000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8834134" y="1481577"/>
            <a:ext cx="3283236" cy="659278"/>
            <a:chOff x="8823624" y="1543327"/>
            <a:chExt cx="3283236" cy="659278"/>
          </a:xfrm>
        </p:grpSpPr>
        <p:sp>
          <p:nvSpPr>
            <p:cNvPr id="70" name="TextBox 69"/>
            <p:cNvSpPr txBox="1"/>
            <p:nvPr/>
          </p:nvSpPr>
          <p:spPr>
            <a:xfrm>
              <a:off x="8823624" y="1617830"/>
              <a:ext cx="3283236" cy="584775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Sample Proportion: 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p</a:t>
              </a:r>
              <a:endParaRPr lang="th-TH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1156921" y="1543327"/>
              <a:ext cx="5305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th-TH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cxnSp>
        <p:nvCxnSpPr>
          <p:cNvPr id="74" name="Straight Connector 73"/>
          <p:cNvCxnSpPr>
            <a:stCxn id="5" idx="3"/>
            <a:endCxn id="57" idx="1"/>
          </p:cNvCxnSpPr>
          <p:nvPr/>
        </p:nvCxnSpPr>
        <p:spPr>
          <a:xfrm flipV="1">
            <a:off x="1795025" y="970849"/>
            <a:ext cx="4649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5032369" y="970849"/>
            <a:ext cx="32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8527050" y="965596"/>
            <a:ext cx="32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1800285" y="1816924"/>
            <a:ext cx="46490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5037629" y="1816924"/>
            <a:ext cx="324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8532310" y="1811671"/>
            <a:ext cx="324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/>
          <p:cNvGrpSpPr/>
          <p:nvPr/>
        </p:nvGrpSpPr>
        <p:grpSpPr>
          <a:xfrm>
            <a:off x="462364" y="2858036"/>
            <a:ext cx="2196755" cy="954107"/>
            <a:chOff x="1324210" y="3299257"/>
            <a:chExt cx="2196755" cy="954107"/>
          </a:xfrm>
        </p:grpSpPr>
        <p:sp>
          <p:nvSpPr>
            <p:cNvPr id="58" name="TextBox 57"/>
            <p:cNvSpPr txBox="1"/>
            <p:nvPr/>
          </p:nvSpPr>
          <p:spPr>
            <a:xfrm>
              <a:off x="1324210" y="3414420"/>
              <a:ext cx="2196755" cy="70788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  =     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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40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092379" y="3299257"/>
              <a:ext cx="735336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</a:p>
            <a:p>
              <a:pPr algn="ctr"/>
              <a:r>
                <a:rPr lang="en-US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83" name="Straight Connector 82"/>
            <p:cNvCxnSpPr/>
            <p:nvPr/>
          </p:nvCxnSpPr>
          <p:spPr>
            <a:xfrm>
              <a:off x="1418904" y="3651725"/>
              <a:ext cx="180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/>
          </p:nvSpPr>
          <p:spPr>
            <a:xfrm>
              <a:off x="1879945" y="3547288"/>
              <a:ext cx="450267" cy="553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</a:p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85" name="Straight Connector 84"/>
            <p:cNvCxnSpPr/>
            <p:nvPr/>
          </p:nvCxnSpPr>
          <p:spPr>
            <a:xfrm>
              <a:off x="2002225" y="3795805"/>
              <a:ext cx="180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Pentagon 87"/>
          <p:cNvSpPr/>
          <p:nvPr/>
        </p:nvSpPr>
        <p:spPr>
          <a:xfrm>
            <a:off x="398846" y="2876262"/>
            <a:ext cx="2134150" cy="952988"/>
          </a:xfrm>
          <a:prstGeom prst="homePlate">
            <a:avLst>
              <a:gd name="adj" fmla="val 40074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02" name="Group 101"/>
          <p:cNvGrpSpPr/>
          <p:nvPr/>
        </p:nvGrpSpPr>
        <p:grpSpPr>
          <a:xfrm>
            <a:off x="5917225" y="2868554"/>
            <a:ext cx="1905471" cy="954107"/>
            <a:chOff x="4981806" y="3084454"/>
            <a:chExt cx="1905471" cy="954107"/>
          </a:xfrm>
        </p:grpSpPr>
        <p:sp>
          <p:nvSpPr>
            <p:cNvPr id="97" name="TextBox 96"/>
            <p:cNvSpPr txBox="1"/>
            <p:nvPr/>
          </p:nvSpPr>
          <p:spPr>
            <a:xfrm>
              <a:off x="4981806" y="3262675"/>
              <a:ext cx="1905471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     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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E(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)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264266" y="3332483"/>
              <a:ext cx="450267" cy="553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</a:p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99" name="Straight Connector 98"/>
            <p:cNvCxnSpPr/>
            <p:nvPr/>
          </p:nvCxnSpPr>
          <p:spPr>
            <a:xfrm>
              <a:off x="5386546" y="3581000"/>
              <a:ext cx="180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/>
            <p:cNvSpPr txBox="1"/>
            <p:nvPr/>
          </p:nvSpPr>
          <p:spPr>
            <a:xfrm>
              <a:off x="5455680" y="3084454"/>
              <a:ext cx="735336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n </a:t>
              </a:r>
            </a:p>
            <a:p>
              <a:pPr algn="ctr"/>
              <a:r>
                <a:rPr lang="en-US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7756537" y="2868563"/>
            <a:ext cx="1432045" cy="954107"/>
            <a:chOff x="4981806" y="3084454"/>
            <a:chExt cx="1432045" cy="954107"/>
          </a:xfrm>
        </p:grpSpPr>
        <p:sp>
          <p:nvSpPr>
            <p:cNvPr id="109" name="TextBox 108"/>
            <p:cNvSpPr txBox="1"/>
            <p:nvPr/>
          </p:nvSpPr>
          <p:spPr>
            <a:xfrm>
              <a:off x="4981806" y="3262675"/>
              <a:ext cx="1432045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     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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</a:t>
              </a:r>
              <a:endParaRPr lang="th-TH" sz="24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264266" y="3332483"/>
              <a:ext cx="450267" cy="553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</a:p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11" name="Straight Connector 110"/>
            <p:cNvCxnSpPr/>
            <p:nvPr/>
          </p:nvCxnSpPr>
          <p:spPr>
            <a:xfrm>
              <a:off x="5386546" y="3581000"/>
              <a:ext cx="180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/>
            <p:cNvSpPr txBox="1"/>
            <p:nvPr/>
          </p:nvSpPr>
          <p:spPr>
            <a:xfrm>
              <a:off x="5442980" y="3084454"/>
              <a:ext cx="735336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n </a:t>
              </a:r>
            </a:p>
            <a:p>
              <a:pPr algn="ctr"/>
              <a:r>
                <a:rPr lang="en-US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9083096" y="2978457"/>
            <a:ext cx="1432045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=  </a:t>
            </a:r>
            <a:r>
              <a:rPr lang="en-US" sz="24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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 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=</a:t>
            </a:r>
            <a:r>
              <a:rPr lang="en-US" sz="24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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X</a:t>
            </a:r>
            <a:endParaRPr lang="th-TH" sz="24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123" name="Group 122"/>
          <p:cNvGrpSpPr/>
          <p:nvPr/>
        </p:nvGrpSpPr>
        <p:grpSpPr>
          <a:xfrm>
            <a:off x="2701234" y="2850594"/>
            <a:ext cx="3265752" cy="954107"/>
            <a:chOff x="2448986" y="3066494"/>
            <a:chExt cx="3265752" cy="954107"/>
          </a:xfrm>
        </p:grpSpPr>
        <p:grpSp>
          <p:nvGrpSpPr>
            <p:cNvPr id="96" name="Group 95"/>
            <p:cNvGrpSpPr/>
            <p:nvPr/>
          </p:nvGrpSpPr>
          <p:grpSpPr>
            <a:xfrm>
              <a:off x="3147756" y="3066494"/>
              <a:ext cx="2566982" cy="954107"/>
              <a:chOff x="2464585" y="3066494"/>
              <a:chExt cx="2566982" cy="954107"/>
            </a:xfrm>
          </p:grpSpPr>
          <p:grpSp>
            <p:nvGrpSpPr>
              <p:cNvPr id="89" name="Group 88"/>
              <p:cNvGrpSpPr/>
              <p:nvPr/>
            </p:nvGrpSpPr>
            <p:grpSpPr>
              <a:xfrm>
                <a:off x="2464585" y="3066494"/>
                <a:ext cx="2566982" cy="954107"/>
                <a:chOff x="1050947" y="3286557"/>
                <a:chExt cx="2566982" cy="954107"/>
              </a:xfrm>
            </p:grpSpPr>
            <p:sp>
              <p:nvSpPr>
                <p:cNvPr id="90" name="TextBox 89"/>
                <p:cNvSpPr txBox="1"/>
                <p:nvPr/>
              </p:nvSpPr>
              <p:spPr>
                <a:xfrm>
                  <a:off x="1050947" y="3414420"/>
                  <a:ext cx="2566982" cy="707886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E(X)  =  E       </a:t>
                  </a:r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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 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X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i</a:t>
                  </a:r>
                  <a:r>
                    <a:rPr lang="en-US" sz="40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91" name="TextBox 90"/>
                <p:cNvSpPr txBox="1"/>
                <p:nvPr/>
              </p:nvSpPr>
              <p:spPr>
                <a:xfrm>
                  <a:off x="2525493" y="3286557"/>
                  <a:ext cx="735336" cy="95410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  n </a:t>
                  </a:r>
                </a:p>
                <a:p>
                  <a:pPr algn="ctr"/>
                  <a:r>
                    <a:rPr lang="en-US" b="1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i</a:t>
                  </a:r>
                  <a:r>
                    <a:rPr lang="en-US" sz="18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=</a:t>
                  </a:r>
                  <a:r>
                    <a:rPr lang="en-US" sz="18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1</a:t>
                  </a:r>
                  <a:endParaRPr lang="th-TH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1418904" y="3643405"/>
                  <a:ext cx="180000" cy="0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TextBox 92"/>
                <p:cNvSpPr txBox="1"/>
                <p:nvPr/>
              </p:nvSpPr>
              <p:spPr>
                <a:xfrm>
                  <a:off x="2321376" y="3547288"/>
                  <a:ext cx="450267" cy="55399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1</a:t>
                  </a:r>
                </a:p>
                <a:p>
                  <a:pPr algn="ctr">
                    <a:lnSpc>
                      <a:spcPts val="1800"/>
                    </a:lnSpc>
                  </a:pPr>
                  <a:r>
                    <a: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</a:t>
                  </a:r>
                  <a:endParaRPr lang="th-TH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2443656" y="3795805"/>
                  <a:ext cx="180000" cy="0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Double Bracket 94"/>
              <p:cNvSpPr/>
              <p:nvPr/>
            </p:nvSpPr>
            <p:spPr>
              <a:xfrm>
                <a:off x="3783723" y="3189099"/>
                <a:ext cx="1093077" cy="813544"/>
              </a:xfrm>
              <a:prstGeom prst="bracketPair">
                <a:avLst>
                  <a:gd name="adj" fmla="val 10207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2448986" y="3295132"/>
              <a:ext cx="953822" cy="502702"/>
              <a:chOff x="2083669" y="4809408"/>
              <a:chExt cx="953822" cy="502702"/>
            </a:xfrm>
          </p:grpSpPr>
          <p:sp>
            <p:nvSpPr>
              <p:cNvPr id="114" name="TextBox 113"/>
              <p:cNvSpPr txBox="1"/>
              <p:nvPr/>
            </p:nvSpPr>
            <p:spPr>
              <a:xfrm>
                <a:off x="2083669" y="4809408"/>
                <a:ext cx="953822" cy="50270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</a:t>
                </a:r>
                <a:r>
                  <a:rPr lang="en-US" sz="4000" b="1" baseline="-40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X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</a:t>
                </a:r>
                <a:endParaRPr lang="th-TH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20" name="Straight Connector 119"/>
              <p:cNvCxnSpPr/>
              <p:nvPr/>
            </p:nvCxnSpPr>
            <p:spPr>
              <a:xfrm flipH="1" flipV="1">
                <a:off x="2354321" y="5132139"/>
                <a:ext cx="158038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0" name="Pentagon 129"/>
          <p:cNvSpPr/>
          <p:nvPr/>
        </p:nvSpPr>
        <p:spPr>
          <a:xfrm>
            <a:off x="404102" y="4069187"/>
            <a:ext cx="3067767" cy="952988"/>
          </a:xfrm>
          <a:prstGeom prst="homePlate">
            <a:avLst>
              <a:gd name="adj" fmla="val 40074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1" name="TextBox 140"/>
          <p:cNvSpPr txBox="1"/>
          <p:nvPr/>
        </p:nvSpPr>
        <p:spPr>
          <a:xfrm>
            <a:off x="10643883" y="4247582"/>
            <a:ext cx="94688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=  </a:t>
            </a:r>
            <a:r>
              <a:rPr lang="en-US" sz="24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</a:t>
            </a:r>
            <a:r>
              <a:rPr lang="en-US" sz="4000" b="1" baseline="30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2</a:t>
            </a:r>
            <a:endParaRPr lang="th-TH" sz="4000" b="1" baseline="30000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155" name="Group 154"/>
          <p:cNvGrpSpPr/>
          <p:nvPr/>
        </p:nvGrpSpPr>
        <p:grpSpPr>
          <a:xfrm>
            <a:off x="467620" y="4052455"/>
            <a:ext cx="3179089" cy="954107"/>
            <a:chOff x="467620" y="4499581"/>
            <a:chExt cx="3179089" cy="954107"/>
          </a:xfrm>
        </p:grpSpPr>
        <p:grpSp>
          <p:nvGrpSpPr>
            <p:cNvPr id="124" name="Group 123"/>
            <p:cNvGrpSpPr/>
            <p:nvPr/>
          </p:nvGrpSpPr>
          <p:grpSpPr>
            <a:xfrm>
              <a:off x="467620" y="4499581"/>
              <a:ext cx="3179089" cy="954107"/>
              <a:chOff x="1324210" y="3300751"/>
              <a:chExt cx="3186713" cy="954107"/>
            </a:xfrm>
          </p:grpSpPr>
          <p:sp>
            <p:nvSpPr>
              <p:cNvPr id="125" name="TextBox 124"/>
              <p:cNvSpPr txBox="1"/>
              <p:nvPr/>
            </p:nvSpPr>
            <p:spPr>
              <a:xfrm>
                <a:off x="1324210" y="3414420"/>
                <a:ext cx="3186713" cy="70788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S</a:t>
                </a:r>
                <a:r>
                  <a:rPr lang="en-US" sz="4000" b="1" baseline="30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=           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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(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40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– X)</a:t>
                </a:r>
                <a:r>
                  <a:rPr lang="en-US" sz="4000" b="1" baseline="30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</a:t>
                </a:r>
                <a:endParaRPr lang="th-TH" sz="4000" b="1" baseline="30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2357501" y="3300751"/>
                <a:ext cx="735336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</a:t>
                </a:r>
              </a:p>
              <a:p>
                <a:pPr algn="ctr"/>
                <a:r>
                  <a:rPr lang="en-US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1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</a:t>
                </a:r>
                <a:r>
                  <a:rPr lang="en-US" sz="1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1879945" y="3542908"/>
                <a:ext cx="749967" cy="55399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 – 1  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29" name="Straight Connector 128"/>
              <p:cNvCxnSpPr/>
              <p:nvPr/>
            </p:nvCxnSpPr>
            <p:spPr>
              <a:xfrm>
                <a:off x="2002225" y="3795805"/>
                <a:ext cx="504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Connector 153"/>
            <p:cNvCxnSpPr/>
            <p:nvPr/>
          </p:nvCxnSpPr>
          <p:spPr>
            <a:xfrm>
              <a:off x="2748457" y="4852740"/>
              <a:ext cx="180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Group 158"/>
          <p:cNvGrpSpPr/>
          <p:nvPr/>
        </p:nvGrpSpPr>
        <p:grpSpPr>
          <a:xfrm>
            <a:off x="3536810" y="4056219"/>
            <a:ext cx="4553897" cy="954107"/>
            <a:chOff x="3536810" y="4503345"/>
            <a:chExt cx="4553897" cy="954107"/>
          </a:xfrm>
        </p:grpSpPr>
        <p:grpSp>
          <p:nvGrpSpPr>
            <p:cNvPr id="142" name="Group 141"/>
            <p:cNvGrpSpPr/>
            <p:nvPr/>
          </p:nvGrpSpPr>
          <p:grpSpPr>
            <a:xfrm>
              <a:off x="3536810" y="4503345"/>
              <a:ext cx="4553897" cy="954107"/>
              <a:chOff x="2383386" y="3079194"/>
              <a:chExt cx="3157599" cy="954107"/>
            </a:xfrm>
          </p:grpSpPr>
          <p:grpSp>
            <p:nvGrpSpPr>
              <p:cNvPr id="143" name="Group 142"/>
              <p:cNvGrpSpPr/>
              <p:nvPr/>
            </p:nvGrpSpPr>
            <p:grpSpPr>
              <a:xfrm>
                <a:off x="2958274" y="3079194"/>
                <a:ext cx="2582711" cy="954107"/>
                <a:chOff x="2275103" y="3079194"/>
                <a:chExt cx="2582711" cy="954107"/>
              </a:xfrm>
            </p:grpSpPr>
            <p:grpSp>
              <p:nvGrpSpPr>
                <p:cNvPr id="147" name="Group 146"/>
                <p:cNvGrpSpPr/>
                <p:nvPr/>
              </p:nvGrpSpPr>
              <p:grpSpPr>
                <a:xfrm>
                  <a:off x="2275103" y="3079194"/>
                  <a:ext cx="2582711" cy="954107"/>
                  <a:chOff x="861465" y="3299257"/>
                  <a:chExt cx="2582711" cy="954107"/>
                </a:xfrm>
              </p:grpSpPr>
              <p:sp>
                <p:nvSpPr>
                  <p:cNvPr id="149" name="TextBox 148"/>
                  <p:cNvSpPr txBox="1"/>
                  <p:nvPr/>
                </p:nvSpPr>
                <p:spPr>
                  <a:xfrm>
                    <a:off x="861465" y="3414420"/>
                    <a:ext cx="2582711" cy="707886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E(S</a:t>
                    </a:r>
                    <a:r>
                      <a:rPr lang="en-US" sz="4000" b="1" baseline="30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2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)  =  E            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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 (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X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i 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– X)</a:t>
                    </a:r>
                    <a:r>
                      <a:rPr lang="en-US" sz="4000" b="1" baseline="30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2</a:t>
                    </a:r>
                    <a:r>
                      <a:rPr lang="en-US" sz="40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endParaRPr lang="th-TH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  <p:sp>
                <p:nvSpPr>
                  <p:cNvPr id="150" name="TextBox 149"/>
                  <p:cNvSpPr txBox="1"/>
                  <p:nvPr/>
                </p:nvSpPr>
                <p:spPr>
                  <a:xfrm>
                    <a:off x="2156549" y="3299257"/>
                    <a:ext cx="483956" cy="95410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  n </a:t>
                    </a:r>
                  </a:p>
                  <a:p>
                    <a:pPr algn="ctr"/>
                    <a:r>
                      <a:rPr lang="en-US" b="1" dirty="0" err="1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i</a:t>
                    </a:r>
                    <a:r>
                      <a:rPr lang="en-US" sz="18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r>
                      <a:rPr lang="en-US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=</a:t>
                    </a:r>
                    <a:r>
                      <a:rPr lang="en-US" sz="18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r>
                      <a:rPr lang="en-US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1</a:t>
                    </a:r>
                    <a:endParaRPr lang="th-TH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148" name="Double Bracket 147"/>
                <p:cNvSpPr/>
                <p:nvPr/>
              </p:nvSpPr>
              <p:spPr>
                <a:xfrm>
                  <a:off x="3219644" y="3189099"/>
                  <a:ext cx="1492145" cy="813544"/>
                </a:xfrm>
                <a:prstGeom prst="bracketPair">
                  <a:avLst>
                    <a:gd name="adj" fmla="val 10207"/>
                  </a:avLst>
                </a:prstGeom>
                <a:ln w="190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145" name="TextBox 144"/>
              <p:cNvSpPr txBox="1"/>
              <p:nvPr/>
            </p:nvSpPr>
            <p:spPr>
              <a:xfrm>
                <a:off x="2383386" y="3270172"/>
                <a:ext cx="631207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</a:t>
                </a:r>
                <a:r>
                  <a:rPr lang="en-US" sz="4000" b="1" baseline="-40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S</a:t>
                </a:r>
                <a:r>
                  <a:rPr lang="en-US" sz="3600" b="1" baseline="-20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2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156" name="TextBox 155"/>
            <p:cNvSpPr txBox="1"/>
            <p:nvPr/>
          </p:nvSpPr>
          <p:spPr>
            <a:xfrm>
              <a:off x="5683345" y="4761885"/>
              <a:ext cx="748173" cy="553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</a:p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 – 1  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57" name="Straight Connector 156"/>
            <p:cNvCxnSpPr/>
            <p:nvPr/>
          </p:nvCxnSpPr>
          <p:spPr>
            <a:xfrm>
              <a:off x="5805333" y="4989382"/>
              <a:ext cx="502794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>
              <a:off x="7420288" y="4858000"/>
              <a:ext cx="180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/>
          <p:cNvGrpSpPr/>
          <p:nvPr/>
        </p:nvGrpSpPr>
        <p:grpSpPr>
          <a:xfrm>
            <a:off x="7940161" y="4057903"/>
            <a:ext cx="2893740" cy="954107"/>
            <a:chOff x="5364373" y="4503345"/>
            <a:chExt cx="2893740" cy="954107"/>
          </a:xfrm>
        </p:grpSpPr>
        <p:grpSp>
          <p:nvGrpSpPr>
            <p:cNvPr id="167" name="Group 166"/>
            <p:cNvGrpSpPr/>
            <p:nvPr/>
          </p:nvGrpSpPr>
          <p:grpSpPr>
            <a:xfrm>
              <a:off x="5364373" y="4503345"/>
              <a:ext cx="2893740" cy="954107"/>
              <a:chOff x="1553783" y="3299257"/>
              <a:chExt cx="2006473" cy="954107"/>
            </a:xfrm>
          </p:grpSpPr>
          <p:sp>
            <p:nvSpPr>
              <p:cNvPr id="169" name="TextBox 168"/>
              <p:cNvSpPr txBox="1"/>
              <p:nvPr/>
            </p:nvSpPr>
            <p:spPr>
              <a:xfrm>
                <a:off x="1553783" y="3414420"/>
                <a:ext cx="2006473" cy="70788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             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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E(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– X)</a:t>
                </a:r>
                <a:r>
                  <a:rPr lang="en-US" sz="4000" b="1" baseline="30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</a:t>
                </a:r>
                <a:r>
                  <a:rPr lang="en-US" sz="40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70" name="TextBox 169"/>
              <p:cNvSpPr txBox="1"/>
              <p:nvPr/>
            </p:nvSpPr>
            <p:spPr>
              <a:xfrm>
                <a:off x="2156549" y="3299257"/>
                <a:ext cx="483956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  n </a:t>
                </a:r>
              </a:p>
              <a:p>
                <a:pPr algn="ctr"/>
                <a:r>
                  <a:rPr lang="en-US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1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</a:t>
                </a:r>
                <a:r>
                  <a:rPr lang="en-US" sz="1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162" name="TextBox 161"/>
            <p:cNvSpPr txBox="1"/>
            <p:nvPr/>
          </p:nvSpPr>
          <p:spPr>
            <a:xfrm>
              <a:off x="5683345" y="4761885"/>
              <a:ext cx="748173" cy="553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</a:p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 – 1  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63" name="Straight Connector 162"/>
            <p:cNvCxnSpPr/>
            <p:nvPr/>
          </p:nvCxnSpPr>
          <p:spPr>
            <a:xfrm>
              <a:off x="5805333" y="4989382"/>
              <a:ext cx="502794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>
              <a:off x="7598962" y="4858000"/>
              <a:ext cx="180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Pentagon 170"/>
          <p:cNvSpPr/>
          <p:nvPr/>
        </p:nvSpPr>
        <p:spPr>
          <a:xfrm>
            <a:off x="398846" y="5694560"/>
            <a:ext cx="3137964" cy="952988"/>
          </a:xfrm>
          <a:prstGeom prst="homePlate">
            <a:avLst>
              <a:gd name="adj" fmla="val 40074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4" name="TextBox 193"/>
          <p:cNvSpPr txBox="1"/>
          <p:nvPr/>
        </p:nvSpPr>
        <p:spPr>
          <a:xfrm>
            <a:off x="41930" y="4966353"/>
            <a:ext cx="414294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Random Sample: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… , </a:t>
            </a:r>
            <a:r>
              <a:rPr lang="en-US" sz="3200" b="1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</a:t>
            </a:r>
            <a:endParaRPr lang="en-US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3967298" y="5044398"/>
            <a:ext cx="528896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where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=  1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if success and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=  0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if failure. </a:t>
            </a:r>
          </a:p>
        </p:txBody>
      </p:sp>
      <p:grpSp>
        <p:nvGrpSpPr>
          <p:cNvPr id="203" name="Group 202"/>
          <p:cNvGrpSpPr/>
          <p:nvPr/>
        </p:nvGrpSpPr>
        <p:grpSpPr>
          <a:xfrm>
            <a:off x="9154008" y="4840491"/>
            <a:ext cx="1815834" cy="954107"/>
            <a:chOff x="9397101" y="4738891"/>
            <a:chExt cx="1815834" cy="954107"/>
          </a:xfrm>
        </p:grpSpPr>
        <p:sp>
          <p:nvSpPr>
            <p:cNvPr id="195" name="TextBox 194"/>
            <p:cNvSpPr txBox="1"/>
            <p:nvPr/>
          </p:nvSpPr>
          <p:spPr>
            <a:xfrm>
              <a:off x="10188940" y="4738891"/>
              <a:ext cx="697962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n </a:t>
              </a:r>
            </a:p>
            <a:p>
              <a:pPr algn="ctr"/>
              <a:r>
                <a:rPr lang="en-US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9397101" y="4945917"/>
              <a:ext cx="1815834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Let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Y =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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</a:p>
          </p:txBody>
        </p:sp>
      </p:grpSp>
      <p:grpSp>
        <p:nvGrpSpPr>
          <p:cNvPr id="204" name="Group 203"/>
          <p:cNvGrpSpPr/>
          <p:nvPr/>
        </p:nvGrpSpPr>
        <p:grpSpPr>
          <a:xfrm>
            <a:off x="399331" y="5795177"/>
            <a:ext cx="2868401" cy="761158"/>
            <a:chOff x="399331" y="5909477"/>
            <a:chExt cx="2868401" cy="761158"/>
          </a:xfrm>
        </p:grpSpPr>
        <p:grpSp>
          <p:nvGrpSpPr>
            <p:cNvPr id="179" name="Group 178"/>
            <p:cNvGrpSpPr/>
            <p:nvPr/>
          </p:nvGrpSpPr>
          <p:grpSpPr>
            <a:xfrm>
              <a:off x="399331" y="5909477"/>
              <a:ext cx="2572555" cy="761158"/>
              <a:chOff x="399332" y="5541617"/>
              <a:chExt cx="2281507" cy="761158"/>
            </a:xfrm>
          </p:grpSpPr>
          <p:grpSp>
            <p:nvGrpSpPr>
              <p:cNvPr id="172" name="Group 171"/>
              <p:cNvGrpSpPr/>
              <p:nvPr/>
            </p:nvGrpSpPr>
            <p:grpSpPr>
              <a:xfrm>
                <a:off x="412761" y="5608995"/>
                <a:ext cx="2268078" cy="693780"/>
                <a:chOff x="1324210" y="3411877"/>
                <a:chExt cx="2217996" cy="693780"/>
              </a:xfrm>
            </p:grpSpPr>
            <p:sp>
              <p:nvSpPr>
                <p:cNvPr id="173" name="TextBox 172"/>
                <p:cNvSpPr txBox="1"/>
                <p:nvPr/>
              </p:nvSpPr>
              <p:spPr>
                <a:xfrm>
                  <a:off x="1324210" y="3414420"/>
                  <a:ext cx="2217996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p  =                         =              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176" name="TextBox 175"/>
                <p:cNvSpPr txBox="1"/>
                <p:nvPr/>
              </p:nvSpPr>
              <p:spPr>
                <a:xfrm>
                  <a:off x="1751369" y="3411877"/>
                  <a:ext cx="1453155" cy="693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2200"/>
                    </a:lnSpc>
                  </a:pPr>
                  <a:r>
                    <a: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# successes</a:t>
                  </a:r>
                </a:p>
                <a:p>
                  <a:pPr algn="ctr">
                    <a:lnSpc>
                      <a:spcPts val="2200"/>
                    </a:lnSpc>
                  </a:pPr>
                  <a:r>
                    <a: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 trials</a:t>
                  </a:r>
                  <a:endParaRPr lang="th-TH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cxnSp>
              <p:nvCxnSpPr>
                <p:cNvPr id="177" name="Straight Connector 176"/>
                <p:cNvCxnSpPr/>
                <p:nvPr/>
              </p:nvCxnSpPr>
              <p:spPr>
                <a:xfrm>
                  <a:off x="1871564" y="3711725"/>
                  <a:ext cx="1224000" cy="0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8" name="TextBox 177"/>
              <p:cNvSpPr txBox="1"/>
              <p:nvPr/>
            </p:nvSpPr>
            <p:spPr>
              <a:xfrm>
                <a:off x="399332" y="5541617"/>
                <a:ext cx="34768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grpSp>
          <p:nvGrpSpPr>
            <p:cNvPr id="202" name="Group 201"/>
            <p:cNvGrpSpPr/>
            <p:nvPr/>
          </p:nvGrpSpPr>
          <p:grpSpPr>
            <a:xfrm>
              <a:off x="2815092" y="6029503"/>
              <a:ext cx="452640" cy="553998"/>
              <a:chOff x="2891292" y="6029503"/>
              <a:chExt cx="452640" cy="553998"/>
            </a:xfrm>
          </p:grpSpPr>
          <p:sp>
            <p:nvSpPr>
              <p:cNvPr id="200" name="TextBox 199"/>
              <p:cNvSpPr txBox="1"/>
              <p:nvPr/>
            </p:nvSpPr>
            <p:spPr>
              <a:xfrm>
                <a:off x="2891292" y="6029503"/>
                <a:ext cx="452640" cy="55399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Y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  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201" name="Straight Connector 200"/>
              <p:cNvCxnSpPr/>
              <p:nvPr/>
            </p:nvCxnSpPr>
            <p:spPr>
              <a:xfrm>
                <a:off x="2975179" y="6282400"/>
                <a:ext cx="288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7" name="Group 206"/>
          <p:cNvGrpSpPr/>
          <p:nvPr/>
        </p:nvGrpSpPr>
        <p:grpSpPr>
          <a:xfrm>
            <a:off x="3754656" y="5781898"/>
            <a:ext cx="2468345" cy="816187"/>
            <a:chOff x="3754656" y="5781898"/>
            <a:chExt cx="2468345" cy="816187"/>
          </a:xfrm>
        </p:grpSpPr>
        <p:sp>
          <p:nvSpPr>
            <p:cNvPr id="189" name="TextBox 188"/>
            <p:cNvSpPr txBox="1"/>
            <p:nvPr/>
          </p:nvSpPr>
          <p:spPr>
            <a:xfrm>
              <a:off x="4497497" y="5860726"/>
              <a:ext cx="1389592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E(p)  =  E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3754656" y="5860341"/>
              <a:ext cx="910329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</a:t>
              </a:r>
              <a:r>
                <a:rPr lang="en-US" sz="4000" b="1" baseline="-40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p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205" name="Group 204"/>
            <p:cNvGrpSpPr/>
            <p:nvPr/>
          </p:nvGrpSpPr>
          <p:grpSpPr>
            <a:xfrm>
              <a:off x="5724631" y="5907055"/>
              <a:ext cx="498370" cy="553998"/>
              <a:chOff x="6815591" y="5915203"/>
              <a:chExt cx="748173" cy="553998"/>
            </a:xfrm>
          </p:grpSpPr>
          <p:sp>
            <p:nvSpPr>
              <p:cNvPr id="182" name="TextBox 181"/>
              <p:cNvSpPr txBox="1"/>
              <p:nvPr/>
            </p:nvSpPr>
            <p:spPr>
              <a:xfrm>
                <a:off x="6815591" y="5915203"/>
                <a:ext cx="748173" cy="55399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Y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  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83" name="Straight Connector 182"/>
              <p:cNvCxnSpPr/>
              <p:nvPr/>
            </p:nvCxnSpPr>
            <p:spPr>
              <a:xfrm>
                <a:off x="7013779" y="6155400"/>
                <a:ext cx="324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TextBox 190"/>
            <p:cNvSpPr txBox="1"/>
            <p:nvPr/>
          </p:nvSpPr>
          <p:spPr>
            <a:xfrm>
              <a:off x="3904465" y="6013310"/>
              <a:ext cx="5305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4765979" y="5781898"/>
              <a:ext cx="4119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06" name="Double Bracket 205"/>
            <p:cNvSpPr/>
            <p:nvPr/>
          </p:nvSpPr>
          <p:spPr>
            <a:xfrm>
              <a:off x="5755482" y="5885741"/>
              <a:ext cx="400089" cy="502359"/>
            </a:xfrm>
            <a:prstGeom prst="bracketPair">
              <a:avLst>
                <a:gd name="adj" fmla="val 10207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213" name="Group 212"/>
          <p:cNvGrpSpPr/>
          <p:nvPr/>
        </p:nvGrpSpPr>
        <p:grpSpPr>
          <a:xfrm>
            <a:off x="6259093" y="5659866"/>
            <a:ext cx="1815834" cy="954107"/>
            <a:chOff x="7602035" y="5682898"/>
            <a:chExt cx="1815834" cy="954107"/>
          </a:xfrm>
        </p:grpSpPr>
        <p:grpSp>
          <p:nvGrpSpPr>
            <p:cNvPr id="208" name="Group 207"/>
            <p:cNvGrpSpPr/>
            <p:nvPr/>
          </p:nvGrpSpPr>
          <p:grpSpPr>
            <a:xfrm>
              <a:off x="7602035" y="5682898"/>
              <a:ext cx="1815834" cy="954107"/>
              <a:chOff x="9397101" y="4751591"/>
              <a:chExt cx="1815834" cy="954107"/>
            </a:xfrm>
          </p:grpSpPr>
          <p:sp>
            <p:nvSpPr>
              <p:cNvPr id="209" name="TextBox 208"/>
              <p:cNvSpPr txBox="1"/>
              <p:nvPr/>
            </p:nvSpPr>
            <p:spPr>
              <a:xfrm>
                <a:off x="9871440" y="4751591"/>
                <a:ext cx="697962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  n </a:t>
                </a:r>
              </a:p>
              <a:p>
                <a:pPr algn="ctr"/>
                <a:r>
                  <a:rPr lang="en-US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1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</a:t>
                </a:r>
                <a:r>
                  <a:rPr lang="en-US" sz="1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210" name="TextBox 209"/>
              <p:cNvSpPr txBox="1"/>
              <p:nvPr/>
            </p:nvSpPr>
            <p:spPr>
              <a:xfrm>
                <a:off x="9397101" y="4945917"/>
                <a:ext cx="1815834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       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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E(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)</a:t>
                </a:r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</a:p>
            </p:txBody>
          </p:sp>
        </p:grpSp>
        <p:sp>
          <p:nvSpPr>
            <p:cNvPr id="211" name="TextBox 210"/>
            <p:cNvSpPr txBox="1"/>
            <p:nvPr/>
          </p:nvSpPr>
          <p:spPr>
            <a:xfrm>
              <a:off x="7824611" y="5910926"/>
              <a:ext cx="450267" cy="553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</a:p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212" name="Straight Connector 211"/>
            <p:cNvCxnSpPr/>
            <p:nvPr/>
          </p:nvCxnSpPr>
          <p:spPr>
            <a:xfrm>
              <a:off x="7926747" y="6172652"/>
              <a:ext cx="215822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/>
        </p:nvGrpSpPr>
        <p:grpSpPr>
          <a:xfrm>
            <a:off x="7948192" y="5659866"/>
            <a:ext cx="2203357" cy="954107"/>
            <a:chOff x="7525834" y="5682898"/>
            <a:chExt cx="2203357" cy="954107"/>
          </a:xfrm>
        </p:grpSpPr>
        <p:grpSp>
          <p:nvGrpSpPr>
            <p:cNvPr id="215" name="Group 214"/>
            <p:cNvGrpSpPr/>
            <p:nvPr/>
          </p:nvGrpSpPr>
          <p:grpSpPr>
            <a:xfrm>
              <a:off x="7525834" y="5682898"/>
              <a:ext cx="2203357" cy="954107"/>
              <a:chOff x="9320900" y="4751591"/>
              <a:chExt cx="2203357" cy="954107"/>
            </a:xfrm>
          </p:grpSpPr>
          <p:sp>
            <p:nvSpPr>
              <p:cNvPr id="218" name="TextBox 217"/>
              <p:cNvSpPr txBox="1"/>
              <p:nvPr/>
            </p:nvSpPr>
            <p:spPr>
              <a:xfrm>
                <a:off x="9871440" y="4751591"/>
                <a:ext cx="697962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  n </a:t>
                </a:r>
              </a:p>
              <a:p>
                <a:pPr algn="ctr"/>
                <a:r>
                  <a:rPr lang="en-US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1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</a:t>
                </a:r>
                <a:r>
                  <a:rPr lang="en-US" sz="1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>
                <a:off x="9320900" y="4945917"/>
                <a:ext cx="2203357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        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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p  =  p</a:t>
                </a:r>
                <a:endPara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216" name="TextBox 215"/>
            <p:cNvSpPr txBox="1"/>
            <p:nvPr/>
          </p:nvSpPr>
          <p:spPr>
            <a:xfrm>
              <a:off x="7824611" y="5910926"/>
              <a:ext cx="450267" cy="553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</a:p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217" name="Straight Connector 216"/>
            <p:cNvCxnSpPr/>
            <p:nvPr/>
          </p:nvCxnSpPr>
          <p:spPr>
            <a:xfrm>
              <a:off x="7926747" y="6172652"/>
              <a:ext cx="215822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3DCA46-4FDD-4961-8C0F-BFA3DE03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9845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3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3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3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3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3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3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3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3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6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3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9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3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3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3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6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00"/>
                            </p:stCondLst>
                            <p:childTnLst>
                              <p:par>
                                <p:cTn id="1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3" grpId="0"/>
      <p:bldP spid="2" grpId="0"/>
      <p:bldP spid="57" grpId="0" animBg="1"/>
      <p:bldP spid="63" grpId="0" animBg="1"/>
      <p:bldP spid="66" grpId="0" animBg="1"/>
      <p:bldP spid="67" grpId="0" animBg="1"/>
      <p:bldP spid="69" grpId="0" animBg="1"/>
      <p:bldP spid="88" grpId="0" animBg="1"/>
      <p:bldP spid="118" grpId="0"/>
      <p:bldP spid="130" grpId="0" animBg="1"/>
      <p:bldP spid="141" grpId="0"/>
      <p:bldP spid="171" grpId="0" animBg="1"/>
      <p:bldP spid="194" grpId="0"/>
      <p:bldP spid="19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/>
          <p:cNvSpPr/>
          <p:nvPr/>
        </p:nvSpPr>
        <p:spPr>
          <a:xfrm>
            <a:off x="5437737" y="2886832"/>
            <a:ext cx="2456613" cy="9720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120316" y="30082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Recall for Classical Statistical Method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317" y="687873"/>
            <a:ext cx="1674708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Population: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5067" y="1512937"/>
            <a:ext cx="1674708" cy="58477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Sample: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462364" y="2858036"/>
            <a:ext cx="2196755" cy="954107"/>
            <a:chOff x="1324210" y="3299257"/>
            <a:chExt cx="2196755" cy="954107"/>
          </a:xfrm>
        </p:grpSpPr>
        <p:sp>
          <p:nvSpPr>
            <p:cNvPr id="58" name="TextBox 57"/>
            <p:cNvSpPr txBox="1"/>
            <p:nvPr/>
          </p:nvSpPr>
          <p:spPr>
            <a:xfrm>
              <a:off x="1324210" y="3414420"/>
              <a:ext cx="2196755" cy="70788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  =     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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40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092379" y="3299257"/>
              <a:ext cx="735336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</a:p>
            <a:p>
              <a:pPr algn="ctr"/>
              <a:r>
                <a:rPr lang="en-US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83" name="Straight Connector 82"/>
            <p:cNvCxnSpPr/>
            <p:nvPr/>
          </p:nvCxnSpPr>
          <p:spPr>
            <a:xfrm>
              <a:off x="1418904" y="3651725"/>
              <a:ext cx="180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/>
          </p:nvSpPr>
          <p:spPr>
            <a:xfrm>
              <a:off x="1879945" y="3547288"/>
              <a:ext cx="450267" cy="553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</a:p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85" name="Straight Connector 84"/>
            <p:cNvCxnSpPr/>
            <p:nvPr/>
          </p:nvCxnSpPr>
          <p:spPr>
            <a:xfrm>
              <a:off x="2002225" y="3795805"/>
              <a:ext cx="180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Pentagon 87"/>
          <p:cNvSpPr/>
          <p:nvPr/>
        </p:nvSpPr>
        <p:spPr>
          <a:xfrm>
            <a:off x="398846" y="2876262"/>
            <a:ext cx="2134150" cy="952988"/>
          </a:xfrm>
          <a:prstGeom prst="homePlate">
            <a:avLst>
              <a:gd name="adj" fmla="val 40074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0" name="Pentagon 129"/>
          <p:cNvSpPr/>
          <p:nvPr/>
        </p:nvSpPr>
        <p:spPr>
          <a:xfrm>
            <a:off x="404102" y="4069187"/>
            <a:ext cx="3067767" cy="952988"/>
          </a:xfrm>
          <a:prstGeom prst="homePlate">
            <a:avLst>
              <a:gd name="adj" fmla="val 40074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55" name="Group 154"/>
          <p:cNvGrpSpPr/>
          <p:nvPr/>
        </p:nvGrpSpPr>
        <p:grpSpPr>
          <a:xfrm>
            <a:off x="467620" y="4052455"/>
            <a:ext cx="3179089" cy="954107"/>
            <a:chOff x="467620" y="4499581"/>
            <a:chExt cx="3179089" cy="954107"/>
          </a:xfrm>
        </p:grpSpPr>
        <p:grpSp>
          <p:nvGrpSpPr>
            <p:cNvPr id="124" name="Group 123"/>
            <p:cNvGrpSpPr/>
            <p:nvPr/>
          </p:nvGrpSpPr>
          <p:grpSpPr>
            <a:xfrm>
              <a:off x="467620" y="4499581"/>
              <a:ext cx="3179089" cy="954107"/>
              <a:chOff x="1324210" y="3300751"/>
              <a:chExt cx="3186713" cy="954107"/>
            </a:xfrm>
          </p:grpSpPr>
          <p:sp>
            <p:nvSpPr>
              <p:cNvPr id="125" name="TextBox 124"/>
              <p:cNvSpPr txBox="1"/>
              <p:nvPr/>
            </p:nvSpPr>
            <p:spPr>
              <a:xfrm>
                <a:off x="1324210" y="3414420"/>
                <a:ext cx="3186713" cy="70788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S</a:t>
                </a:r>
                <a:r>
                  <a:rPr lang="en-US" sz="4000" b="1" baseline="30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=           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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(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40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– X)</a:t>
                </a:r>
                <a:r>
                  <a:rPr lang="en-US" sz="4000" b="1" baseline="30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</a:t>
                </a:r>
                <a:endParaRPr lang="th-TH" sz="4000" b="1" baseline="30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2357501" y="3300751"/>
                <a:ext cx="735336" cy="9541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</a:t>
                </a:r>
              </a:p>
              <a:p>
                <a:pPr algn="ctr"/>
                <a:r>
                  <a:rPr lang="en-US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1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</a:t>
                </a:r>
                <a:r>
                  <a:rPr lang="en-US" sz="1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1879945" y="3542908"/>
                <a:ext cx="749967" cy="55399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 – 1  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29" name="Straight Connector 128"/>
              <p:cNvCxnSpPr/>
              <p:nvPr/>
            </p:nvCxnSpPr>
            <p:spPr>
              <a:xfrm>
                <a:off x="2002225" y="3795805"/>
                <a:ext cx="504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Connector 153"/>
            <p:cNvCxnSpPr/>
            <p:nvPr/>
          </p:nvCxnSpPr>
          <p:spPr>
            <a:xfrm>
              <a:off x="2748457" y="4852740"/>
              <a:ext cx="180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Pentagon 170"/>
          <p:cNvSpPr/>
          <p:nvPr/>
        </p:nvSpPr>
        <p:spPr>
          <a:xfrm>
            <a:off x="398846" y="5694560"/>
            <a:ext cx="3137964" cy="952988"/>
          </a:xfrm>
          <a:prstGeom prst="homePlate">
            <a:avLst>
              <a:gd name="adj" fmla="val 40074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4" name="TextBox 193"/>
          <p:cNvSpPr txBox="1"/>
          <p:nvPr/>
        </p:nvSpPr>
        <p:spPr>
          <a:xfrm>
            <a:off x="41930" y="4966353"/>
            <a:ext cx="414294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Random Sample: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… , </a:t>
            </a:r>
            <a:r>
              <a:rPr lang="en-US" sz="3200" b="1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</a:t>
            </a:r>
            <a:endParaRPr lang="en-US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3967298" y="5044398"/>
            <a:ext cx="528896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where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=  1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if success and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=  0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if failure. </a:t>
            </a:r>
          </a:p>
        </p:txBody>
      </p:sp>
      <p:grpSp>
        <p:nvGrpSpPr>
          <p:cNvPr id="203" name="Group 202"/>
          <p:cNvGrpSpPr/>
          <p:nvPr/>
        </p:nvGrpSpPr>
        <p:grpSpPr>
          <a:xfrm>
            <a:off x="9154008" y="4840491"/>
            <a:ext cx="1815834" cy="954107"/>
            <a:chOff x="9397101" y="4738891"/>
            <a:chExt cx="1815834" cy="954107"/>
          </a:xfrm>
        </p:grpSpPr>
        <p:sp>
          <p:nvSpPr>
            <p:cNvPr id="195" name="TextBox 194"/>
            <p:cNvSpPr txBox="1"/>
            <p:nvPr/>
          </p:nvSpPr>
          <p:spPr>
            <a:xfrm>
              <a:off x="10188940" y="4738891"/>
              <a:ext cx="697962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n </a:t>
              </a:r>
            </a:p>
            <a:p>
              <a:pPr algn="ctr"/>
              <a:r>
                <a:rPr lang="en-US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</a:t>
              </a:r>
              <a:r>
                <a:rPr lang="en-US" sz="1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9397101" y="4945917"/>
              <a:ext cx="1815834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Let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Y =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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</a:p>
          </p:txBody>
        </p:sp>
      </p:grpSp>
      <p:grpSp>
        <p:nvGrpSpPr>
          <p:cNvPr id="204" name="Group 203"/>
          <p:cNvGrpSpPr/>
          <p:nvPr/>
        </p:nvGrpSpPr>
        <p:grpSpPr>
          <a:xfrm>
            <a:off x="399331" y="5795177"/>
            <a:ext cx="2868401" cy="761158"/>
            <a:chOff x="399331" y="5909477"/>
            <a:chExt cx="2868401" cy="761158"/>
          </a:xfrm>
        </p:grpSpPr>
        <p:grpSp>
          <p:nvGrpSpPr>
            <p:cNvPr id="179" name="Group 178"/>
            <p:cNvGrpSpPr/>
            <p:nvPr/>
          </p:nvGrpSpPr>
          <p:grpSpPr>
            <a:xfrm>
              <a:off x="399331" y="5909477"/>
              <a:ext cx="2572555" cy="761158"/>
              <a:chOff x="399332" y="5541617"/>
              <a:chExt cx="2281507" cy="761158"/>
            </a:xfrm>
          </p:grpSpPr>
          <p:grpSp>
            <p:nvGrpSpPr>
              <p:cNvPr id="172" name="Group 171"/>
              <p:cNvGrpSpPr/>
              <p:nvPr/>
            </p:nvGrpSpPr>
            <p:grpSpPr>
              <a:xfrm>
                <a:off x="412761" y="5608995"/>
                <a:ext cx="2268078" cy="693780"/>
                <a:chOff x="1324210" y="3411877"/>
                <a:chExt cx="2217996" cy="693780"/>
              </a:xfrm>
            </p:grpSpPr>
            <p:sp>
              <p:nvSpPr>
                <p:cNvPr id="173" name="TextBox 172"/>
                <p:cNvSpPr txBox="1"/>
                <p:nvPr/>
              </p:nvSpPr>
              <p:spPr>
                <a:xfrm>
                  <a:off x="1324210" y="3414420"/>
                  <a:ext cx="2217996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p  =                         =              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176" name="TextBox 175"/>
                <p:cNvSpPr txBox="1"/>
                <p:nvPr/>
              </p:nvSpPr>
              <p:spPr>
                <a:xfrm>
                  <a:off x="1751369" y="3411877"/>
                  <a:ext cx="1453155" cy="693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2200"/>
                    </a:lnSpc>
                  </a:pPr>
                  <a:r>
                    <a: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# successes</a:t>
                  </a:r>
                </a:p>
                <a:p>
                  <a:pPr algn="ctr">
                    <a:lnSpc>
                      <a:spcPts val="2200"/>
                    </a:lnSpc>
                  </a:pPr>
                  <a:r>
                    <a: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 trials</a:t>
                  </a:r>
                  <a:endParaRPr lang="th-TH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cxnSp>
              <p:nvCxnSpPr>
                <p:cNvPr id="177" name="Straight Connector 176"/>
                <p:cNvCxnSpPr/>
                <p:nvPr/>
              </p:nvCxnSpPr>
              <p:spPr>
                <a:xfrm>
                  <a:off x="1871564" y="3711725"/>
                  <a:ext cx="1224000" cy="0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8" name="TextBox 177"/>
              <p:cNvSpPr txBox="1"/>
              <p:nvPr/>
            </p:nvSpPr>
            <p:spPr>
              <a:xfrm>
                <a:off x="399332" y="5541617"/>
                <a:ext cx="34768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grpSp>
          <p:nvGrpSpPr>
            <p:cNvPr id="202" name="Group 201"/>
            <p:cNvGrpSpPr/>
            <p:nvPr/>
          </p:nvGrpSpPr>
          <p:grpSpPr>
            <a:xfrm>
              <a:off x="2815092" y="6029503"/>
              <a:ext cx="452640" cy="553998"/>
              <a:chOff x="2891292" y="6029503"/>
              <a:chExt cx="452640" cy="553998"/>
            </a:xfrm>
          </p:grpSpPr>
          <p:sp>
            <p:nvSpPr>
              <p:cNvPr id="200" name="TextBox 199"/>
              <p:cNvSpPr txBox="1"/>
              <p:nvPr/>
            </p:nvSpPr>
            <p:spPr>
              <a:xfrm>
                <a:off x="2891292" y="6029503"/>
                <a:ext cx="452640" cy="55399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Y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  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201" name="Straight Connector 200"/>
              <p:cNvCxnSpPr/>
              <p:nvPr/>
            </p:nvCxnSpPr>
            <p:spPr>
              <a:xfrm>
                <a:off x="2975179" y="6282400"/>
                <a:ext cx="288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7" name="TextBox 116"/>
          <p:cNvSpPr txBox="1"/>
          <p:nvPr/>
        </p:nvSpPr>
        <p:spPr>
          <a:xfrm>
            <a:off x="2253917" y="687873"/>
            <a:ext cx="3147416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 Distribution: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788745" y="1511122"/>
            <a:ext cx="397562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… , </a:t>
            </a:r>
            <a:r>
              <a:rPr lang="en-US" sz="3200" b="1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iid</a:t>
            </a:r>
            <a:r>
              <a:rPr lang="en-US" sz="32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N(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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,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</a:t>
            </a:r>
            <a:r>
              <a:rPr lang="en-US" sz="4000" b="1" baseline="3000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2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)</a:t>
            </a:r>
            <a:endParaRPr lang="en-US" sz="32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790533" y="678461"/>
            <a:ext cx="2771634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 </a:t>
            </a:r>
            <a:r>
              <a:rPr lang="en-US" sz="24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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  N(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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,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 </a:t>
            </a:r>
            <a:r>
              <a:rPr lang="en-US" sz="4000" b="1" baseline="3000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2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)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 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2248666" y="1512937"/>
            <a:ext cx="3152665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Random Sample: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cxnSp>
        <p:nvCxnSpPr>
          <p:cNvPr id="131" name="Straight Connector 130"/>
          <p:cNvCxnSpPr/>
          <p:nvPr/>
        </p:nvCxnSpPr>
        <p:spPr>
          <a:xfrm flipV="1">
            <a:off x="1795025" y="970849"/>
            <a:ext cx="4649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41491" y="2082244"/>
            <a:ext cx="11644952" cy="707886"/>
            <a:chOff x="41491" y="2082244"/>
            <a:chExt cx="11644952" cy="707886"/>
          </a:xfrm>
        </p:grpSpPr>
        <p:sp>
          <p:nvSpPr>
            <p:cNvPr id="134" name="TextBox 133"/>
            <p:cNvSpPr txBox="1"/>
            <p:nvPr/>
          </p:nvSpPr>
          <p:spPr>
            <a:xfrm>
              <a:off x="41491" y="2082244"/>
              <a:ext cx="4142947" cy="70788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Random Sample: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… , </a:t>
              </a:r>
              <a:r>
                <a:rPr lang="en-US" sz="3200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endParaRPr lang="en-US" sz="40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872776" y="2265763"/>
              <a:ext cx="7813667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32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   </a:t>
              </a:r>
              <a:r>
                <a:rPr lang="en-US" sz="3200" b="1" dirty="0" err="1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iid</a:t>
              </a:r>
              <a:r>
                <a:rPr lang="en-US" sz="32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</a:t>
              </a:r>
              <a:r>
                <a:rPr lang="en-US" sz="32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ndependent </a:t>
              </a:r>
              <a:r>
                <a:rPr lang="en-US" sz="32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dentically </a:t>
              </a:r>
              <a:r>
                <a:rPr lang="en-US" sz="32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D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istributed) </a:t>
              </a:r>
              <a:r>
                <a:rPr lang="en-US" sz="32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Random Variable</a:t>
              </a:r>
              <a:endParaRPr lang="th-TH" sz="32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cxnSp>
        <p:nvCxnSpPr>
          <p:cNvPr id="132" name="Straight Connector 131"/>
          <p:cNvCxnSpPr/>
          <p:nvPr/>
        </p:nvCxnSpPr>
        <p:spPr>
          <a:xfrm>
            <a:off x="1800285" y="1816924"/>
            <a:ext cx="46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74512" y="2181304"/>
            <a:ext cx="11995568" cy="58477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Sampling Distribution:</a:t>
            </a:r>
            <a:endParaRPr lang="en-US" sz="40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136" name="Group 135"/>
          <p:cNvGrpSpPr/>
          <p:nvPr/>
        </p:nvGrpSpPr>
        <p:grpSpPr>
          <a:xfrm>
            <a:off x="2766320" y="2985500"/>
            <a:ext cx="2566982" cy="831206"/>
            <a:chOff x="2743985" y="3189099"/>
            <a:chExt cx="2566982" cy="831206"/>
          </a:xfrm>
        </p:grpSpPr>
        <p:grpSp>
          <p:nvGrpSpPr>
            <p:cNvPr id="137" name="Group 136"/>
            <p:cNvGrpSpPr/>
            <p:nvPr/>
          </p:nvGrpSpPr>
          <p:grpSpPr>
            <a:xfrm>
              <a:off x="2743985" y="3194357"/>
              <a:ext cx="2566982" cy="825948"/>
              <a:chOff x="1330347" y="3414420"/>
              <a:chExt cx="2566982" cy="825948"/>
            </a:xfrm>
          </p:grpSpPr>
          <p:sp>
            <p:nvSpPr>
              <p:cNvPr id="139" name="TextBox 138"/>
              <p:cNvSpPr txBox="1"/>
              <p:nvPr/>
            </p:nvSpPr>
            <p:spPr>
              <a:xfrm>
                <a:off x="1330347" y="3414420"/>
                <a:ext cx="2566982" cy="70788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 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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 N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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,</a:t>
                </a:r>
                <a:r>
                  <a:rPr lang="en-US" sz="40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40" name="Straight Connector 139"/>
              <p:cNvCxnSpPr/>
              <p:nvPr/>
            </p:nvCxnSpPr>
            <p:spPr>
              <a:xfrm>
                <a:off x="1418904" y="3643405"/>
                <a:ext cx="180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TextBox 143"/>
              <p:cNvSpPr txBox="1"/>
              <p:nvPr/>
            </p:nvSpPr>
            <p:spPr>
              <a:xfrm>
                <a:off x="2701240" y="3531200"/>
                <a:ext cx="529072" cy="7091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200"/>
                  </a:lnSpc>
                </a:pP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</a:t>
                </a:r>
                <a:r>
                  <a:rPr lang="en-US" sz="4000" b="1" baseline="30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2</a:t>
                </a:r>
                <a:r>
                  <a:rPr lang="en-US" b="1" baseline="30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46" name="Straight Connector 145"/>
              <p:cNvCxnSpPr/>
              <p:nvPr/>
            </p:nvCxnSpPr>
            <p:spPr>
              <a:xfrm>
                <a:off x="2811956" y="3795805"/>
                <a:ext cx="324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Double Bracket 137"/>
            <p:cNvSpPr/>
            <p:nvPr/>
          </p:nvSpPr>
          <p:spPr>
            <a:xfrm>
              <a:off x="3644023" y="3189099"/>
              <a:ext cx="1027703" cy="676036"/>
            </a:xfrm>
            <a:prstGeom prst="bracketPair">
              <a:avLst>
                <a:gd name="adj" fmla="val 10207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51" name="Pentagon 150"/>
          <p:cNvSpPr/>
          <p:nvPr/>
        </p:nvSpPr>
        <p:spPr>
          <a:xfrm>
            <a:off x="2761045" y="2876262"/>
            <a:ext cx="2416843" cy="952988"/>
          </a:xfrm>
          <a:prstGeom prst="homePlate">
            <a:avLst>
              <a:gd name="adj" fmla="val 40074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1" name="Pentagon 180"/>
          <p:cNvSpPr/>
          <p:nvPr/>
        </p:nvSpPr>
        <p:spPr>
          <a:xfrm>
            <a:off x="5437736" y="2886832"/>
            <a:ext cx="2986657" cy="972000"/>
          </a:xfrm>
          <a:prstGeom prst="homePlate">
            <a:avLst>
              <a:gd name="adj" fmla="val 48432"/>
            </a:avLst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52" name="Group 151"/>
          <p:cNvGrpSpPr/>
          <p:nvPr/>
        </p:nvGrpSpPr>
        <p:grpSpPr>
          <a:xfrm>
            <a:off x="5377563" y="2825687"/>
            <a:ext cx="2654289" cy="1042722"/>
            <a:chOff x="5694817" y="2724151"/>
            <a:chExt cx="2654289" cy="1042722"/>
          </a:xfrm>
        </p:grpSpPr>
        <p:grpSp>
          <p:nvGrpSpPr>
            <p:cNvPr id="153" name="Group 152"/>
            <p:cNvGrpSpPr/>
            <p:nvPr/>
          </p:nvGrpSpPr>
          <p:grpSpPr>
            <a:xfrm>
              <a:off x="5694817" y="2724151"/>
              <a:ext cx="1236834" cy="1042722"/>
              <a:chOff x="5887089" y="2357867"/>
              <a:chExt cx="1236834" cy="1042722"/>
            </a:xfrm>
          </p:grpSpPr>
          <p:sp>
            <p:nvSpPr>
              <p:cNvPr id="165" name="TextBox 164"/>
              <p:cNvSpPr txBox="1"/>
              <p:nvPr/>
            </p:nvSpPr>
            <p:spPr>
              <a:xfrm>
                <a:off x="6095203" y="2357867"/>
                <a:ext cx="1028720" cy="70788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–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</a:t>
                </a:r>
                <a:r>
                  <a:rPr lang="en-US" sz="40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66" name="Straight Connector 165"/>
              <p:cNvCxnSpPr/>
              <p:nvPr/>
            </p:nvCxnSpPr>
            <p:spPr>
              <a:xfrm>
                <a:off x="6182277" y="2597443"/>
                <a:ext cx="180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/>
              <p:cNvCxnSpPr/>
              <p:nvPr/>
            </p:nvCxnSpPr>
            <p:spPr>
              <a:xfrm>
                <a:off x="6093377" y="2914943"/>
                <a:ext cx="828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4" name="Group 173"/>
              <p:cNvGrpSpPr/>
              <p:nvPr/>
            </p:nvGrpSpPr>
            <p:grpSpPr>
              <a:xfrm>
                <a:off x="5887089" y="2815814"/>
                <a:ext cx="1218293" cy="584775"/>
                <a:chOff x="6582668" y="3080735"/>
                <a:chExt cx="1218293" cy="584775"/>
              </a:xfrm>
            </p:grpSpPr>
            <p:sp>
              <p:nvSpPr>
                <p:cNvPr id="175" name="TextBox 174"/>
                <p:cNvSpPr txBox="1"/>
                <p:nvPr/>
              </p:nvSpPr>
              <p:spPr>
                <a:xfrm>
                  <a:off x="6582668" y="3080735"/>
                  <a:ext cx="1218293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 </a:t>
                  </a:r>
                  <a:r>
                    <a:rPr lang="en-US" sz="32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/ </a:t>
                  </a:r>
                  <a:r>
                    <a:rPr lang="en-US" sz="18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 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cxnSp>
              <p:nvCxnSpPr>
                <p:cNvPr id="180" name="Straight Connector 179"/>
                <p:cNvCxnSpPr/>
                <p:nvPr/>
              </p:nvCxnSpPr>
              <p:spPr>
                <a:xfrm>
                  <a:off x="7335900" y="3257843"/>
                  <a:ext cx="252000" cy="0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1" name="TextBox 160"/>
            <p:cNvSpPr txBox="1"/>
            <p:nvPr/>
          </p:nvSpPr>
          <p:spPr>
            <a:xfrm>
              <a:off x="6837592" y="2963245"/>
              <a:ext cx="1511514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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N(0 , 1)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84" name="Group 183"/>
          <p:cNvGrpSpPr/>
          <p:nvPr/>
        </p:nvGrpSpPr>
        <p:grpSpPr>
          <a:xfrm>
            <a:off x="3752137" y="4081217"/>
            <a:ext cx="2943864" cy="972381"/>
            <a:chOff x="5156463" y="4094565"/>
            <a:chExt cx="2943864" cy="972381"/>
          </a:xfrm>
        </p:grpSpPr>
        <p:grpSp>
          <p:nvGrpSpPr>
            <p:cNvPr id="185" name="Group 184"/>
            <p:cNvGrpSpPr/>
            <p:nvPr/>
          </p:nvGrpSpPr>
          <p:grpSpPr>
            <a:xfrm>
              <a:off x="5156463" y="4094565"/>
              <a:ext cx="1325206" cy="972381"/>
              <a:chOff x="5156463" y="4094565"/>
              <a:chExt cx="1325206" cy="972381"/>
            </a:xfrm>
          </p:grpSpPr>
          <p:sp>
            <p:nvSpPr>
              <p:cNvPr id="188" name="TextBox 187"/>
              <p:cNvSpPr txBox="1"/>
              <p:nvPr/>
            </p:nvSpPr>
            <p:spPr>
              <a:xfrm>
                <a:off x="5574376" y="4564244"/>
                <a:ext cx="688559" cy="50270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</a:t>
                </a:r>
                <a:r>
                  <a:rPr lang="en-US" sz="4000" b="1" baseline="30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2</a:t>
                </a:r>
                <a:endParaRPr lang="th-TH" sz="4000" b="1" baseline="30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90" name="TextBox 189"/>
              <p:cNvSpPr txBox="1"/>
              <p:nvPr/>
            </p:nvSpPr>
            <p:spPr>
              <a:xfrm>
                <a:off x="5156463" y="4094565"/>
                <a:ext cx="1325206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(n – 1)S</a:t>
                </a:r>
                <a:r>
                  <a:rPr lang="en-US" sz="4000" b="1" baseline="30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endParaRPr lang="th-TH" sz="4000" b="1" baseline="30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93" name="Straight Connector 192"/>
              <p:cNvCxnSpPr/>
              <p:nvPr/>
            </p:nvCxnSpPr>
            <p:spPr>
              <a:xfrm>
                <a:off x="5194563" y="4557811"/>
                <a:ext cx="1080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7" name="TextBox 186"/>
            <p:cNvSpPr txBox="1"/>
            <p:nvPr/>
          </p:nvSpPr>
          <p:spPr>
            <a:xfrm>
              <a:off x="6325363" y="4260176"/>
              <a:ext cx="1774964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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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</a:t>
              </a:r>
              <a:r>
                <a:rPr lang="en-US" sz="4000" b="1" baseline="30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2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(n – 1)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198" name="Rectangle 197"/>
          <p:cNvSpPr/>
          <p:nvPr/>
        </p:nvSpPr>
        <p:spPr>
          <a:xfrm>
            <a:off x="3633071" y="4054405"/>
            <a:ext cx="2981326" cy="9720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99" name="Group 198"/>
          <p:cNvGrpSpPr/>
          <p:nvPr/>
        </p:nvGrpSpPr>
        <p:grpSpPr>
          <a:xfrm>
            <a:off x="8501763" y="2840927"/>
            <a:ext cx="2654289" cy="1042722"/>
            <a:chOff x="5694817" y="2724151"/>
            <a:chExt cx="2654289" cy="1042722"/>
          </a:xfrm>
        </p:grpSpPr>
        <p:grpSp>
          <p:nvGrpSpPr>
            <p:cNvPr id="220" name="Group 219"/>
            <p:cNvGrpSpPr/>
            <p:nvPr/>
          </p:nvGrpSpPr>
          <p:grpSpPr>
            <a:xfrm>
              <a:off x="5694817" y="2724151"/>
              <a:ext cx="1236834" cy="1042722"/>
              <a:chOff x="5887089" y="2357867"/>
              <a:chExt cx="1236834" cy="1042722"/>
            </a:xfrm>
          </p:grpSpPr>
          <p:sp>
            <p:nvSpPr>
              <p:cNvPr id="222" name="TextBox 221"/>
              <p:cNvSpPr txBox="1"/>
              <p:nvPr/>
            </p:nvSpPr>
            <p:spPr>
              <a:xfrm>
                <a:off x="6095203" y="2357867"/>
                <a:ext cx="1028720" cy="70788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–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</a:t>
                </a:r>
                <a:r>
                  <a:rPr lang="en-US" sz="40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223" name="Straight Connector 222"/>
              <p:cNvCxnSpPr/>
              <p:nvPr/>
            </p:nvCxnSpPr>
            <p:spPr>
              <a:xfrm>
                <a:off x="6182277" y="2597443"/>
                <a:ext cx="180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/>
              <p:cNvCxnSpPr/>
              <p:nvPr/>
            </p:nvCxnSpPr>
            <p:spPr>
              <a:xfrm>
                <a:off x="6093377" y="2914943"/>
                <a:ext cx="828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5" name="Group 224"/>
              <p:cNvGrpSpPr/>
              <p:nvPr/>
            </p:nvGrpSpPr>
            <p:grpSpPr>
              <a:xfrm>
                <a:off x="5887089" y="2815814"/>
                <a:ext cx="1218293" cy="584775"/>
                <a:chOff x="6582668" y="3080735"/>
                <a:chExt cx="1218293" cy="584775"/>
              </a:xfrm>
            </p:grpSpPr>
            <p:sp>
              <p:nvSpPr>
                <p:cNvPr id="226" name="TextBox 225"/>
                <p:cNvSpPr txBox="1"/>
                <p:nvPr/>
              </p:nvSpPr>
              <p:spPr>
                <a:xfrm>
                  <a:off x="6582668" y="3080735"/>
                  <a:ext cx="1218293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S</a:t>
                  </a:r>
                  <a:r>
                    <a:rPr lang="en-US" sz="24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</a:t>
                  </a:r>
                  <a:r>
                    <a:rPr lang="en-US" sz="32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/ </a:t>
                  </a:r>
                  <a:r>
                    <a:rPr lang="en-US" sz="18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 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7335900" y="3257843"/>
                  <a:ext cx="252000" cy="0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1" name="TextBox 220"/>
            <p:cNvSpPr txBox="1"/>
            <p:nvPr/>
          </p:nvSpPr>
          <p:spPr>
            <a:xfrm>
              <a:off x="6837592" y="2963245"/>
              <a:ext cx="1511514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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t</a:t>
              </a:r>
              <a:r>
                <a:rPr lang="en-US" sz="2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(n – 1)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228" name="Rectangle 227"/>
          <p:cNvSpPr/>
          <p:nvPr/>
        </p:nvSpPr>
        <p:spPr>
          <a:xfrm>
            <a:off x="8561937" y="2886832"/>
            <a:ext cx="2559317" cy="9720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7" name="Group 6"/>
          <p:cNvGrpSpPr/>
          <p:nvPr/>
        </p:nvGrpSpPr>
        <p:grpSpPr>
          <a:xfrm>
            <a:off x="3775847" y="5568887"/>
            <a:ext cx="3311125" cy="1185341"/>
            <a:chOff x="3775847" y="5568887"/>
            <a:chExt cx="3311125" cy="1185341"/>
          </a:xfrm>
        </p:grpSpPr>
        <p:sp>
          <p:nvSpPr>
            <p:cNvPr id="233" name="TextBox 232"/>
            <p:cNvSpPr txBox="1"/>
            <p:nvPr/>
          </p:nvSpPr>
          <p:spPr>
            <a:xfrm>
              <a:off x="4290277" y="5568887"/>
              <a:ext cx="1028720" cy="70788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p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– 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p</a:t>
              </a:r>
              <a:r>
                <a:rPr lang="en-US" sz="40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236" name="Group 235"/>
            <p:cNvGrpSpPr/>
            <p:nvPr/>
          </p:nvGrpSpPr>
          <p:grpSpPr>
            <a:xfrm>
              <a:off x="3775847" y="6169453"/>
              <a:ext cx="1684928" cy="584775"/>
              <a:chOff x="6582668" y="3233135"/>
              <a:chExt cx="1684928" cy="584775"/>
            </a:xfrm>
          </p:grpSpPr>
          <p:sp>
            <p:nvSpPr>
              <p:cNvPr id="237" name="TextBox 236"/>
              <p:cNvSpPr txBox="1"/>
              <p:nvPr/>
            </p:nvSpPr>
            <p:spPr>
              <a:xfrm>
                <a:off x="6582668" y="3233135"/>
                <a:ext cx="1684928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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p(1 – p)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/</a:t>
                </a:r>
                <a:r>
                  <a:rPr lang="en-US" sz="18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238" name="Straight Connector 237"/>
              <p:cNvCxnSpPr/>
              <p:nvPr/>
            </p:nvCxnSpPr>
            <p:spPr>
              <a:xfrm>
                <a:off x="6878700" y="3303563"/>
                <a:ext cx="1368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2" name="TextBox 231"/>
            <p:cNvSpPr txBox="1"/>
            <p:nvPr/>
          </p:nvSpPr>
          <p:spPr>
            <a:xfrm>
              <a:off x="5575458" y="5838461"/>
              <a:ext cx="1511514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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N(0 , 1)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4285531" y="5597057"/>
              <a:ext cx="3920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240" name="Straight Connector 239"/>
            <p:cNvCxnSpPr/>
            <p:nvPr/>
          </p:nvCxnSpPr>
          <p:spPr>
            <a:xfrm>
              <a:off x="3848061" y="6130848"/>
              <a:ext cx="169200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1" name="Rectangle 240"/>
          <p:cNvSpPr/>
          <p:nvPr/>
        </p:nvSpPr>
        <p:spPr>
          <a:xfrm>
            <a:off x="3699366" y="5707472"/>
            <a:ext cx="3265314" cy="9720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4B8230-99A7-4E88-8032-5347ABD5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2302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3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3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5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/>
      <p:bldP spid="229" grpId="1" animBg="1"/>
      <p:bldP spid="117" grpId="0" animBg="1"/>
      <p:bldP spid="119" grpId="0"/>
      <p:bldP spid="121" grpId="0"/>
      <p:bldP spid="127" grpId="0" animBg="1"/>
      <p:bldP spid="133" grpId="0" animBg="1"/>
      <p:bldP spid="151" grpId="0" animBg="1"/>
      <p:bldP spid="181" grpId="0" animBg="1"/>
      <p:bldP spid="198" grpId="0" animBg="1"/>
      <p:bldP spid="228" grpId="0" animBg="1"/>
      <p:bldP spid="2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316" y="30082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Recall for Classical Statistical Method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317" y="687873"/>
            <a:ext cx="1674708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Population: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5067" y="1512937"/>
            <a:ext cx="1674708" cy="58477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Sample: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253917" y="687873"/>
            <a:ext cx="3147416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 Distribution: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2248666" y="1512937"/>
            <a:ext cx="3152665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Random Sample: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cxnSp>
        <p:nvCxnSpPr>
          <p:cNvPr id="131" name="Straight Connector 130"/>
          <p:cNvCxnSpPr/>
          <p:nvPr/>
        </p:nvCxnSpPr>
        <p:spPr>
          <a:xfrm flipV="1">
            <a:off x="1795025" y="970849"/>
            <a:ext cx="4649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1800285" y="1816924"/>
            <a:ext cx="46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74512" y="2181304"/>
            <a:ext cx="2967297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Sampling Distribution</a:t>
            </a:r>
            <a:endParaRPr lang="en-US" sz="40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791341" y="692330"/>
            <a:ext cx="2962430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May or may not known</a:t>
            </a:r>
            <a:endParaRPr lang="th-TH" sz="24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936621" y="692330"/>
            <a:ext cx="1825701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Parameter 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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8790707" y="693176"/>
            <a:ext cx="1141302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and/ or</a:t>
            </a:r>
            <a:endParaRPr lang="th-TH" sz="24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714380" y="2033564"/>
            <a:ext cx="2632703" cy="732223"/>
            <a:chOff x="2714380" y="2033564"/>
            <a:chExt cx="2632703" cy="732223"/>
          </a:xfrm>
        </p:grpSpPr>
        <p:sp>
          <p:nvSpPr>
            <p:cNvPr id="94" name="TextBox 93"/>
            <p:cNvSpPr txBox="1"/>
            <p:nvPr/>
          </p:nvSpPr>
          <p:spPr>
            <a:xfrm>
              <a:off x="2714380" y="2181012"/>
              <a:ext cx="2632703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of Estimator 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</a:t>
              </a:r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of 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en-US" sz="40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242697" y="2033564"/>
              <a:ext cx="44595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en-US" sz="40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5788746" y="1511122"/>
            <a:ext cx="3616128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… , </a:t>
            </a:r>
            <a:r>
              <a:rPr lang="en-US" sz="3200" b="1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iid</a:t>
            </a:r>
            <a:r>
              <a:rPr lang="en-US" sz="32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N(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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,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</a:t>
            </a:r>
            <a:r>
              <a:rPr lang="en-US" sz="4000" b="1" baseline="3000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2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)</a:t>
            </a:r>
            <a:endParaRPr lang="en-US" sz="32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31852" y="1386840"/>
            <a:ext cx="1122156" cy="794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8" name="Group 7"/>
          <p:cNvGrpSpPr/>
          <p:nvPr/>
        </p:nvGrpSpPr>
        <p:grpSpPr>
          <a:xfrm>
            <a:off x="5122300" y="2033564"/>
            <a:ext cx="3960977" cy="732223"/>
            <a:chOff x="7054620" y="2033564"/>
            <a:chExt cx="3264411" cy="732223"/>
          </a:xfrm>
        </p:grpSpPr>
        <p:grpSp>
          <p:nvGrpSpPr>
            <p:cNvPr id="99" name="Group 98"/>
            <p:cNvGrpSpPr/>
            <p:nvPr/>
          </p:nvGrpSpPr>
          <p:grpSpPr>
            <a:xfrm>
              <a:off x="7054620" y="2033564"/>
              <a:ext cx="3264411" cy="732223"/>
              <a:chOff x="3610380" y="2033564"/>
              <a:chExt cx="3264411" cy="732223"/>
            </a:xfrm>
          </p:grpSpPr>
          <p:sp>
            <p:nvSpPr>
              <p:cNvPr id="100" name="TextBox 99"/>
              <p:cNvSpPr txBox="1"/>
              <p:nvPr/>
            </p:nvSpPr>
            <p:spPr>
              <a:xfrm>
                <a:off x="3610380" y="2181012"/>
                <a:ext cx="3264411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where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= </a:t>
                </a:r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(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, X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, … , </a:t>
                </a:r>
                <a:r>
                  <a:rPr lang="en-US" sz="3200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</a:t>
                </a:r>
                <a:r>
                  <a:rPr lang="en-US" sz="4000" b="1" baseline="-25000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)</a:t>
                </a:r>
                <a:endParaRPr lang="en-US" sz="40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4242697" y="2033564"/>
                <a:ext cx="445957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</a:t>
                </a:r>
                <a:endParaRPr lang="en-US" sz="40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102" name="TextBox 101"/>
            <p:cNvSpPr txBox="1"/>
            <p:nvPr/>
          </p:nvSpPr>
          <p:spPr>
            <a:xfrm>
              <a:off x="8229217" y="2033564"/>
              <a:ext cx="44595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en-US" sz="40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82351" y="3360440"/>
            <a:ext cx="5118980" cy="732515"/>
            <a:chOff x="1041120" y="4435066"/>
            <a:chExt cx="5118980" cy="732515"/>
          </a:xfrm>
        </p:grpSpPr>
        <p:sp>
          <p:nvSpPr>
            <p:cNvPr id="105" name="TextBox 104"/>
            <p:cNvSpPr txBox="1"/>
            <p:nvPr/>
          </p:nvSpPr>
          <p:spPr>
            <a:xfrm>
              <a:off x="1041120" y="4582806"/>
              <a:ext cx="5118980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1. What are properties of 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?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24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004478" y="4435066"/>
              <a:ext cx="44595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en-US" sz="40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108" name="TextBox 107"/>
          <p:cNvSpPr txBox="1"/>
          <p:nvPr/>
        </p:nvSpPr>
        <p:spPr>
          <a:xfrm>
            <a:off x="3924711" y="3507888"/>
            <a:ext cx="5118980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e.g., its mean and variance</a:t>
            </a:r>
            <a:endParaRPr lang="th-TH" sz="24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297591" y="3970040"/>
            <a:ext cx="5118980" cy="732515"/>
            <a:chOff x="1041120" y="4435066"/>
            <a:chExt cx="5118980" cy="732515"/>
          </a:xfrm>
        </p:grpSpPr>
        <p:sp>
          <p:nvSpPr>
            <p:cNvPr id="110" name="TextBox 109"/>
            <p:cNvSpPr txBox="1"/>
            <p:nvPr/>
          </p:nvSpPr>
          <p:spPr>
            <a:xfrm>
              <a:off x="1041120" y="4582806"/>
              <a:ext cx="5118980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 What is the sampling distribution of 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?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24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5528478" y="4435066"/>
              <a:ext cx="44595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en-US" sz="40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15067" y="2749844"/>
            <a:ext cx="9289807" cy="775919"/>
            <a:chOff x="115067" y="3283244"/>
            <a:chExt cx="9289807" cy="775919"/>
          </a:xfrm>
        </p:grpSpPr>
        <p:sp>
          <p:nvSpPr>
            <p:cNvPr id="104" name="TextBox 103"/>
            <p:cNvSpPr txBox="1"/>
            <p:nvPr/>
          </p:nvSpPr>
          <p:spPr>
            <a:xfrm>
              <a:off x="115067" y="3289722"/>
              <a:ext cx="9289807" cy="76944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7030A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Problems :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How can inferences about  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be made?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019937" y="3283244"/>
              <a:ext cx="44595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en-US" sz="40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328071" y="5550048"/>
            <a:ext cx="5118980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 Nonparametric Statistics</a:t>
            </a:r>
            <a:endParaRPr lang="th-TH" sz="24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97591" y="6159940"/>
            <a:ext cx="5118980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 Resampling Techniques</a:t>
            </a:r>
            <a:endParaRPr lang="th-TH" sz="24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15067" y="4798482"/>
            <a:ext cx="9289807" cy="76944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Some Methods for Coping the Problems: </a:t>
            </a:r>
            <a:endParaRPr lang="en-US" sz="3200" b="1" dirty="0">
              <a:solidFill>
                <a:srgbClr val="7030A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9AA6C6-D801-484A-A7D6-895D2EB2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658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2" grpId="0"/>
      <p:bldP spid="93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316" y="144382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Resampling Techniques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46283" y="1156473"/>
            <a:ext cx="3870158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Population:  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Parameter = 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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cxnSp>
        <p:nvCxnSpPr>
          <p:cNvPr id="3" name="Straight Connector 2"/>
          <p:cNvCxnSpPr>
            <a:stCxn id="5" idx="2"/>
          </p:cNvCxnSpPr>
          <p:nvPr/>
        </p:nvCxnSpPr>
        <p:spPr>
          <a:xfrm>
            <a:off x="4481362" y="1741248"/>
            <a:ext cx="0" cy="17899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379621" y="4196130"/>
            <a:ext cx="6203482" cy="194232"/>
            <a:chOff x="2941320" y="1726008"/>
            <a:chExt cx="6203482" cy="194232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2941320" y="1737360"/>
              <a:ext cx="619200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2942122" y="1741248"/>
              <a:ext cx="0" cy="17899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334802" y="1741248"/>
              <a:ext cx="0" cy="17899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9144802" y="1726008"/>
              <a:ext cx="0" cy="17899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546283" y="1922184"/>
            <a:ext cx="3870158" cy="1323439"/>
            <a:chOff x="4024563" y="1739304"/>
            <a:chExt cx="3870158" cy="1323439"/>
          </a:xfrm>
        </p:grpSpPr>
        <p:sp>
          <p:nvSpPr>
            <p:cNvPr id="13" name="TextBox 12"/>
            <p:cNvSpPr txBox="1"/>
            <p:nvPr/>
          </p:nvSpPr>
          <p:spPr>
            <a:xfrm>
              <a:off x="4024563" y="1739304"/>
              <a:ext cx="3870158" cy="1323439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 Sample: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… , </a:t>
              </a:r>
              <a:r>
                <a:rPr lang="en-US" sz="3200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endParaRPr lang="en-US" sz="40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r>
                <a:rPr lang="en-US" sz="40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 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=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(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… , </a:t>
              </a:r>
              <a:r>
                <a:rPr lang="en-US" sz="3200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)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50543" y="2289930"/>
              <a:ext cx="9815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 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4481362" y="3250008"/>
            <a:ext cx="0" cy="17899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46283" y="3422103"/>
            <a:ext cx="3870158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Resampling</a:t>
            </a:r>
            <a:endParaRPr lang="th-TH" sz="32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4481362" y="4027248"/>
            <a:ext cx="0" cy="17899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49240" y="4384888"/>
            <a:ext cx="81654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…</a:t>
            </a:r>
            <a:endParaRPr lang="th-TH" sz="32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435342" y="4369648"/>
            <a:ext cx="1919037" cy="1131992"/>
            <a:chOff x="1913622" y="4186768"/>
            <a:chExt cx="1919037" cy="1131992"/>
          </a:xfrm>
        </p:grpSpPr>
        <p:sp>
          <p:nvSpPr>
            <p:cNvPr id="21" name="TextBox 20"/>
            <p:cNvSpPr txBox="1"/>
            <p:nvPr/>
          </p:nvSpPr>
          <p:spPr>
            <a:xfrm>
              <a:off x="1913622" y="4186768"/>
              <a:ext cx="191903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Re-sample 1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2504672" y="4512463"/>
              <a:ext cx="736935" cy="706044"/>
              <a:chOff x="4024563" y="1733948"/>
              <a:chExt cx="736935" cy="547760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4024563" y="1891704"/>
                <a:ext cx="736935" cy="39000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(1)</a:t>
                </a:r>
                <a:endParaRPr lang="th-TH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4033185" y="1733948"/>
                <a:ext cx="347313" cy="4536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33" name="Rectangle 32"/>
            <p:cNvSpPr/>
            <p:nvPr/>
          </p:nvSpPr>
          <p:spPr>
            <a:xfrm>
              <a:off x="1920240" y="4209967"/>
              <a:ext cx="1905000" cy="110879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828022" y="4384888"/>
            <a:ext cx="1919037" cy="1116752"/>
            <a:chOff x="4306302" y="4202008"/>
            <a:chExt cx="1919037" cy="1116752"/>
          </a:xfrm>
        </p:grpSpPr>
        <p:sp>
          <p:nvSpPr>
            <p:cNvPr id="23" name="TextBox 22"/>
            <p:cNvSpPr txBox="1"/>
            <p:nvPr/>
          </p:nvSpPr>
          <p:spPr>
            <a:xfrm>
              <a:off x="4306302" y="4202008"/>
              <a:ext cx="191903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Re-sample 2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5034512" y="4527703"/>
              <a:ext cx="736935" cy="706044"/>
              <a:chOff x="4024563" y="1733948"/>
              <a:chExt cx="736935" cy="547760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4024563" y="1891704"/>
                <a:ext cx="736935" cy="39000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(2)</a:t>
                </a:r>
                <a:endParaRPr lang="th-TH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033185" y="1733948"/>
                <a:ext cx="347313" cy="4536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4312920" y="4209967"/>
              <a:ext cx="1905000" cy="110879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638022" y="4384888"/>
            <a:ext cx="1919037" cy="1131992"/>
            <a:chOff x="8116302" y="4202008"/>
            <a:chExt cx="1919037" cy="1131992"/>
          </a:xfrm>
        </p:grpSpPr>
        <p:sp>
          <p:nvSpPr>
            <p:cNvPr id="24" name="TextBox 23"/>
            <p:cNvSpPr txBox="1"/>
            <p:nvPr/>
          </p:nvSpPr>
          <p:spPr>
            <a:xfrm>
              <a:off x="8116302" y="4202008"/>
              <a:ext cx="191903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Re-sample k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8798792" y="4527703"/>
              <a:ext cx="736935" cy="706044"/>
              <a:chOff x="4024563" y="1733948"/>
              <a:chExt cx="736935" cy="547760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4024563" y="1891704"/>
                <a:ext cx="736935" cy="39000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(k)</a:t>
                </a:r>
                <a:endParaRPr lang="th-TH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033185" y="1733948"/>
                <a:ext cx="347313" cy="4536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8122920" y="4225207"/>
              <a:ext cx="1905000" cy="110879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942421" y="1853010"/>
            <a:ext cx="3026243" cy="740002"/>
            <a:chOff x="6688656" y="1674075"/>
            <a:chExt cx="3026243" cy="740002"/>
          </a:xfrm>
        </p:grpSpPr>
        <p:grpSp>
          <p:nvGrpSpPr>
            <p:cNvPr id="44" name="Group 43"/>
            <p:cNvGrpSpPr/>
            <p:nvPr/>
          </p:nvGrpSpPr>
          <p:grpSpPr>
            <a:xfrm>
              <a:off x="7962299" y="1674075"/>
              <a:ext cx="1752600" cy="740002"/>
              <a:chOff x="289560" y="635486"/>
              <a:chExt cx="1752600" cy="740002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289560" y="790713"/>
                <a:ext cx="1752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endParaRPr lang="th-TH" sz="32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083443" y="635486"/>
                <a:ext cx="410077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8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6688656" y="1821325"/>
              <a:ext cx="15462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th-TH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688656" y="2468118"/>
            <a:ext cx="4902367" cy="904337"/>
            <a:chOff x="6688656" y="2285238"/>
            <a:chExt cx="4902367" cy="904337"/>
          </a:xfrm>
        </p:grpSpPr>
        <p:grpSp>
          <p:nvGrpSpPr>
            <p:cNvPr id="54" name="Group 53"/>
            <p:cNvGrpSpPr/>
            <p:nvPr/>
          </p:nvGrpSpPr>
          <p:grpSpPr>
            <a:xfrm>
              <a:off x="7992779" y="2285238"/>
              <a:ext cx="3598244" cy="904337"/>
              <a:chOff x="120316" y="1768189"/>
              <a:chExt cx="3598244" cy="904337"/>
            </a:xfrm>
          </p:grpSpPr>
          <p:grpSp>
            <p:nvGrpSpPr>
              <p:cNvPr id="45" name="Group 44"/>
              <p:cNvGrpSpPr/>
              <p:nvPr/>
            </p:nvGrpSpPr>
            <p:grpSpPr>
              <a:xfrm>
                <a:off x="120316" y="1768189"/>
                <a:ext cx="3598244" cy="735059"/>
                <a:chOff x="-524474" y="640429"/>
                <a:chExt cx="3598244" cy="735059"/>
              </a:xfrm>
            </p:grpSpPr>
            <p:sp>
              <p:nvSpPr>
                <p:cNvPr id="46" name="TextBox 45"/>
                <p:cNvSpPr txBox="1"/>
                <p:nvPr/>
              </p:nvSpPr>
              <p:spPr>
                <a:xfrm>
                  <a:off x="-524474" y="790713"/>
                  <a:ext cx="359824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</a:t>
                  </a:r>
                  <a:r>
                    <a:rPr lang="en-US" sz="32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endParaRPr lang="th-TH" sz="32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1887380" y="640429"/>
                  <a:ext cx="410077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en-US" sz="8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</p:grpSp>
          <p:sp>
            <p:nvSpPr>
              <p:cNvPr id="49" name="TextBox 48"/>
              <p:cNvSpPr txBox="1"/>
              <p:nvPr/>
            </p:nvSpPr>
            <p:spPr>
              <a:xfrm>
                <a:off x="1488580" y="1918473"/>
                <a:ext cx="85008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endPara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endParaRPr lang="th-TH" sz="32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56" name="TextBox 55"/>
            <p:cNvSpPr txBox="1"/>
            <p:nvPr/>
          </p:nvSpPr>
          <p:spPr>
            <a:xfrm>
              <a:off x="6688656" y="2430925"/>
              <a:ext cx="15462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th-TH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8966432" y="4913925"/>
            <a:ext cx="1244695" cy="584775"/>
            <a:chOff x="8966432" y="4731045"/>
            <a:chExt cx="1244695" cy="584775"/>
          </a:xfrm>
        </p:grpSpPr>
        <p:sp>
          <p:nvSpPr>
            <p:cNvPr id="62" name="TextBox 61"/>
            <p:cNvSpPr txBox="1"/>
            <p:nvPr/>
          </p:nvSpPr>
          <p:spPr>
            <a:xfrm>
              <a:off x="8966432" y="4731045"/>
              <a:ext cx="1244695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=&gt; 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(</a:t>
              </a:r>
              <a:r>
                <a:rPr lang="en-US" sz="2400" b="1" baseline="-40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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)</a:t>
              </a:r>
              <a:endParaRPr lang="th-TH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64" name="Straight Connector 63"/>
            <p:cNvCxnSpPr/>
            <p:nvPr/>
          </p:nvCxnSpPr>
          <p:spPr>
            <a:xfrm>
              <a:off x="9534425" y="4832503"/>
              <a:ext cx="21095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485406" y="1806892"/>
            <a:ext cx="1851124" cy="1568376"/>
            <a:chOff x="322846" y="1806892"/>
            <a:chExt cx="1851124" cy="1568376"/>
          </a:xfrm>
        </p:grpSpPr>
        <p:sp>
          <p:nvSpPr>
            <p:cNvPr id="2" name="TextBox 1"/>
            <p:cNvSpPr txBox="1"/>
            <p:nvPr/>
          </p:nvSpPr>
          <p:spPr>
            <a:xfrm>
              <a:off x="322846" y="1828691"/>
              <a:ext cx="1657618" cy="1546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3600" b="1" dirty="0" err="1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iid</a:t>
              </a:r>
              <a:endParaRPr lang="en-US" sz="36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pPr indent="92075">
                <a:lnSpc>
                  <a:spcPts val="2800"/>
                </a:lnSpc>
              </a:pPr>
              <a:r>
                <a:rPr lang="en-US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ndependent</a:t>
              </a:r>
            </a:p>
            <a:p>
              <a:pPr indent="92075">
                <a:lnSpc>
                  <a:spcPts val="2800"/>
                </a:lnSpc>
              </a:pPr>
              <a:r>
                <a:rPr lang="en-US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dentically</a:t>
              </a:r>
              <a:r>
                <a:rPr lang="en-US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</a:p>
            <a:p>
              <a:pPr indent="92075">
                <a:lnSpc>
                  <a:spcPts val="2800"/>
                </a:lnSpc>
              </a:pPr>
              <a:r>
                <a:rPr lang="en-US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D</a:t>
              </a:r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istributed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6" name="Pentagon 5"/>
            <p:cNvSpPr/>
            <p:nvPr/>
          </p:nvSpPr>
          <p:spPr>
            <a:xfrm>
              <a:off x="376565" y="1806892"/>
              <a:ext cx="1797405" cy="1476054"/>
            </a:xfrm>
            <a:prstGeom prst="homePlate">
              <a:avLst>
                <a:gd name="adj" fmla="val 34169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C980C01-4B3C-40B8-A5E8-03BBE1C4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7681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8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316" y="92982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Jackknife Resampling Technique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42" y="729753"/>
            <a:ext cx="12071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Introduced by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Maurice </a:t>
            </a:r>
            <a:r>
              <a:rPr lang="en-US" sz="3200" b="1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Quenouille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 1949 (refined in 1956) and named by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John Tukey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 1958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42" y="1244929"/>
            <a:ext cx="8612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/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Jackknife estimator:</a:t>
            </a:r>
            <a:endParaRPr lang="th-TH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2651" y="2233071"/>
            <a:ext cx="8612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/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Let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… , </a:t>
            </a:r>
            <a:r>
              <a:rPr lang="en-US" sz="3200" b="1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be a sample of size n</a:t>
            </a:r>
            <a:endParaRPr lang="th-TH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5" name="Pentagon 34"/>
          <p:cNvSpPr/>
          <p:nvPr/>
        </p:nvSpPr>
        <p:spPr>
          <a:xfrm>
            <a:off x="1099449" y="3353366"/>
            <a:ext cx="5600529" cy="835867"/>
          </a:xfrm>
          <a:prstGeom prst="homePlate">
            <a:avLst>
              <a:gd name="adj" fmla="val 26837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0" name="TextBox 49"/>
          <p:cNvSpPr txBox="1"/>
          <p:nvPr/>
        </p:nvSpPr>
        <p:spPr>
          <a:xfrm>
            <a:off x="473403" y="1763621"/>
            <a:ext cx="4728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/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Bias estimation and Correction:</a:t>
            </a:r>
            <a:endParaRPr lang="th-TH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859780" y="2697689"/>
            <a:ext cx="4460888" cy="730860"/>
            <a:chOff x="4095023" y="4312964"/>
            <a:chExt cx="4460888" cy="730860"/>
          </a:xfrm>
        </p:grpSpPr>
        <p:sp>
          <p:nvSpPr>
            <p:cNvPr id="51" name="TextBox 50"/>
            <p:cNvSpPr txBox="1"/>
            <p:nvPr/>
          </p:nvSpPr>
          <p:spPr>
            <a:xfrm>
              <a:off x="4095023" y="4459049"/>
              <a:ext cx="44608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- Consider an estimator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</a:t>
              </a:r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of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endParaRPr lang="th-TH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955599" y="4312964"/>
              <a:ext cx="5824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1177670" y="4847078"/>
            <a:ext cx="5554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=&gt; Bias – Corrected Jackknife Estimator of </a:t>
            </a:r>
            <a:r>
              <a:rPr lang="en-US" sz="24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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: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endParaRPr lang="th-TH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8" name="AutoShape 2" descr="O(n^{-1})"/>
          <p:cNvSpPr>
            <a:spLocks noChangeAspect="1" noChangeArrowheads="1"/>
          </p:cNvSpPr>
          <p:nvPr/>
        </p:nvSpPr>
        <p:spPr bwMode="auto">
          <a:xfrm>
            <a:off x="33194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60" name="AutoShape 3" descr="{\displaystyle O(n^{-2})}"/>
          <p:cNvSpPr>
            <a:spLocks noChangeAspect="1" noChangeArrowheads="1"/>
          </p:cNvSpPr>
          <p:nvPr/>
        </p:nvSpPr>
        <p:spPr bwMode="auto">
          <a:xfrm>
            <a:off x="38401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grpSp>
        <p:nvGrpSpPr>
          <p:cNvPr id="122" name="Group 121"/>
          <p:cNvGrpSpPr/>
          <p:nvPr/>
        </p:nvGrpSpPr>
        <p:grpSpPr>
          <a:xfrm>
            <a:off x="1180591" y="4155021"/>
            <a:ext cx="4372086" cy="771673"/>
            <a:chOff x="1180591" y="4429341"/>
            <a:chExt cx="4372086" cy="771673"/>
          </a:xfrm>
        </p:grpSpPr>
        <p:grpSp>
          <p:nvGrpSpPr>
            <p:cNvPr id="76" name="Group 75"/>
            <p:cNvGrpSpPr/>
            <p:nvPr/>
          </p:nvGrpSpPr>
          <p:grpSpPr>
            <a:xfrm>
              <a:off x="1180591" y="4429341"/>
              <a:ext cx="4372086" cy="771673"/>
              <a:chOff x="753306" y="4680143"/>
              <a:chExt cx="4372086" cy="771673"/>
            </a:xfrm>
          </p:grpSpPr>
          <p:grpSp>
            <p:nvGrpSpPr>
              <p:cNvPr id="70" name="Group 69"/>
              <p:cNvGrpSpPr/>
              <p:nvPr/>
            </p:nvGrpSpPr>
            <p:grpSpPr>
              <a:xfrm>
                <a:off x="753306" y="4680143"/>
                <a:ext cx="4372086" cy="771673"/>
                <a:chOff x="768546" y="4954463"/>
                <a:chExt cx="4372086" cy="771673"/>
              </a:xfrm>
            </p:grpSpPr>
            <p:grpSp>
              <p:nvGrpSpPr>
                <p:cNvPr id="54" name="Group 53"/>
                <p:cNvGrpSpPr/>
                <p:nvPr/>
              </p:nvGrpSpPr>
              <p:grpSpPr>
                <a:xfrm>
                  <a:off x="768546" y="4954463"/>
                  <a:ext cx="4372086" cy="771673"/>
                  <a:chOff x="-228600" y="635486"/>
                  <a:chExt cx="4372086" cy="771673"/>
                </a:xfrm>
              </p:grpSpPr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-228600" y="699273"/>
                    <a:ext cx="4372086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=&gt;   Bias (</a:t>
                    </a:r>
                    <a:r>
                      <a:rPr lang="en-US" sz="24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32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)  </a:t>
                    </a:r>
                    <a:r>
                      <a:rPr lang="en-US" sz="3200" b="1" dirty="0">
                        <a:solidFill>
                          <a:srgbClr val="0070C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=  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(n – 1)  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(</a:t>
                    </a:r>
                    <a:r>
                      <a:rPr lang="en-US" sz="2400" b="1" baseline="-36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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)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– </a:t>
                    </a:r>
                    <a:r>
                      <a:rPr lang="en-US" sz="40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 </a:t>
                    </a:r>
                    <a:r>
                      <a:rPr lang="en-US" sz="3200" b="1" dirty="0">
                        <a:solidFill>
                          <a:srgbClr val="0070C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</a:t>
                    </a:r>
                    <a:r>
                      <a:rPr lang="en-US" sz="3200" dirty="0"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endParaRPr lang="th-TH" sz="3200" dirty="0"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  <p:sp>
                <p:nvSpPr>
                  <p:cNvPr id="57" name="TextBox 56"/>
                  <p:cNvSpPr txBox="1"/>
                  <p:nvPr/>
                </p:nvSpPr>
                <p:spPr>
                  <a:xfrm>
                    <a:off x="946283" y="635486"/>
                    <a:ext cx="410077" cy="584775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^ </a:t>
                    </a:r>
                    <a:r>
                      <a:rPr lang="en-US" sz="8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r>
                      <a:rPr lang="en-US" sz="32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endParaRPr lang="th-TH" sz="3200" b="1" dirty="0">
                      <a:solidFill>
                        <a:srgbClr val="C0000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67" name="TextBox 66"/>
                <p:cNvSpPr txBox="1"/>
                <p:nvPr/>
              </p:nvSpPr>
              <p:spPr>
                <a:xfrm>
                  <a:off x="4214189" y="4954463"/>
                  <a:ext cx="410077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^ </a:t>
                  </a:r>
                  <a:r>
                    <a:rPr lang="en-US" sz="8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cxnSp>
              <p:nvCxnSpPr>
                <p:cNvPr id="69" name="Straight Connector 68"/>
                <p:cNvCxnSpPr/>
                <p:nvPr/>
              </p:nvCxnSpPr>
              <p:spPr>
                <a:xfrm>
                  <a:off x="3563985" y="5182165"/>
                  <a:ext cx="193506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Double Bracket 74"/>
              <p:cNvSpPr/>
              <p:nvPr/>
            </p:nvSpPr>
            <p:spPr>
              <a:xfrm>
                <a:off x="3440220" y="4834810"/>
                <a:ext cx="1131780" cy="528427"/>
              </a:xfrm>
              <a:prstGeom prst="bracketPair">
                <a:avLst>
                  <a:gd name="adj" fmla="val 10899"/>
                </a:avLst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1786281" y="4595518"/>
              <a:ext cx="500023" cy="123050"/>
              <a:chOff x="8601326" y="5499207"/>
              <a:chExt cx="667369" cy="137970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 flipV="1">
                <a:off x="8601326" y="5499207"/>
                <a:ext cx="332089" cy="13797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H="1" flipV="1">
                <a:off x="8936606" y="5499207"/>
                <a:ext cx="332089" cy="13797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Group 84"/>
          <p:cNvGrpSpPr/>
          <p:nvPr/>
        </p:nvGrpSpPr>
        <p:grpSpPr>
          <a:xfrm>
            <a:off x="2869728" y="5249575"/>
            <a:ext cx="4906028" cy="773341"/>
            <a:chOff x="1850801" y="5965692"/>
            <a:chExt cx="4906028" cy="773341"/>
          </a:xfrm>
        </p:grpSpPr>
        <p:grpSp>
          <p:nvGrpSpPr>
            <p:cNvPr id="83" name="Group 82"/>
            <p:cNvGrpSpPr/>
            <p:nvPr/>
          </p:nvGrpSpPr>
          <p:grpSpPr>
            <a:xfrm>
              <a:off x="1850801" y="5965692"/>
              <a:ext cx="4906028" cy="773341"/>
              <a:chOff x="1850801" y="5965692"/>
              <a:chExt cx="4906028" cy="773341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1850801" y="5965692"/>
                <a:ext cx="2705959" cy="771673"/>
                <a:chOff x="768546" y="4954463"/>
                <a:chExt cx="2725049" cy="771673"/>
              </a:xfrm>
            </p:grpSpPr>
            <p:grpSp>
              <p:nvGrpSpPr>
                <p:cNvPr id="86" name="Group 85"/>
                <p:cNvGrpSpPr/>
                <p:nvPr/>
              </p:nvGrpSpPr>
              <p:grpSpPr>
                <a:xfrm>
                  <a:off x="768546" y="4954463"/>
                  <a:ext cx="2725049" cy="771673"/>
                  <a:chOff x="-228600" y="635486"/>
                  <a:chExt cx="2725049" cy="771673"/>
                </a:xfrm>
              </p:grpSpPr>
              <p:sp>
                <p:nvSpPr>
                  <p:cNvPr id="89" name="TextBox 88"/>
                  <p:cNvSpPr txBox="1"/>
                  <p:nvPr/>
                </p:nvSpPr>
                <p:spPr>
                  <a:xfrm>
                    <a:off x="-228600" y="699273"/>
                    <a:ext cx="2725049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4000" b="1" baseline="-25000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Jack</a:t>
                    </a:r>
                    <a:r>
                      <a:rPr lang="en-US" sz="32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 </a:t>
                    </a:r>
                    <a:r>
                      <a:rPr lang="en-US" sz="3200" b="1" dirty="0">
                        <a:solidFill>
                          <a:srgbClr val="0070C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=  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– Bias(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)       </a:t>
                    </a:r>
                    <a:r>
                      <a:rPr lang="en-US" sz="40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 </a:t>
                    </a:r>
                    <a:r>
                      <a:rPr lang="en-US" sz="3200" b="1" dirty="0">
                        <a:solidFill>
                          <a:srgbClr val="0070C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</a:t>
                    </a:r>
                    <a:r>
                      <a:rPr lang="en-US" sz="3200" dirty="0"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endParaRPr lang="th-TH" sz="3200" dirty="0"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  <p:sp>
                <p:nvSpPr>
                  <p:cNvPr id="90" name="TextBox 89"/>
                  <p:cNvSpPr txBox="1"/>
                  <p:nvPr/>
                </p:nvSpPr>
                <p:spPr>
                  <a:xfrm>
                    <a:off x="-211987" y="635486"/>
                    <a:ext cx="410077" cy="584775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^ </a:t>
                    </a:r>
                    <a:r>
                      <a:rPr lang="en-US" sz="8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r>
                      <a:rPr lang="en-US" sz="3200" b="1" dirty="0">
                        <a:solidFill>
                          <a:srgbClr val="C0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endParaRPr lang="th-TH" sz="3200" b="1" dirty="0">
                      <a:solidFill>
                        <a:srgbClr val="C0000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87" name="TextBox 86"/>
                <p:cNvSpPr txBox="1"/>
                <p:nvPr/>
              </p:nvSpPr>
              <p:spPr>
                <a:xfrm>
                  <a:off x="1819300" y="4969194"/>
                  <a:ext cx="410077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^ </a:t>
                  </a:r>
                  <a:r>
                    <a:rPr lang="en-US" sz="8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4287089" y="5966851"/>
                <a:ext cx="2469740" cy="772182"/>
                <a:chOff x="7326187" y="5768462"/>
                <a:chExt cx="2469740" cy="772182"/>
              </a:xfrm>
            </p:grpSpPr>
            <p:grpSp>
              <p:nvGrpSpPr>
                <p:cNvPr id="96" name="Group 95"/>
                <p:cNvGrpSpPr/>
                <p:nvPr/>
              </p:nvGrpSpPr>
              <p:grpSpPr>
                <a:xfrm>
                  <a:off x="7326187" y="5768462"/>
                  <a:ext cx="2469740" cy="772182"/>
                  <a:chOff x="1515307" y="4953954"/>
                  <a:chExt cx="2469740" cy="772182"/>
                </a:xfrm>
              </p:grpSpPr>
              <p:sp>
                <p:nvSpPr>
                  <p:cNvPr id="104" name="TextBox 103"/>
                  <p:cNvSpPr txBox="1"/>
                  <p:nvPr/>
                </p:nvSpPr>
                <p:spPr>
                  <a:xfrm>
                    <a:off x="1515307" y="5018250"/>
                    <a:ext cx="2469740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0070C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=  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n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– (n – 1) 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(</a:t>
                    </a:r>
                    <a:r>
                      <a:rPr lang="en-US" sz="2400" b="1" baseline="-36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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)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 </a:t>
                    </a:r>
                    <a:r>
                      <a:rPr lang="en-US" sz="40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 </a:t>
                    </a:r>
                    <a:r>
                      <a:rPr lang="en-US" sz="3200" b="1" dirty="0">
                        <a:solidFill>
                          <a:srgbClr val="0070C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 </a:t>
                    </a:r>
                    <a:r>
                      <a:rPr lang="en-US" sz="3200" dirty="0"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endParaRPr lang="th-TH" sz="3200" dirty="0"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  <p:sp>
                <p:nvSpPr>
                  <p:cNvPr id="103" name="TextBox 102"/>
                  <p:cNvSpPr txBox="1"/>
                  <p:nvPr/>
                </p:nvSpPr>
                <p:spPr>
                  <a:xfrm>
                    <a:off x="1957428" y="4953954"/>
                    <a:ext cx="410077" cy="584775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^ </a:t>
                    </a:r>
                    <a:r>
                      <a:rPr lang="en-US" sz="8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endParaRPr lang="th-TH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</p:grp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9031842" y="6019797"/>
                  <a:ext cx="216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8" name="TextBox 107"/>
            <p:cNvSpPr txBox="1"/>
            <p:nvPr/>
          </p:nvSpPr>
          <p:spPr>
            <a:xfrm>
              <a:off x="3891664" y="5975003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111" name="Group 110"/>
            <p:cNvGrpSpPr/>
            <p:nvPr/>
          </p:nvGrpSpPr>
          <p:grpSpPr>
            <a:xfrm>
              <a:off x="3401785" y="6146711"/>
              <a:ext cx="500023" cy="123050"/>
              <a:chOff x="8601326" y="5499207"/>
              <a:chExt cx="667369" cy="137970"/>
            </a:xfrm>
          </p:grpSpPr>
          <p:cxnSp>
            <p:nvCxnSpPr>
              <p:cNvPr id="112" name="Straight Connector 111"/>
              <p:cNvCxnSpPr/>
              <p:nvPr/>
            </p:nvCxnSpPr>
            <p:spPr>
              <a:xfrm flipV="1">
                <a:off x="8601326" y="5499207"/>
                <a:ext cx="332089" cy="13797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/>
              <p:nvPr/>
            </p:nvCxnSpPr>
            <p:spPr>
              <a:xfrm flipH="1" flipV="1">
                <a:off x="8936606" y="5499207"/>
                <a:ext cx="332089" cy="13797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Group 87"/>
          <p:cNvGrpSpPr/>
          <p:nvPr/>
        </p:nvGrpSpPr>
        <p:grpSpPr>
          <a:xfrm>
            <a:off x="882811" y="3300515"/>
            <a:ext cx="5778988" cy="752326"/>
            <a:chOff x="882811" y="2325155"/>
            <a:chExt cx="5778988" cy="752326"/>
          </a:xfrm>
        </p:grpSpPr>
        <p:sp>
          <p:nvSpPr>
            <p:cNvPr id="16" name="TextBox 15"/>
            <p:cNvSpPr txBox="1"/>
            <p:nvPr/>
          </p:nvSpPr>
          <p:spPr>
            <a:xfrm>
              <a:off x="882811" y="2431150"/>
              <a:ext cx="57789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- Calculate 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</a:t>
              </a:r>
              <a:r>
                <a:rPr lang="en-US" sz="4000" b="1" baseline="-25000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)</a:t>
              </a:r>
              <a:r>
                <a:rPr lang="en-US" sz="36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=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… , 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 – 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X</a:t>
              </a:r>
              <a:r>
                <a:rPr lang="en-US" sz="32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 + 1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… , </a:t>
              </a:r>
              <a:r>
                <a:rPr lang="en-US" sz="3200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r>
                <a:rPr lang="en-US" sz="36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)</a:t>
              </a:r>
              <a:endParaRPr lang="th-TH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336783" y="2328800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034635" y="2325155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6846494" y="3315251"/>
            <a:ext cx="2530755" cy="780906"/>
            <a:chOff x="7124133" y="2127035"/>
            <a:chExt cx="2530755" cy="780906"/>
          </a:xfrm>
        </p:grpSpPr>
        <p:sp>
          <p:nvSpPr>
            <p:cNvPr id="28" name="TextBox 27"/>
            <p:cNvSpPr txBox="1"/>
            <p:nvPr/>
          </p:nvSpPr>
          <p:spPr>
            <a:xfrm>
              <a:off x="7124133" y="2200055"/>
              <a:ext cx="25307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(1)</a:t>
              </a:r>
              <a:r>
                <a:rPr lang="en-US" sz="36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(2)</a:t>
              </a:r>
              <a:r>
                <a:rPr lang="en-US" sz="36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… ,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(n)</a:t>
              </a:r>
              <a:endParaRPr lang="th-TH" sz="36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7134195" y="2127035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713315" y="2127035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8810595" y="2127035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119" name="Pentagon 118"/>
          <p:cNvSpPr/>
          <p:nvPr/>
        </p:nvSpPr>
        <p:spPr>
          <a:xfrm>
            <a:off x="6860169" y="3353366"/>
            <a:ext cx="2381755" cy="835867"/>
          </a:xfrm>
          <a:prstGeom prst="homePlate">
            <a:avLst>
              <a:gd name="adj" fmla="val 26837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92" name="Group 91"/>
          <p:cNvGrpSpPr/>
          <p:nvPr/>
        </p:nvGrpSpPr>
        <p:grpSpPr>
          <a:xfrm>
            <a:off x="9526331" y="3314823"/>
            <a:ext cx="2173574" cy="869816"/>
            <a:chOff x="9415240" y="5464507"/>
            <a:chExt cx="2173574" cy="869816"/>
          </a:xfrm>
        </p:grpSpPr>
        <p:grpSp>
          <p:nvGrpSpPr>
            <p:cNvPr id="34" name="Group 33"/>
            <p:cNvGrpSpPr/>
            <p:nvPr/>
          </p:nvGrpSpPr>
          <p:grpSpPr>
            <a:xfrm>
              <a:off x="9415240" y="5472549"/>
              <a:ext cx="2173574" cy="861774"/>
              <a:chOff x="2332950" y="4331247"/>
              <a:chExt cx="2173574" cy="861774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2332950" y="4331247"/>
                <a:ext cx="2173574" cy="861774"/>
                <a:chOff x="2332950" y="2997298"/>
                <a:chExt cx="2173574" cy="861774"/>
              </a:xfrm>
            </p:grpSpPr>
            <p:sp>
              <p:nvSpPr>
                <p:cNvPr id="26" name="TextBox 25"/>
                <p:cNvSpPr txBox="1"/>
                <p:nvPr/>
              </p:nvSpPr>
              <p:spPr>
                <a:xfrm>
                  <a:off x="2332950" y="3099366"/>
                  <a:ext cx="181218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73050" indent="-273050"/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(</a:t>
                  </a:r>
                  <a:r>
                    <a:rPr lang="en-US" sz="2400" b="1" baseline="-40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</a:t>
                  </a:r>
                  <a:r>
                    <a:rPr lang="en-US" sz="36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)</a:t>
                  </a:r>
                  <a:r>
                    <a:rPr lang="en-US" sz="3600" b="1" dirty="0">
                      <a:solidFill>
                        <a:srgbClr val="C0000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en-US" sz="36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=</a:t>
                  </a:r>
                  <a:endParaRPr lang="th-TH" sz="36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grpSp>
              <p:nvGrpSpPr>
                <p:cNvPr id="20" name="Group 19"/>
                <p:cNvGrpSpPr/>
                <p:nvPr/>
              </p:nvGrpSpPr>
              <p:grpSpPr>
                <a:xfrm>
                  <a:off x="3205314" y="3128961"/>
                  <a:ext cx="350172" cy="656590"/>
                  <a:chOff x="3205314" y="3128961"/>
                  <a:chExt cx="350172" cy="656590"/>
                </a:xfrm>
              </p:grpSpPr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3205314" y="3128961"/>
                    <a:ext cx="350172" cy="6565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ts val="2200"/>
                      </a:lnSpc>
                    </a:pP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1</a:t>
                    </a:r>
                  </a:p>
                  <a:p>
                    <a:pPr algn="ctr">
                      <a:lnSpc>
                        <a:spcPts val="2200"/>
                      </a:lnSpc>
                    </a:pP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n </a:t>
                    </a:r>
                    <a:endParaRPr lang="th-TH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  <p:cxnSp>
                <p:nvCxnSpPr>
                  <p:cNvPr id="25" name="Straight Connector 24"/>
                  <p:cNvCxnSpPr/>
                  <p:nvPr/>
                </p:nvCxnSpPr>
                <p:spPr>
                  <a:xfrm>
                    <a:off x="3207208" y="3429976"/>
                    <a:ext cx="3240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" name="Group 20"/>
                <p:cNvGrpSpPr/>
                <p:nvPr/>
              </p:nvGrpSpPr>
              <p:grpSpPr>
                <a:xfrm>
                  <a:off x="3308266" y="2997298"/>
                  <a:ext cx="1198258" cy="861774"/>
                  <a:chOff x="6620893" y="3298566"/>
                  <a:chExt cx="1198258" cy="861774"/>
                </a:xfrm>
              </p:grpSpPr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6620893" y="3298566"/>
                    <a:ext cx="943897" cy="86177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ts val="2000"/>
                      </a:lnSpc>
                    </a:pPr>
                    <a:r>
                      <a:rPr lang="en-US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n</a:t>
                    </a:r>
                  </a:p>
                  <a:p>
                    <a:pPr algn="ctr">
                      <a:lnSpc>
                        <a:spcPts val="2000"/>
                      </a:lnSpc>
                    </a:pPr>
                    <a:endPara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  <a:p>
                    <a:pPr algn="ctr">
                      <a:lnSpc>
                        <a:spcPts val="2000"/>
                      </a:lnSpc>
                    </a:pPr>
                    <a:r>
                      <a:rPr lang="en-US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i = 1</a:t>
                    </a:r>
                  </a:p>
                </p:txBody>
              </p:sp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6883328" y="3364420"/>
                    <a:ext cx="935823" cy="7078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 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(</a:t>
                    </a:r>
                    <a:r>
                      <a:rPr lang="en-US" sz="4000" b="1" baseline="-25000" dirty="0" err="1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i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)</a:t>
                    </a:r>
                    <a:endParaRPr lang="th-TH" sz="40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</p:grpSp>
          </p:grpSp>
          <p:cxnSp>
            <p:nvCxnSpPr>
              <p:cNvPr id="33" name="Straight Connector 32"/>
              <p:cNvCxnSpPr/>
              <p:nvPr/>
            </p:nvCxnSpPr>
            <p:spPr>
              <a:xfrm>
                <a:off x="2400551" y="4569873"/>
                <a:ext cx="216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/>
            <p:cNvSpPr txBox="1"/>
            <p:nvPr/>
          </p:nvSpPr>
          <p:spPr>
            <a:xfrm>
              <a:off x="10979832" y="5464507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121" name="Rectangle 120"/>
          <p:cNvSpPr/>
          <p:nvPr/>
        </p:nvSpPr>
        <p:spPr>
          <a:xfrm>
            <a:off x="9405249" y="3353366"/>
            <a:ext cx="2381755" cy="83586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23" name="Group 122"/>
          <p:cNvGrpSpPr/>
          <p:nvPr/>
        </p:nvGrpSpPr>
        <p:grpSpPr>
          <a:xfrm>
            <a:off x="122722" y="6043839"/>
            <a:ext cx="11215790" cy="527000"/>
            <a:chOff x="-319238" y="526959"/>
            <a:chExt cx="11215790" cy="527000"/>
          </a:xfrm>
        </p:grpSpPr>
        <p:sp>
          <p:nvSpPr>
            <p:cNvPr id="124" name="TextBox 123"/>
            <p:cNvSpPr txBox="1"/>
            <p:nvPr/>
          </p:nvSpPr>
          <p:spPr>
            <a:xfrm>
              <a:off x="-319238" y="623073"/>
              <a:ext cx="11215790" cy="379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b="1" baseline="-25000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036824" y="526959"/>
              <a:ext cx="41007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</a:t>
              </a:r>
              <a:endParaRPr lang="th-TH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541525" y="529096"/>
              <a:ext cx="41007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  <a:endParaRPr lang="th-TH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136061" y="530739"/>
              <a:ext cx="41007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  <a:endParaRPr lang="th-TH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C632B7-5867-4431-8B96-F85757738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6</a:t>
            </a:fld>
            <a:endParaRPr lang="th-TH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6CC29CA-775C-4326-BB3D-E30D45B91F03}"/>
              </a:ext>
            </a:extLst>
          </p:cNvPr>
          <p:cNvSpPr txBox="1"/>
          <p:nvPr/>
        </p:nvSpPr>
        <p:spPr>
          <a:xfrm>
            <a:off x="2941982" y="3109175"/>
            <a:ext cx="61679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97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  <p:bldP spid="6" grpId="0"/>
      <p:bldP spid="7" grpId="0"/>
      <p:bldP spid="35" grpId="0" animBg="1"/>
      <p:bldP spid="50" grpId="0"/>
      <p:bldP spid="81" grpId="0"/>
      <p:bldP spid="119" grpId="0" animBg="1"/>
      <p:bldP spid="1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316" y="98662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Jackknife Resampling Technique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42" y="1244929"/>
            <a:ext cx="8612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/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Jackknife estimator:</a:t>
            </a:r>
            <a:endParaRPr lang="th-TH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73403" y="1763621"/>
            <a:ext cx="5684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/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The Jackknife Estimator of Variance:</a:t>
            </a:r>
            <a:endParaRPr lang="th-TH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8" name="AutoShape 2" descr="O(n^{-1})"/>
          <p:cNvSpPr>
            <a:spLocks noChangeAspect="1" noChangeArrowheads="1"/>
          </p:cNvSpPr>
          <p:nvPr/>
        </p:nvSpPr>
        <p:spPr bwMode="auto">
          <a:xfrm>
            <a:off x="33194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60" name="AutoShape 3" descr="{\displaystyle O(n^{-2})}"/>
          <p:cNvSpPr>
            <a:spLocks noChangeAspect="1" noChangeArrowheads="1"/>
          </p:cNvSpPr>
          <p:nvPr/>
        </p:nvSpPr>
        <p:spPr bwMode="auto">
          <a:xfrm>
            <a:off x="38401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51" name="TextBox 150"/>
          <p:cNvSpPr txBox="1"/>
          <p:nvPr/>
        </p:nvSpPr>
        <p:spPr>
          <a:xfrm>
            <a:off x="862651" y="2233071"/>
            <a:ext cx="8612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/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Let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X</a:t>
            </a:r>
            <a:r>
              <a:rPr lang="en-US" sz="40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… , </a:t>
            </a:r>
            <a:r>
              <a:rPr lang="en-US" sz="3200" b="1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4000" b="1" baseline="-25000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be a sample of size n</a:t>
            </a:r>
            <a:endParaRPr lang="th-TH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52" name="Pentagon 151"/>
          <p:cNvSpPr/>
          <p:nvPr/>
        </p:nvSpPr>
        <p:spPr>
          <a:xfrm>
            <a:off x="1099449" y="3353366"/>
            <a:ext cx="5600529" cy="835867"/>
          </a:xfrm>
          <a:prstGeom prst="homePlate">
            <a:avLst>
              <a:gd name="adj" fmla="val 26837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53" name="Group 152"/>
          <p:cNvGrpSpPr/>
          <p:nvPr/>
        </p:nvGrpSpPr>
        <p:grpSpPr>
          <a:xfrm>
            <a:off x="859780" y="2697689"/>
            <a:ext cx="4460888" cy="730860"/>
            <a:chOff x="4095023" y="4312964"/>
            <a:chExt cx="4460888" cy="730860"/>
          </a:xfrm>
        </p:grpSpPr>
        <p:sp>
          <p:nvSpPr>
            <p:cNvPr id="154" name="TextBox 153"/>
            <p:cNvSpPr txBox="1"/>
            <p:nvPr/>
          </p:nvSpPr>
          <p:spPr>
            <a:xfrm>
              <a:off x="4095023" y="4459049"/>
              <a:ext cx="44608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- Consider an estimator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</a:t>
              </a:r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of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endParaRPr lang="th-TH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955599" y="4312964"/>
              <a:ext cx="5824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882811" y="3300515"/>
            <a:ext cx="5778988" cy="752326"/>
            <a:chOff x="882811" y="2325155"/>
            <a:chExt cx="5778988" cy="752326"/>
          </a:xfrm>
        </p:grpSpPr>
        <p:sp>
          <p:nvSpPr>
            <p:cNvPr id="157" name="TextBox 156"/>
            <p:cNvSpPr txBox="1"/>
            <p:nvPr/>
          </p:nvSpPr>
          <p:spPr>
            <a:xfrm>
              <a:off x="882811" y="2431150"/>
              <a:ext cx="57789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- Calculate 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</a:t>
              </a:r>
              <a:r>
                <a:rPr lang="en-US" sz="4000" b="1" baseline="-25000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)</a:t>
              </a:r>
              <a:r>
                <a:rPr lang="en-US" sz="36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=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… , 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 – 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X</a:t>
              </a:r>
              <a:r>
                <a:rPr lang="en-US" sz="32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 + 1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… , </a:t>
              </a:r>
              <a:r>
                <a:rPr lang="en-US" sz="3200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r>
                <a:rPr lang="en-US" sz="36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)</a:t>
              </a:r>
              <a:endParaRPr lang="th-TH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2336783" y="2328800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034635" y="2325155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60" name="Group 159"/>
          <p:cNvGrpSpPr/>
          <p:nvPr/>
        </p:nvGrpSpPr>
        <p:grpSpPr>
          <a:xfrm>
            <a:off x="6846494" y="3315251"/>
            <a:ext cx="2530755" cy="780906"/>
            <a:chOff x="7124133" y="2127035"/>
            <a:chExt cx="2530755" cy="780906"/>
          </a:xfrm>
        </p:grpSpPr>
        <p:sp>
          <p:nvSpPr>
            <p:cNvPr id="161" name="TextBox 160"/>
            <p:cNvSpPr txBox="1"/>
            <p:nvPr/>
          </p:nvSpPr>
          <p:spPr>
            <a:xfrm>
              <a:off x="7124133" y="2200055"/>
              <a:ext cx="25307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(1)</a:t>
              </a:r>
              <a:r>
                <a:rPr lang="en-US" sz="36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(2)</a:t>
              </a:r>
              <a:r>
                <a:rPr lang="en-US" sz="36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… ,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(n)</a:t>
              </a:r>
              <a:endParaRPr lang="th-TH" sz="36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7134195" y="2127035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7713315" y="2127035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8810595" y="2127035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165" name="Pentagon 164"/>
          <p:cNvSpPr/>
          <p:nvPr/>
        </p:nvSpPr>
        <p:spPr>
          <a:xfrm>
            <a:off x="6860169" y="3353366"/>
            <a:ext cx="2381755" cy="835867"/>
          </a:xfrm>
          <a:prstGeom prst="homePlate">
            <a:avLst>
              <a:gd name="adj" fmla="val 26837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66" name="Group 165"/>
          <p:cNvGrpSpPr/>
          <p:nvPr/>
        </p:nvGrpSpPr>
        <p:grpSpPr>
          <a:xfrm>
            <a:off x="9526331" y="3314823"/>
            <a:ext cx="2173574" cy="869816"/>
            <a:chOff x="9415240" y="5464507"/>
            <a:chExt cx="2173574" cy="869816"/>
          </a:xfrm>
        </p:grpSpPr>
        <p:grpSp>
          <p:nvGrpSpPr>
            <p:cNvPr id="167" name="Group 166"/>
            <p:cNvGrpSpPr/>
            <p:nvPr/>
          </p:nvGrpSpPr>
          <p:grpSpPr>
            <a:xfrm>
              <a:off x="9415240" y="5472549"/>
              <a:ext cx="2173574" cy="861774"/>
              <a:chOff x="2332950" y="4331247"/>
              <a:chExt cx="2173574" cy="861774"/>
            </a:xfrm>
          </p:grpSpPr>
          <p:grpSp>
            <p:nvGrpSpPr>
              <p:cNvPr id="169" name="Group 168"/>
              <p:cNvGrpSpPr/>
              <p:nvPr/>
            </p:nvGrpSpPr>
            <p:grpSpPr>
              <a:xfrm>
                <a:off x="2332950" y="4331247"/>
                <a:ext cx="2173574" cy="861774"/>
                <a:chOff x="2332950" y="2997298"/>
                <a:chExt cx="2173574" cy="861774"/>
              </a:xfrm>
            </p:grpSpPr>
            <p:sp>
              <p:nvSpPr>
                <p:cNvPr id="171" name="TextBox 170"/>
                <p:cNvSpPr txBox="1"/>
                <p:nvPr/>
              </p:nvSpPr>
              <p:spPr>
                <a:xfrm>
                  <a:off x="2332950" y="3099366"/>
                  <a:ext cx="181218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73050" indent="-273050"/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(</a:t>
                  </a:r>
                  <a:r>
                    <a:rPr lang="en-US" sz="2400" b="1" baseline="-40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</a:t>
                  </a:r>
                  <a:r>
                    <a:rPr lang="en-US" sz="36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)</a:t>
                  </a:r>
                  <a:r>
                    <a:rPr lang="en-US" sz="3600" b="1" dirty="0">
                      <a:solidFill>
                        <a:srgbClr val="C0000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en-US" sz="36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=</a:t>
                  </a:r>
                  <a:endParaRPr lang="th-TH" sz="36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grpSp>
              <p:nvGrpSpPr>
                <p:cNvPr id="172" name="Group 171"/>
                <p:cNvGrpSpPr/>
                <p:nvPr/>
              </p:nvGrpSpPr>
              <p:grpSpPr>
                <a:xfrm>
                  <a:off x="3205314" y="3128961"/>
                  <a:ext cx="350172" cy="656590"/>
                  <a:chOff x="3205314" y="3128961"/>
                  <a:chExt cx="350172" cy="656590"/>
                </a:xfrm>
              </p:grpSpPr>
              <p:sp>
                <p:nvSpPr>
                  <p:cNvPr id="176" name="TextBox 175"/>
                  <p:cNvSpPr txBox="1"/>
                  <p:nvPr/>
                </p:nvSpPr>
                <p:spPr>
                  <a:xfrm>
                    <a:off x="3205314" y="3128961"/>
                    <a:ext cx="350172" cy="6565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ts val="2200"/>
                      </a:lnSpc>
                    </a:pP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1</a:t>
                    </a:r>
                  </a:p>
                  <a:p>
                    <a:pPr algn="ctr">
                      <a:lnSpc>
                        <a:spcPts val="2200"/>
                      </a:lnSpc>
                    </a:pP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n </a:t>
                    </a:r>
                    <a:endParaRPr lang="th-TH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  <p:cxnSp>
                <p:nvCxnSpPr>
                  <p:cNvPr id="177" name="Straight Connector 176"/>
                  <p:cNvCxnSpPr/>
                  <p:nvPr/>
                </p:nvCxnSpPr>
                <p:spPr>
                  <a:xfrm>
                    <a:off x="3207208" y="3429976"/>
                    <a:ext cx="3240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3" name="Group 172"/>
                <p:cNvGrpSpPr/>
                <p:nvPr/>
              </p:nvGrpSpPr>
              <p:grpSpPr>
                <a:xfrm>
                  <a:off x="3308266" y="2997298"/>
                  <a:ext cx="1198258" cy="861774"/>
                  <a:chOff x="6620893" y="3298566"/>
                  <a:chExt cx="1198258" cy="861774"/>
                </a:xfrm>
              </p:grpSpPr>
              <p:sp>
                <p:nvSpPr>
                  <p:cNvPr id="174" name="TextBox 173"/>
                  <p:cNvSpPr txBox="1"/>
                  <p:nvPr/>
                </p:nvSpPr>
                <p:spPr>
                  <a:xfrm>
                    <a:off x="6620893" y="3298566"/>
                    <a:ext cx="943897" cy="86177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ts val="2000"/>
                      </a:lnSpc>
                    </a:pPr>
                    <a:r>
                      <a:rPr lang="en-US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n</a:t>
                    </a:r>
                  </a:p>
                  <a:p>
                    <a:pPr algn="ctr">
                      <a:lnSpc>
                        <a:spcPts val="2000"/>
                      </a:lnSpc>
                    </a:pPr>
                    <a:endParaRPr lang="en-US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  <a:p>
                    <a:pPr algn="ctr">
                      <a:lnSpc>
                        <a:spcPts val="2000"/>
                      </a:lnSpc>
                    </a:pPr>
                    <a:r>
                      <a:rPr lang="en-US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i = 1</a:t>
                    </a:r>
                  </a:p>
                </p:txBody>
              </p:sp>
              <p:sp>
                <p:nvSpPr>
                  <p:cNvPr id="175" name="TextBox 174"/>
                  <p:cNvSpPr txBox="1"/>
                  <p:nvPr/>
                </p:nvSpPr>
                <p:spPr>
                  <a:xfrm>
                    <a:off x="6883328" y="3364420"/>
                    <a:ext cx="935823" cy="7078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 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(</a:t>
                    </a:r>
                    <a:r>
                      <a:rPr lang="en-US" sz="4000" b="1" baseline="-25000" dirty="0" err="1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i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)</a:t>
                    </a:r>
                    <a:endParaRPr lang="th-TH" sz="40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</p:grpSp>
          </p:grpSp>
          <p:cxnSp>
            <p:nvCxnSpPr>
              <p:cNvPr id="170" name="Straight Connector 169"/>
              <p:cNvCxnSpPr/>
              <p:nvPr/>
            </p:nvCxnSpPr>
            <p:spPr>
              <a:xfrm>
                <a:off x="2400551" y="4569873"/>
                <a:ext cx="216000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8" name="TextBox 167"/>
            <p:cNvSpPr txBox="1"/>
            <p:nvPr/>
          </p:nvSpPr>
          <p:spPr>
            <a:xfrm>
              <a:off x="10979832" y="5464507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178" name="Rectangle 177"/>
          <p:cNvSpPr/>
          <p:nvPr/>
        </p:nvSpPr>
        <p:spPr>
          <a:xfrm>
            <a:off x="9405249" y="3353366"/>
            <a:ext cx="2381755" cy="83586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8" name="Group 7"/>
          <p:cNvGrpSpPr/>
          <p:nvPr/>
        </p:nvGrpSpPr>
        <p:grpSpPr>
          <a:xfrm>
            <a:off x="1177670" y="4087487"/>
            <a:ext cx="6303746" cy="1293849"/>
            <a:chOff x="1177670" y="4081807"/>
            <a:chExt cx="6136854" cy="1293849"/>
          </a:xfrm>
        </p:grpSpPr>
        <p:sp>
          <p:nvSpPr>
            <p:cNvPr id="179" name="TextBox 178"/>
            <p:cNvSpPr txBox="1"/>
            <p:nvPr/>
          </p:nvSpPr>
          <p:spPr>
            <a:xfrm>
              <a:off x="1177670" y="4298438"/>
              <a:ext cx="608896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3200" b="1" dirty="0">
                  <a:solidFill>
                    <a:schemeClr val="accent5">
                      <a:lumMod val="75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=&gt; The Jackknife Estimate of standard error for  </a:t>
              </a:r>
              <a:r>
                <a:rPr lang="en-US" sz="24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 </a:t>
              </a:r>
              <a:r>
                <a:rPr lang="en-US" sz="3200" b="1" dirty="0">
                  <a:solidFill>
                    <a:schemeClr val="accent5">
                      <a:lumMod val="75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:</a:t>
              </a:r>
              <a:r>
                <a:rPr lang="en-US" sz="3200" b="1" dirty="0">
                  <a:solidFill>
                    <a:schemeClr val="accent5">
                      <a:lumMod val="75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  <a:endParaRPr lang="th-TH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6732074" y="4081807"/>
              <a:ext cx="5824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 </a:t>
              </a:r>
              <a:endParaRPr lang="th-TH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4AC119-EBE5-4F11-BEA6-70DB8701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7</a:t>
            </a:fld>
            <a:endParaRPr lang="th-TH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64CD4B5-D934-49DE-8C18-9E266699CF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176301"/>
              </p:ext>
            </p:extLst>
          </p:nvPr>
        </p:nvGraphicFramePr>
        <p:xfrm>
          <a:off x="4781550" y="28162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177480" progId="Equation.DSMT4">
                  <p:embed/>
                </p:oleObj>
              </mc:Choice>
              <mc:Fallback>
                <p:oleObj name="Equation" r:id="rId2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81550" y="28162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F473731-EEEB-4397-BB62-4CE05252DF8B}"/>
                  </a:ext>
                </a:extLst>
              </p:cNvPr>
              <p:cNvSpPr txBox="1"/>
              <p:nvPr/>
            </p:nvSpPr>
            <p:spPr>
              <a:xfrm>
                <a:off x="899932" y="4420810"/>
                <a:ext cx="9053759" cy="2375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limUpp>
                        <m:limUp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li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⌢</m:t>
                          </m:r>
                        </m:lim>
                      </m:limUpp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limUpp>
                        <m:limUp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li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⌢</m:t>
                          </m:r>
                        </m:lim>
                      </m:limUpp>
                      <m:r>
                        <a:rPr lang="en-US" i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grow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4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d>
                                                <m:dPr>
                                                  <m:ctrlPr>
                                                    <a:rPr lang="en-US" sz="4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4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  <m:r>
                                            <a:rPr lang="en-US" sz="40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4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4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4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d>
                                                <m:dPr>
                                                  <m:ctrlPr>
                                                    <a:rPr lang="en-US" sz="4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4000" i="0">
                                                      <a:latin typeface="Cambria Math" panose="02040503050406030204" pitchFamily="18" charset="0"/>
                                                    </a:rPr>
                                                    <m:t>•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40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4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F473731-EEEB-4397-BB62-4CE05252D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932" y="4420810"/>
                <a:ext cx="9053759" cy="23759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98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9203" y="836433"/>
            <a:ext cx="3870158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Population:  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Parameter = 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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cxnSp>
        <p:nvCxnSpPr>
          <p:cNvPr id="3" name="Straight Connector 2"/>
          <p:cNvCxnSpPr>
            <a:stCxn id="5" idx="2"/>
          </p:cNvCxnSpPr>
          <p:nvPr/>
        </p:nvCxnSpPr>
        <p:spPr>
          <a:xfrm>
            <a:off x="4984282" y="1421208"/>
            <a:ext cx="0" cy="17899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547261" y="3780762"/>
            <a:ext cx="7416000" cy="182880"/>
            <a:chOff x="3108960" y="1737360"/>
            <a:chExt cx="7416000" cy="18288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108960" y="1737360"/>
              <a:ext cx="741600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109762" y="1741248"/>
              <a:ext cx="0" cy="17899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538762" y="1741248"/>
              <a:ext cx="0" cy="17899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0516402" y="1741248"/>
              <a:ext cx="0" cy="17899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3049203" y="1602144"/>
            <a:ext cx="3870158" cy="1200329"/>
            <a:chOff x="4024563" y="1739304"/>
            <a:chExt cx="3870158" cy="1200329"/>
          </a:xfrm>
        </p:grpSpPr>
        <p:sp>
          <p:nvSpPr>
            <p:cNvPr id="13" name="TextBox 12"/>
            <p:cNvSpPr txBox="1"/>
            <p:nvPr/>
          </p:nvSpPr>
          <p:spPr>
            <a:xfrm>
              <a:off x="4024563" y="1739304"/>
              <a:ext cx="3870158" cy="1200329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 Sample: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… , </a:t>
              </a:r>
              <a:r>
                <a:rPr lang="en-US" sz="3200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iid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F</a:t>
              </a:r>
            </a:p>
            <a:p>
              <a:r>
                <a:rPr lang="en-US" sz="40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 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=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(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X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… , </a:t>
              </a:r>
              <a:r>
                <a:rPr lang="en-US" sz="3200" b="1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X</a:t>
              </a:r>
              <a:r>
                <a:rPr lang="en-US" sz="4000" b="1" baseline="-25000" dirty="0" err="1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)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50543" y="2183250"/>
              <a:ext cx="9815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   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4984282" y="2823288"/>
            <a:ext cx="0" cy="17899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49203" y="2995383"/>
            <a:ext cx="3870158" cy="584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Resampling</a:t>
            </a:r>
            <a:endParaRPr lang="th-TH" sz="32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4984282" y="3600528"/>
            <a:ext cx="0" cy="17899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74389" y="3942291"/>
            <a:ext cx="81654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…</a:t>
            </a:r>
            <a:endParaRPr lang="th-TH" sz="32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0316" y="98662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Jackknife Resampling Technique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0662" y="3945044"/>
            <a:ext cx="2963677" cy="1131992"/>
            <a:chOff x="120316" y="3942928"/>
            <a:chExt cx="2963677" cy="1131992"/>
          </a:xfrm>
        </p:grpSpPr>
        <p:grpSp>
          <p:nvGrpSpPr>
            <p:cNvPr id="41" name="Group 40"/>
            <p:cNvGrpSpPr/>
            <p:nvPr/>
          </p:nvGrpSpPr>
          <p:grpSpPr>
            <a:xfrm>
              <a:off x="120316" y="3942928"/>
              <a:ext cx="2963677" cy="1131992"/>
              <a:chOff x="1598596" y="4186768"/>
              <a:chExt cx="2963677" cy="1131992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1598596" y="4186768"/>
                <a:ext cx="2963677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Jackknife sample 1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grpSp>
            <p:nvGrpSpPr>
              <p:cNvPr id="27" name="Group 26"/>
              <p:cNvGrpSpPr/>
              <p:nvPr/>
            </p:nvGrpSpPr>
            <p:grpSpPr>
              <a:xfrm>
                <a:off x="1598596" y="4558180"/>
                <a:ext cx="2963677" cy="742398"/>
                <a:chOff x="3118487" y="1769417"/>
                <a:chExt cx="2963677" cy="575964"/>
              </a:xfrm>
            </p:grpSpPr>
            <p:sp>
              <p:nvSpPr>
                <p:cNvPr id="28" name="TextBox 27"/>
                <p:cNvSpPr txBox="1"/>
                <p:nvPr/>
              </p:nvSpPr>
              <p:spPr>
                <a:xfrm>
                  <a:off x="3118487" y="1891704"/>
                  <a:ext cx="2963677" cy="45367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(1)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= </a:t>
                  </a:r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(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X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2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, X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3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, … , </a:t>
                  </a:r>
                  <a:r>
                    <a:rPr lang="en-US" sz="3200" b="1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X</a:t>
                  </a:r>
                  <a:r>
                    <a:rPr lang="en-US" sz="4000" b="1" baseline="-25000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)</a:t>
                  </a:r>
                  <a:endParaRPr lang="th-TH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3118785" y="1769417"/>
                  <a:ext cx="347313" cy="45367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^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</p:grpSp>
          <p:sp>
            <p:nvSpPr>
              <p:cNvPr id="33" name="Rectangle 32"/>
              <p:cNvSpPr/>
              <p:nvPr/>
            </p:nvSpPr>
            <p:spPr>
              <a:xfrm>
                <a:off x="1598596" y="4209967"/>
                <a:ext cx="2866723" cy="1108793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58" name="TextBox 57"/>
            <p:cNvSpPr txBox="1"/>
            <p:nvPr/>
          </p:nvSpPr>
          <p:spPr>
            <a:xfrm>
              <a:off x="760694" y="4314341"/>
              <a:ext cx="347313" cy="58477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3503092" y="3945937"/>
            <a:ext cx="2963677" cy="1131992"/>
            <a:chOff x="120316" y="3942928"/>
            <a:chExt cx="2963677" cy="1131992"/>
          </a:xfrm>
        </p:grpSpPr>
        <p:grpSp>
          <p:nvGrpSpPr>
            <p:cNvPr id="63" name="Group 62"/>
            <p:cNvGrpSpPr/>
            <p:nvPr/>
          </p:nvGrpSpPr>
          <p:grpSpPr>
            <a:xfrm>
              <a:off x="120316" y="3942928"/>
              <a:ext cx="2963677" cy="1131992"/>
              <a:chOff x="1598596" y="4186768"/>
              <a:chExt cx="2963677" cy="1131992"/>
            </a:xfrm>
          </p:grpSpPr>
          <p:sp>
            <p:nvSpPr>
              <p:cNvPr id="67" name="TextBox 66"/>
              <p:cNvSpPr txBox="1"/>
              <p:nvPr/>
            </p:nvSpPr>
            <p:spPr>
              <a:xfrm>
                <a:off x="1598596" y="4186768"/>
                <a:ext cx="2963677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Jackknife sample 2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grpSp>
            <p:nvGrpSpPr>
              <p:cNvPr id="68" name="Group 67"/>
              <p:cNvGrpSpPr/>
              <p:nvPr/>
            </p:nvGrpSpPr>
            <p:grpSpPr>
              <a:xfrm>
                <a:off x="1598596" y="4558180"/>
                <a:ext cx="2963677" cy="742398"/>
                <a:chOff x="3118487" y="1769417"/>
                <a:chExt cx="2963677" cy="575964"/>
              </a:xfrm>
            </p:grpSpPr>
            <p:sp>
              <p:nvSpPr>
                <p:cNvPr id="70" name="TextBox 69"/>
                <p:cNvSpPr txBox="1"/>
                <p:nvPr/>
              </p:nvSpPr>
              <p:spPr>
                <a:xfrm>
                  <a:off x="3118487" y="1891704"/>
                  <a:ext cx="2963677" cy="45367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(2)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= </a:t>
                  </a:r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(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X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1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, X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3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, … , </a:t>
                  </a:r>
                  <a:r>
                    <a:rPr lang="en-US" sz="3200" b="1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X</a:t>
                  </a:r>
                  <a:r>
                    <a:rPr lang="en-US" sz="4000" b="1" baseline="-25000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)</a:t>
                  </a:r>
                  <a:endParaRPr lang="th-TH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3118785" y="1769417"/>
                  <a:ext cx="347313" cy="45367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^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</p:grpSp>
          <p:sp>
            <p:nvSpPr>
              <p:cNvPr id="69" name="Rectangle 68"/>
              <p:cNvSpPr/>
              <p:nvPr/>
            </p:nvSpPr>
            <p:spPr>
              <a:xfrm>
                <a:off x="1598596" y="4209967"/>
                <a:ext cx="2866723" cy="1108793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760694" y="4314341"/>
              <a:ext cx="347313" cy="58477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7487899" y="3934976"/>
            <a:ext cx="3180101" cy="1131992"/>
            <a:chOff x="120316" y="3942928"/>
            <a:chExt cx="3078763" cy="1131992"/>
          </a:xfrm>
        </p:grpSpPr>
        <p:grpSp>
          <p:nvGrpSpPr>
            <p:cNvPr id="73" name="Group 72"/>
            <p:cNvGrpSpPr/>
            <p:nvPr/>
          </p:nvGrpSpPr>
          <p:grpSpPr>
            <a:xfrm>
              <a:off x="120316" y="3942928"/>
              <a:ext cx="3078763" cy="1131992"/>
              <a:chOff x="1598596" y="4186768"/>
              <a:chExt cx="3078763" cy="1131992"/>
            </a:xfrm>
          </p:grpSpPr>
          <p:sp>
            <p:nvSpPr>
              <p:cNvPr id="75" name="TextBox 74"/>
              <p:cNvSpPr txBox="1"/>
              <p:nvPr/>
            </p:nvSpPr>
            <p:spPr>
              <a:xfrm>
                <a:off x="1598596" y="4186768"/>
                <a:ext cx="3019746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Jackknife sample n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1598596" y="4558179"/>
                <a:ext cx="3078763" cy="742399"/>
                <a:chOff x="3118487" y="1769417"/>
                <a:chExt cx="3078763" cy="575965"/>
              </a:xfrm>
            </p:grpSpPr>
            <p:sp>
              <p:nvSpPr>
                <p:cNvPr id="78" name="TextBox 77"/>
                <p:cNvSpPr txBox="1"/>
                <p:nvPr/>
              </p:nvSpPr>
              <p:spPr>
                <a:xfrm>
                  <a:off x="3118487" y="1891704"/>
                  <a:ext cx="3078763" cy="45367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(n)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= </a:t>
                  </a:r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(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X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1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, X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2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, … , </a:t>
                  </a:r>
                  <a:r>
                    <a:rPr lang="en-US" sz="3200" b="1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X</a:t>
                  </a:r>
                  <a:r>
                    <a:rPr lang="en-US" sz="4000" b="1" baseline="-25000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– 1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)</a:t>
                  </a:r>
                  <a:endParaRPr lang="th-TH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>
                  <a:off x="3118785" y="1769417"/>
                  <a:ext cx="347313" cy="45367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^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</p:grpSp>
          <p:sp>
            <p:nvSpPr>
              <p:cNvPr id="77" name="Rectangle 76"/>
              <p:cNvSpPr/>
              <p:nvPr/>
            </p:nvSpPr>
            <p:spPr>
              <a:xfrm>
                <a:off x="1598596" y="4209967"/>
                <a:ext cx="3019746" cy="1108793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74" name="TextBox 73"/>
            <p:cNvSpPr txBox="1"/>
            <p:nvPr/>
          </p:nvSpPr>
          <p:spPr>
            <a:xfrm>
              <a:off x="760694" y="4314341"/>
              <a:ext cx="347313" cy="58477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547261" y="5061796"/>
            <a:ext cx="7429099" cy="447240"/>
            <a:chOff x="1547261" y="5061796"/>
            <a:chExt cx="7429099" cy="447240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1554480" y="5077036"/>
              <a:ext cx="0" cy="21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H="1">
              <a:off x="4983480" y="5077036"/>
              <a:ext cx="0" cy="432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H="1">
              <a:off x="8976360" y="5061796"/>
              <a:ext cx="0" cy="21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1547261" y="5289522"/>
              <a:ext cx="741600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Rectangle 85"/>
          <p:cNvSpPr/>
          <p:nvPr/>
        </p:nvSpPr>
        <p:spPr>
          <a:xfrm>
            <a:off x="1585234" y="5518532"/>
            <a:ext cx="7400223" cy="110879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96" name="Group 95"/>
          <p:cNvGrpSpPr/>
          <p:nvPr/>
        </p:nvGrpSpPr>
        <p:grpSpPr>
          <a:xfrm>
            <a:off x="3963338" y="5583766"/>
            <a:ext cx="2040284" cy="806934"/>
            <a:chOff x="1664631" y="5639384"/>
            <a:chExt cx="2040284" cy="806934"/>
          </a:xfrm>
        </p:grpSpPr>
        <p:grpSp>
          <p:nvGrpSpPr>
            <p:cNvPr id="52" name="Group 51"/>
            <p:cNvGrpSpPr/>
            <p:nvPr/>
          </p:nvGrpSpPr>
          <p:grpSpPr>
            <a:xfrm>
              <a:off x="1664631" y="5687136"/>
              <a:ext cx="2040284" cy="759182"/>
              <a:chOff x="2821276" y="5619861"/>
              <a:chExt cx="2040284" cy="759182"/>
            </a:xfrm>
          </p:grpSpPr>
          <p:grpSp>
            <p:nvGrpSpPr>
              <p:cNvPr id="65" name="Group 64"/>
              <p:cNvGrpSpPr/>
              <p:nvPr/>
            </p:nvGrpSpPr>
            <p:grpSpPr>
              <a:xfrm>
                <a:off x="2821276" y="5629253"/>
                <a:ext cx="2040284" cy="707886"/>
                <a:chOff x="9469352" y="4654845"/>
                <a:chExt cx="2040284" cy="707886"/>
              </a:xfrm>
            </p:grpSpPr>
            <p:sp>
              <p:nvSpPr>
                <p:cNvPr id="62" name="TextBox 61"/>
                <p:cNvSpPr txBox="1"/>
                <p:nvPr/>
              </p:nvSpPr>
              <p:spPr>
                <a:xfrm>
                  <a:off x="9469352" y="4654845"/>
                  <a:ext cx="2040284" cy="707886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(</a:t>
                  </a:r>
                  <a:r>
                    <a:rPr lang="en-US" sz="2400" b="1" baseline="-40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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)</a:t>
                  </a:r>
                  <a:r>
                    <a:rPr lang="en-US" sz="40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=     </a:t>
                  </a:r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</a:t>
                  </a:r>
                  <a:r>
                    <a:rPr lang="en-US" sz="40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</a:t>
                  </a:r>
                  <a:r>
                    <a:rPr lang="en-US" sz="24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(</a:t>
                  </a:r>
                  <a:r>
                    <a:rPr lang="en-US" sz="4000" b="1" baseline="-25000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i</a:t>
                  </a:r>
                  <a:r>
                    <a:rPr lang="en-US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)</a:t>
                  </a:r>
                  <a:r>
                    <a:rPr lang="en-US" sz="40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    </a:t>
                  </a:r>
                  <a:endParaRPr lang="th-TH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9534425" y="4832503"/>
                  <a:ext cx="210954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/>
              <p:cNvGrpSpPr/>
              <p:nvPr/>
            </p:nvGrpSpPr>
            <p:grpSpPr>
              <a:xfrm>
                <a:off x="3575183" y="5745686"/>
                <a:ext cx="441960" cy="605294"/>
                <a:chOff x="8686800" y="2392680"/>
                <a:chExt cx="441960" cy="605294"/>
              </a:xfrm>
            </p:grpSpPr>
            <p:sp>
              <p:nvSpPr>
                <p:cNvPr id="25" name="TextBox 24"/>
                <p:cNvSpPr txBox="1"/>
                <p:nvPr/>
              </p:nvSpPr>
              <p:spPr>
                <a:xfrm>
                  <a:off x="8686800" y="2392680"/>
                  <a:ext cx="441960" cy="605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2000"/>
                    </a:lnSpc>
                  </a:pP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1</a:t>
                  </a:r>
                </a:p>
                <a:p>
                  <a:pPr algn="ctr">
                    <a:lnSpc>
                      <a:spcPts val="2000"/>
                    </a:lnSpc>
                  </a:pP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cxnSp>
              <p:nvCxnSpPr>
                <p:cNvPr id="50" name="Straight Connector 49"/>
                <p:cNvCxnSpPr/>
                <p:nvPr/>
              </p:nvCxnSpPr>
              <p:spPr>
                <a:xfrm>
                  <a:off x="8793480" y="2646105"/>
                  <a:ext cx="216000" cy="0"/>
                </a:xfrm>
                <a:prstGeom prst="line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4" name="TextBox 83"/>
              <p:cNvSpPr txBox="1"/>
              <p:nvPr/>
            </p:nvSpPr>
            <p:spPr>
              <a:xfrm>
                <a:off x="3671946" y="5619861"/>
                <a:ext cx="903754" cy="759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</a:t>
                </a:r>
              </a:p>
              <a:p>
                <a:pPr algn="ctr">
                  <a:lnSpc>
                    <a:spcPts val="2000"/>
                  </a:lnSpc>
                  <a:spcBef>
                    <a:spcPts val="1200"/>
                  </a:spcBef>
                </a:pPr>
                <a:r>
                  <a:rPr lang="en-US" sz="2400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24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= 1</a:t>
                </a:r>
                <a:endParaRPr lang="th-TH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95" name="TextBox 94"/>
            <p:cNvSpPr txBox="1"/>
            <p:nvPr/>
          </p:nvSpPr>
          <p:spPr>
            <a:xfrm>
              <a:off x="3045892" y="5639384"/>
              <a:ext cx="347313" cy="58477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F4DA1-BA66-4434-A118-0CF6D5D0B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8239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9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"/>
                            </p:stCondLst>
                            <p:childTnLst>
                              <p:par>
                                <p:cTn id="6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  <p:bldP spid="26" grpId="0"/>
      <p:bldP spid="8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316" y="98662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Jackknife Resampling Technique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7518" y="1663023"/>
            <a:ext cx="11842081" cy="2427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tabLst>
                <a:tab pos="514350" algn="l"/>
              </a:tabLst>
            </a:pP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The government website </a:t>
            </a:r>
            <a:r>
              <a:rPr lang="en-US" sz="3200" b="1" i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fueleconomy.gov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has data on thousands of cars regarding their fuel</a:t>
            </a:r>
          </a:p>
          <a:p>
            <a:pPr>
              <a:lnSpc>
                <a:spcPts val="3000"/>
              </a:lnSpc>
            </a:pP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efficiency. A random sample from this website of SUVs manufactured between 2012 and 2015 gives the following data on the combined (city and highway) miles per gallon (mpg):</a:t>
            </a:r>
          </a:p>
          <a:p>
            <a:pPr algn="ctr">
              <a:lnSpc>
                <a:spcPts val="3000"/>
              </a:lnSpc>
            </a:pPr>
            <a:r>
              <a:rPr lang="th-TH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26,   23,   21,   23,   19,   29,   15,   26,   19,   26.</a:t>
            </a:r>
            <a:r>
              <a:rPr lang="en-US" sz="32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th-TH" sz="3200" b="1" dirty="0">
              <a:solidFill>
                <a:srgbClr val="7030A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lnSpc>
                <a:spcPts val="3000"/>
              </a:lnSpc>
            </a:pP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>
              <a:lnSpc>
                <a:spcPts val="3000"/>
              </a:lnSpc>
            </a:pP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Find Jackknife point estimates of the population mean and the standard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722" y="569733"/>
            <a:ext cx="10030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Exercise 1: </a:t>
            </a:r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Fuel efficiency </a:t>
            </a:r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 (Ex 8.81, </a:t>
            </a:r>
            <a:r>
              <a:rPr lang="en-US" sz="3200" b="1" dirty="0" err="1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Agresti</a:t>
            </a:r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, et al. (2018),  p. 406) </a:t>
            </a:r>
            <a:endParaRPr lang="en-US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C18CB1-34C2-4A3D-86FD-58FAC2F4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2233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316" y="98662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Bootstrap Resampling Technique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8" name="AutoShape 2" descr="O(n^{-1})"/>
          <p:cNvSpPr>
            <a:spLocks noChangeAspect="1" noChangeArrowheads="1"/>
          </p:cNvSpPr>
          <p:nvPr/>
        </p:nvSpPr>
        <p:spPr bwMode="auto">
          <a:xfrm>
            <a:off x="33194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60" name="AutoShape 3" descr="{\displaystyle O(n^{-2})}"/>
          <p:cNvSpPr>
            <a:spLocks noChangeAspect="1" noChangeArrowheads="1"/>
          </p:cNvSpPr>
          <p:nvPr/>
        </p:nvSpPr>
        <p:spPr bwMode="auto">
          <a:xfrm>
            <a:off x="38401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41" name="TextBox 140"/>
          <p:cNvSpPr txBox="1"/>
          <p:nvPr/>
        </p:nvSpPr>
        <p:spPr>
          <a:xfrm>
            <a:off x="16042" y="589609"/>
            <a:ext cx="11435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Introduced by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Bradley </a:t>
            </a:r>
            <a:r>
              <a:rPr lang="en-US" sz="3200" b="1" dirty="0" err="1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Efron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 1979.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042" y="1372073"/>
            <a:ext cx="119930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 </a:t>
            </a:r>
            <a:r>
              <a:rPr lang="en-US" sz="3200" b="1" i="0" dirty="0">
                <a:solidFill>
                  <a:srgbClr val="00B05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Bootstrapping </a:t>
            </a:r>
          </a:p>
          <a:p>
            <a:r>
              <a:rPr lang="en-US" sz="3200" b="1" i="0" dirty="0">
                <a:solidFill>
                  <a:srgbClr val="00B05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        = a method for deriving </a:t>
            </a:r>
            <a:r>
              <a:rPr lang="en-US" sz="3200" b="1" i="0" dirty="0">
                <a:solidFill>
                  <a:srgbClr val="C0000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robust estimates </a:t>
            </a:r>
            <a:r>
              <a:rPr lang="en-US" sz="3200" b="1" i="0" dirty="0">
                <a:solidFill>
                  <a:srgbClr val="00B05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of </a:t>
            </a:r>
            <a:r>
              <a:rPr lang="en-US" sz="3200" b="1" i="0" u="sng" dirty="0">
                <a:solidFill>
                  <a:srgbClr val="00B05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standard errors </a:t>
            </a:r>
            <a:r>
              <a:rPr lang="en-US" sz="3200" b="1" i="0" dirty="0">
                <a:solidFill>
                  <a:srgbClr val="00B05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and </a:t>
            </a:r>
            <a:r>
              <a:rPr lang="en-US" sz="3200" b="1" i="0" u="sng" dirty="0">
                <a:solidFill>
                  <a:srgbClr val="00B05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confidence intervals </a:t>
            </a:r>
            <a:r>
              <a:rPr lang="en-US" sz="3200" b="1" i="0" dirty="0">
                <a:solidFill>
                  <a:srgbClr val="00B05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for estimates </a:t>
            </a:r>
          </a:p>
          <a:p>
            <a:r>
              <a: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       e.g. the mean, median, proportion, odds ratio, correlation coefficient or regression coefficient. 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6042" y="3139422"/>
            <a:ext cx="1199307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indent="-441325">
              <a:tabLst>
                <a:tab pos="2697163" algn="l"/>
              </a:tabLst>
            </a:pPr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 </a:t>
            </a:r>
            <a:r>
              <a:rPr lang="en-US" sz="3200" b="1" i="0" dirty="0">
                <a:solidFill>
                  <a:srgbClr val="C0000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Robust estimator </a:t>
            </a:r>
            <a:r>
              <a: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: 	- the assumptions are in doubt  or </a:t>
            </a:r>
          </a:p>
          <a:p>
            <a:pPr marL="441325" indent="-441325">
              <a:tabLst>
                <a:tab pos="2697163" algn="l"/>
              </a:tabLst>
            </a:pPr>
            <a:r>
              <a: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		- parametric inference is impossible or </a:t>
            </a:r>
          </a:p>
          <a:p>
            <a:pPr>
              <a:tabLst>
                <a:tab pos="2697163" algn="l"/>
              </a:tabLst>
            </a:pP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- </a:t>
            </a:r>
            <a:r>
              <a: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complicated formulas for the calculation of standard errors 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are required</a:t>
            </a:r>
          </a:p>
          <a:p>
            <a:pPr>
              <a:tabLst>
                <a:tab pos="2697163" algn="l"/>
              </a:tabLst>
            </a:pPr>
            <a:r>
              <a: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	   e.g. confidence intervals for the median, quartiles, and other percentiles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7E70A9-820E-4EDC-B2E4-2F2A8523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9545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274169" y="52267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Bootstrap Resampling Technique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8" name="AutoShape 2" descr="O(n^{-1})"/>
          <p:cNvSpPr>
            <a:spLocks noChangeAspect="1" noChangeArrowheads="1"/>
          </p:cNvSpPr>
          <p:nvPr/>
        </p:nvSpPr>
        <p:spPr bwMode="auto">
          <a:xfrm>
            <a:off x="33194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60" name="AutoShape 3" descr="{\displaystyle O(n^{-2})}"/>
          <p:cNvSpPr>
            <a:spLocks noChangeAspect="1" noChangeArrowheads="1"/>
          </p:cNvSpPr>
          <p:nvPr/>
        </p:nvSpPr>
        <p:spPr bwMode="auto">
          <a:xfrm>
            <a:off x="38401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7" name="TextBox 6"/>
          <p:cNvSpPr txBox="1"/>
          <p:nvPr/>
        </p:nvSpPr>
        <p:spPr>
          <a:xfrm>
            <a:off x="179803" y="671735"/>
            <a:ext cx="2570624" cy="11160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Population</a:t>
            </a:r>
            <a:endParaRPr lang="th-TH" sz="24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75402" y="689659"/>
            <a:ext cx="3870158" cy="11160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Resampling </a:t>
            </a:r>
          </a:p>
          <a:p>
            <a:pPr algn="ctr">
              <a:lnSpc>
                <a:spcPts val="2800"/>
              </a:lnSpc>
            </a:pP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Select a sample of size n</a:t>
            </a:r>
          </a:p>
          <a:p>
            <a:pPr algn="ctr">
              <a:lnSpc>
                <a:spcPts val="2800"/>
              </a:lnSpc>
            </a:pP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At random with replacement</a:t>
            </a:r>
            <a:endParaRPr lang="th-TH" sz="32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88026" y="2631532"/>
            <a:ext cx="81654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…</a:t>
            </a:r>
            <a:endParaRPr lang="th-TH" sz="32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245116" y="674989"/>
            <a:ext cx="3870158" cy="1124842"/>
            <a:chOff x="3049203" y="1896056"/>
            <a:chExt cx="3870158" cy="1124842"/>
          </a:xfrm>
        </p:grpSpPr>
        <p:grpSp>
          <p:nvGrpSpPr>
            <p:cNvPr id="14" name="Group 13"/>
            <p:cNvGrpSpPr/>
            <p:nvPr/>
          </p:nvGrpSpPr>
          <p:grpSpPr>
            <a:xfrm>
              <a:off x="3049203" y="1896056"/>
              <a:ext cx="3870158" cy="1116000"/>
              <a:chOff x="4024563" y="1815503"/>
              <a:chExt cx="3870158" cy="1116000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4024563" y="1815503"/>
                <a:ext cx="3870158" cy="1116000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200"/>
                  </a:lnSpc>
                </a:pPr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   Sample: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, X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, … , </a:t>
                </a:r>
                <a:r>
                  <a:rPr lang="en-US" sz="3200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X</a:t>
                </a:r>
                <a:r>
                  <a:rPr lang="en-US" sz="4000" b="1" baseline="-25000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3200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iid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F</a:t>
                </a:r>
                <a:r>
                  <a:rPr lang="en-US" sz="40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   </a:t>
                </a:r>
              </a:p>
              <a:p>
                <a:pPr>
                  <a:lnSpc>
                    <a:spcPts val="3200"/>
                  </a:lnSpc>
                  <a:spcBef>
                    <a:spcPts val="1200"/>
                  </a:spcBef>
                </a:pPr>
                <a:r>
                  <a:rPr lang="en-US" sz="40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F : mass     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at X</a:t>
                </a:r>
                <a:r>
                  <a:rPr lang="en-US" sz="40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, </a:t>
                </a:r>
                <a:r>
                  <a:rPr lang="en-US" sz="3200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= 1, 2, … , n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105813" y="2166195"/>
                <a:ext cx="414292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    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73" name="TextBox 72"/>
            <p:cNvSpPr txBox="1"/>
            <p:nvPr/>
          </p:nvSpPr>
          <p:spPr>
            <a:xfrm>
              <a:off x="4131830" y="2415604"/>
              <a:ext cx="441960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</a:p>
            <a:p>
              <a:pPr algn="ctr">
                <a:lnSpc>
                  <a:spcPts val="2000"/>
                </a:lnSpc>
              </a:pP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4238510" y="2690801"/>
              <a:ext cx="21600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1001490" y="2399279"/>
            <a:ext cx="3196740" cy="1209786"/>
            <a:chOff x="642258" y="4347819"/>
            <a:chExt cx="3196740" cy="1209786"/>
          </a:xfrm>
        </p:grpSpPr>
        <p:grpSp>
          <p:nvGrpSpPr>
            <p:cNvPr id="5" name="Group 4"/>
            <p:cNvGrpSpPr/>
            <p:nvPr/>
          </p:nvGrpSpPr>
          <p:grpSpPr>
            <a:xfrm>
              <a:off x="642258" y="4347819"/>
              <a:ext cx="3196740" cy="1209786"/>
              <a:chOff x="80662" y="4336933"/>
              <a:chExt cx="2963677" cy="1209786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0662" y="4336933"/>
                <a:ext cx="2963677" cy="1131992"/>
                <a:chOff x="1598596" y="4186768"/>
                <a:chExt cx="2963677" cy="1131992"/>
              </a:xfrm>
            </p:grpSpPr>
            <p:sp>
              <p:nvSpPr>
                <p:cNvPr id="24" name="TextBox 23"/>
                <p:cNvSpPr txBox="1"/>
                <p:nvPr/>
              </p:nvSpPr>
              <p:spPr>
                <a:xfrm>
                  <a:off x="1598596" y="4186768"/>
                  <a:ext cx="2963677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>
                      <a:solidFill>
                        <a:srgbClr val="C0000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Bootstrap sample 1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1598596" y="4715803"/>
                  <a:ext cx="2963677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X </a:t>
                  </a:r>
                  <a:r>
                    <a:rPr lang="en-US" sz="32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   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, X    , … , X     </a:t>
                  </a:r>
                  <a:r>
                    <a:rPr lang="en-US" sz="3200" b="1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iid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F</a:t>
                  </a:r>
                  <a:endParaRPr lang="th-TH" sz="32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1598596" y="4209967"/>
                  <a:ext cx="2866723" cy="1108793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75" name="TextBox 74"/>
              <p:cNvSpPr txBox="1"/>
              <p:nvPr/>
            </p:nvSpPr>
            <p:spPr>
              <a:xfrm>
                <a:off x="327381" y="5032476"/>
                <a:ext cx="441960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*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11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843099" y="5020351"/>
                <a:ext cx="436574" cy="45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*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12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1828702" y="5031995"/>
                <a:ext cx="455658" cy="45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*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1n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94" name="TextBox 93"/>
            <p:cNvSpPr txBox="1"/>
            <p:nvPr/>
          </p:nvSpPr>
          <p:spPr>
            <a:xfrm>
              <a:off x="3230167" y="4738842"/>
              <a:ext cx="414292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  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4621480" y="2405527"/>
            <a:ext cx="3196740" cy="1146949"/>
            <a:chOff x="642258" y="4347819"/>
            <a:chExt cx="3196740" cy="1146949"/>
          </a:xfrm>
        </p:grpSpPr>
        <p:grpSp>
          <p:nvGrpSpPr>
            <p:cNvPr id="97" name="Group 96"/>
            <p:cNvGrpSpPr/>
            <p:nvPr/>
          </p:nvGrpSpPr>
          <p:grpSpPr>
            <a:xfrm>
              <a:off x="642258" y="4347819"/>
              <a:ext cx="3196740" cy="1146949"/>
              <a:chOff x="80662" y="4336933"/>
              <a:chExt cx="2963677" cy="1146949"/>
            </a:xfrm>
          </p:grpSpPr>
          <p:grpSp>
            <p:nvGrpSpPr>
              <p:cNvPr id="99" name="Group 98"/>
              <p:cNvGrpSpPr/>
              <p:nvPr/>
            </p:nvGrpSpPr>
            <p:grpSpPr>
              <a:xfrm>
                <a:off x="80662" y="4336933"/>
                <a:ext cx="2963677" cy="1131992"/>
                <a:chOff x="1598596" y="4186768"/>
                <a:chExt cx="2963677" cy="1131992"/>
              </a:xfrm>
            </p:grpSpPr>
            <p:sp>
              <p:nvSpPr>
                <p:cNvPr id="103" name="TextBox 102"/>
                <p:cNvSpPr txBox="1"/>
                <p:nvPr/>
              </p:nvSpPr>
              <p:spPr>
                <a:xfrm>
                  <a:off x="1598596" y="4186768"/>
                  <a:ext cx="2963677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>
                      <a:solidFill>
                        <a:srgbClr val="C0000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Bootstrap sample 2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104" name="TextBox 103"/>
                <p:cNvSpPr txBox="1"/>
                <p:nvPr/>
              </p:nvSpPr>
              <p:spPr>
                <a:xfrm>
                  <a:off x="1598596" y="4715803"/>
                  <a:ext cx="2963677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X </a:t>
                  </a:r>
                  <a:r>
                    <a:rPr lang="en-US" sz="32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   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, X    , … , X     </a:t>
                  </a:r>
                  <a:r>
                    <a:rPr lang="en-US" sz="3200" b="1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iid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F</a:t>
                  </a:r>
                  <a:endParaRPr lang="th-TH" sz="32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105" name="Rectangle 104"/>
                <p:cNvSpPr/>
                <p:nvPr/>
              </p:nvSpPr>
              <p:spPr>
                <a:xfrm>
                  <a:off x="1598596" y="4209967"/>
                  <a:ext cx="2866723" cy="1108793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100" name="TextBox 99"/>
              <p:cNvSpPr txBox="1"/>
              <p:nvPr/>
            </p:nvSpPr>
            <p:spPr>
              <a:xfrm>
                <a:off x="327381" y="5032476"/>
                <a:ext cx="441960" cy="45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*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21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843099" y="5020351"/>
                <a:ext cx="436574" cy="45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*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22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1828702" y="5031995"/>
                <a:ext cx="455658" cy="45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*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2n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98" name="TextBox 97"/>
            <p:cNvSpPr txBox="1"/>
            <p:nvPr/>
          </p:nvSpPr>
          <p:spPr>
            <a:xfrm>
              <a:off x="3230167" y="4738842"/>
              <a:ext cx="414292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  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8402283" y="2392633"/>
            <a:ext cx="3196740" cy="1146949"/>
            <a:chOff x="642258" y="4347819"/>
            <a:chExt cx="3196740" cy="1146949"/>
          </a:xfrm>
        </p:grpSpPr>
        <p:grpSp>
          <p:nvGrpSpPr>
            <p:cNvPr id="107" name="Group 106"/>
            <p:cNvGrpSpPr/>
            <p:nvPr/>
          </p:nvGrpSpPr>
          <p:grpSpPr>
            <a:xfrm>
              <a:off x="642258" y="4347819"/>
              <a:ext cx="3196740" cy="1146949"/>
              <a:chOff x="80662" y="4336933"/>
              <a:chExt cx="2963677" cy="1146949"/>
            </a:xfrm>
          </p:grpSpPr>
          <p:grpSp>
            <p:nvGrpSpPr>
              <p:cNvPr id="109" name="Group 108"/>
              <p:cNvGrpSpPr/>
              <p:nvPr/>
            </p:nvGrpSpPr>
            <p:grpSpPr>
              <a:xfrm>
                <a:off x="80662" y="4336933"/>
                <a:ext cx="2963677" cy="1131992"/>
                <a:chOff x="1598596" y="4186768"/>
                <a:chExt cx="2963677" cy="1131992"/>
              </a:xfrm>
            </p:grpSpPr>
            <p:sp>
              <p:nvSpPr>
                <p:cNvPr id="113" name="TextBox 112"/>
                <p:cNvSpPr txBox="1"/>
                <p:nvPr/>
              </p:nvSpPr>
              <p:spPr>
                <a:xfrm>
                  <a:off x="1598596" y="4186768"/>
                  <a:ext cx="2963677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>
                      <a:solidFill>
                        <a:srgbClr val="C0000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Bootstrap sample B</a:t>
                  </a:r>
                  <a:endParaRPr lang="th-TH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114" name="TextBox 113"/>
                <p:cNvSpPr txBox="1"/>
                <p:nvPr/>
              </p:nvSpPr>
              <p:spPr>
                <a:xfrm>
                  <a:off x="1598596" y="4715803"/>
                  <a:ext cx="2963677" cy="58477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X </a:t>
                  </a:r>
                  <a:r>
                    <a:rPr lang="en-US" sz="32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   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, X    , … , X     </a:t>
                  </a:r>
                  <a:r>
                    <a:rPr lang="en-US" sz="3200" b="1" dirty="0" err="1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iid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F</a:t>
                  </a:r>
                  <a:endParaRPr lang="th-TH" sz="3200" b="1" baseline="-25000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115" name="Rectangle 114"/>
                <p:cNvSpPr/>
                <p:nvPr/>
              </p:nvSpPr>
              <p:spPr>
                <a:xfrm>
                  <a:off x="1598596" y="4209967"/>
                  <a:ext cx="2866723" cy="1108793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110" name="TextBox 109"/>
              <p:cNvSpPr txBox="1"/>
              <p:nvPr/>
            </p:nvSpPr>
            <p:spPr>
              <a:xfrm>
                <a:off x="327381" y="5032476"/>
                <a:ext cx="441960" cy="45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*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B1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843099" y="5020351"/>
                <a:ext cx="436574" cy="45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*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B2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1828702" y="5031995"/>
                <a:ext cx="455658" cy="45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*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b="1" dirty="0" err="1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Bn</a:t>
                </a:r>
                <a:endParaRPr lang="th-TH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108" name="TextBox 107"/>
            <p:cNvSpPr txBox="1"/>
            <p:nvPr/>
          </p:nvSpPr>
          <p:spPr>
            <a:xfrm>
              <a:off x="3230167" y="4738842"/>
              <a:ext cx="414292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  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944658" y="3650613"/>
            <a:ext cx="3210028" cy="760579"/>
            <a:chOff x="585426" y="5631811"/>
            <a:chExt cx="3210028" cy="760579"/>
          </a:xfrm>
        </p:grpSpPr>
        <p:grpSp>
          <p:nvGrpSpPr>
            <p:cNvPr id="116" name="Group 115"/>
            <p:cNvGrpSpPr/>
            <p:nvPr/>
          </p:nvGrpSpPr>
          <p:grpSpPr>
            <a:xfrm>
              <a:off x="585426" y="5631811"/>
              <a:ext cx="3210028" cy="760579"/>
              <a:chOff x="76772" y="4314341"/>
              <a:chExt cx="3210028" cy="760579"/>
            </a:xfrm>
          </p:grpSpPr>
          <p:grpSp>
            <p:nvGrpSpPr>
              <p:cNvPr id="117" name="Group 116"/>
              <p:cNvGrpSpPr/>
              <p:nvPr/>
            </p:nvGrpSpPr>
            <p:grpSpPr>
              <a:xfrm>
                <a:off x="76772" y="4319966"/>
                <a:ext cx="3210028" cy="754954"/>
                <a:chOff x="1555052" y="4563806"/>
                <a:chExt cx="3210028" cy="754954"/>
              </a:xfrm>
            </p:grpSpPr>
            <p:grpSp>
              <p:nvGrpSpPr>
                <p:cNvPr id="120" name="Group 119"/>
                <p:cNvGrpSpPr/>
                <p:nvPr/>
              </p:nvGrpSpPr>
              <p:grpSpPr>
                <a:xfrm>
                  <a:off x="1555052" y="4563806"/>
                  <a:ext cx="3210028" cy="736775"/>
                  <a:chOff x="3074943" y="1773780"/>
                  <a:chExt cx="3210028" cy="571601"/>
                </a:xfrm>
              </p:grpSpPr>
              <p:sp>
                <p:nvSpPr>
                  <p:cNvPr id="122" name="TextBox 121"/>
                  <p:cNvSpPr txBox="1"/>
                  <p:nvPr/>
                </p:nvSpPr>
                <p:spPr>
                  <a:xfrm>
                    <a:off x="3074943" y="1891704"/>
                    <a:ext cx="3210028" cy="45367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(1)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= 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(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X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11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, X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12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, … , X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1n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)</a:t>
                    </a:r>
                    <a:endParaRPr lang="th-TH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  <p:sp>
                <p:nvSpPr>
                  <p:cNvPr id="123" name="TextBox 122"/>
                  <p:cNvSpPr txBox="1"/>
                  <p:nvPr/>
                </p:nvSpPr>
                <p:spPr>
                  <a:xfrm>
                    <a:off x="3753784" y="1773780"/>
                    <a:ext cx="347313" cy="453678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^</a:t>
                    </a:r>
                    <a:endParaRPr lang="th-TH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121" name="Rectangle 120"/>
                <p:cNvSpPr/>
                <p:nvPr/>
              </p:nvSpPr>
              <p:spPr>
                <a:xfrm>
                  <a:off x="1598596" y="4633143"/>
                  <a:ext cx="3105450" cy="685617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118" name="TextBox 117"/>
              <p:cNvSpPr txBox="1"/>
              <p:nvPr/>
            </p:nvSpPr>
            <p:spPr>
              <a:xfrm>
                <a:off x="118437" y="4314341"/>
                <a:ext cx="347313" cy="58477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149" name="TextBox 148"/>
            <p:cNvSpPr txBox="1"/>
            <p:nvPr/>
          </p:nvSpPr>
          <p:spPr>
            <a:xfrm>
              <a:off x="1688510" y="5776785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2223791" y="5779894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774667" y="5744127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3247049" y="5790783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4482509" y="3650613"/>
            <a:ext cx="3210028" cy="760579"/>
            <a:chOff x="585426" y="5631811"/>
            <a:chExt cx="3210028" cy="760579"/>
          </a:xfrm>
        </p:grpSpPr>
        <p:sp>
          <p:nvSpPr>
            <p:cNvPr id="155" name="TextBox 154"/>
            <p:cNvSpPr txBox="1"/>
            <p:nvPr/>
          </p:nvSpPr>
          <p:spPr>
            <a:xfrm>
              <a:off x="1688510" y="5776785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2223791" y="5779894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3247049" y="5790783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154" name="Group 153"/>
            <p:cNvGrpSpPr/>
            <p:nvPr/>
          </p:nvGrpSpPr>
          <p:grpSpPr>
            <a:xfrm>
              <a:off x="585426" y="5631811"/>
              <a:ext cx="3210028" cy="760579"/>
              <a:chOff x="76772" y="4314341"/>
              <a:chExt cx="3210028" cy="760579"/>
            </a:xfrm>
          </p:grpSpPr>
          <p:grpSp>
            <p:nvGrpSpPr>
              <p:cNvPr id="159" name="Group 158"/>
              <p:cNvGrpSpPr/>
              <p:nvPr/>
            </p:nvGrpSpPr>
            <p:grpSpPr>
              <a:xfrm>
                <a:off x="76772" y="4319965"/>
                <a:ext cx="3210028" cy="754955"/>
                <a:chOff x="1555052" y="4563805"/>
                <a:chExt cx="3210028" cy="754955"/>
              </a:xfrm>
            </p:grpSpPr>
            <p:grpSp>
              <p:nvGrpSpPr>
                <p:cNvPr id="161" name="Group 160"/>
                <p:cNvGrpSpPr/>
                <p:nvPr/>
              </p:nvGrpSpPr>
              <p:grpSpPr>
                <a:xfrm>
                  <a:off x="1555052" y="4563805"/>
                  <a:ext cx="3210028" cy="736776"/>
                  <a:chOff x="3074943" y="1773780"/>
                  <a:chExt cx="3210028" cy="571602"/>
                </a:xfrm>
              </p:grpSpPr>
              <p:sp>
                <p:nvSpPr>
                  <p:cNvPr id="163" name="TextBox 162"/>
                  <p:cNvSpPr txBox="1"/>
                  <p:nvPr/>
                </p:nvSpPr>
                <p:spPr>
                  <a:xfrm>
                    <a:off x="3074943" y="1891704"/>
                    <a:ext cx="3210028" cy="453678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(2)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= 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(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X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21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, X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22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, … , X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2n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)</a:t>
                    </a:r>
                    <a:endParaRPr lang="th-TH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  <p:sp>
                <p:nvSpPr>
                  <p:cNvPr id="164" name="TextBox 163"/>
                  <p:cNvSpPr txBox="1"/>
                  <p:nvPr/>
                </p:nvSpPr>
                <p:spPr>
                  <a:xfrm>
                    <a:off x="3753784" y="1773780"/>
                    <a:ext cx="347313" cy="453678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^</a:t>
                    </a:r>
                    <a:endParaRPr lang="th-TH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162" name="Rectangle 161"/>
                <p:cNvSpPr/>
                <p:nvPr/>
              </p:nvSpPr>
              <p:spPr>
                <a:xfrm>
                  <a:off x="1598596" y="4633143"/>
                  <a:ext cx="3105450" cy="685617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160" name="TextBox 159"/>
              <p:cNvSpPr txBox="1"/>
              <p:nvPr/>
            </p:nvSpPr>
            <p:spPr>
              <a:xfrm>
                <a:off x="118437" y="4314341"/>
                <a:ext cx="347313" cy="58477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157" name="TextBox 156"/>
            <p:cNvSpPr txBox="1"/>
            <p:nvPr/>
          </p:nvSpPr>
          <p:spPr>
            <a:xfrm>
              <a:off x="774667" y="5744127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8213190" y="3657892"/>
            <a:ext cx="3340265" cy="760579"/>
            <a:chOff x="8111506" y="5631812"/>
            <a:chExt cx="3340265" cy="760579"/>
          </a:xfrm>
        </p:grpSpPr>
        <p:sp>
          <p:nvSpPr>
            <p:cNvPr id="170" name="TextBox 169"/>
            <p:cNvSpPr txBox="1"/>
            <p:nvPr/>
          </p:nvSpPr>
          <p:spPr>
            <a:xfrm>
              <a:off x="8264030" y="5744128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9221417" y="5776786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9800242" y="5779895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10801728" y="5790784"/>
              <a:ext cx="347313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endParaRPr lang="th-TH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169" name="Group 168"/>
            <p:cNvGrpSpPr/>
            <p:nvPr/>
          </p:nvGrpSpPr>
          <p:grpSpPr>
            <a:xfrm>
              <a:off x="8111506" y="5631812"/>
              <a:ext cx="3340265" cy="760579"/>
              <a:chOff x="48173" y="4314341"/>
              <a:chExt cx="3340265" cy="760579"/>
            </a:xfrm>
          </p:grpSpPr>
          <p:grpSp>
            <p:nvGrpSpPr>
              <p:cNvPr id="171" name="Group 170"/>
              <p:cNvGrpSpPr/>
              <p:nvPr/>
            </p:nvGrpSpPr>
            <p:grpSpPr>
              <a:xfrm>
                <a:off x="48173" y="4319966"/>
                <a:ext cx="3340265" cy="754954"/>
                <a:chOff x="1526453" y="4563806"/>
                <a:chExt cx="3340265" cy="754954"/>
              </a:xfrm>
            </p:grpSpPr>
            <p:grpSp>
              <p:nvGrpSpPr>
                <p:cNvPr id="173" name="Group 172"/>
                <p:cNvGrpSpPr/>
                <p:nvPr/>
              </p:nvGrpSpPr>
              <p:grpSpPr>
                <a:xfrm>
                  <a:off x="1526453" y="4563806"/>
                  <a:ext cx="3340265" cy="736775"/>
                  <a:chOff x="3046344" y="1773780"/>
                  <a:chExt cx="3340265" cy="571601"/>
                </a:xfrm>
              </p:grpSpPr>
              <p:sp>
                <p:nvSpPr>
                  <p:cNvPr id="175" name="TextBox 174"/>
                  <p:cNvSpPr txBox="1"/>
                  <p:nvPr/>
                </p:nvSpPr>
                <p:spPr>
                  <a:xfrm>
                    <a:off x="3046344" y="1891704"/>
                    <a:ext cx="3340265" cy="45367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(B)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= 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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(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X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B1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, X</a:t>
                    </a:r>
                    <a:r>
                      <a:rPr lang="en-US" sz="4000" b="1" baseline="-25000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B2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,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…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,</a:t>
                    </a:r>
                    <a:r>
                      <a:rPr lang="en-US" sz="24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 </a:t>
                    </a:r>
                    <a:r>
                      <a:rPr lang="en-US" sz="3200" b="1" dirty="0" err="1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X</a:t>
                    </a:r>
                    <a:r>
                      <a:rPr lang="en-US" sz="4000" b="1" baseline="-25000" dirty="0" err="1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Bn</a:t>
                    </a:r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  <a:sym typeface="Symbol" panose="05050102010706020507" pitchFamily="18" charset="2"/>
                      </a:rPr>
                      <a:t>)</a:t>
                    </a:r>
                    <a:endParaRPr lang="th-TH" sz="4000" b="1" baseline="-25000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  <p:sp>
                <p:nvSpPr>
                  <p:cNvPr id="176" name="TextBox 175"/>
                  <p:cNvSpPr txBox="1"/>
                  <p:nvPr/>
                </p:nvSpPr>
                <p:spPr>
                  <a:xfrm>
                    <a:off x="3732012" y="1773780"/>
                    <a:ext cx="347313" cy="453678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00B05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^</a:t>
                    </a:r>
                    <a:endParaRPr lang="th-TH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174" name="Rectangle 173"/>
                <p:cNvSpPr/>
                <p:nvPr/>
              </p:nvSpPr>
              <p:spPr>
                <a:xfrm>
                  <a:off x="1598596" y="4633143"/>
                  <a:ext cx="3105450" cy="685617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172" name="TextBox 171"/>
              <p:cNvSpPr txBox="1"/>
              <p:nvPr/>
            </p:nvSpPr>
            <p:spPr>
              <a:xfrm>
                <a:off x="53121" y="4314341"/>
                <a:ext cx="347313" cy="58477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</a:t>
                </a:r>
                <a:endParaRPr lang="th-TH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</p:grpSp>
      <p:cxnSp>
        <p:nvCxnSpPr>
          <p:cNvPr id="177" name="Straight Connector 176"/>
          <p:cNvCxnSpPr/>
          <p:nvPr/>
        </p:nvCxnSpPr>
        <p:spPr>
          <a:xfrm>
            <a:off x="2545890" y="3535215"/>
            <a:ext cx="0" cy="17899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>
            <a:off x="6029316" y="3535212"/>
            <a:ext cx="0" cy="17899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>
            <a:off x="9991716" y="3535210"/>
            <a:ext cx="0" cy="17899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7529142" y="3784201"/>
            <a:ext cx="81654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…</a:t>
            </a:r>
            <a:endParaRPr lang="th-TH" sz="32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214163" y="4524069"/>
            <a:ext cx="4542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/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Bootstrap Estimator of Bias:</a:t>
            </a:r>
            <a:endParaRPr lang="th-TH" sz="3200" b="1" dirty="0">
              <a:solidFill>
                <a:srgbClr val="C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182" name="Group 181"/>
          <p:cNvGrpSpPr/>
          <p:nvPr/>
        </p:nvGrpSpPr>
        <p:grpSpPr>
          <a:xfrm>
            <a:off x="1111015" y="5067820"/>
            <a:ext cx="1967062" cy="772721"/>
            <a:chOff x="5652036" y="995821"/>
            <a:chExt cx="1967062" cy="772721"/>
          </a:xfrm>
        </p:grpSpPr>
        <p:grpSp>
          <p:nvGrpSpPr>
            <p:cNvPr id="183" name="Group 182"/>
            <p:cNvGrpSpPr/>
            <p:nvPr/>
          </p:nvGrpSpPr>
          <p:grpSpPr>
            <a:xfrm>
              <a:off x="5740299" y="1172913"/>
              <a:ext cx="432000" cy="108000"/>
              <a:chOff x="9944945" y="489223"/>
              <a:chExt cx="548640" cy="173295"/>
            </a:xfrm>
          </p:grpSpPr>
          <p:cxnSp>
            <p:nvCxnSpPr>
              <p:cNvPr id="188" name="Straight Connector 187"/>
              <p:cNvCxnSpPr/>
              <p:nvPr/>
            </p:nvCxnSpPr>
            <p:spPr>
              <a:xfrm flipV="1">
                <a:off x="9944945" y="489223"/>
                <a:ext cx="274320" cy="17329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>
              <a:xfrm flipH="1" flipV="1">
                <a:off x="10219265" y="489223"/>
                <a:ext cx="274320" cy="17329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Group 183"/>
            <p:cNvGrpSpPr/>
            <p:nvPr/>
          </p:nvGrpSpPr>
          <p:grpSpPr>
            <a:xfrm>
              <a:off x="5652036" y="995821"/>
              <a:ext cx="1967062" cy="772721"/>
              <a:chOff x="5698430" y="995821"/>
              <a:chExt cx="1864505" cy="772721"/>
            </a:xfrm>
          </p:grpSpPr>
          <p:sp>
            <p:nvSpPr>
              <p:cNvPr id="185" name="TextBox 184"/>
              <p:cNvSpPr txBox="1"/>
              <p:nvPr/>
            </p:nvSpPr>
            <p:spPr>
              <a:xfrm>
                <a:off x="5698430" y="1060656"/>
                <a:ext cx="186450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Bias  =  </a:t>
                </a:r>
                <a:r>
                  <a:rPr lang="en-US" sz="24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4000" b="1" baseline="24000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*</a:t>
                </a:r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– </a:t>
                </a:r>
                <a:r>
                  <a:rPr lang="en-US" sz="40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24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 </a:t>
                </a:r>
                <a:r>
                  <a:rPr lang="en-US" sz="3200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endParaRPr lang="th-TH" sz="3200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86" name="Straight Connector 185"/>
              <p:cNvCxnSpPr/>
              <p:nvPr/>
            </p:nvCxnSpPr>
            <p:spPr>
              <a:xfrm>
                <a:off x="6596039" y="1213372"/>
                <a:ext cx="193506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TextBox 186"/>
              <p:cNvSpPr txBox="1"/>
              <p:nvPr/>
            </p:nvSpPr>
            <p:spPr>
              <a:xfrm>
                <a:off x="7129446" y="995821"/>
                <a:ext cx="410077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^ </a:t>
                </a:r>
                <a:r>
                  <a:rPr lang="en-US" sz="8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3200" b="1" dirty="0">
                    <a:solidFill>
                      <a:srgbClr val="C0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endParaRPr lang="th-TH" sz="3200" b="1" dirty="0">
                  <a:solidFill>
                    <a:srgbClr val="C0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</p:grpSp>
      <p:grpSp>
        <p:nvGrpSpPr>
          <p:cNvPr id="190" name="Group 189"/>
          <p:cNvGrpSpPr/>
          <p:nvPr/>
        </p:nvGrpSpPr>
        <p:grpSpPr>
          <a:xfrm>
            <a:off x="1662512" y="5629801"/>
            <a:ext cx="2902375" cy="1015663"/>
            <a:chOff x="6156014" y="1295506"/>
            <a:chExt cx="2902375" cy="1015663"/>
          </a:xfrm>
        </p:grpSpPr>
        <p:sp>
          <p:nvSpPr>
            <p:cNvPr id="191" name="TextBox 190"/>
            <p:cNvSpPr txBox="1"/>
            <p:nvPr/>
          </p:nvSpPr>
          <p:spPr>
            <a:xfrm>
              <a:off x="6532196" y="1295506"/>
              <a:ext cx="10248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B</a:t>
              </a:r>
            </a:p>
            <a:p>
              <a:pPr algn="ctr">
                <a:lnSpc>
                  <a:spcPts val="3600"/>
                </a:lnSpc>
              </a:pP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b =1 </a:t>
              </a:r>
              <a:endParaRPr lang="th-TH" sz="24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6156014" y="1474212"/>
              <a:ext cx="29023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3050" indent="-273050"/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=       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 </a:t>
              </a:r>
              <a:r>
                <a:rPr lang="en-US" sz="4000" b="1" baseline="-250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(b)</a:t>
              </a:r>
              <a:r>
                <a:rPr lang="en-US" sz="40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– 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endParaRPr lang="th-TH" sz="2400" b="1" baseline="-25000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193" name="Group 192"/>
            <p:cNvGrpSpPr/>
            <p:nvPr/>
          </p:nvGrpSpPr>
          <p:grpSpPr>
            <a:xfrm>
              <a:off x="6394903" y="1508557"/>
              <a:ext cx="611213" cy="707886"/>
              <a:chOff x="8413294" y="987976"/>
              <a:chExt cx="850084" cy="707886"/>
            </a:xfrm>
          </p:grpSpPr>
          <p:sp>
            <p:nvSpPr>
              <p:cNvPr id="197" name="TextBox 196"/>
              <p:cNvSpPr txBox="1"/>
              <p:nvPr/>
            </p:nvSpPr>
            <p:spPr>
              <a:xfrm>
                <a:off x="8413294" y="987976"/>
                <a:ext cx="8500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</a:p>
              <a:p>
                <a:pPr algn="ctr">
                  <a:lnSpc>
                    <a:spcPts val="2400"/>
                  </a:lnSpc>
                </a:pP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B </a:t>
                </a:r>
                <a:endParaRPr lang="th-TH" sz="3200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98" name="Straight Connector 197"/>
              <p:cNvCxnSpPr/>
              <p:nvPr/>
            </p:nvCxnSpPr>
            <p:spPr>
              <a:xfrm flipV="1">
                <a:off x="8688448" y="1287193"/>
                <a:ext cx="288000" cy="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4" name="TextBox 193"/>
            <p:cNvSpPr txBox="1"/>
            <p:nvPr/>
          </p:nvSpPr>
          <p:spPr>
            <a:xfrm>
              <a:off x="7093943" y="1422540"/>
              <a:ext cx="432633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7231236" y="1485509"/>
              <a:ext cx="432633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*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7867765" y="1422540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^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99" name="Group 198"/>
          <p:cNvGrpSpPr/>
          <p:nvPr/>
        </p:nvGrpSpPr>
        <p:grpSpPr>
          <a:xfrm>
            <a:off x="214163" y="5845246"/>
            <a:ext cx="11215790" cy="629483"/>
            <a:chOff x="518963" y="2522926"/>
            <a:chExt cx="11215790" cy="629483"/>
          </a:xfrm>
        </p:grpSpPr>
        <p:sp>
          <p:nvSpPr>
            <p:cNvPr id="200" name="TextBox 199"/>
            <p:cNvSpPr txBox="1"/>
            <p:nvPr/>
          </p:nvSpPr>
          <p:spPr>
            <a:xfrm>
              <a:off x="518963" y="2662360"/>
              <a:ext cx="11215790" cy="420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b="1" baseline="-25000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2509748" y="2522926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3327607" y="2567634"/>
              <a:ext cx="410077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8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th-TH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V="1">
              <a:off x="8870721" y="2991022"/>
              <a:ext cx="64800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3" name="Straight Arrow Connector 212"/>
          <p:cNvCxnSpPr>
            <a:stCxn id="18" idx="2"/>
            <a:endCxn id="26" idx="0"/>
          </p:cNvCxnSpPr>
          <p:nvPr/>
        </p:nvCxnSpPr>
        <p:spPr>
          <a:xfrm flipH="1">
            <a:off x="2547571" y="1805659"/>
            <a:ext cx="7062910" cy="616819"/>
          </a:xfrm>
          <a:prstGeom prst="straightConnector1">
            <a:avLst/>
          </a:prstGeom>
          <a:ln w="1905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/>
          <p:cNvCxnSpPr>
            <a:stCxn id="18" idx="2"/>
            <a:endCxn id="105" idx="0"/>
          </p:cNvCxnSpPr>
          <p:nvPr/>
        </p:nvCxnSpPr>
        <p:spPr>
          <a:xfrm flipH="1">
            <a:off x="6167561" y="1805659"/>
            <a:ext cx="3442920" cy="623067"/>
          </a:xfrm>
          <a:prstGeom prst="straightConnector1">
            <a:avLst/>
          </a:prstGeom>
          <a:ln w="1905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/>
          <p:cNvCxnSpPr>
            <a:stCxn id="18" idx="2"/>
            <a:endCxn id="115" idx="0"/>
          </p:cNvCxnSpPr>
          <p:nvPr/>
        </p:nvCxnSpPr>
        <p:spPr>
          <a:xfrm>
            <a:off x="9610481" y="1805659"/>
            <a:ext cx="337883" cy="610173"/>
          </a:xfrm>
          <a:prstGeom prst="straightConnector1">
            <a:avLst/>
          </a:prstGeom>
          <a:ln w="1905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>
            <a:stCxn id="7" idx="3"/>
          </p:cNvCxnSpPr>
          <p:nvPr/>
        </p:nvCxnSpPr>
        <p:spPr>
          <a:xfrm>
            <a:off x="2750427" y="1229735"/>
            <a:ext cx="504000" cy="0"/>
          </a:xfrm>
          <a:prstGeom prst="line">
            <a:avLst/>
          </a:prstGeom>
          <a:ln w="1905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>
            <a:off x="7125621" y="1229735"/>
            <a:ext cx="504000" cy="0"/>
          </a:xfrm>
          <a:prstGeom prst="line">
            <a:avLst/>
          </a:prstGeom>
          <a:ln w="1905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312080-D782-4931-A771-7B6B59956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11</a:t>
            </a:fld>
            <a:endParaRPr lang="th-TH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331DC34-0D0C-4A1E-A166-A485D379B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735" y="5205031"/>
            <a:ext cx="524301" cy="719390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C07D3BCE-A514-49AF-9FCF-AB27414F531E}"/>
              </a:ext>
            </a:extLst>
          </p:cNvPr>
          <p:cNvSpPr txBox="1"/>
          <p:nvPr/>
        </p:nvSpPr>
        <p:spPr>
          <a:xfrm>
            <a:off x="11491056" y="1664170"/>
            <a:ext cx="64945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 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ngsana New" panose="02020603050405020304" pitchFamily="18" charset="-34"/>
                <a:ea typeface="+mn-ea"/>
                <a:cs typeface="Angsana New" panose="02020603050405020304" pitchFamily="18" charset="-34"/>
              </a:rPr>
              <a:t> </a:t>
            </a:r>
            <a:endParaRPr kumimoji="0" lang="th-TH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ngsana New" panose="02020603050405020304" pitchFamily="18" charset="-34"/>
              <a:ea typeface="+mn-ea"/>
              <a:cs typeface="Angsana New" panose="02020603050405020304" pitchFamily="18" charset="-34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3B67923-53AE-4EFE-9418-F2FCF01305C6}"/>
              </a:ext>
            </a:extLst>
          </p:cNvPr>
          <p:cNvSpPr txBox="1"/>
          <p:nvPr/>
        </p:nvSpPr>
        <p:spPr>
          <a:xfrm>
            <a:off x="10287789" y="4897301"/>
            <a:ext cx="8993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E5FA565E-CC70-4D80-9206-72854C695BAC}"/>
                  </a:ext>
                </a:extLst>
              </p:cNvPr>
              <p:cNvSpPr txBox="1"/>
              <p:nvPr/>
            </p:nvSpPr>
            <p:spPr>
              <a:xfrm>
                <a:off x="4469834" y="4421873"/>
                <a:ext cx="7684876" cy="23861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limUpp>
                        <m:limUp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li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⌢</m:t>
                          </m:r>
                        </m:lim>
                      </m:limUpp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limUpp>
                        <m:limUp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li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⌢</m:t>
                          </m:r>
                        </m:lim>
                      </m:limUpp>
                      <m:r>
                        <a:rPr lang="en-US" i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grow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  <m:aln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4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d>
                                                <m:dPr>
                                                  <m:ctrlPr>
                                                    <a:rPr lang="en-US" sz="4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4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  <m:r>
                                            <a:rPr lang="en-US" sz="40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4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4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4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/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40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4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E5FA565E-CC70-4D80-9206-72854C695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834" y="4421873"/>
                <a:ext cx="7684876" cy="23861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TextBox 145">
            <a:extLst>
              <a:ext uri="{FF2B5EF4-FFF2-40B4-BE49-F238E27FC236}">
                <a16:creationId xmlns:a16="http://schemas.microsoft.com/office/drawing/2014/main" id="{1728C6B5-E0F8-439A-A4FB-DC53328E6E8B}"/>
              </a:ext>
            </a:extLst>
          </p:cNvPr>
          <p:cNvSpPr txBox="1"/>
          <p:nvPr/>
        </p:nvSpPr>
        <p:spPr>
          <a:xfrm>
            <a:off x="8906762" y="5379175"/>
            <a:ext cx="9640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baseline="24000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*</a:t>
            </a:r>
            <a:r>
              <a:rPr lang="en-US" sz="20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29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3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3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3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3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20" grpId="0"/>
      <p:bldP spid="180" grpId="0"/>
      <p:bldP spid="1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316" y="98662"/>
            <a:ext cx="1167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Bootstrap Resampling Technique</a:t>
            </a:r>
            <a:endParaRPr lang="th-TH" sz="3600" b="1" dirty="0">
              <a:solidFill>
                <a:srgbClr val="00B05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8" name="AutoShape 2" descr="O(n^{-1})"/>
          <p:cNvSpPr>
            <a:spLocks noChangeAspect="1" noChangeArrowheads="1"/>
          </p:cNvSpPr>
          <p:nvPr/>
        </p:nvSpPr>
        <p:spPr bwMode="auto">
          <a:xfrm>
            <a:off x="33194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60" name="AutoShape 3" descr="{\displaystyle O(n^{-2})}"/>
          <p:cNvSpPr>
            <a:spLocks noChangeAspect="1" noChangeArrowheads="1"/>
          </p:cNvSpPr>
          <p:nvPr/>
        </p:nvSpPr>
        <p:spPr bwMode="auto">
          <a:xfrm>
            <a:off x="38401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41" name="TextBox 140"/>
          <p:cNvSpPr txBox="1"/>
          <p:nvPr/>
        </p:nvSpPr>
        <p:spPr>
          <a:xfrm>
            <a:off x="16042" y="589609"/>
            <a:ext cx="4596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Bootstrap Confidence Interval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71724" y="1047345"/>
            <a:ext cx="31594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697163" algn="l"/>
              </a:tabLst>
            </a:pPr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 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Classical Method</a:t>
            </a:r>
            <a:endParaRPr lang="en-US" sz="3200" b="1" i="0" dirty="0">
              <a:solidFill>
                <a:srgbClr val="0070C0"/>
              </a:solidFill>
              <a:effectLst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528477" y="1371028"/>
            <a:ext cx="6949440" cy="732118"/>
            <a:chOff x="670560" y="1224730"/>
            <a:chExt cx="6949440" cy="732118"/>
          </a:xfrm>
        </p:grpSpPr>
        <p:sp>
          <p:nvSpPr>
            <p:cNvPr id="93" name="Rectangle 92"/>
            <p:cNvSpPr/>
            <p:nvPr/>
          </p:nvSpPr>
          <p:spPr>
            <a:xfrm>
              <a:off x="670560" y="1372073"/>
              <a:ext cx="694944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i="0" dirty="0">
                  <a:solidFill>
                    <a:srgbClr val="00B05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rPr>
                <a:t>Suppose </a:t>
              </a:r>
              <a:r>
                <a: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 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= 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(X</a:t>
              </a:r>
              <a:r>
                <a:rPr lang="en-US" sz="4000" b="1" baseline="-25000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1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, X</a:t>
              </a:r>
              <a:r>
                <a:rPr lang="en-US" sz="4000" b="1" baseline="-25000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2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, … </a:t>
              </a:r>
              <a:r>
                <a:rPr lang="en-US" sz="3200" b="1" dirty="0" err="1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X</a:t>
              </a:r>
              <a:r>
                <a:rPr lang="en-US" sz="4000" b="1" baseline="-25000" dirty="0" err="1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n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)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is </a:t>
              </a:r>
              <a:r>
                <a:rPr lang="en-US" sz="3200" b="1" i="0" dirty="0">
                  <a:solidFill>
                    <a:srgbClr val="00B05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an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estimator of 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.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</a:t>
              </a:r>
              <a:endParaRPr lang="en-US" sz="2400" b="1" i="0" dirty="0">
                <a:solidFill>
                  <a:srgbClr val="00B05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2602" y="1224730"/>
              <a:ext cx="40051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^</a:t>
              </a:r>
              <a:endPara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200442" y="1234890"/>
              <a:ext cx="40051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^</a:t>
              </a:r>
              <a:endPara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522943" y="1974871"/>
            <a:ext cx="6949440" cy="712793"/>
            <a:chOff x="-326870" y="1905155"/>
            <a:chExt cx="6949440" cy="712793"/>
          </a:xfrm>
        </p:grpSpPr>
        <p:sp>
          <p:nvSpPr>
            <p:cNvPr id="12" name="Rectangle 11"/>
            <p:cNvSpPr/>
            <p:nvPr/>
          </p:nvSpPr>
          <p:spPr>
            <a:xfrm>
              <a:off x="-326870" y="2033173"/>
              <a:ext cx="694944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i="0" dirty="0">
                  <a:solidFill>
                    <a:srgbClr val="00B05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rPr>
                <a:t>By CLT, for n </a:t>
              </a:r>
              <a:r>
                <a:rPr lang="en-US" sz="2400" b="1" i="0" dirty="0">
                  <a:solidFill>
                    <a:srgbClr val="00B05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   </a:t>
              </a:r>
              <a:r>
                <a:rPr lang="en-US" sz="2400" b="1" i="0" dirty="0">
                  <a:solidFill>
                    <a:srgbClr val="00B05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(large n),   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    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N(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 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,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</a:t>
              </a:r>
              <a:r>
                <a:rPr lang="en-US" b="1" baseline="-46000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).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</a:t>
              </a:r>
              <a:endParaRPr lang="en-US" sz="24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39783" y="1905155"/>
              <a:ext cx="40051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^</a:t>
              </a:r>
              <a:endPara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659289" y="2153442"/>
              <a:ext cx="4005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^</a:t>
              </a:r>
              <a:endParaRPr lang="en-US" sz="24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670897" y="2004461"/>
              <a:ext cx="40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2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2</a:t>
              </a:r>
              <a:endParaRPr lang="en-US" sz="2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635503" y="2020413"/>
              <a:ext cx="40051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:</a:t>
              </a:r>
              <a:endPara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571724" y="3407156"/>
            <a:ext cx="49135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697163" algn="l"/>
              </a:tabLst>
            </a:pPr>
            <a:r>
              <a:rPr lang="en-US" sz="3200" b="1" dirty="0">
                <a:solidFill>
                  <a:srgbClr val="7030A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ebdings" panose="05030102010509060703" pitchFamily="18" charset="2"/>
              </a:rPr>
              <a:t> </a:t>
            </a:r>
            <a:r>
              <a:rPr lang="en-US" sz="32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Percentile Method</a:t>
            </a:r>
            <a:endParaRPr lang="en-US" sz="3200" b="1" i="0" dirty="0">
              <a:solidFill>
                <a:srgbClr val="0070C0"/>
              </a:solidFill>
              <a:effectLst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517689" y="2526084"/>
            <a:ext cx="8950614" cy="731707"/>
            <a:chOff x="1517689" y="2526084"/>
            <a:chExt cx="8950614" cy="731707"/>
          </a:xfrm>
        </p:grpSpPr>
        <p:grpSp>
          <p:nvGrpSpPr>
            <p:cNvPr id="5" name="Group 4"/>
            <p:cNvGrpSpPr/>
            <p:nvPr/>
          </p:nvGrpSpPr>
          <p:grpSpPr>
            <a:xfrm>
              <a:off x="1517689" y="2526084"/>
              <a:ext cx="8950614" cy="723883"/>
              <a:chOff x="645334" y="2210778"/>
              <a:chExt cx="8950614" cy="723883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645334" y="2210778"/>
                <a:ext cx="8950614" cy="723883"/>
                <a:chOff x="-326870" y="1894065"/>
                <a:chExt cx="8950614" cy="723883"/>
              </a:xfrm>
            </p:grpSpPr>
            <p:sp>
              <p:nvSpPr>
                <p:cNvPr id="20" name="Rectangle 19"/>
                <p:cNvSpPr/>
                <p:nvPr/>
              </p:nvSpPr>
              <p:spPr>
                <a:xfrm>
                  <a:off x="-326870" y="2033173"/>
                  <a:ext cx="8950614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Hence</a:t>
                  </a:r>
                  <a:r>
                    <a:rPr lang="en-US" sz="3200" b="1" i="0" dirty="0">
                      <a:solidFill>
                        <a:srgbClr val="00B050"/>
                      </a:solidFill>
                      <a:effectLst/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, 95% confidence interval for </a:t>
                  </a:r>
                  <a:r>
                    <a:rPr lang="en-US" sz="24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  </a:t>
                  </a:r>
                  <a:r>
                    <a:rPr lang="en-US" sz="3200" b="1" dirty="0">
                      <a:solidFill>
                        <a:srgbClr val="00B05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can be found as follow: </a:t>
                  </a:r>
                  <a:r>
                    <a:rPr lang="en-US" sz="24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32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</a:t>
                  </a:r>
                  <a:r>
                    <a:rPr lang="en-US" sz="24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 </a:t>
                  </a:r>
                  <a:r>
                    <a:rPr lang="en-US" sz="32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1.96 </a:t>
                  </a:r>
                  <a:r>
                    <a:rPr lang="en-US" sz="24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</a:t>
                  </a:r>
                  <a:r>
                    <a:rPr lang="en-US" b="1" baseline="-46000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</a:t>
                  </a:r>
                  <a:r>
                    <a:rPr lang="en-US" sz="24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</a:t>
                  </a:r>
                  <a:endParaRPr lang="en-US" sz="24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6760919" y="1894065"/>
                  <a:ext cx="400518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441325" indent="-441325">
                    <a:tabLst>
                      <a:tab pos="2697163" algn="l"/>
                    </a:tabLst>
                  </a:pPr>
                  <a:r>
                    <a:rPr lang="en-US" sz="3200" b="1" dirty="0">
                      <a:solidFill>
                        <a:srgbClr val="0070C0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Webdings" panose="05030102010509060703" pitchFamily="18" charset="2"/>
                    </a:rPr>
                    <a:t>^</a:t>
                  </a:r>
                  <a:endParaRPr lang="en-US" sz="32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</p:grpSp>
          <p:sp>
            <p:nvSpPr>
              <p:cNvPr id="26" name="Rectangle 25"/>
              <p:cNvSpPr/>
              <p:nvPr/>
            </p:nvSpPr>
            <p:spPr>
              <a:xfrm>
                <a:off x="8722174" y="2265360"/>
                <a:ext cx="4005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32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31" name="Rectangle 30"/>
            <p:cNvSpPr/>
            <p:nvPr/>
          </p:nvSpPr>
          <p:spPr>
            <a:xfrm>
              <a:off x="9767949" y="2796126"/>
              <a:ext cx="4005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^</a:t>
              </a:r>
              <a:endParaRPr lang="en-US" sz="24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403179" y="3776622"/>
            <a:ext cx="7068151" cy="724805"/>
            <a:chOff x="-867048" y="4553072"/>
            <a:chExt cx="7068151" cy="724805"/>
          </a:xfrm>
        </p:grpSpPr>
        <p:sp>
          <p:nvSpPr>
            <p:cNvPr id="35" name="Rectangle 34"/>
            <p:cNvSpPr/>
            <p:nvPr/>
          </p:nvSpPr>
          <p:spPr>
            <a:xfrm>
              <a:off x="-867048" y="4693102"/>
              <a:ext cx="706815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i="0" dirty="0">
                  <a:solidFill>
                    <a:srgbClr val="00B05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rPr>
                <a:t>From B bootstrap samples,   </a:t>
              </a:r>
              <a:r>
                <a: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i="0" baseline="-2500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1</a:t>
              </a:r>
              <a:r>
                <a: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, 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2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, … , </a:t>
              </a: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</a:t>
              </a:r>
              <a:r>
                <a:rPr lang="en-US" sz="4000" b="1" baseline="-25000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B</a:t>
              </a: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 </a:t>
              </a:r>
              <a:r>
                <a:rPr lang="en-US" sz="32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are obtained,</a:t>
              </a:r>
              <a:r>
                <a:rPr lang="en-US" sz="2400" b="1" dirty="0">
                  <a:solidFill>
                    <a:srgbClr val="00B05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 panose="05050102010706020507" pitchFamily="18" charset="2"/>
                </a:rPr>
                <a:t> </a:t>
              </a:r>
              <a:endParaRPr lang="en-US" sz="2400" b="1" i="0" dirty="0">
                <a:solidFill>
                  <a:srgbClr val="00B05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446920" y="4553072"/>
              <a:ext cx="40051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^</a:t>
              </a:r>
              <a:endPara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893611" y="4558332"/>
              <a:ext cx="40051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^</a:t>
              </a:r>
              <a:endPara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823770" y="4553077"/>
              <a:ext cx="40051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^</a:t>
              </a:r>
              <a:endPara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596472" y="4687220"/>
              <a:ext cx="4005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*</a:t>
              </a:r>
              <a:endParaRPr lang="en-US" sz="24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43157" y="4681964"/>
              <a:ext cx="4005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*</a:t>
              </a:r>
              <a:endParaRPr lang="en-US" sz="24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978783" y="4686692"/>
              <a:ext cx="4005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*</a:t>
              </a:r>
              <a:endParaRPr lang="en-US" sz="24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8196375" y="3776622"/>
            <a:ext cx="3297445" cy="724805"/>
            <a:chOff x="4827052" y="5242900"/>
            <a:chExt cx="3297445" cy="724805"/>
          </a:xfrm>
        </p:grpSpPr>
        <p:grpSp>
          <p:nvGrpSpPr>
            <p:cNvPr id="45" name="Group 44"/>
            <p:cNvGrpSpPr/>
            <p:nvPr/>
          </p:nvGrpSpPr>
          <p:grpSpPr>
            <a:xfrm>
              <a:off x="4827052" y="5242900"/>
              <a:ext cx="3297445" cy="724805"/>
              <a:chOff x="2443697" y="4553072"/>
              <a:chExt cx="3297445" cy="724805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2443697" y="4693102"/>
                <a:ext cx="329744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4000" b="1" i="0" baseline="-2500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b</a:t>
                </a:r>
                <a:r>
                  <a:rPr lang="en-US" sz="24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=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(X</a:t>
                </a:r>
                <a:r>
                  <a:rPr lang="en-US" sz="4000" b="1" baseline="-25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b1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, X</a:t>
                </a:r>
                <a:r>
                  <a:rPr lang="en-US" sz="4000" b="1" baseline="-25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b2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, … </a:t>
                </a:r>
                <a:r>
                  <a:rPr lang="en-US" sz="3200" b="1" dirty="0" err="1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X</a:t>
                </a:r>
                <a:r>
                  <a:rPr lang="en-US" sz="4000" b="1" baseline="-25000" dirty="0" err="1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bn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) </a:t>
                </a:r>
                <a:endParaRPr lang="en-US" sz="2400" b="1" i="0" dirty="0">
                  <a:solidFill>
                    <a:srgbClr val="00B05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2446920" y="4553072"/>
                <a:ext cx="4005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32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3061774" y="4558332"/>
                <a:ext cx="4005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32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2596472" y="4676710"/>
                <a:ext cx="40051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*</a:t>
                </a:r>
                <a:endPara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53" name="Rectangle 52"/>
            <p:cNvSpPr/>
            <p:nvPr/>
          </p:nvSpPr>
          <p:spPr>
            <a:xfrm>
              <a:off x="5862208" y="5367965"/>
              <a:ext cx="4005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*</a:t>
              </a:r>
              <a:endParaRPr lang="en-US" sz="24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424507" y="5362709"/>
              <a:ext cx="4005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*</a:t>
              </a:r>
              <a:endParaRPr lang="en-US" sz="24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323136" y="5367965"/>
              <a:ext cx="4005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24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*</a:t>
              </a:r>
              <a:endParaRPr lang="en-US" sz="24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1365078" y="4215907"/>
            <a:ext cx="6682929" cy="1107272"/>
            <a:chOff x="1365078" y="4939807"/>
            <a:chExt cx="6682929" cy="1107272"/>
          </a:xfrm>
        </p:grpSpPr>
        <p:grpSp>
          <p:nvGrpSpPr>
            <p:cNvPr id="42" name="Group 41"/>
            <p:cNvGrpSpPr/>
            <p:nvPr/>
          </p:nvGrpSpPr>
          <p:grpSpPr>
            <a:xfrm>
              <a:off x="1365078" y="5201056"/>
              <a:ext cx="5544541" cy="697371"/>
              <a:chOff x="1314278" y="5010556"/>
              <a:chExt cx="5503258" cy="697371"/>
            </a:xfrm>
          </p:grpSpPr>
          <p:sp>
            <p:nvSpPr>
              <p:cNvPr id="59" name="Rectangle 58"/>
              <p:cNvSpPr/>
              <p:nvPr/>
            </p:nvSpPr>
            <p:spPr>
              <a:xfrm>
                <a:off x="1314278" y="5123152"/>
                <a:ext cx="550325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b="1" i="0" dirty="0">
                    <a:solidFill>
                      <a:srgbClr val="00B05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</a:rPr>
                  <a:t>The bootstrap cumulative probability: </a:t>
                </a:r>
                <a:r>
                  <a:rPr lang="en-US" sz="32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</a:rPr>
                  <a:t>G(t)  =</a:t>
                </a:r>
                <a:endParaRPr lang="en-US" sz="2400" b="1" i="0" dirty="0">
                  <a:solidFill>
                    <a:srgbClr val="00B05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5777165" y="5010556"/>
                <a:ext cx="4005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32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6737376" y="4939807"/>
              <a:ext cx="1310631" cy="1107272"/>
              <a:chOff x="1568489" y="5715213"/>
              <a:chExt cx="1310631" cy="1107272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1976590" y="5840792"/>
                <a:ext cx="40051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*</a:t>
                </a:r>
                <a:endPara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1582793" y="5862755"/>
                <a:ext cx="129632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</a:rPr>
                  <a:t>#{</a:t>
                </a:r>
                <a:r>
                  <a:rPr lang="en-US" sz="24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4000" b="1" i="0" baseline="-2500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b</a:t>
                </a:r>
                <a:r>
                  <a:rPr lang="en-US" sz="24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3200" b="1" u="sng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&lt;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t}</a:t>
                </a:r>
                <a:endParaRPr lang="en-US" sz="2400" b="1" i="0" dirty="0">
                  <a:solidFill>
                    <a:srgbClr val="00B05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1827131" y="5715213"/>
                <a:ext cx="4005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32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2023468" y="6237710"/>
                <a:ext cx="43398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</a:rPr>
                  <a:t>B</a:t>
                </a:r>
                <a:endPara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55" name="Straight Connector 54"/>
              <p:cNvCxnSpPr/>
              <p:nvPr/>
            </p:nvCxnSpPr>
            <p:spPr>
              <a:xfrm>
                <a:off x="1568489" y="6396730"/>
                <a:ext cx="1116000" cy="0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0" name="Group 69"/>
          <p:cNvGrpSpPr/>
          <p:nvPr/>
        </p:nvGrpSpPr>
        <p:grpSpPr>
          <a:xfrm>
            <a:off x="7851824" y="1518371"/>
            <a:ext cx="4043956" cy="1007713"/>
            <a:chOff x="7851824" y="1518371"/>
            <a:chExt cx="4043956" cy="1007713"/>
          </a:xfrm>
        </p:grpSpPr>
        <p:grpSp>
          <p:nvGrpSpPr>
            <p:cNvPr id="68" name="Group 67"/>
            <p:cNvGrpSpPr/>
            <p:nvPr/>
          </p:nvGrpSpPr>
          <p:grpSpPr>
            <a:xfrm>
              <a:off x="7967974" y="1706014"/>
              <a:ext cx="3927806" cy="656825"/>
              <a:chOff x="2863848" y="3204425"/>
              <a:chExt cx="3927806" cy="656825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2863848" y="3270987"/>
                <a:ext cx="392780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</a:t>
                </a:r>
                <a:r>
                  <a:rPr lang="en-US" b="1" baseline="-46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</a:t>
                </a:r>
                <a:r>
                  <a:rPr lang="en-US" sz="3200" b="1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is bootstrap estimator of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</a:t>
                </a:r>
                <a:r>
                  <a:rPr lang="en-US" b="1" baseline="-46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3200" b="1" dirty="0">
                    <a:solidFill>
                      <a:srgbClr val="00B05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endPara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2879120" y="3204425"/>
                <a:ext cx="4005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32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058067" y="3399585"/>
                <a:ext cx="40051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6339833" y="3396619"/>
                <a:ext cx="40051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69" name="Rounded Rectangular Callout 68"/>
            <p:cNvSpPr/>
            <p:nvPr/>
          </p:nvSpPr>
          <p:spPr>
            <a:xfrm>
              <a:off x="7851824" y="1518371"/>
              <a:ext cx="4043955" cy="1007713"/>
            </a:xfrm>
            <a:prstGeom prst="wedgeRoundRectCallout">
              <a:avLst>
                <a:gd name="adj1" fmla="val -4502"/>
                <a:gd name="adj2" fmla="val 68801"/>
                <a:gd name="adj3" fmla="val 1666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72" name="Right Arrow 71"/>
          <p:cNvSpPr/>
          <p:nvPr/>
        </p:nvSpPr>
        <p:spPr>
          <a:xfrm>
            <a:off x="7984507" y="4649504"/>
            <a:ext cx="552109" cy="4361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73" name="Group 72"/>
          <p:cNvGrpSpPr/>
          <p:nvPr/>
        </p:nvGrpSpPr>
        <p:grpSpPr>
          <a:xfrm>
            <a:off x="8575946" y="4449722"/>
            <a:ext cx="3450955" cy="724805"/>
            <a:chOff x="8575946" y="4398922"/>
            <a:chExt cx="3450955" cy="724805"/>
          </a:xfrm>
        </p:grpSpPr>
        <p:grpSp>
          <p:nvGrpSpPr>
            <p:cNvPr id="75" name="Group 74"/>
            <p:cNvGrpSpPr/>
            <p:nvPr/>
          </p:nvGrpSpPr>
          <p:grpSpPr>
            <a:xfrm>
              <a:off x="8575946" y="4398922"/>
              <a:ext cx="1965333" cy="724805"/>
              <a:chOff x="2443697" y="4553072"/>
              <a:chExt cx="1965333" cy="724805"/>
            </a:xfrm>
          </p:grpSpPr>
          <p:sp>
            <p:nvSpPr>
              <p:cNvPr id="79" name="Rectangle 78"/>
              <p:cNvSpPr/>
              <p:nvPr/>
            </p:nvSpPr>
            <p:spPr>
              <a:xfrm>
                <a:off x="2443697" y="4693102"/>
                <a:ext cx="196533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4000" b="1" i="0" baseline="-2500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(</a:t>
                </a:r>
                <a:r>
                  <a:rPr lang="en-US" sz="3000" b="1" i="0" baseline="-3000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</a:t>
                </a:r>
                <a:r>
                  <a:rPr lang="en-US" sz="2400" b="1" baseline="-25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4000" b="1" baseline="-25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)</a:t>
                </a:r>
                <a:r>
                  <a:rPr lang="en-US" sz="2400" b="1" i="0" dirty="0">
                    <a:solidFill>
                      <a:srgbClr val="0070C0"/>
                    </a:solidFill>
                    <a:effectLst/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 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= G</a:t>
                </a:r>
                <a:r>
                  <a:rPr lang="en-US" sz="4000" b="1" baseline="30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–1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(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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)</a:t>
                </a:r>
                <a:endParaRPr lang="en-US" sz="2400" b="1" i="0" dirty="0">
                  <a:solidFill>
                    <a:srgbClr val="00B05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2446920" y="4553072"/>
                <a:ext cx="4005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32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3303074" y="4583732"/>
                <a:ext cx="4005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32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2596472" y="4676710"/>
                <a:ext cx="40051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*</a:t>
                </a:r>
                <a:endPara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10320079" y="4416983"/>
              <a:ext cx="1706822" cy="706744"/>
              <a:chOff x="6159877" y="1911204"/>
              <a:chExt cx="1706822" cy="706744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6159877" y="2033173"/>
                <a:ext cx="170682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=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</a:t>
                </a:r>
                <a:r>
                  <a:rPr lang="en-US" sz="4000" b="1" baseline="-25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%Tile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[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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]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endPara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6433288" y="1911204"/>
                <a:ext cx="4005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32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</p:grpSp>
      <p:sp>
        <p:nvSpPr>
          <p:cNvPr id="92" name="Rectangle 91"/>
          <p:cNvSpPr/>
          <p:nvPr/>
        </p:nvSpPr>
        <p:spPr>
          <a:xfrm>
            <a:off x="1374846" y="5201423"/>
            <a:ext cx="50616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Hence</a:t>
            </a:r>
            <a:r>
              <a:rPr lang="en-US" sz="3200" b="1" i="0" dirty="0">
                <a:solidFill>
                  <a:srgbClr val="00B05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, 95% confidence interval for </a:t>
            </a:r>
            <a:r>
              <a:rPr lang="en-US" sz="2400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  </a:t>
            </a:r>
            <a:r>
              <a:rPr lang="en-US" sz="3200" b="1" dirty="0">
                <a:solidFill>
                  <a:srgbClr val="00B05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is :</a:t>
            </a:r>
            <a:endParaRPr lang="en-US" sz="2400" b="1" i="0" dirty="0">
              <a:solidFill>
                <a:srgbClr val="0070C0"/>
              </a:solidFill>
              <a:effectLst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83" name="Group 82"/>
          <p:cNvGrpSpPr/>
          <p:nvPr/>
        </p:nvGrpSpPr>
        <p:grpSpPr>
          <a:xfrm>
            <a:off x="4612961" y="5841195"/>
            <a:ext cx="3901051" cy="769976"/>
            <a:chOff x="6092266" y="5764460"/>
            <a:chExt cx="3901051" cy="769976"/>
          </a:xfrm>
        </p:grpSpPr>
        <p:grpSp>
          <p:nvGrpSpPr>
            <p:cNvPr id="97" name="Group 96"/>
            <p:cNvGrpSpPr/>
            <p:nvPr/>
          </p:nvGrpSpPr>
          <p:grpSpPr>
            <a:xfrm>
              <a:off x="6092266" y="5764460"/>
              <a:ext cx="3901051" cy="769976"/>
              <a:chOff x="6159323" y="2025504"/>
              <a:chExt cx="1247121" cy="769976"/>
            </a:xfrm>
          </p:grpSpPr>
          <p:sp>
            <p:nvSpPr>
              <p:cNvPr id="98" name="Rectangle 97"/>
              <p:cNvSpPr/>
              <p:nvPr/>
            </p:nvSpPr>
            <p:spPr>
              <a:xfrm>
                <a:off x="6159323" y="2026039"/>
                <a:ext cx="1247121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[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4000" b="1" baseline="-25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%Tile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[0.025] ,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</a:t>
                </a:r>
                <a:r>
                  <a:rPr lang="en-US" sz="4000" b="1" baseline="-25000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%Tile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[0.975]</a:t>
                </a:r>
                <a:r>
                  <a:rPr lang="en-US" sz="4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]</a:t>
                </a: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endParaRPr lang="en-US" sz="24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6199688" y="2025504"/>
                <a:ext cx="8924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1325" indent="-441325">
                  <a:tabLst>
                    <a:tab pos="2697163" algn="l"/>
                  </a:tabLst>
                </a:pPr>
                <a:r>
                  <a:rPr lang="en-US" sz="3200" b="1" dirty="0">
                    <a:solidFill>
                      <a:srgbClr val="0070C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ebdings" panose="05030102010509060703" pitchFamily="18" charset="2"/>
                  </a:rPr>
                  <a:t>^</a:t>
                </a:r>
                <a:endParaRPr lang="en-US" sz="3200" b="1" i="0" dirty="0">
                  <a:solidFill>
                    <a:srgbClr val="0070C0"/>
                  </a:solidFill>
                  <a:effectLst/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104" name="Rectangle 103"/>
            <p:cNvSpPr/>
            <p:nvPr/>
          </p:nvSpPr>
          <p:spPr>
            <a:xfrm>
              <a:off x="7958428" y="5764460"/>
              <a:ext cx="27915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1325" indent="-441325">
                <a:tabLst>
                  <a:tab pos="2697163" algn="l"/>
                </a:tabLst>
              </a:pPr>
              <a:r>
                <a:rPr lang="en-US" sz="3200" b="1" dirty="0">
                  <a:solidFill>
                    <a:srgbClr val="0070C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ebdings" panose="05030102010509060703" pitchFamily="18" charset="2"/>
                </a:rPr>
                <a:t>^</a:t>
              </a:r>
              <a:endParaRPr lang="en-US" sz="3200" b="1" i="0" dirty="0">
                <a:solidFill>
                  <a:srgbClr val="0070C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AED91-95CB-41EC-88D6-AF297BE9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9282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4444" y="202792"/>
            <a:ext cx="1168769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tabLst>
                <a:tab pos="715963" algn="l"/>
              </a:tabLst>
            </a:pPr>
            <a:r>
              <a:rPr lang="en-US" sz="28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Exercise 2 </a:t>
            </a:r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</a:p>
          <a:p>
            <a:pPr algn="thaiDist">
              <a:tabLst>
                <a:tab pos="715963" algn="l"/>
              </a:tabLst>
            </a:pPr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 survey is taken to estimate the mean annual family income for families living in public housing in Chicago. For a random sample of 29 families, the annual incomes (in hundreds of dollars) are as follows:</a:t>
            </a:r>
            <a:endParaRPr lang="en-US" sz="12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90  77  100  83  64  78  92  73  122  96  60  85  86  108  70  139  56  94  84  111  93  120  70  92  100  124  59  112  79</a:t>
            </a:r>
          </a:p>
          <a:p>
            <a:pPr marL="274638" indent="-274638" algn="thaiDist"/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a.	Construct a box plot of the incomes. What do you predict about the shape of the population distribution? Does this affect the possible inferences? </a:t>
            </a:r>
          </a:p>
          <a:p>
            <a:pPr marL="274638" indent="-274638" algn="thaiDist"/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b. Using software, find point estimates of the mean and standard deviation of the family incomes of all families living in public housing in Chicago. </a:t>
            </a:r>
          </a:p>
          <a:p>
            <a:pPr marL="274638" indent="-274638" algn="thaiDist"/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c. 	Obtain and interpret a 95% confidence interval for the population mean of the data. </a:t>
            </a:r>
            <a:endParaRPr lang="th-TH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3132" y="4346383"/>
            <a:ext cx="11687694" cy="873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638" indent="-274638" algn="thaiDist">
              <a:lnSpc>
                <a:spcPts val="3000"/>
              </a:lnSpc>
              <a:tabLst>
                <a:tab pos="715963" algn="l"/>
              </a:tabLst>
            </a:pPr>
            <a:r>
              <a:rPr lang="en-US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d. 	Use bootstrap resampling method to find a 95% confidence interval for the population mean of the data. </a:t>
            </a:r>
          </a:p>
          <a:p>
            <a:pPr marL="274638" indent="-274638" algn="thaiDist">
              <a:lnSpc>
                <a:spcPts val="3000"/>
              </a:lnSpc>
              <a:tabLst>
                <a:tab pos="715963" algn="l"/>
              </a:tabLst>
            </a:pPr>
            <a:r>
              <a:rPr lang="en-US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e.	Compare the results in c. to d. and make some comment.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829484-20C0-4932-A3D5-91C83763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13</a:t>
            </a:fld>
            <a:endParaRPr lang="th-T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4A9C05-9263-4801-965A-1DDDB32B3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44" y="6004486"/>
            <a:ext cx="8327858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71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4444" y="202792"/>
            <a:ext cx="116876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Exercise 3</a:t>
            </a:r>
          </a:p>
          <a:p>
            <a:r>
              <a:rPr lang="en-US" sz="2800" b="1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For a random sample of 50 objects, the data are as follows:</a:t>
            </a:r>
            <a:endParaRPr lang="en-US" sz="1200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lain" startAt="54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5  35  137  31  27  152  2  123   81  74  27  11  19  126  110  110  29  61  35  94  31  26  5  12  4  165  32  29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28  29  26  25  1  14  13  13  10  5  27  4  52  30  22  36  26   20   23   33   68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a. Construct a box plot of the data. What do you predict about the shape of the population distribution? Does this affect the possible inferences? </a:t>
            </a:r>
          </a:p>
          <a:p>
            <a:pPr marL="274638" indent="-274638" algn="thaiDist"/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b. Using software, find point estimates of the mean and standard deviation of the data. </a:t>
            </a:r>
          </a:p>
          <a:p>
            <a:pPr marL="274638" indent="-274638" algn="thaiDist"/>
            <a:r>
              <a:rPr lang="en-US" b="1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c. 	Obtain and interpret a 95% confidence interval for the population mean. </a:t>
            </a:r>
            <a:endParaRPr lang="th-TH" b="1" dirty="0">
              <a:solidFill>
                <a:srgbClr val="0070C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4444" y="3816256"/>
            <a:ext cx="11687694" cy="873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638" indent="-274638" algn="thaiDist">
              <a:lnSpc>
                <a:spcPts val="3000"/>
              </a:lnSpc>
              <a:tabLst>
                <a:tab pos="715963" algn="l"/>
              </a:tabLst>
            </a:pPr>
            <a:r>
              <a:rPr lang="en-US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d. 	Use bootstrap resampling method to find a 95% confidence interval for the population mean of the data. </a:t>
            </a:r>
          </a:p>
          <a:p>
            <a:pPr marL="274638" indent="-274638" algn="thaiDist">
              <a:lnSpc>
                <a:spcPts val="3000"/>
              </a:lnSpc>
              <a:tabLst>
                <a:tab pos="715963" algn="l"/>
              </a:tabLst>
            </a:pPr>
            <a:r>
              <a:rPr lang="en-US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e.	Compare the results in c. to d. and make some comment.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829484-20C0-4932-A3D5-91C83763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DE9A-CFBD-42F6-911C-BD1B318E8FB2}" type="slidenum">
              <a:rPr lang="th-TH" smtClean="0"/>
              <a:t>14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14293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746246347D7F4792C1A3903781635D" ma:contentTypeVersion="3" ma:contentTypeDescription="Create a new document." ma:contentTypeScope="" ma:versionID="cb02b0854ccafec3bffed6dd44e163d6">
  <xsd:schema xmlns:xsd="http://www.w3.org/2001/XMLSchema" xmlns:xs="http://www.w3.org/2001/XMLSchema" xmlns:p="http://schemas.microsoft.com/office/2006/metadata/properties" xmlns:ns2="be450e9a-ef92-4cdb-a4ab-9ff71cad7892" targetNamespace="http://schemas.microsoft.com/office/2006/metadata/properties" ma:root="true" ma:fieldsID="f5ba5446dcdfb28e6b62b374b870fdb3" ns2:_="">
    <xsd:import namespace="be450e9a-ef92-4cdb-a4ab-9ff71cad78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450e9a-ef92-4cdb-a4ab-9ff71cad78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BE4215-CD18-45B5-96F4-A87B1C0CD047}"/>
</file>

<file path=customXml/itemProps2.xml><?xml version="1.0" encoding="utf-8"?>
<ds:datastoreItem xmlns:ds="http://schemas.openxmlformats.org/officeDocument/2006/customXml" ds:itemID="{E7D298EB-0F64-4F37-8EEF-DA8163688507}"/>
</file>

<file path=customXml/itemProps3.xml><?xml version="1.0" encoding="utf-8"?>
<ds:datastoreItem xmlns:ds="http://schemas.openxmlformats.org/officeDocument/2006/customXml" ds:itemID="{3666AFF3-46BD-4B70-86BB-E53E41EF069C}"/>
</file>

<file path=docProps/app.xml><?xml version="1.0" encoding="utf-8"?>
<Properties xmlns="http://schemas.openxmlformats.org/officeDocument/2006/extended-properties" xmlns:vt="http://schemas.openxmlformats.org/officeDocument/2006/docPropsVTypes">
  <TotalTime>2317</TotalTime>
  <Words>2221</Words>
  <Application>Microsoft Office PowerPoint</Application>
  <PresentationFormat>Widescreen</PresentationFormat>
  <Paragraphs>443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Angsana New</vt:lpstr>
      <vt:lpstr>Arial</vt:lpstr>
      <vt:lpstr>Calibri</vt:lpstr>
      <vt:lpstr>Calibri Light</vt:lpstr>
      <vt:lpstr>Cambria Math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Ramidha Srihera</cp:lastModifiedBy>
  <cp:revision>149</cp:revision>
  <cp:lastPrinted>2019-08-29T08:24:07Z</cp:lastPrinted>
  <dcterms:created xsi:type="dcterms:W3CDTF">2019-08-25T09:06:35Z</dcterms:created>
  <dcterms:modified xsi:type="dcterms:W3CDTF">2025-07-24T07:37:44Z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0x010100D5746246347D7F4792C1A3903781635D</vt:lpwstr>
  </property>
</Properties>
</file>