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326" r:id="rId2"/>
    <p:sldId id="344" r:id="rId3"/>
    <p:sldId id="386" r:id="rId4"/>
    <p:sldId id="327" r:id="rId5"/>
    <p:sldId id="273" r:id="rId6"/>
    <p:sldId id="354" r:id="rId7"/>
    <p:sldId id="388" r:id="rId8"/>
    <p:sldId id="387" r:id="rId9"/>
    <p:sldId id="283" r:id="rId10"/>
    <p:sldId id="389" r:id="rId11"/>
    <p:sldId id="282" r:id="rId12"/>
    <p:sldId id="355" r:id="rId13"/>
    <p:sldId id="286" r:id="rId14"/>
    <p:sldId id="270" r:id="rId15"/>
    <p:sldId id="356" r:id="rId16"/>
    <p:sldId id="381" r:id="rId17"/>
    <p:sldId id="382" r:id="rId18"/>
    <p:sldId id="383" r:id="rId19"/>
    <p:sldId id="384" r:id="rId20"/>
    <p:sldId id="374" r:id="rId21"/>
    <p:sldId id="385" r:id="rId22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933FF"/>
    <a:srgbClr val="6600CC"/>
    <a:srgbClr val="CF9FFF"/>
    <a:srgbClr val="006600"/>
    <a:srgbClr val="CC3399"/>
    <a:srgbClr val="663300"/>
    <a:srgbClr val="FFCCFF"/>
    <a:srgbClr val="FF330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8" autoAdjust="0"/>
    <p:restoredTop sz="94610" autoAdjust="0"/>
  </p:normalViewPr>
  <p:slideViewPr>
    <p:cSldViewPr>
      <p:cViewPr varScale="1">
        <p:scale>
          <a:sx n="60" d="100"/>
          <a:sy n="60" d="100"/>
        </p:scale>
        <p:origin x="1456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39" d="100"/>
          <a:sy n="39" d="100"/>
        </p:scale>
        <p:origin x="-1334" y="-72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8286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ngsana New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8944" y="1"/>
            <a:ext cx="298286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ngsana New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580"/>
            <a:ext cx="298286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ngsana New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8944" y="8831580"/>
            <a:ext cx="298286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ngsana New" pitchFamily="18" charset="-34"/>
              </a:defRPr>
            </a:lvl1pPr>
          </a:lstStyle>
          <a:p>
            <a:pPr>
              <a:defRPr/>
            </a:pPr>
            <a:fld id="{A76E4A2C-69B7-4496-B362-02A8DF5734F4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782175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8286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>
                <a:latin typeface="Verdana" pitchFamily="34" charset="0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44" y="1"/>
            <a:ext cx="298286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00">
                <a:latin typeface="Verdana" pitchFamily="34" charset="0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6613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683" y="4416538"/>
            <a:ext cx="5046449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noProof="0"/>
              <a:t>Click to edit Master text styles</a:t>
            </a:r>
          </a:p>
          <a:p>
            <a:pPr lvl="1"/>
            <a:r>
              <a:rPr lang="th-TH" noProof="0"/>
              <a:t>Second level</a:t>
            </a:r>
          </a:p>
          <a:p>
            <a:pPr lvl="2"/>
            <a:r>
              <a:rPr lang="th-TH" noProof="0"/>
              <a:t>Third level</a:t>
            </a:r>
          </a:p>
          <a:p>
            <a:pPr lvl="3"/>
            <a:r>
              <a:rPr lang="th-TH" noProof="0"/>
              <a:t>Fourth level</a:t>
            </a:r>
          </a:p>
          <a:p>
            <a:pPr lvl="4"/>
            <a:r>
              <a:rPr lang="th-TH" noProof="0"/>
              <a:t>Fifth level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298286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800">
                <a:latin typeface="Verdana" pitchFamily="34" charset="0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44" y="8831580"/>
            <a:ext cx="298286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>
                <a:latin typeface="Verdana" pitchFamily="34" charset="0"/>
              </a:defRPr>
            </a:lvl1pPr>
          </a:lstStyle>
          <a:p>
            <a:pPr>
              <a:defRPr/>
            </a:pPr>
            <a:fld id="{87E928CB-7CE7-41F3-B5F8-38466C963F61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340257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ngsana New" pitchFamily="18" charset="-34"/>
        <a:ea typeface="+mn-ea"/>
        <a:cs typeface="Angsana New" pitchFamily="18" charset="-34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3616EF-75E5-4690-856B-E2DE7F57532B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8879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D2D0C-0E2E-4E6E-9CE9-48BBDAB56A5E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2798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5CA7F7-17F9-4145-B94A-526A5792ADC3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42459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B77C5B-8795-48FE-8AD3-F8882AB8992F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14741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D98020-4A35-4E79-8C85-131D3E7BFE8A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17551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46727-A232-46BD-AF71-21A9C6BE5EF4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85116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AFD26D-5CFB-49D2-B0D7-CBBF54970D00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36274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05CEEF-5D96-409C-98CC-BF9595393067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03780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CFA02-5199-4B07-A388-6F7AA1C84DBB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2317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DAA021-59FF-4C35-B360-C5B31B884F81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4338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09550C-A871-49DC-A27C-10CC98207D17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65515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4377EF-FE88-4ABF-B7EF-4C66352EC6F8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57415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B8F95D-5ADF-4A8E-85FD-934B5DB1945A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25655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/>
              <a:t>คลิกเพื่อแก้ไขลักษณะต้นแบบชื่อเรื่อง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1413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1413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1413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pPr>
              <a:defRPr/>
            </a:pPr>
            <a:fld id="{966A2FF8-FEF9-45D5-AE96-A8914374345E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ngsana New" pitchFamily="18" charset="-34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ngsana New" pitchFamily="18" charset="-34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ngsana New" pitchFamily="18" charset="-34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ngsana New" pitchFamily="18" charset="-34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Rectangle 4"/>
          <p:cNvSpPr>
            <a:spLocks noChangeArrowheads="1"/>
          </p:cNvSpPr>
          <p:nvPr/>
        </p:nvSpPr>
        <p:spPr bwMode="auto">
          <a:xfrm>
            <a:off x="685800" y="2552700"/>
            <a:ext cx="7924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75000"/>
              </a:lnSpc>
              <a:defRPr/>
            </a:pPr>
            <a:r>
              <a:rPr lang="th-TH" sz="4000" b="1" dirty="0">
                <a:solidFill>
                  <a:srgbClr val="0000CC"/>
                </a:solidFill>
                <a:latin typeface="Angsana New" pitchFamily="18" charset="-34"/>
              </a:rPr>
              <a:t>การทดสอบสมมุติฐาน (Testing of Hypothesis)</a:t>
            </a:r>
            <a:endParaRPr lang="th-TH" sz="4000" dirty="0">
              <a:solidFill>
                <a:schemeClr val="tx2"/>
              </a:solidFill>
              <a:latin typeface="Angsana New" pitchFamily="18" charset="-34"/>
            </a:endParaRPr>
          </a:p>
        </p:txBody>
      </p:sp>
      <p:sp>
        <p:nvSpPr>
          <p:cNvPr id="138245" name="Rectangle 5"/>
          <p:cNvSpPr>
            <a:spLocks noChangeArrowheads="1"/>
          </p:cNvSpPr>
          <p:nvPr/>
        </p:nvSpPr>
        <p:spPr bwMode="auto">
          <a:xfrm>
            <a:off x="5029200" y="3162300"/>
            <a:ext cx="38100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35000"/>
              </a:spcBef>
              <a:spcAft>
                <a:spcPct val="20000"/>
              </a:spcAft>
              <a:defRPr/>
            </a:pPr>
            <a:r>
              <a:rPr lang="th-TH" sz="4000" b="1" dirty="0"/>
              <a:t>     </a:t>
            </a:r>
            <a:r>
              <a:rPr lang="th-TH" sz="4000" b="1" dirty="0">
                <a:solidFill>
                  <a:srgbClr val="CC0066"/>
                </a:solidFill>
              </a:rPr>
              <a:t>พา</a:t>
            </a:r>
            <a:r>
              <a:rPr lang="th-TH" sz="4000" b="1" dirty="0" err="1">
                <a:solidFill>
                  <a:srgbClr val="CC0066"/>
                </a:solidFill>
              </a:rPr>
              <a:t>ชิตชนัต</a:t>
            </a:r>
            <a:r>
              <a:rPr lang="th-TH" sz="4000" b="1" dirty="0">
                <a:solidFill>
                  <a:srgbClr val="CC0066"/>
                </a:solidFill>
              </a:rPr>
              <a:t>  </a:t>
            </a:r>
            <a:r>
              <a:rPr lang="th-TH" sz="4000" b="1" dirty="0" err="1">
                <a:solidFill>
                  <a:srgbClr val="CC0066"/>
                </a:solidFill>
              </a:rPr>
              <a:t>ศิ</a:t>
            </a:r>
            <a:r>
              <a:rPr lang="th-TH" sz="4000" b="1" dirty="0">
                <a:solidFill>
                  <a:srgbClr val="CC0066"/>
                </a:solidFill>
              </a:rPr>
              <a:t>ริพานิช</a:t>
            </a:r>
            <a:endParaRPr lang="th-TH" sz="4000" b="1" dirty="0">
              <a:solidFill>
                <a:srgbClr val="006600"/>
              </a:solidFill>
            </a:endParaRPr>
          </a:p>
          <a:p>
            <a:pPr algn="r">
              <a:lnSpc>
                <a:spcPct val="80000"/>
              </a:lnSpc>
              <a:defRPr/>
            </a:pPr>
            <a:r>
              <a:rPr lang="th-TH" sz="4000" b="1" dirty="0">
                <a:solidFill>
                  <a:srgbClr val="0000CC"/>
                </a:solidFill>
              </a:rPr>
              <a:t>       </a:t>
            </a:r>
            <a:endParaRPr lang="th-TH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3C2943-1CBC-4243-804C-2B7BDC5F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F46727-A232-46BD-AF71-21A9C6BE5EF4}" type="slidenum">
              <a:rPr lang="en-US" smtClean="0"/>
              <a:pPr>
                <a:defRPr/>
              </a:pPr>
              <a:t>1</a:t>
            </a:fld>
            <a:endParaRPr lang="th-TH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8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8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/>
      <p:bldP spid="13824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th-TH" sz="4800" b="1" dirty="0">
                <a:solidFill>
                  <a:srgbClr val="0000FF"/>
                </a:solidFill>
              </a:rPr>
              <a:t>ตัวอย่างปัญหาในการวิจัย</a:t>
            </a:r>
            <a:endParaRPr lang="th-TH" sz="4800" dirty="0">
              <a:solidFill>
                <a:srgbClr val="0000FF"/>
              </a:solidFill>
            </a:endParaRPr>
          </a:p>
        </p:txBody>
      </p:sp>
      <p:sp>
        <p:nvSpPr>
          <p:cNvPr id="169988" name="Rectangle 4"/>
          <p:cNvSpPr>
            <a:spLocks noChangeArrowheads="1"/>
          </p:cNvSpPr>
          <p:nvPr/>
        </p:nvSpPr>
        <p:spPr bwMode="auto">
          <a:xfrm>
            <a:off x="88602" y="1414132"/>
            <a:ext cx="7970838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71500" indent="-571500" eaLnBrk="0" hangingPunct="0">
              <a:defRPr/>
            </a:pPr>
            <a:r>
              <a:rPr lang="th-TH" sz="3600" b="1" dirty="0">
                <a:solidFill>
                  <a:srgbClr val="00CC00"/>
                </a:solidFill>
                <a:latin typeface="Angsana New" pitchFamily="18" charset="-34"/>
              </a:rPr>
              <a:t>2. สัดส่วนคนพิการในประเทศไทย </a:t>
            </a:r>
            <a:r>
              <a:rPr lang="en-US" sz="3600" b="1" dirty="0">
                <a:solidFill>
                  <a:srgbClr val="00CC00"/>
                </a:solidFill>
                <a:latin typeface="Angsana New" pitchFamily="18" charset="-34"/>
              </a:rPr>
              <a:t>= 1.0%</a:t>
            </a:r>
            <a:endParaRPr lang="th-TH" sz="3600" b="1" dirty="0">
              <a:solidFill>
                <a:srgbClr val="00CC00"/>
              </a:solidFill>
              <a:latin typeface="Angsana New" pitchFamily="18" charset="-34"/>
            </a:endParaRPr>
          </a:p>
        </p:txBody>
      </p:sp>
      <p:sp>
        <p:nvSpPr>
          <p:cNvPr id="169989" name="Rectangle 5"/>
          <p:cNvSpPr>
            <a:spLocks noChangeArrowheads="1"/>
          </p:cNvSpPr>
          <p:nvPr/>
        </p:nvSpPr>
        <p:spPr bwMode="auto">
          <a:xfrm>
            <a:off x="88602" y="2017531"/>
            <a:ext cx="6477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71500" indent="-571500" eaLnBrk="0" hangingPunct="0">
              <a:defRPr/>
            </a:pPr>
            <a:r>
              <a:rPr lang="th-TH" sz="3600" b="1" dirty="0">
                <a:solidFill>
                  <a:schemeClr val="tx2"/>
                </a:solidFill>
                <a:latin typeface="Angsana New" pitchFamily="18" charset="-34"/>
              </a:rPr>
              <a:t>3. คนไทยมีอายุเฉลี่ย 70 ปี</a:t>
            </a:r>
          </a:p>
        </p:txBody>
      </p:sp>
      <p:sp>
        <p:nvSpPr>
          <p:cNvPr id="169990" name="Rectangle 6"/>
          <p:cNvSpPr>
            <a:spLocks noChangeArrowheads="1"/>
          </p:cNvSpPr>
          <p:nvPr/>
        </p:nvSpPr>
        <p:spPr bwMode="auto">
          <a:xfrm>
            <a:off x="88602" y="2612941"/>
            <a:ext cx="7239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71500" indent="-571500" eaLnBrk="0" hangingPunct="0">
              <a:defRPr/>
            </a:pPr>
            <a:r>
              <a:rPr lang="th-TH" sz="3600" b="1" dirty="0">
                <a:solidFill>
                  <a:srgbClr val="990000"/>
                </a:solidFill>
                <a:latin typeface="Angsana New" pitchFamily="18" charset="-34"/>
              </a:rPr>
              <a:t>4. ชายและหญิงสนใจการเมืองพอ ๆ กัน</a:t>
            </a:r>
          </a:p>
        </p:txBody>
      </p:sp>
      <p:sp>
        <p:nvSpPr>
          <p:cNvPr id="169991" name="Rectangle 7"/>
          <p:cNvSpPr>
            <a:spLocks noChangeArrowheads="1"/>
          </p:cNvSpPr>
          <p:nvPr/>
        </p:nvSpPr>
        <p:spPr bwMode="auto">
          <a:xfrm>
            <a:off x="88602" y="914400"/>
            <a:ext cx="876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71500" indent="-571500" eaLnBrk="0" hangingPunct="0">
              <a:lnSpc>
                <a:spcPct val="80000"/>
              </a:lnSpc>
              <a:defRPr/>
            </a:pPr>
            <a:r>
              <a:rPr lang="th-TH" sz="3600" b="1" dirty="0">
                <a:solidFill>
                  <a:srgbClr val="0099CC"/>
                </a:solidFill>
                <a:latin typeface="Angsana New" pitchFamily="18" charset="-34"/>
              </a:rPr>
              <a:t>1. เพศและทัศนคติเกี่ยวกับการประกันชีวิตมีความสัมพันธ์กัน</a:t>
            </a:r>
          </a:p>
        </p:txBody>
      </p:sp>
      <p:sp>
        <p:nvSpPr>
          <p:cNvPr id="169992" name="Rectangle 8"/>
          <p:cNvSpPr>
            <a:spLocks noChangeArrowheads="1"/>
          </p:cNvSpPr>
          <p:nvPr/>
        </p:nvSpPr>
        <p:spPr bwMode="auto">
          <a:xfrm>
            <a:off x="88602" y="3222541"/>
            <a:ext cx="8153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71500" indent="-571500" eaLnBrk="0" hangingPunct="0">
              <a:defRPr/>
            </a:pPr>
            <a:r>
              <a:rPr lang="th-TH" sz="3600" b="1" dirty="0">
                <a:solidFill>
                  <a:srgbClr val="6600CC"/>
                </a:solidFill>
                <a:latin typeface="Angsana New" pitchFamily="18" charset="-34"/>
              </a:rPr>
              <a:t>5. ความสูงของคนไทยมีการแจกแจงแบบปรกติ</a:t>
            </a:r>
          </a:p>
        </p:txBody>
      </p:sp>
      <p:sp>
        <p:nvSpPr>
          <p:cNvPr id="169993" name="Rectangle 9"/>
          <p:cNvSpPr>
            <a:spLocks noChangeArrowheads="1"/>
          </p:cNvSpPr>
          <p:nvPr/>
        </p:nvSpPr>
        <p:spPr bwMode="auto">
          <a:xfrm>
            <a:off x="88602" y="3828156"/>
            <a:ext cx="8153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71500" indent="-571500" eaLnBrk="0" hangingPunct="0">
              <a:defRPr/>
            </a:pPr>
            <a:r>
              <a:rPr lang="th-TH" sz="3600" b="1" dirty="0">
                <a:solidFill>
                  <a:srgbClr val="FF0066"/>
                </a:solidFill>
                <a:latin typeface="Angsana New" pitchFamily="18" charset="-34"/>
              </a:rPr>
              <a:t>6. ทิศทางของพายุไต้ฝุ่นเป็นไปแบบสุ่ม</a:t>
            </a:r>
          </a:p>
        </p:txBody>
      </p:sp>
      <p:sp>
        <p:nvSpPr>
          <p:cNvPr id="169994" name="Rectangle 10"/>
          <p:cNvSpPr>
            <a:spLocks noChangeArrowheads="1"/>
          </p:cNvSpPr>
          <p:nvPr/>
        </p:nvSpPr>
        <p:spPr bwMode="auto">
          <a:xfrm>
            <a:off x="88602" y="4431555"/>
            <a:ext cx="8153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71500" indent="-571500" eaLnBrk="0" hangingPunct="0">
              <a:defRPr/>
            </a:pPr>
            <a:r>
              <a:rPr lang="th-TH" sz="3600" b="1" dirty="0">
                <a:solidFill>
                  <a:srgbClr val="008000"/>
                </a:solidFill>
                <a:latin typeface="Angsana New" pitchFamily="18" charset="-34"/>
              </a:rPr>
              <a:t>7. ลูกเต๋าลูกหนึ่งไม่ถูกถ่วง (</a:t>
            </a:r>
            <a:r>
              <a:rPr lang="en-US" sz="3600" b="1" dirty="0">
                <a:solidFill>
                  <a:srgbClr val="008000"/>
                </a:solidFill>
                <a:latin typeface="Angsana New" pitchFamily="18" charset="-34"/>
              </a:rPr>
              <a:t>fair dice)</a:t>
            </a:r>
            <a:endParaRPr lang="th-TH" sz="3600" b="1" dirty="0">
              <a:solidFill>
                <a:srgbClr val="008000"/>
              </a:solidFill>
              <a:latin typeface="Angsana New" pitchFamily="18" charset="-34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88602" y="5048697"/>
            <a:ext cx="905539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71500" indent="-571500" eaLnBrk="0" hangingPunct="0">
              <a:defRPr/>
            </a:pPr>
            <a:r>
              <a:rPr lang="en-US" sz="3600" b="1" dirty="0">
                <a:solidFill>
                  <a:srgbClr val="663300"/>
                </a:solidFill>
                <a:latin typeface="Angsana New" pitchFamily="18" charset="-34"/>
              </a:rPr>
              <a:t>8</a:t>
            </a:r>
            <a:r>
              <a:rPr lang="th-TH" sz="3600" b="1" dirty="0">
                <a:solidFill>
                  <a:srgbClr val="663300"/>
                </a:solidFill>
                <a:latin typeface="Angsana New" pitchFamily="18" charset="-34"/>
              </a:rPr>
              <a:t>. นักศึกษาหญิง</a:t>
            </a:r>
            <a:r>
              <a:rPr lang="th-TH" sz="3600" b="1" dirty="0">
                <a:solidFill>
                  <a:srgbClr val="663300"/>
                </a:solidFill>
              </a:rPr>
              <a:t>พึงพอใจต่อการเรียนในนิด้าน้อยกว่านักศึกษาชาย </a:t>
            </a:r>
            <a:endParaRPr lang="th-TH" sz="3600" b="1" dirty="0">
              <a:solidFill>
                <a:srgbClr val="663300"/>
              </a:solidFill>
              <a:latin typeface="Angsana New" pitchFamily="18" charset="-34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4065" y="5607268"/>
            <a:ext cx="906993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71500" indent="-571500" eaLnBrk="0" hangingPunct="0">
              <a:defRPr/>
            </a:pPr>
            <a:r>
              <a:rPr lang="th-TH" sz="3600" b="1" dirty="0">
                <a:solidFill>
                  <a:srgbClr val="0000FF"/>
                </a:solidFill>
                <a:latin typeface="Angsana New" pitchFamily="18" charset="-34"/>
              </a:rPr>
              <a:t>9. </a:t>
            </a:r>
            <a:r>
              <a:rPr lang="th-TH" sz="3600" b="1" dirty="0">
                <a:solidFill>
                  <a:srgbClr val="0000FF"/>
                </a:solidFill>
              </a:rPr>
              <a:t>รายได้จากการทำงานที่</a:t>
            </a:r>
            <a:r>
              <a:rPr lang="th-TH" sz="3600" b="1" dirty="0">
                <a:solidFill>
                  <a:srgbClr val="0000FF"/>
                </a:solidFill>
                <a:latin typeface="Angsana New" pitchFamily="18" charset="-34"/>
              </a:rPr>
              <a:t>นักศึกษาคณะบริหารธุรกิจ</a:t>
            </a:r>
            <a:r>
              <a:rPr lang="th-TH" sz="3600" b="1" dirty="0">
                <a:solidFill>
                  <a:srgbClr val="0000FF"/>
                </a:solidFill>
              </a:rPr>
              <a:t>คาดหวัง โดยเฉลี่ย</a:t>
            </a:r>
            <a:endParaRPr lang="th-TH" sz="3600" b="1" dirty="0">
              <a:solidFill>
                <a:srgbClr val="0000FF"/>
              </a:solidFill>
              <a:latin typeface="Angsana New" pitchFamily="18" charset="-34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426896" y="6140668"/>
            <a:ext cx="8717104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71500" indent="-571500" eaLnBrk="0" hangingPunct="0">
              <a:defRPr/>
            </a:pPr>
            <a:r>
              <a:rPr lang="th-TH" sz="3600" b="1" dirty="0">
                <a:solidFill>
                  <a:srgbClr val="0000FF"/>
                </a:solidFill>
              </a:rPr>
              <a:t>จะมีค่าสูงกว่าที่</a:t>
            </a:r>
            <a:r>
              <a:rPr lang="th-TH" sz="3600" b="1" dirty="0">
                <a:solidFill>
                  <a:srgbClr val="0000FF"/>
                </a:solidFill>
                <a:latin typeface="Angsana New" pitchFamily="18" charset="-34"/>
              </a:rPr>
              <a:t>นักศึกษาคณะสถิติประยุกต์</a:t>
            </a:r>
            <a:r>
              <a:rPr lang="th-TH" sz="3600" b="1" dirty="0">
                <a:solidFill>
                  <a:srgbClr val="0000FF"/>
                </a:solidFill>
              </a:rPr>
              <a:t>คาดหวัง </a:t>
            </a:r>
            <a:endParaRPr lang="th-TH" sz="3600" b="1" dirty="0">
              <a:solidFill>
                <a:srgbClr val="0000FF"/>
              </a:solidFill>
              <a:latin typeface="Angsana New" pitchFamily="18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4E4B19-74D7-4970-A842-08E9B0224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D2D0C-0E2E-4E6E-9CE9-48BBDAB56A5E}" type="slidenum">
              <a:rPr lang="en-US" smtClean="0"/>
              <a:pPr>
                <a:defRPr/>
              </a:pPr>
              <a:t>2</a:t>
            </a:fld>
            <a:endParaRPr lang="th-TH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9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9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9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9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9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6" grpId="0" autoUpdateAnimBg="0"/>
      <p:bldP spid="169988" grpId="0" build="p" autoUpdateAnimBg="0" advAuto="0"/>
      <p:bldP spid="169989" grpId="0" build="p" autoUpdateAnimBg="0" advAuto="0"/>
      <p:bldP spid="169990" grpId="0" build="p" autoUpdateAnimBg="0" advAuto="0"/>
      <p:bldP spid="169991" grpId="0" build="p" autoUpdateAnimBg="0" advAuto="0"/>
      <p:bldP spid="169992" grpId="0" build="p" autoUpdateAnimBg="0" advAuto="0"/>
      <p:bldP spid="169993" grpId="0" build="p" autoUpdateAnimBg="0" advAuto="0"/>
      <p:bldP spid="169994" grpId="0" build="p" autoUpdateAnimBg="0" advAuto="0"/>
      <p:bldP spid="10" grpId="0" build="p" autoUpdateAnimBg="0" advAuto="0"/>
      <p:bldP spid="11" grpId="0" build="p" autoUpdateAnimBg="0" advAuto="0"/>
      <p:bldP spid="12" grpId="0" build="p" autoUpdateAnimBg="0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763"/>
            <a:ext cx="9144000" cy="717550"/>
          </a:xfrm>
        </p:spPr>
        <p:txBody>
          <a:bodyPr/>
          <a:lstStyle/>
          <a:p>
            <a:pPr eaLnBrk="1" hangingPunct="1">
              <a:defRPr/>
            </a:pPr>
            <a:r>
              <a:rPr lang="en-US" sz="4800" b="1" dirty="0">
                <a:solidFill>
                  <a:srgbClr val="3333FF"/>
                </a:solidFill>
                <a:latin typeface="Angsana New" pitchFamily="18" charset="-34"/>
                <a:cs typeface="Angsana New" pitchFamily="18" charset="-34"/>
              </a:rPr>
              <a:t>Hypothesis</a:t>
            </a:r>
            <a:r>
              <a:rPr lang="th-TH" sz="4800" b="1" dirty="0">
                <a:solidFill>
                  <a:srgbClr val="3333FF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en-US" sz="4800" b="1" dirty="0">
                <a:solidFill>
                  <a:srgbClr val="3333FF"/>
                </a:solidFill>
                <a:latin typeface="Angsana New" pitchFamily="18" charset="-34"/>
                <a:cs typeface="Angsana New" pitchFamily="18" charset="-34"/>
              </a:rPr>
              <a:t>(</a:t>
            </a:r>
            <a:r>
              <a:rPr lang="th-TH" sz="4800" b="1" dirty="0">
                <a:solidFill>
                  <a:srgbClr val="3333FF"/>
                </a:solidFill>
                <a:latin typeface="Angsana New" pitchFamily="18" charset="-34"/>
                <a:cs typeface="Angsana New" pitchFamily="18" charset="-34"/>
              </a:rPr>
              <a:t>สมมุติฐาน</a:t>
            </a:r>
            <a:r>
              <a:rPr lang="en-US" sz="4800" b="1" dirty="0">
                <a:solidFill>
                  <a:srgbClr val="3333FF"/>
                </a:solidFill>
                <a:latin typeface="Angsana New" pitchFamily="18" charset="-34"/>
                <a:cs typeface="Angsana New" pitchFamily="18" charset="-34"/>
              </a:rPr>
              <a:t>)</a:t>
            </a:r>
            <a:endParaRPr lang="th-TH" sz="4800" dirty="0">
              <a:solidFill>
                <a:srgbClr val="3333FF"/>
              </a:solidFill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28600" y="762000"/>
            <a:ext cx="8763000" cy="533400"/>
          </a:xfrm>
          <a:ln w="28575" cmpd="dbl">
            <a:solidFill>
              <a:srgbClr val="0000FF"/>
            </a:solidFill>
          </a:ln>
        </p:spPr>
        <p:txBody>
          <a:bodyPr/>
          <a:lstStyle/>
          <a:p>
            <a:pPr eaLnBrk="1" hangingPunct="1">
              <a:spcBef>
                <a:spcPts val="0"/>
              </a:spcBef>
              <a:defRPr/>
            </a:pPr>
            <a:r>
              <a:rPr lang="en-GB" sz="2800" b="1" dirty="0">
                <a:solidFill>
                  <a:srgbClr val="0000CC"/>
                </a:solidFill>
                <a:latin typeface="Angsana New" pitchFamily="18" charset="-34"/>
                <a:cs typeface="Angsana New" pitchFamily="18" charset="-34"/>
              </a:rPr>
              <a:t>A statement about the population</a:t>
            </a:r>
            <a:r>
              <a:rPr lang="th-TH" sz="2800" b="1" dirty="0">
                <a:solidFill>
                  <a:srgbClr val="0000CC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sz="2800" b="1" dirty="0">
                <a:solidFill>
                  <a:srgbClr val="00B050"/>
                </a:solidFill>
                <a:latin typeface="Angsana New" pitchFamily="18" charset="-34"/>
                <a:cs typeface="Angsana New" pitchFamily="18" charset="-34"/>
              </a:rPr>
              <a:t>(ประโยค หรือ ข้อความที่เกี่ยวกับประชากร)</a:t>
            </a:r>
            <a:endParaRPr lang="th-TH" sz="2800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-6626" y="1434405"/>
            <a:ext cx="906529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28850" indent="-2228850" eaLnBrk="0" hangingPunct="0">
              <a:spcBef>
                <a:spcPts val="0"/>
              </a:spcBef>
              <a:tabLst>
                <a:tab pos="893763" algn="l"/>
              </a:tabLst>
              <a:defRPr/>
            </a:pPr>
            <a:r>
              <a:rPr lang="th-TH" b="1" dirty="0">
                <a:solidFill>
                  <a:srgbClr val="0000FF"/>
                </a:solidFill>
                <a:latin typeface="Angsana New" pitchFamily="18" charset="-34"/>
              </a:rPr>
              <a:t>ตัวอย่าง</a:t>
            </a:r>
            <a:r>
              <a:rPr lang="th-TH" b="1" dirty="0">
                <a:latin typeface="Angsana New" pitchFamily="18" charset="-34"/>
              </a:rPr>
              <a:t> 	</a:t>
            </a:r>
            <a:r>
              <a:rPr lang="th-TH" b="1" dirty="0">
                <a:solidFill>
                  <a:srgbClr val="0070C0"/>
                </a:solidFill>
                <a:latin typeface="Angsana New" pitchFamily="18" charset="-34"/>
              </a:rPr>
              <a:t>1. ประชากรมีการแจกแจงแบบปรกติ</a:t>
            </a:r>
            <a:r>
              <a:rPr lang="en-GB" b="1" dirty="0">
                <a:solidFill>
                  <a:srgbClr val="0070C0"/>
                </a:solidFill>
                <a:latin typeface="Angsana New" pitchFamily="18" charset="-34"/>
              </a:rPr>
              <a:t> : </a:t>
            </a:r>
            <a:r>
              <a:rPr lang="en-GB" b="1" u="sng" dirty="0">
                <a:solidFill>
                  <a:srgbClr val="FF0000"/>
                </a:solidFill>
                <a:latin typeface="Angsana New" pitchFamily="18" charset="-34"/>
              </a:rPr>
              <a:t>Normal Population</a:t>
            </a:r>
            <a:r>
              <a:rPr lang="en-GB" b="1" dirty="0">
                <a:solidFill>
                  <a:srgbClr val="FF0000"/>
                </a:solidFill>
                <a:latin typeface="Angsana New" pitchFamily="18" charset="-34"/>
              </a:rPr>
              <a:t>  </a:t>
            </a:r>
            <a:r>
              <a:rPr lang="en-GB" b="1" dirty="0">
                <a:solidFill>
                  <a:srgbClr val="0070C0"/>
                </a:solidFill>
                <a:latin typeface="Angsana New" pitchFamily="18" charset="-34"/>
              </a:rPr>
              <a:t>=&gt; X </a:t>
            </a:r>
            <a:r>
              <a:rPr lang="en-GB" sz="2400" b="1" dirty="0">
                <a:solidFill>
                  <a:srgbClr val="0070C0"/>
                </a:solidFill>
                <a:latin typeface="Angsana New" pitchFamily="18" charset="-34"/>
                <a:sym typeface="Symbol"/>
              </a:rPr>
              <a:t></a:t>
            </a:r>
            <a:r>
              <a:rPr lang="en-GB" b="1" dirty="0">
                <a:solidFill>
                  <a:srgbClr val="0070C0"/>
                </a:solidFill>
                <a:latin typeface="Angsana New" pitchFamily="18" charset="-34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Angsana New" pitchFamily="18" charset="-34"/>
              </a:rPr>
              <a:t>N(</a:t>
            </a:r>
            <a:r>
              <a:rPr lang="en-US" sz="2400" b="1" dirty="0">
                <a:solidFill>
                  <a:srgbClr val="0070C0"/>
                </a:solidFill>
                <a:latin typeface="Angsana New" pitchFamily="18" charset="-34"/>
                <a:sym typeface="Symbol"/>
              </a:rPr>
              <a:t></a:t>
            </a:r>
            <a:r>
              <a:rPr lang="en-US" b="1" dirty="0">
                <a:solidFill>
                  <a:srgbClr val="0070C0"/>
                </a:solidFill>
                <a:latin typeface="Angsana New" pitchFamily="18" charset="-34"/>
                <a:sym typeface="Symbol"/>
              </a:rPr>
              <a:t>, </a:t>
            </a:r>
            <a:r>
              <a:rPr lang="en-US" sz="2400" b="1" dirty="0">
                <a:solidFill>
                  <a:srgbClr val="0070C0"/>
                </a:solidFill>
                <a:latin typeface="Angsana New" pitchFamily="18" charset="-34"/>
                <a:sym typeface="Symbol"/>
              </a:rPr>
              <a:t></a:t>
            </a:r>
            <a:r>
              <a:rPr lang="en-US" b="1" baseline="30000" dirty="0">
                <a:solidFill>
                  <a:srgbClr val="0070C0"/>
                </a:solidFill>
                <a:latin typeface="Angsana New" pitchFamily="18" charset="-34"/>
                <a:sym typeface="Symbol"/>
              </a:rPr>
              <a:t>2</a:t>
            </a:r>
            <a:r>
              <a:rPr lang="en-US" b="1" dirty="0">
                <a:solidFill>
                  <a:srgbClr val="0070C0"/>
                </a:solidFill>
                <a:latin typeface="Angsana New" pitchFamily="18" charset="-34"/>
                <a:sym typeface="Symbol"/>
              </a:rPr>
              <a:t>)</a:t>
            </a:r>
            <a:endParaRPr lang="th-TH" b="1" dirty="0">
              <a:solidFill>
                <a:srgbClr val="0070C0"/>
              </a:solidFill>
              <a:latin typeface="Angsana New" pitchFamily="18" charset="-34"/>
            </a:endParaRPr>
          </a:p>
          <a:p>
            <a:pPr marL="2228850" indent="-2228850" eaLnBrk="0" hangingPunct="0">
              <a:spcBef>
                <a:spcPts val="0"/>
              </a:spcBef>
              <a:tabLst>
                <a:tab pos="893763" algn="l"/>
              </a:tabLst>
              <a:defRPr/>
            </a:pPr>
            <a:r>
              <a:rPr lang="th-TH" b="1" dirty="0">
                <a:latin typeface="Angsana New" pitchFamily="18" charset="-34"/>
              </a:rPr>
              <a:t>	</a:t>
            </a:r>
            <a:r>
              <a:rPr lang="th-TH" b="1" dirty="0">
                <a:solidFill>
                  <a:srgbClr val="FF3300"/>
                </a:solidFill>
                <a:latin typeface="Angsana New" pitchFamily="18" charset="-34"/>
              </a:rPr>
              <a:t>2. อายุเฉลี่ย</a:t>
            </a:r>
            <a:r>
              <a:rPr lang="en-GB" b="1" dirty="0">
                <a:solidFill>
                  <a:srgbClr val="FF3300"/>
                </a:solidFill>
                <a:latin typeface="Angsana New" pitchFamily="18" charset="-34"/>
              </a:rPr>
              <a:t> (Life expectancy) </a:t>
            </a:r>
            <a:r>
              <a:rPr lang="th-TH" b="1" dirty="0">
                <a:solidFill>
                  <a:srgbClr val="FF3300"/>
                </a:solidFill>
                <a:latin typeface="Angsana New" pitchFamily="18" charset="-34"/>
              </a:rPr>
              <a:t>ของคนไทยเท่ากับ 70 ปี</a:t>
            </a:r>
            <a:r>
              <a:rPr lang="en-GB" b="1" dirty="0">
                <a:solidFill>
                  <a:srgbClr val="FF3300"/>
                </a:solidFill>
                <a:latin typeface="Angsana New" pitchFamily="18" charset="-34"/>
              </a:rPr>
              <a:t> </a:t>
            </a:r>
            <a:endParaRPr lang="th-TH" b="1" dirty="0">
              <a:solidFill>
                <a:srgbClr val="FF3300"/>
              </a:solidFill>
              <a:latin typeface="Angsana New" pitchFamily="18" charset="-34"/>
            </a:endParaRPr>
          </a:p>
          <a:p>
            <a:pPr marL="2228850" indent="-2228850" eaLnBrk="0" hangingPunct="0">
              <a:spcBef>
                <a:spcPts val="0"/>
              </a:spcBef>
              <a:tabLst>
                <a:tab pos="893763" algn="l"/>
              </a:tabLst>
              <a:defRPr/>
            </a:pPr>
            <a:r>
              <a:rPr lang="th-TH" b="1" dirty="0">
                <a:solidFill>
                  <a:srgbClr val="FF3300"/>
                </a:solidFill>
                <a:latin typeface="Angsana New" pitchFamily="18" charset="-34"/>
              </a:rPr>
              <a:t>	</a:t>
            </a:r>
            <a:r>
              <a:rPr lang="th-TH" b="1" dirty="0">
                <a:solidFill>
                  <a:srgbClr val="663300"/>
                </a:solidFill>
                <a:latin typeface="Angsana New" pitchFamily="18" charset="-34"/>
              </a:rPr>
              <a:t>3. ความถนัดทางคณิตศาสตร์ (</a:t>
            </a:r>
            <a:r>
              <a:rPr lang="en-GB" b="1" dirty="0">
                <a:solidFill>
                  <a:srgbClr val="663300"/>
                </a:solidFill>
                <a:latin typeface="Angsana New" pitchFamily="18" charset="-34"/>
              </a:rPr>
              <a:t>mathematical skill</a:t>
            </a:r>
            <a:r>
              <a:rPr lang="th-TH" b="1" dirty="0">
                <a:solidFill>
                  <a:srgbClr val="663300"/>
                </a:solidFill>
                <a:latin typeface="Angsana New" pitchFamily="18" charset="-34"/>
              </a:rPr>
              <a:t>) ของผู้หญิงและผู้ชายแตกต่างกัน </a:t>
            </a:r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50546" y="3505200"/>
            <a:ext cx="3875411" cy="3048000"/>
          </a:xfrm>
          <a:prstGeom prst="rect">
            <a:avLst/>
          </a:prstGeom>
          <a:noFill/>
          <a:ln w="28575" cmpd="dbl">
            <a:solidFill>
              <a:srgbClr val="FF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ts val="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tabLst>
                <a:tab pos="685800" algn="l"/>
              </a:tabLst>
              <a:defRPr/>
            </a:pPr>
            <a:r>
              <a:rPr lang="th-TH" b="1" dirty="0">
                <a:solidFill>
                  <a:srgbClr val="36006C"/>
                </a:solidFill>
                <a:latin typeface="Angsana New" pitchFamily="18" charset="-34"/>
              </a:rPr>
              <a:t>สมมุติฐานว่าง </a:t>
            </a:r>
            <a:r>
              <a:rPr lang="en-GB" b="1" dirty="0">
                <a:solidFill>
                  <a:srgbClr val="36006C"/>
                </a:solidFill>
                <a:latin typeface="Angsana New" pitchFamily="18" charset="-34"/>
              </a:rPr>
              <a:t>= </a:t>
            </a:r>
            <a:r>
              <a:rPr lang="en-US" b="1" dirty="0">
                <a:solidFill>
                  <a:srgbClr val="36006C"/>
                </a:solidFill>
                <a:latin typeface="Angsana New" pitchFamily="18" charset="-34"/>
              </a:rPr>
              <a:t>Null Hypothesis (H</a:t>
            </a:r>
            <a:r>
              <a:rPr lang="en-US" b="1" baseline="-25000" dirty="0">
                <a:solidFill>
                  <a:srgbClr val="36006C"/>
                </a:solidFill>
                <a:latin typeface="Angsana New" pitchFamily="18" charset="-34"/>
              </a:rPr>
              <a:t>0</a:t>
            </a:r>
            <a:r>
              <a:rPr lang="en-US" b="1" dirty="0">
                <a:solidFill>
                  <a:srgbClr val="36006C"/>
                </a:solidFill>
                <a:latin typeface="Angsana New" pitchFamily="18" charset="-34"/>
              </a:rPr>
              <a:t>) </a:t>
            </a:r>
          </a:p>
          <a:p>
            <a:pPr marL="357188" indent="-357188">
              <a:lnSpc>
                <a:spcPts val="3000"/>
              </a:lnSpc>
              <a:spcBef>
                <a:spcPts val="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tabLst>
                <a:tab pos="685800" algn="l"/>
              </a:tabLst>
              <a:defRPr/>
            </a:pPr>
            <a:r>
              <a:rPr lang="en-US" b="1" dirty="0">
                <a:solidFill>
                  <a:srgbClr val="FF00FF"/>
                </a:solidFill>
                <a:latin typeface="Angsana New" pitchFamily="18" charset="-34"/>
                <a:sym typeface="Wingdings"/>
              </a:rPr>
              <a:t></a:t>
            </a:r>
            <a:r>
              <a:rPr lang="th-TH" b="1" dirty="0">
                <a:solidFill>
                  <a:srgbClr val="FF00FF"/>
                </a:solidFill>
                <a:latin typeface="Angsana New" pitchFamily="18" charset="-34"/>
                <a:sym typeface="Wingdings"/>
              </a:rPr>
              <a:t> </a:t>
            </a:r>
            <a:r>
              <a:rPr lang="en-US" b="1" dirty="0">
                <a:solidFill>
                  <a:srgbClr val="FF00FF"/>
                </a:solidFill>
                <a:latin typeface="Angsana New" pitchFamily="18" charset="-34"/>
                <a:sym typeface="Wingdings"/>
              </a:rPr>
              <a:t>  </a:t>
            </a:r>
            <a:r>
              <a:rPr lang="en-US" b="1" dirty="0">
                <a:solidFill>
                  <a:srgbClr val="7415FF"/>
                </a:solidFill>
                <a:latin typeface="Angsana New" pitchFamily="18" charset="-34"/>
              </a:rPr>
              <a:t>H</a:t>
            </a:r>
            <a:r>
              <a:rPr lang="en-US" b="1" baseline="-25000" dirty="0">
                <a:solidFill>
                  <a:srgbClr val="7415FF"/>
                </a:solidFill>
                <a:latin typeface="Angsana New" pitchFamily="18" charset="-34"/>
              </a:rPr>
              <a:t>0</a:t>
            </a:r>
            <a:r>
              <a:rPr lang="en-US" b="1" dirty="0">
                <a:solidFill>
                  <a:srgbClr val="7415FF"/>
                </a:solidFill>
                <a:latin typeface="Angsana New" pitchFamily="18" charset="-34"/>
              </a:rPr>
              <a:t>: </a:t>
            </a:r>
            <a:r>
              <a:rPr lang="en-US" sz="2000" b="1" dirty="0">
                <a:solidFill>
                  <a:srgbClr val="7415FF"/>
                </a:solidFill>
                <a:latin typeface="Angsana New" pitchFamily="18" charset="-34"/>
                <a:sym typeface="Symbol" panose="05050102010706020507" pitchFamily="18" charset="2"/>
              </a:rPr>
              <a:t>  </a:t>
            </a:r>
            <a:r>
              <a:rPr lang="en-US" b="1" baseline="-25000" dirty="0">
                <a:solidFill>
                  <a:srgbClr val="7415FF"/>
                </a:solidFill>
                <a:latin typeface="Angsana New" pitchFamily="18" charset="-34"/>
              </a:rPr>
              <a:t>0 </a:t>
            </a:r>
            <a:r>
              <a:rPr lang="th-TH" b="1" dirty="0">
                <a:solidFill>
                  <a:srgbClr val="CC3399"/>
                </a:solidFill>
                <a:latin typeface="Angsana New" pitchFamily="18" charset="-34"/>
                <a:sym typeface="Symbol" panose="05050102010706020507" pitchFamily="18" charset="2"/>
              </a:rPr>
              <a:t>โดยที่</a:t>
            </a:r>
            <a:r>
              <a:rPr lang="en-US" b="1" dirty="0">
                <a:solidFill>
                  <a:srgbClr val="7415FF"/>
                </a:solidFill>
                <a:latin typeface="Angsana New" pitchFamily="18" charset="-34"/>
                <a:sym typeface="Symbol" panose="05050102010706020507" pitchFamily="18" charset="2"/>
              </a:rPr>
              <a:t> </a:t>
            </a:r>
            <a:r>
              <a:rPr lang="en-US" sz="2000" b="1" dirty="0">
                <a:solidFill>
                  <a:srgbClr val="7415FF"/>
                </a:solidFill>
                <a:latin typeface="Angsana New" pitchFamily="18" charset="-34"/>
                <a:sym typeface="Symbol" panose="05050102010706020507" pitchFamily="18" charset="2"/>
              </a:rPr>
              <a:t></a:t>
            </a:r>
            <a:r>
              <a:rPr lang="en-US" b="1" baseline="-25000" dirty="0">
                <a:solidFill>
                  <a:srgbClr val="7415FF"/>
                </a:solidFill>
                <a:latin typeface="Angsana New" pitchFamily="18" charset="-34"/>
              </a:rPr>
              <a:t>0</a:t>
            </a:r>
            <a:r>
              <a:rPr lang="en-US" sz="2000" b="1" baseline="-25000" dirty="0">
                <a:solidFill>
                  <a:srgbClr val="7415FF"/>
                </a:solidFill>
                <a:latin typeface="Angsana New" pitchFamily="18" charset="-34"/>
              </a:rPr>
              <a:t> </a:t>
            </a:r>
            <a:r>
              <a:rPr lang="en-US" sz="2400" b="1" dirty="0">
                <a:solidFill>
                  <a:srgbClr val="7415FF"/>
                </a:solidFill>
                <a:latin typeface="Angsana New" pitchFamily="18" charset="-34"/>
                <a:sym typeface="Symbol" panose="05050102010706020507" pitchFamily="18" charset="2"/>
              </a:rPr>
              <a:t> </a:t>
            </a:r>
            <a:r>
              <a:rPr lang="en-US" sz="3200" b="1" dirty="0">
                <a:solidFill>
                  <a:srgbClr val="7415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itchFamily="18" charset="-34"/>
                <a:sym typeface="Symbol" panose="05050102010706020507" pitchFamily="18" charset="2"/>
              </a:rPr>
              <a:t>R</a:t>
            </a:r>
            <a:endParaRPr lang="th-TH" sz="3200" b="1" dirty="0">
              <a:solidFill>
                <a:srgbClr val="00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itchFamily="18" charset="-34"/>
            </a:endParaRPr>
          </a:p>
          <a:p>
            <a:pPr marL="357188" indent="-357188">
              <a:lnSpc>
                <a:spcPts val="3000"/>
              </a:lnSpc>
              <a:spcBef>
                <a:spcPts val="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tabLst>
                <a:tab pos="339725" algn="l"/>
              </a:tabLst>
              <a:defRPr/>
            </a:pPr>
            <a:r>
              <a:rPr lang="en-US" b="1" dirty="0">
                <a:solidFill>
                  <a:srgbClr val="FF00FF"/>
                </a:solidFill>
                <a:latin typeface="Angsana New" pitchFamily="18" charset="-34"/>
                <a:sym typeface="Wingdings"/>
              </a:rPr>
              <a:t></a:t>
            </a:r>
            <a:r>
              <a:rPr lang="th-TH" b="1" dirty="0">
                <a:solidFill>
                  <a:srgbClr val="FF00FF"/>
                </a:solidFill>
                <a:latin typeface="Angsana New" pitchFamily="18" charset="-34"/>
                <a:sym typeface="Wingdings"/>
              </a:rPr>
              <a:t>   </a:t>
            </a:r>
            <a:r>
              <a:rPr lang="th-TH" b="1" dirty="0">
                <a:solidFill>
                  <a:srgbClr val="FF0000"/>
                </a:solidFill>
                <a:latin typeface="Angsana New" pitchFamily="18" charset="-34"/>
              </a:rPr>
              <a:t>ในวิชานี้ </a:t>
            </a:r>
            <a:r>
              <a:rPr lang="th-TH" b="1" dirty="0">
                <a:solidFill>
                  <a:srgbClr val="7415FF"/>
                </a:solidFill>
                <a:latin typeface="Angsana New" pitchFamily="18" charset="-34"/>
              </a:rPr>
              <a:t>มักเขียนเป็นประโยค </a:t>
            </a:r>
          </a:p>
          <a:p>
            <a:pPr marL="357188" indent="-357188">
              <a:lnSpc>
                <a:spcPts val="3000"/>
              </a:lnSpc>
              <a:spcBef>
                <a:spcPts val="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tabLst>
                <a:tab pos="339725" algn="l"/>
              </a:tabLst>
              <a:defRPr/>
            </a:pPr>
            <a:r>
              <a:rPr lang="th-TH" b="1" dirty="0">
                <a:solidFill>
                  <a:srgbClr val="7415FF"/>
                </a:solidFill>
                <a:latin typeface="Angsana New" pitchFamily="18" charset="-34"/>
              </a:rPr>
              <a:t>         คณิตศาสตร์โดยใช้เครื่องหมาย </a:t>
            </a:r>
          </a:p>
          <a:p>
            <a:pPr marL="357188" indent="-357188">
              <a:lnSpc>
                <a:spcPts val="3000"/>
              </a:lnSpc>
              <a:spcBef>
                <a:spcPts val="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tabLst>
                <a:tab pos="339725" algn="l"/>
              </a:tabLst>
              <a:defRPr/>
            </a:pPr>
            <a:r>
              <a:rPr lang="th-TH" b="1" dirty="0">
                <a:solidFill>
                  <a:srgbClr val="CC3399"/>
                </a:solidFill>
                <a:latin typeface="Angsana New" pitchFamily="18" charset="-34"/>
              </a:rPr>
              <a:t>                   “</a:t>
            </a:r>
            <a:r>
              <a:rPr lang="en-US" b="1" dirty="0">
                <a:solidFill>
                  <a:srgbClr val="CC3399"/>
                </a:solidFill>
                <a:latin typeface="Angsana New" pitchFamily="18" charset="-34"/>
              </a:rPr>
              <a:t> = ”</a:t>
            </a:r>
            <a:r>
              <a:rPr lang="th-TH" b="1" dirty="0">
                <a:solidFill>
                  <a:srgbClr val="CC3399"/>
                </a:solidFill>
                <a:latin typeface="Angsana New" pitchFamily="18" charset="-34"/>
              </a:rPr>
              <a:t> “</a:t>
            </a:r>
            <a:r>
              <a:rPr lang="en-US" b="1" dirty="0">
                <a:solidFill>
                  <a:srgbClr val="CC3399"/>
                </a:solidFill>
                <a:latin typeface="Angsana New" pitchFamily="18" charset="-34"/>
              </a:rPr>
              <a:t> </a:t>
            </a:r>
            <a:r>
              <a:rPr lang="en-US" b="1" u="sng" dirty="0">
                <a:solidFill>
                  <a:srgbClr val="CC3399"/>
                </a:solidFill>
                <a:latin typeface="Angsana New" pitchFamily="18" charset="-34"/>
              </a:rPr>
              <a:t>&gt;</a:t>
            </a:r>
            <a:r>
              <a:rPr lang="en-US" b="1" dirty="0">
                <a:solidFill>
                  <a:srgbClr val="CC3399"/>
                </a:solidFill>
                <a:latin typeface="Angsana New" pitchFamily="18" charset="-34"/>
              </a:rPr>
              <a:t> </a:t>
            </a:r>
            <a:r>
              <a:rPr lang="th-TH" b="1" dirty="0">
                <a:solidFill>
                  <a:srgbClr val="CC3399"/>
                </a:solidFill>
                <a:latin typeface="Angsana New" pitchFamily="18" charset="-34"/>
              </a:rPr>
              <a:t>” “</a:t>
            </a:r>
            <a:r>
              <a:rPr lang="en-US" b="1" dirty="0">
                <a:solidFill>
                  <a:srgbClr val="CC3399"/>
                </a:solidFill>
                <a:latin typeface="Angsana New" pitchFamily="18" charset="-34"/>
              </a:rPr>
              <a:t> </a:t>
            </a:r>
            <a:r>
              <a:rPr lang="en-US" b="1" u="sng" dirty="0">
                <a:solidFill>
                  <a:srgbClr val="CC3399"/>
                </a:solidFill>
                <a:latin typeface="Angsana New" pitchFamily="18" charset="-34"/>
              </a:rPr>
              <a:t>&lt;</a:t>
            </a:r>
            <a:r>
              <a:rPr lang="en-US" b="1" dirty="0">
                <a:solidFill>
                  <a:srgbClr val="CC3399"/>
                </a:solidFill>
                <a:latin typeface="Angsana New" pitchFamily="18" charset="-34"/>
              </a:rPr>
              <a:t> </a:t>
            </a:r>
            <a:r>
              <a:rPr lang="th-TH" b="1" dirty="0">
                <a:solidFill>
                  <a:srgbClr val="CC3399"/>
                </a:solidFill>
                <a:latin typeface="Angsana New" pitchFamily="18" charset="-34"/>
              </a:rPr>
              <a:t>”</a:t>
            </a:r>
          </a:p>
          <a:p>
            <a:pPr marL="357188" indent="-357188">
              <a:lnSpc>
                <a:spcPts val="3000"/>
              </a:lnSpc>
              <a:spcBef>
                <a:spcPts val="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tabLst>
                <a:tab pos="339725" algn="l"/>
              </a:tabLst>
              <a:defRPr/>
            </a:pPr>
            <a:r>
              <a:rPr lang="th-TH" b="1" dirty="0">
                <a:solidFill>
                  <a:srgbClr val="FF00FF"/>
                </a:solidFill>
                <a:latin typeface="Angsana New" pitchFamily="18" charset="-34"/>
              </a:rPr>
              <a:t>		  หรือ </a:t>
            </a:r>
            <a:r>
              <a:rPr lang="th-TH" b="1" dirty="0">
                <a:solidFill>
                  <a:srgbClr val="6600CC"/>
                </a:solidFill>
                <a:latin typeface="Angsana New" pitchFamily="18" charset="-34"/>
              </a:rPr>
              <a:t>เป็นไปตามที่ระบุ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5566" y="2895600"/>
            <a:ext cx="8621233" cy="63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สมมุติฐานที่จะใช้ในการทดสอบมี 2 ชนิด </a:t>
            </a:r>
            <a:r>
              <a:rPr kumimoji="0" lang="en-GB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(Two</a:t>
            </a:r>
            <a:r>
              <a:rPr kumimoji="0" lang="en-GB" b="1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 types of Hypothesis)</a:t>
            </a:r>
            <a:endParaRPr kumimoji="0" lang="th-TH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ngsana New" pitchFamily="18" charset="-34"/>
              <a:ea typeface="+mj-ea"/>
              <a:cs typeface="Angsana New" pitchFamily="18" charset="-34"/>
            </a:endParaRP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3985591" y="3505200"/>
            <a:ext cx="5073073" cy="3048000"/>
          </a:xfrm>
          <a:prstGeom prst="rect">
            <a:avLst/>
          </a:prstGeom>
          <a:noFill/>
          <a:ln w="28575" cmpd="dbl">
            <a:solidFill>
              <a:srgbClr val="FF00FF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ts val="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tabLst>
                <a:tab pos="685800" algn="l"/>
              </a:tabLst>
              <a:defRPr/>
            </a:pPr>
            <a:r>
              <a:rPr lang="th-TH" b="1" dirty="0">
                <a:solidFill>
                  <a:srgbClr val="36006C"/>
                </a:solidFill>
                <a:latin typeface="Angsana New" pitchFamily="18" charset="-34"/>
              </a:rPr>
              <a:t>สมมุติฐานทางเลือก </a:t>
            </a:r>
            <a:r>
              <a:rPr lang="en-GB" b="1" dirty="0">
                <a:solidFill>
                  <a:srgbClr val="36006C"/>
                </a:solidFill>
                <a:latin typeface="Angsana New" pitchFamily="18" charset="-34"/>
              </a:rPr>
              <a:t>= </a:t>
            </a:r>
            <a:r>
              <a:rPr lang="en-US" b="1" dirty="0">
                <a:solidFill>
                  <a:srgbClr val="003300"/>
                </a:solidFill>
                <a:latin typeface="Angsana New" pitchFamily="18" charset="-34"/>
              </a:rPr>
              <a:t>Alternative Hypothesis (H</a:t>
            </a:r>
            <a:r>
              <a:rPr lang="en-US" b="1" baseline="-25000" dirty="0">
                <a:solidFill>
                  <a:srgbClr val="003300"/>
                </a:solidFill>
                <a:latin typeface="Angsana New" pitchFamily="18" charset="-34"/>
              </a:rPr>
              <a:t>1</a:t>
            </a:r>
            <a:r>
              <a:rPr lang="en-US" b="1" dirty="0">
                <a:solidFill>
                  <a:srgbClr val="003300"/>
                </a:solidFill>
                <a:latin typeface="Angsana New" pitchFamily="18" charset="-34"/>
              </a:rPr>
              <a:t>)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75000"/>
              <a:tabLst>
                <a:tab pos="339725" algn="l"/>
              </a:tabLst>
              <a:defRPr/>
            </a:pPr>
            <a:endParaRPr lang="en-US" sz="800" b="1" dirty="0">
              <a:solidFill>
                <a:srgbClr val="FF00FF"/>
              </a:solidFill>
              <a:latin typeface="Angsana New" pitchFamily="18" charset="-34"/>
              <a:sym typeface="Wingdings"/>
            </a:endParaRPr>
          </a:p>
          <a:p>
            <a:pPr marL="357188" indent="-357188">
              <a:lnSpc>
                <a:spcPts val="3000"/>
              </a:lnSpc>
              <a:spcBef>
                <a:spcPts val="0"/>
              </a:spcBef>
              <a:buClr>
                <a:schemeClr val="folHlink"/>
              </a:buClr>
              <a:buSzPct val="75000"/>
              <a:tabLst>
                <a:tab pos="339725" algn="l"/>
              </a:tabLst>
              <a:defRPr/>
            </a:pPr>
            <a:r>
              <a:rPr lang="en-US" b="1" dirty="0">
                <a:solidFill>
                  <a:srgbClr val="FF00FF"/>
                </a:solidFill>
                <a:latin typeface="Angsana New" pitchFamily="18" charset="-34"/>
                <a:sym typeface="Wingdings"/>
              </a:rPr>
              <a:t> </a:t>
            </a:r>
            <a:r>
              <a:rPr lang="th-TH" b="1" dirty="0">
                <a:solidFill>
                  <a:srgbClr val="FF00FF"/>
                </a:solidFill>
                <a:latin typeface="Angsana New" pitchFamily="18" charset="-34"/>
                <a:sym typeface="Wingdings"/>
              </a:rPr>
              <a:t>  </a:t>
            </a:r>
            <a:r>
              <a:rPr lang="th-TH" b="1" dirty="0">
                <a:solidFill>
                  <a:srgbClr val="00B050"/>
                </a:solidFill>
                <a:latin typeface="Angsana New" pitchFamily="18" charset="-34"/>
              </a:rPr>
              <a:t>ใช้พิจารณาทิศทางการปฏิเสธ</a:t>
            </a:r>
            <a:r>
              <a:rPr lang="en-US" b="1" dirty="0">
                <a:solidFill>
                  <a:srgbClr val="00B050"/>
                </a:solidFill>
                <a:latin typeface="Angsana New" pitchFamily="18" charset="-34"/>
              </a:rPr>
              <a:t> H</a:t>
            </a:r>
            <a:r>
              <a:rPr lang="en-US" b="1" baseline="-25000" dirty="0">
                <a:solidFill>
                  <a:srgbClr val="00B050"/>
                </a:solidFill>
                <a:latin typeface="Angsana New" pitchFamily="18" charset="-34"/>
              </a:rPr>
              <a:t>0 </a:t>
            </a:r>
          </a:p>
          <a:p>
            <a:pPr marL="357188" indent="-357188">
              <a:lnSpc>
                <a:spcPts val="3000"/>
              </a:lnSpc>
              <a:spcBef>
                <a:spcPts val="0"/>
              </a:spcBef>
              <a:buClr>
                <a:schemeClr val="folHlink"/>
              </a:buClr>
              <a:buSzPct val="75000"/>
              <a:tabLst>
                <a:tab pos="339725" algn="l"/>
              </a:tabLst>
              <a:defRPr/>
            </a:pPr>
            <a:r>
              <a:rPr lang="en-US" b="1" dirty="0">
                <a:solidFill>
                  <a:srgbClr val="FF00FF"/>
                </a:solidFill>
                <a:latin typeface="Angsana New" pitchFamily="18" charset="-34"/>
                <a:sym typeface="Wingdings"/>
              </a:rPr>
              <a:t></a:t>
            </a:r>
            <a:r>
              <a:rPr lang="th-TH" b="1" dirty="0">
                <a:solidFill>
                  <a:srgbClr val="FF00FF"/>
                </a:solidFill>
                <a:latin typeface="Angsana New" pitchFamily="18" charset="-34"/>
                <a:sym typeface="Wingdings"/>
              </a:rPr>
              <a:t> </a:t>
            </a:r>
            <a:r>
              <a:rPr lang="en-US" b="1" dirty="0">
                <a:solidFill>
                  <a:srgbClr val="FF00FF"/>
                </a:solidFill>
                <a:latin typeface="Angsana New" pitchFamily="18" charset="-34"/>
                <a:sym typeface="Wingdings"/>
              </a:rPr>
              <a:t>  </a:t>
            </a:r>
            <a:r>
              <a:rPr lang="en-US" b="1" dirty="0">
                <a:solidFill>
                  <a:srgbClr val="00C000"/>
                </a:solidFill>
                <a:latin typeface="Angsana New" pitchFamily="18" charset="-34"/>
              </a:rPr>
              <a:t>H</a:t>
            </a:r>
            <a:r>
              <a:rPr lang="en-US" b="1" baseline="-25000" dirty="0">
                <a:solidFill>
                  <a:srgbClr val="00C000"/>
                </a:solidFill>
                <a:latin typeface="Angsana New" pitchFamily="18" charset="-34"/>
              </a:rPr>
              <a:t>1</a:t>
            </a:r>
            <a:r>
              <a:rPr lang="en-US" b="1" dirty="0">
                <a:solidFill>
                  <a:srgbClr val="00C000"/>
                </a:solidFill>
                <a:latin typeface="Angsana New" pitchFamily="18" charset="-34"/>
              </a:rPr>
              <a:t>: </a:t>
            </a:r>
            <a:r>
              <a:rPr lang="en-US" sz="2000" b="1" dirty="0">
                <a:solidFill>
                  <a:srgbClr val="00B050"/>
                </a:solidFill>
                <a:latin typeface="Angsana New" pitchFamily="18" charset="-34"/>
                <a:sym typeface="Symbol" panose="05050102010706020507" pitchFamily="18" charset="2"/>
              </a:rPr>
              <a:t>  </a:t>
            </a:r>
            <a:r>
              <a:rPr lang="en-US" b="1" baseline="-25000" dirty="0">
                <a:solidFill>
                  <a:srgbClr val="00B050"/>
                </a:solidFill>
                <a:latin typeface="Angsana New" pitchFamily="18" charset="-34"/>
              </a:rPr>
              <a:t>1 </a:t>
            </a:r>
            <a:r>
              <a:rPr lang="en-US" b="1" dirty="0">
                <a:solidFill>
                  <a:srgbClr val="CC3399"/>
                </a:solidFill>
                <a:latin typeface="Angsana New" pitchFamily="18" charset="-34"/>
                <a:sym typeface="Symbol" panose="05050102010706020507" pitchFamily="18" charset="2"/>
              </a:rPr>
              <a:t>where </a:t>
            </a:r>
            <a:r>
              <a:rPr lang="en-US" sz="2000" b="1" dirty="0">
                <a:solidFill>
                  <a:srgbClr val="00B050"/>
                </a:solidFill>
                <a:latin typeface="Angsana New" pitchFamily="18" charset="-34"/>
                <a:sym typeface="Symbol" panose="05050102010706020507" pitchFamily="18" charset="2"/>
              </a:rPr>
              <a:t></a:t>
            </a:r>
            <a:r>
              <a:rPr lang="en-US" b="1" baseline="-25000" dirty="0">
                <a:solidFill>
                  <a:srgbClr val="00B050"/>
                </a:solidFill>
                <a:latin typeface="Angsana New" pitchFamily="18" charset="-34"/>
              </a:rPr>
              <a:t>0</a:t>
            </a:r>
            <a:r>
              <a:rPr lang="en-US" sz="2000" b="1" baseline="-25000" dirty="0">
                <a:solidFill>
                  <a:srgbClr val="00B050"/>
                </a:solidFill>
                <a:latin typeface="Angsana New" pitchFamily="18" charset="-34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Angsana New" pitchFamily="18" charset="-34"/>
                <a:sym typeface="Symbol" panose="05050102010706020507" pitchFamily="18" charset="2"/>
              </a:rPr>
              <a:t> </a:t>
            </a:r>
            <a:r>
              <a:rPr lang="en-US" sz="2000" b="1" dirty="0">
                <a:solidFill>
                  <a:srgbClr val="00B050"/>
                </a:solidFill>
                <a:latin typeface="Angsana New" pitchFamily="18" charset="-34"/>
                <a:sym typeface="Symbol" panose="05050102010706020507" pitchFamily="18" charset="2"/>
              </a:rPr>
              <a:t></a:t>
            </a:r>
            <a:r>
              <a:rPr lang="en-US" b="1" baseline="-25000" dirty="0">
                <a:solidFill>
                  <a:srgbClr val="00B050"/>
                </a:solidFill>
                <a:latin typeface="Angsana New" pitchFamily="18" charset="-34"/>
              </a:rPr>
              <a:t>1 </a:t>
            </a:r>
            <a:r>
              <a:rPr lang="en-US" b="1" dirty="0">
                <a:solidFill>
                  <a:srgbClr val="00B050"/>
                </a:solidFill>
                <a:latin typeface="Angsana New" pitchFamily="18" charset="-34"/>
              </a:rPr>
              <a:t>= </a:t>
            </a:r>
            <a:r>
              <a:rPr lang="en-US" sz="2000" b="1" dirty="0">
                <a:solidFill>
                  <a:srgbClr val="00B050"/>
                </a:solidFill>
                <a:latin typeface="Angsana New" pitchFamily="18" charset="-34"/>
                <a:sym typeface="Symbol" panose="05050102010706020507" pitchFamily="18" charset="2"/>
              </a:rPr>
              <a:t></a:t>
            </a:r>
            <a:r>
              <a:rPr lang="en-US" b="1" dirty="0">
                <a:solidFill>
                  <a:srgbClr val="00B050"/>
                </a:solidFill>
                <a:latin typeface="Angsana New" pitchFamily="18" charset="-34"/>
                <a:sym typeface="Symbol" panose="05050102010706020507" pitchFamily="18" charset="2"/>
              </a:rPr>
              <a:t> </a:t>
            </a:r>
            <a:r>
              <a:rPr lang="en-US" b="1" dirty="0">
                <a:solidFill>
                  <a:srgbClr val="CC3399"/>
                </a:solidFill>
                <a:latin typeface="Angsana New" pitchFamily="18" charset="-34"/>
                <a:sym typeface="Symbol" panose="05050102010706020507" pitchFamily="18" charset="2"/>
              </a:rPr>
              <a:t>and</a:t>
            </a:r>
            <a:r>
              <a:rPr lang="en-US" b="1" dirty="0">
                <a:solidFill>
                  <a:srgbClr val="00B050"/>
                </a:solidFill>
                <a:latin typeface="Angsana New" pitchFamily="18" charset="-34"/>
                <a:sym typeface="Symbol" panose="05050102010706020507" pitchFamily="18" charset="2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Angsana New" pitchFamily="18" charset="-34"/>
                <a:sym typeface="Symbol" panose="05050102010706020507" pitchFamily="18" charset="2"/>
              </a:rPr>
              <a:t></a:t>
            </a:r>
            <a:r>
              <a:rPr lang="en-US" b="1" baseline="-25000" dirty="0">
                <a:solidFill>
                  <a:srgbClr val="00B050"/>
                </a:solidFill>
                <a:latin typeface="Angsana New" pitchFamily="18" charset="-34"/>
              </a:rPr>
              <a:t>1</a:t>
            </a:r>
            <a:r>
              <a:rPr lang="en-US" b="1" dirty="0">
                <a:solidFill>
                  <a:srgbClr val="00C000"/>
                </a:solidFill>
                <a:latin typeface="Angsana New" pitchFamily="18" charset="-34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Angsana New" pitchFamily="18" charset="-34"/>
                <a:sym typeface="Symbol" panose="05050102010706020507" pitchFamily="18" charset="2"/>
              </a:rPr>
              <a:t> </a:t>
            </a:r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itchFamily="18" charset="-34"/>
                <a:sym typeface="Symbol" panose="05050102010706020507" pitchFamily="18" charset="2"/>
              </a:rPr>
              <a:t>R</a:t>
            </a:r>
            <a:endParaRPr lang="th-TH" b="1" dirty="0">
              <a:solidFill>
                <a:srgbClr val="00B050"/>
              </a:solidFill>
              <a:latin typeface="Angsana New" pitchFamily="18" charset="-34"/>
            </a:endParaRPr>
          </a:p>
          <a:p>
            <a:pPr marL="357188" indent="-357188">
              <a:lnSpc>
                <a:spcPts val="3000"/>
              </a:lnSpc>
              <a:spcBef>
                <a:spcPts val="0"/>
              </a:spcBef>
              <a:buClr>
                <a:schemeClr val="folHlink"/>
              </a:buClr>
              <a:buSzPct val="75000"/>
              <a:tabLst>
                <a:tab pos="339725" algn="l"/>
              </a:tabLst>
              <a:defRPr/>
            </a:pPr>
            <a:r>
              <a:rPr lang="en-US" b="1" dirty="0">
                <a:solidFill>
                  <a:srgbClr val="FF00FF"/>
                </a:solidFill>
                <a:latin typeface="Angsana New" pitchFamily="18" charset="-34"/>
                <a:sym typeface="Wingdings"/>
              </a:rPr>
              <a:t> </a:t>
            </a:r>
            <a:r>
              <a:rPr lang="th-TH" b="1" dirty="0">
                <a:solidFill>
                  <a:srgbClr val="FF00FF"/>
                </a:solidFill>
                <a:latin typeface="Angsana New" pitchFamily="18" charset="-34"/>
                <a:sym typeface="Wingdings"/>
              </a:rPr>
              <a:t>  </a:t>
            </a:r>
            <a:r>
              <a:rPr lang="th-TH" b="1" dirty="0">
                <a:solidFill>
                  <a:srgbClr val="FF0000"/>
                </a:solidFill>
                <a:latin typeface="Angsana New" pitchFamily="18" charset="-34"/>
              </a:rPr>
              <a:t>ในวิชานี้ </a:t>
            </a:r>
            <a:r>
              <a:rPr lang="th-TH" b="1" dirty="0">
                <a:solidFill>
                  <a:srgbClr val="00B050"/>
                </a:solidFill>
                <a:latin typeface="Angsana New" pitchFamily="18" charset="-34"/>
              </a:rPr>
              <a:t>มักเขียนเป็นประโยคคณิตศาสตร์</a:t>
            </a:r>
          </a:p>
          <a:p>
            <a:pPr marL="357188" indent="-357188">
              <a:lnSpc>
                <a:spcPts val="3000"/>
              </a:lnSpc>
              <a:spcBef>
                <a:spcPts val="0"/>
              </a:spcBef>
              <a:buClr>
                <a:schemeClr val="folHlink"/>
              </a:buClr>
              <a:buSzPct val="75000"/>
              <a:tabLst>
                <a:tab pos="339725" algn="l"/>
              </a:tabLst>
              <a:defRPr/>
            </a:pPr>
            <a:r>
              <a:rPr lang="th-TH" b="1" dirty="0">
                <a:solidFill>
                  <a:srgbClr val="00B050"/>
                </a:solidFill>
                <a:latin typeface="Angsana New" pitchFamily="18" charset="-34"/>
              </a:rPr>
              <a:t>        โดยใช้เครื่องหมาย </a:t>
            </a:r>
          </a:p>
          <a:p>
            <a:pPr marL="357188" indent="-357188">
              <a:lnSpc>
                <a:spcPts val="3000"/>
              </a:lnSpc>
              <a:spcBef>
                <a:spcPts val="0"/>
              </a:spcBef>
              <a:buClr>
                <a:schemeClr val="folHlink"/>
              </a:buClr>
              <a:buSzPct val="75000"/>
              <a:tabLst>
                <a:tab pos="339725" algn="l"/>
              </a:tabLst>
              <a:defRPr/>
            </a:pPr>
            <a:r>
              <a:rPr lang="th-TH" b="1" dirty="0">
                <a:solidFill>
                  <a:srgbClr val="00B050"/>
                </a:solidFill>
                <a:latin typeface="Angsana New" pitchFamily="18" charset="-34"/>
              </a:rPr>
              <a:t>                     </a:t>
            </a:r>
            <a:r>
              <a:rPr lang="th-TH" b="1" dirty="0">
                <a:solidFill>
                  <a:srgbClr val="CC3399"/>
                </a:solidFill>
                <a:latin typeface="Angsana New" pitchFamily="18" charset="-34"/>
              </a:rPr>
              <a:t>“</a:t>
            </a:r>
            <a:r>
              <a:rPr lang="en-US" b="1" dirty="0">
                <a:solidFill>
                  <a:srgbClr val="CC3399"/>
                </a:solidFill>
                <a:latin typeface="Angsana New" pitchFamily="18" charset="-34"/>
              </a:rPr>
              <a:t> </a:t>
            </a:r>
            <a:r>
              <a:rPr lang="en-US" b="1" dirty="0">
                <a:solidFill>
                  <a:srgbClr val="CC3399"/>
                </a:solidFill>
                <a:latin typeface="Angsana New" pitchFamily="18" charset="-34"/>
                <a:sym typeface="Symbol"/>
              </a:rPr>
              <a:t></a:t>
            </a:r>
            <a:r>
              <a:rPr lang="en-US" b="1" dirty="0">
                <a:solidFill>
                  <a:srgbClr val="CC3399"/>
                </a:solidFill>
                <a:latin typeface="Angsana New" pitchFamily="18" charset="-34"/>
              </a:rPr>
              <a:t> ”</a:t>
            </a:r>
            <a:r>
              <a:rPr lang="th-TH" b="1" dirty="0">
                <a:solidFill>
                  <a:srgbClr val="CC3399"/>
                </a:solidFill>
                <a:latin typeface="Angsana New" pitchFamily="18" charset="-34"/>
              </a:rPr>
              <a:t> “</a:t>
            </a:r>
            <a:r>
              <a:rPr lang="en-US" b="1" dirty="0">
                <a:solidFill>
                  <a:srgbClr val="CC3399"/>
                </a:solidFill>
                <a:latin typeface="Angsana New" pitchFamily="18" charset="-34"/>
              </a:rPr>
              <a:t> &gt; </a:t>
            </a:r>
            <a:r>
              <a:rPr lang="th-TH" b="1" dirty="0">
                <a:solidFill>
                  <a:srgbClr val="CC3399"/>
                </a:solidFill>
                <a:latin typeface="Angsana New" pitchFamily="18" charset="-34"/>
              </a:rPr>
              <a:t>” “</a:t>
            </a:r>
            <a:r>
              <a:rPr lang="en-US" b="1" dirty="0">
                <a:solidFill>
                  <a:srgbClr val="CC3399"/>
                </a:solidFill>
                <a:latin typeface="Angsana New" pitchFamily="18" charset="-34"/>
              </a:rPr>
              <a:t> &lt; </a:t>
            </a:r>
            <a:r>
              <a:rPr lang="th-TH" b="1" dirty="0">
                <a:solidFill>
                  <a:srgbClr val="CC3399"/>
                </a:solidFill>
                <a:latin typeface="Angsana New" pitchFamily="18" charset="-34"/>
              </a:rPr>
              <a:t>”</a:t>
            </a:r>
            <a:endParaRPr lang="en-US" b="1" dirty="0">
              <a:solidFill>
                <a:srgbClr val="CC3399"/>
              </a:solidFill>
              <a:latin typeface="Angsana New" pitchFamily="18" charset="-34"/>
            </a:endParaRPr>
          </a:p>
          <a:p>
            <a:pPr>
              <a:spcBef>
                <a:spcPts val="0"/>
              </a:spcBef>
              <a:buClr>
                <a:schemeClr val="folHlink"/>
              </a:buClr>
              <a:buSzPct val="75000"/>
              <a:tabLst>
                <a:tab pos="339725" algn="l"/>
              </a:tabLst>
              <a:defRPr/>
            </a:pPr>
            <a:r>
              <a:rPr lang="th-TH" b="1" dirty="0">
                <a:solidFill>
                  <a:srgbClr val="FF00FF"/>
                </a:solidFill>
                <a:latin typeface="Angsana New" pitchFamily="18" charset="-34"/>
              </a:rPr>
              <a:t>	  หรือ </a:t>
            </a:r>
            <a:r>
              <a:rPr lang="th-TH" b="1" dirty="0">
                <a:solidFill>
                  <a:srgbClr val="339933"/>
                </a:solidFill>
                <a:latin typeface="Angsana New" pitchFamily="18" charset="-34"/>
              </a:rPr>
              <a:t>เป็นประโยคปฏิเสธของสมมุติฐานว่าง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tabLst>
                <a:tab pos="339725" algn="l"/>
              </a:tabLst>
              <a:defRPr/>
            </a:pPr>
            <a:endParaRPr lang="th-TH" b="1" dirty="0">
              <a:solidFill>
                <a:srgbClr val="FF00FF"/>
              </a:solidFill>
              <a:latin typeface="Angsana New" pitchFamily="18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F8985F-2A40-421E-9367-6313C30D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3616EF-75E5-4690-856B-E2DE7F57532B}" type="slidenum">
              <a:rPr lang="en-US" smtClean="0"/>
              <a:pPr>
                <a:defRPr/>
              </a:pPr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89704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9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9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3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3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  <p:bldP spid="9221" grpId="0" animBg="1" autoUpdateAnimBg="0"/>
      <p:bldP spid="9222" grpId="0" build="p" autoUpdateAnimBg="0" advAuto="0"/>
      <p:bldP spid="5" grpId="0" build="p" animBg="1"/>
      <p:bldP spid="6" grpId="0"/>
      <p:bldP spid="10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ChangeArrowheads="1"/>
          </p:cNvSpPr>
          <p:nvPr/>
        </p:nvSpPr>
        <p:spPr bwMode="auto">
          <a:xfrm>
            <a:off x="-20" y="12402"/>
            <a:ext cx="9144019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80000"/>
              </a:lnSpc>
              <a:defRPr/>
            </a:pPr>
            <a:r>
              <a:rPr lang="th-TH" sz="4800" b="1" dirty="0">
                <a:solidFill>
                  <a:srgbClr val="6600CC"/>
                </a:solidFill>
              </a:rPr>
              <a:t>ตัวอย่าง</a:t>
            </a:r>
            <a:endParaRPr lang="th-TH" sz="4800" dirty="0">
              <a:solidFill>
                <a:srgbClr val="6600CC"/>
              </a:solidFill>
            </a:endParaRPr>
          </a:p>
        </p:txBody>
      </p:sp>
      <p:sp>
        <p:nvSpPr>
          <p:cNvPr id="140294" name="Text Box 6"/>
          <p:cNvSpPr txBox="1">
            <a:spLocks noChangeArrowheads="1"/>
          </p:cNvSpPr>
          <p:nvPr/>
        </p:nvSpPr>
        <p:spPr bwMode="auto">
          <a:xfrm>
            <a:off x="0" y="1086297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th-TH" sz="3200" b="1" dirty="0">
                <a:solidFill>
                  <a:srgbClr val="996633"/>
                </a:solidFill>
                <a:latin typeface="Angsana New" pitchFamily="18" charset="-34"/>
              </a:rPr>
              <a:t>พบว่า</a:t>
            </a:r>
            <a:r>
              <a:rPr lang="th-TH" sz="3200" b="1" dirty="0">
                <a:latin typeface="Angsana New" pitchFamily="18" charset="-34"/>
              </a:rPr>
              <a:t>  </a:t>
            </a:r>
            <a:r>
              <a:rPr lang="th-TH" sz="3200" b="1" dirty="0">
                <a:solidFill>
                  <a:srgbClr val="CC0099"/>
                </a:solidFill>
                <a:latin typeface="Angsana New" pitchFamily="18" charset="-34"/>
              </a:rPr>
              <a:t>คะแนนเฉลี่ยของ ด.ช. </a:t>
            </a:r>
            <a:r>
              <a:rPr lang="en-US" sz="3200" b="1" dirty="0">
                <a:solidFill>
                  <a:srgbClr val="CC0099"/>
                </a:solidFill>
                <a:latin typeface="Angsana New" pitchFamily="18" charset="-34"/>
              </a:rPr>
              <a:t>= 14  (SD = 3)</a:t>
            </a:r>
            <a:r>
              <a:rPr lang="th-TH" sz="3200" b="1" dirty="0">
                <a:solidFill>
                  <a:srgbClr val="CC0099"/>
                </a:solidFill>
                <a:latin typeface="Angsana New" pitchFamily="18" charset="-34"/>
              </a:rPr>
              <a:t> </a:t>
            </a:r>
            <a:r>
              <a:rPr lang="th-TH" sz="3200" b="1" dirty="0">
                <a:solidFill>
                  <a:srgbClr val="9933FF"/>
                </a:solidFill>
                <a:latin typeface="Angsana New" pitchFamily="18" charset="-34"/>
              </a:rPr>
              <a:t>คะแนนเฉลี่ยของ ด.ญ. </a:t>
            </a:r>
            <a:r>
              <a:rPr lang="en-US" sz="3200" b="1" dirty="0">
                <a:solidFill>
                  <a:srgbClr val="9933FF"/>
                </a:solidFill>
                <a:latin typeface="Angsana New" pitchFamily="18" charset="-34"/>
              </a:rPr>
              <a:t>= 10  (SD = 2)</a:t>
            </a:r>
            <a:endParaRPr lang="th-TH" sz="3200" b="1" dirty="0">
              <a:latin typeface="Angsana New" pitchFamily="18" charset="-34"/>
            </a:endParaRPr>
          </a:p>
        </p:txBody>
      </p:sp>
      <p:sp>
        <p:nvSpPr>
          <p:cNvPr id="140295" name="Text Box 7"/>
          <p:cNvSpPr txBox="1">
            <a:spLocks noChangeArrowheads="1"/>
          </p:cNvSpPr>
          <p:nvPr/>
        </p:nvSpPr>
        <p:spPr bwMode="auto">
          <a:xfrm>
            <a:off x="0" y="1850066"/>
            <a:ext cx="9144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ngsana New" pitchFamily="18" charset="-34"/>
              </a:defRPr>
            </a:lvl9pPr>
          </a:lstStyle>
          <a:p>
            <a:pPr>
              <a:tabLst>
                <a:tab pos="914400" algn="l"/>
              </a:tabLst>
            </a:pPr>
            <a:r>
              <a:rPr lang="th-TH" sz="3200" b="1" dirty="0">
                <a:solidFill>
                  <a:srgbClr val="0000CC"/>
                </a:solidFill>
                <a:latin typeface="Angsana New" pitchFamily="18" charset="-34"/>
              </a:rPr>
              <a:t>ถาม </a:t>
            </a:r>
            <a:r>
              <a:rPr lang="en-US" sz="3200" b="1" dirty="0">
                <a:solidFill>
                  <a:srgbClr val="0000CC"/>
                </a:solidFill>
                <a:latin typeface="Angsana New" pitchFamily="18" charset="-34"/>
              </a:rPr>
              <a:t>“</a:t>
            </a:r>
            <a:r>
              <a:rPr lang="en-US" sz="3200" b="1" dirty="0" err="1">
                <a:solidFill>
                  <a:srgbClr val="00CC00"/>
                </a:solidFill>
                <a:latin typeface="Angsana New" pitchFamily="18" charset="-34"/>
              </a:rPr>
              <a:t>ผู้ชายมีความถนัดทางคณิตศาสตร์มากกว่าผู้หญิง</a:t>
            </a:r>
            <a:r>
              <a:rPr lang="en-US" sz="3200" b="1" dirty="0">
                <a:solidFill>
                  <a:srgbClr val="0000CC"/>
                </a:solidFill>
                <a:latin typeface="Angsana New" pitchFamily="18" charset="-34"/>
              </a:rPr>
              <a:t>”</a:t>
            </a:r>
            <a:r>
              <a:rPr lang="th-TH" sz="3200" b="1" dirty="0">
                <a:solidFill>
                  <a:srgbClr val="0000CC"/>
                </a:solidFill>
                <a:latin typeface="Angsana New" pitchFamily="18" charset="-34"/>
              </a:rPr>
              <a:t> </a:t>
            </a:r>
            <a:r>
              <a:rPr lang="en-US" sz="3200" b="1" dirty="0" err="1">
                <a:solidFill>
                  <a:srgbClr val="0000CC"/>
                </a:solidFill>
                <a:latin typeface="Angsana New" pitchFamily="18" charset="-34"/>
              </a:rPr>
              <a:t>อย่างมี</a:t>
            </a:r>
            <a:r>
              <a:rPr lang="th-TH" sz="3200" b="1" dirty="0">
                <a:solidFill>
                  <a:srgbClr val="0000CC"/>
                </a:solidFill>
                <a:latin typeface="Angsana New" pitchFamily="18" charset="-34"/>
              </a:rPr>
              <a:t> </a:t>
            </a:r>
            <a:r>
              <a:rPr lang="en-US" sz="3200" b="1" dirty="0" err="1">
                <a:solidFill>
                  <a:srgbClr val="FF3300"/>
                </a:solidFill>
                <a:latin typeface="Angsana New" pitchFamily="18" charset="-34"/>
              </a:rPr>
              <a:t>นัยส</a:t>
            </a:r>
            <a:r>
              <a:rPr lang="th-TH" sz="3200" b="1" dirty="0">
                <a:solidFill>
                  <a:srgbClr val="FF3300"/>
                </a:solidFill>
                <a:latin typeface="Angsana New" pitchFamily="18" charset="-34"/>
              </a:rPr>
              <a:t>ำ</a:t>
            </a:r>
            <a:r>
              <a:rPr lang="en-US" sz="3200" b="1" dirty="0" err="1">
                <a:solidFill>
                  <a:srgbClr val="FF3300"/>
                </a:solidFill>
                <a:latin typeface="Angsana New" pitchFamily="18" charset="-34"/>
              </a:rPr>
              <a:t>คัญ</a:t>
            </a:r>
            <a:r>
              <a:rPr lang="en-US" sz="3200" b="1" dirty="0">
                <a:solidFill>
                  <a:srgbClr val="FF3300"/>
                </a:solidFill>
                <a:latin typeface="Angsana New" pitchFamily="18" charset="-34"/>
              </a:rPr>
              <a:t> </a:t>
            </a:r>
            <a:r>
              <a:rPr lang="en-US" sz="3200" b="1" dirty="0" err="1">
                <a:solidFill>
                  <a:srgbClr val="0000CC"/>
                </a:solidFill>
                <a:latin typeface="Angsana New" pitchFamily="18" charset="-34"/>
              </a:rPr>
              <a:t>หรือไม่</a:t>
            </a:r>
            <a:endParaRPr lang="th-TH" sz="3200" b="1" dirty="0">
              <a:solidFill>
                <a:srgbClr val="00CC00"/>
              </a:solidFill>
              <a:latin typeface="Angsana New" pitchFamily="18" charset="-34"/>
            </a:endParaRPr>
          </a:p>
        </p:txBody>
      </p:sp>
      <p:sp>
        <p:nvSpPr>
          <p:cNvPr id="32774" name="Rectangle 5"/>
          <p:cNvSpPr>
            <a:spLocks noChangeArrowheads="1"/>
          </p:cNvSpPr>
          <p:nvPr/>
        </p:nvSpPr>
        <p:spPr bwMode="auto">
          <a:xfrm>
            <a:off x="42532" y="629097"/>
            <a:ext cx="8686800" cy="527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th-TH" sz="3200" b="1" dirty="0">
                <a:solidFill>
                  <a:srgbClr val="0000CC"/>
                </a:solidFill>
              </a:rPr>
              <a:t>สุ่มเด็กชายและหญิงมากลุ่มละ </a:t>
            </a:r>
            <a:r>
              <a:rPr lang="th-TH" sz="3200" b="1" dirty="0">
                <a:solidFill>
                  <a:srgbClr val="FF3300"/>
                </a:solidFill>
              </a:rPr>
              <a:t>11 คน</a:t>
            </a:r>
            <a:r>
              <a:rPr lang="th-TH" sz="3200" b="1" dirty="0">
                <a:solidFill>
                  <a:srgbClr val="0000CC"/>
                </a:solidFill>
              </a:rPr>
              <a:t> ให้ทำข้อสอบความถนัดทางคณิตศาสตร์</a:t>
            </a:r>
            <a:endParaRPr lang="th-TH" sz="3200" b="1" dirty="0">
              <a:solidFill>
                <a:srgbClr val="00CC00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186068" y="2590800"/>
            <a:ext cx="8763000" cy="1143000"/>
            <a:chOff x="186068" y="2133600"/>
            <a:chExt cx="8763000" cy="1143000"/>
          </a:xfrm>
        </p:grpSpPr>
        <p:sp>
          <p:nvSpPr>
            <p:cNvPr id="32775" name="Rectangle 8"/>
            <p:cNvSpPr>
              <a:spLocks noChangeArrowheads="1"/>
            </p:cNvSpPr>
            <p:nvPr/>
          </p:nvSpPr>
          <p:spPr bwMode="auto">
            <a:xfrm>
              <a:off x="186068" y="2133600"/>
              <a:ext cx="8763000" cy="1143000"/>
            </a:xfrm>
            <a:prstGeom prst="rect">
              <a:avLst/>
            </a:prstGeom>
            <a:noFill/>
            <a:ln w="57150" cmpd="thinThick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th-TH" sz="3200" dirty="0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609600" y="2209800"/>
              <a:ext cx="8001000" cy="5524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484188" indent="-484188">
                <a:lnSpc>
                  <a:spcPct val="80000"/>
                </a:lnSpc>
                <a:buFont typeface="Monotype Sorts" pitchFamily="2" charset="2"/>
                <a:buNone/>
                <a:defRPr/>
              </a:pPr>
              <a:r>
                <a:rPr lang="en-US" sz="3600" b="1" dirty="0">
                  <a:solidFill>
                    <a:srgbClr val="0066FF"/>
                  </a:solidFill>
                  <a:latin typeface="Angsana New" pitchFamily="18" charset="-34"/>
                </a:rPr>
                <a:t>H</a:t>
              </a:r>
              <a:r>
                <a:rPr lang="en-US" sz="4400" b="1" baseline="-25000" dirty="0">
                  <a:solidFill>
                    <a:srgbClr val="0066FF"/>
                  </a:solidFill>
                  <a:latin typeface="Angsana New" pitchFamily="18" charset="-34"/>
                </a:rPr>
                <a:t>0</a:t>
              </a:r>
              <a:r>
                <a:rPr lang="th-TH" sz="3600" b="1" dirty="0">
                  <a:solidFill>
                    <a:srgbClr val="0066FF"/>
                  </a:solidFill>
                  <a:latin typeface="Angsana New" pitchFamily="18" charset="-34"/>
                </a:rPr>
                <a:t>: ผู้ชายและผู้หญิงมีความถนัดทางคณิตศาสตร์</a:t>
              </a:r>
              <a:r>
                <a:rPr lang="th-TH" sz="3600" b="1" u="sng" dirty="0">
                  <a:solidFill>
                    <a:srgbClr val="0066FF"/>
                  </a:solidFill>
                  <a:latin typeface="Angsana New" pitchFamily="18" charset="-34"/>
                </a:rPr>
                <a:t>ไม่</a:t>
              </a:r>
              <a:r>
                <a:rPr lang="th-TH" sz="3600" b="1" dirty="0">
                  <a:solidFill>
                    <a:srgbClr val="0066FF"/>
                  </a:solidFill>
                  <a:latin typeface="Angsana New" pitchFamily="18" charset="-34"/>
                </a:rPr>
                <a:t>แตกต่างกัน</a:t>
              </a: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607561" y="2660948"/>
              <a:ext cx="8001000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ngsana New" pitchFamily="18" charset="-34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ngsana New" pitchFamily="18" charset="-34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ngsana New" pitchFamily="18" charset="-34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ngsana New" pitchFamily="18" charset="-34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ngsana New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ngsana New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ngsana New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ngsana New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10000"/>
                </a:spcBef>
              </a:pPr>
              <a:r>
                <a:rPr lang="en-US" sz="3600" b="1" dirty="0">
                  <a:solidFill>
                    <a:srgbClr val="FF6600"/>
                  </a:solidFill>
                  <a:latin typeface="Angsana New" pitchFamily="18" charset="-34"/>
                </a:rPr>
                <a:t>H</a:t>
              </a:r>
              <a:r>
                <a:rPr lang="en-US" sz="4800" b="1" baseline="-25000" dirty="0">
                  <a:solidFill>
                    <a:srgbClr val="FF6600"/>
                  </a:solidFill>
                  <a:latin typeface="Angsana New" pitchFamily="18" charset="-34"/>
                </a:rPr>
                <a:t>1</a:t>
              </a:r>
              <a:r>
                <a:rPr lang="th-TH" sz="3600" b="1" dirty="0">
                  <a:solidFill>
                    <a:srgbClr val="FF6600"/>
                  </a:solidFill>
                  <a:latin typeface="Angsana New" pitchFamily="18" charset="-34"/>
                </a:rPr>
                <a:t>: ผู้ชายมีความถนัดทางคณิตศาสตร์</a:t>
              </a:r>
              <a:r>
                <a:rPr lang="th-TH" sz="3600" b="1" u="sng" dirty="0">
                  <a:solidFill>
                    <a:srgbClr val="FF6600"/>
                  </a:solidFill>
                  <a:latin typeface="Angsana New" pitchFamily="18" charset="-34"/>
                </a:rPr>
                <a:t>มากกว่า</a:t>
              </a:r>
              <a:r>
                <a:rPr lang="th-TH" sz="3600" b="1" dirty="0">
                  <a:solidFill>
                    <a:srgbClr val="FF6600"/>
                  </a:solidFill>
                  <a:latin typeface="Angsana New" pitchFamily="18" charset="-34"/>
                </a:rPr>
                <a:t>ผู้หญิง</a:t>
              </a:r>
            </a:p>
          </p:txBody>
        </p:sp>
      </p:grpSp>
      <p:sp>
        <p:nvSpPr>
          <p:cNvPr id="25" name="Rectangle 16"/>
          <p:cNvSpPr>
            <a:spLocks noChangeArrowheads="1"/>
          </p:cNvSpPr>
          <p:nvPr/>
        </p:nvSpPr>
        <p:spPr bwMode="auto">
          <a:xfrm>
            <a:off x="958700" y="4800600"/>
            <a:ext cx="7770631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09588" indent="-509588">
              <a:lnSpc>
                <a:spcPct val="75000"/>
              </a:lnSpc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r>
              <a:rPr lang="th-TH" b="1" dirty="0">
                <a:solidFill>
                  <a:srgbClr val="008000"/>
                </a:solidFill>
                <a:latin typeface="Angsana New" pitchFamily="18" charset="-34"/>
                <a:sym typeface="Symbol"/>
              </a:rPr>
              <a:t></a:t>
            </a:r>
            <a:r>
              <a:rPr lang="en-US" sz="4400" b="1" baseline="-25000" dirty="0">
                <a:solidFill>
                  <a:srgbClr val="008000"/>
                </a:solidFill>
                <a:latin typeface="Angsana New" pitchFamily="18" charset="-34"/>
                <a:sym typeface="Symbol"/>
              </a:rPr>
              <a:t>F</a:t>
            </a:r>
            <a:r>
              <a:rPr lang="en-US" sz="3200" b="1" baseline="-25000" dirty="0">
                <a:solidFill>
                  <a:srgbClr val="008000"/>
                </a:solidFill>
                <a:latin typeface="Angsana New" pitchFamily="18" charset="-34"/>
                <a:sym typeface="Symbol"/>
              </a:rPr>
              <a:t>  	</a:t>
            </a:r>
            <a:r>
              <a:rPr lang="th-TH" sz="3200" b="1" dirty="0">
                <a:solidFill>
                  <a:srgbClr val="996633"/>
                </a:solidFill>
                <a:latin typeface="Angsana New" pitchFamily="18" charset="-34"/>
              </a:rPr>
              <a:t>แทน </a:t>
            </a:r>
            <a:r>
              <a:rPr lang="th-TH" sz="3200" b="1" dirty="0">
                <a:solidFill>
                  <a:srgbClr val="008000"/>
                </a:solidFill>
                <a:latin typeface="Angsana New" pitchFamily="18" charset="-34"/>
              </a:rPr>
              <a:t>คะแนนเฉลี่ยของผลสอบความถนัดคณิตศาสตร์ของผู้หญิง</a:t>
            </a:r>
            <a:endParaRPr lang="th-TH" sz="3200" b="1" dirty="0">
              <a:solidFill>
                <a:srgbClr val="FF66CC"/>
              </a:solidFill>
              <a:latin typeface="Angsana New" pitchFamily="18" charset="-34"/>
            </a:endParaRPr>
          </a:p>
        </p:txBody>
      </p:sp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533400" y="4267200"/>
            <a:ext cx="814099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055688" indent="-1055688">
              <a:lnSpc>
                <a:spcPct val="75000"/>
              </a:lnSpc>
              <a:spcBef>
                <a:spcPct val="10000"/>
              </a:spcBef>
              <a:defRPr/>
            </a:pPr>
            <a:r>
              <a:rPr lang="th-TH" sz="3200" b="1" dirty="0">
                <a:solidFill>
                  <a:srgbClr val="008000"/>
                </a:solidFill>
                <a:latin typeface="Angsana New" pitchFamily="18" charset="-34"/>
                <a:sym typeface="Symbol"/>
              </a:rPr>
              <a:t>ให้  </a:t>
            </a:r>
            <a:r>
              <a:rPr lang="th-TH" b="1" dirty="0">
                <a:solidFill>
                  <a:srgbClr val="008000"/>
                </a:solidFill>
                <a:latin typeface="Angsana New" pitchFamily="18" charset="-34"/>
                <a:sym typeface="Symbol"/>
              </a:rPr>
              <a:t></a:t>
            </a:r>
            <a:r>
              <a:rPr lang="en-US" sz="4400" b="1" baseline="-25000" dirty="0">
                <a:solidFill>
                  <a:srgbClr val="008000"/>
                </a:solidFill>
                <a:latin typeface="Angsana New" pitchFamily="18" charset="-34"/>
                <a:sym typeface="Symbol"/>
              </a:rPr>
              <a:t>M</a:t>
            </a:r>
            <a:r>
              <a:rPr lang="en-US" sz="3200" b="1" dirty="0">
                <a:solidFill>
                  <a:srgbClr val="996633"/>
                </a:solidFill>
                <a:latin typeface="Angsana New" pitchFamily="18" charset="-34"/>
                <a:sym typeface="Symbol"/>
              </a:rPr>
              <a:t> </a:t>
            </a:r>
            <a:r>
              <a:rPr lang="th-TH" sz="3200" b="1" dirty="0">
                <a:solidFill>
                  <a:srgbClr val="996633"/>
                </a:solidFill>
                <a:latin typeface="Angsana New" pitchFamily="18" charset="-34"/>
              </a:rPr>
              <a:t>แทน </a:t>
            </a:r>
            <a:r>
              <a:rPr lang="th-TH" sz="3200" b="1" dirty="0">
                <a:solidFill>
                  <a:srgbClr val="008000"/>
                </a:solidFill>
                <a:latin typeface="Angsana New" pitchFamily="18" charset="-34"/>
              </a:rPr>
              <a:t>คะแนนเฉลี่ยของผลสอบความถนัดคณิตศาสตร์ของผู้ชาย</a:t>
            </a:r>
            <a:endParaRPr lang="th-TH" sz="3200" b="1" dirty="0">
              <a:solidFill>
                <a:srgbClr val="339933"/>
              </a:solidFill>
              <a:latin typeface="Angsana New" pitchFamily="18" charset="-34"/>
            </a:endParaRP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0" y="5410200"/>
            <a:ext cx="9143999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484188" indent="-484188" algn="ctr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sz="3600" b="1" dirty="0">
                <a:solidFill>
                  <a:srgbClr val="0066FF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0066FF"/>
                </a:solidFill>
                <a:latin typeface="Angsana New" pitchFamily="18" charset="-34"/>
              </a:rPr>
              <a:t>0</a:t>
            </a:r>
            <a:r>
              <a:rPr lang="th-TH" sz="3600" b="1" dirty="0">
                <a:solidFill>
                  <a:srgbClr val="0066FF"/>
                </a:solidFill>
                <a:latin typeface="Angsana New" pitchFamily="18" charset="-34"/>
              </a:rPr>
              <a:t>: </a:t>
            </a:r>
            <a:r>
              <a:rPr lang="th-TH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</a:t>
            </a:r>
            <a:r>
              <a:rPr lang="en-US" sz="4800" b="1" baseline="-25000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M</a:t>
            </a:r>
            <a:r>
              <a:rPr lang="en-US" sz="3600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  =  </a:t>
            </a:r>
            <a:r>
              <a:rPr lang="th-TH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</a:t>
            </a:r>
            <a:r>
              <a:rPr lang="en-US" sz="4800" b="1" baseline="-25000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F</a:t>
            </a:r>
            <a:r>
              <a:rPr lang="th-TH" sz="3600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 </a:t>
            </a:r>
            <a:r>
              <a:rPr lang="en-US" sz="3600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    </a:t>
            </a:r>
            <a:r>
              <a:rPr lang="en-US" sz="5400" b="1" dirty="0">
                <a:latin typeface="Angsana New" pitchFamily="18" charset="-34"/>
                <a:sym typeface="Symbol"/>
              </a:rPr>
              <a:t>VS</a:t>
            </a:r>
            <a:r>
              <a:rPr lang="en-US" sz="3600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     </a:t>
            </a:r>
            <a:r>
              <a:rPr lang="en-US" sz="3600" b="1" dirty="0">
                <a:solidFill>
                  <a:srgbClr val="CC6600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CC6600"/>
                </a:solidFill>
                <a:latin typeface="Angsana New" pitchFamily="18" charset="-34"/>
              </a:rPr>
              <a:t>1</a:t>
            </a:r>
            <a:r>
              <a:rPr lang="th-TH" sz="3600" b="1" dirty="0">
                <a:solidFill>
                  <a:srgbClr val="CC6600"/>
                </a:solidFill>
                <a:latin typeface="Angsana New" pitchFamily="18" charset="-34"/>
              </a:rPr>
              <a:t>: </a:t>
            </a:r>
            <a:r>
              <a:rPr lang="th-TH" b="1" dirty="0">
                <a:solidFill>
                  <a:srgbClr val="CC6600"/>
                </a:solidFill>
                <a:latin typeface="Angsana New" pitchFamily="18" charset="-34"/>
                <a:sym typeface="Symbol"/>
              </a:rPr>
              <a:t></a:t>
            </a:r>
            <a:r>
              <a:rPr lang="en-US" sz="4800" b="1" baseline="-25000" dirty="0">
                <a:solidFill>
                  <a:srgbClr val="CC6600"/>
                </a:solidFill>
                <a:latin typeface="Angsana New" pitchFamily="18" charset="-34"/>
                <a:sym typeface="Symbol"/>
              </a:rPr>
              <a:t>M</a:t>
            </a:r>
            <a:r>
              <a:rPr lang="en-US" sz="3600" b="1" dirty="0">
                <a:solidFill>
                  <a:srgbClr val="CC6600"/>
                </a:solidFill>
                <a:latin typeface="Angsana New" pitchFamily="18" charset="-34"/>
                <a:sym typeface="Symbol"/>
              </a:rPr>
              <a:t>  &gt;  </a:t>
            </a:r>
            <a:r>
              <a:rPr lang="th-TH" b="1" dirty="0">
                <a:solidFill>
                  <a:srgbClr val="CC6600"/>
                </a:solidFill>
                <a:latin typeface="Angsana New" pitchFamily="18" charset="-34"/>
                <a:sym typeface="Symbol"/>
              </a:rPr>
              <a:t></a:t>
            </a:r>
            <a:r>
              <a:rPr lang="en-US" sz="4800" b="1" baseline="-25000" dirty="0">
                <a:solidFill>
                  <a:srgbClr val="CC6600"/>
                </a:solidFill>
                <a:latin typeface="Angsana New" pitchFamily="18" charset="-34"/>
                <a:sym typeface="Symbol"/>
              </a:rPr>
              <a:t>F</a:t>
            </a:r>
            <a:endParaRPr lang="th-TH" sz="4800" b="1" baseline="-25000" dirty="0">
              <a:solidFill>
                <a:srgbClr val="CC6600"/>
              </a:solidFill>
              <a:latin typeface="Angsana New" pitchFamily="18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14B4BA-3B25-4B3C-BB42-F40CFFC65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F46727-A232-46BD-AF71-21A9C6BE5EF4}" type="slidenum">
              <a:rPr lang="en-US" smtClean="0"/>
              <a:pPr>
                <a:defRPr/>
              </a:pPr>
              <a:t>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8200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2" grpId="0"/>
      <p:bldP spid="140294" grpId="0"/>
      <p:bldP spid="140295" grpId="0"/>
      <p:bldP spid="32774" grpId="0"/>
      <p:bldP spid="25" grpId="0"/>
      <p:bldP spid="26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9" name="Rectangle 9"/>
          <p:cNvSpPr>
            <a:spLocks noChangeArrowheads="1"/>
          </p:cNvSpPr>
          <p:nvPr/>
        </p:nvSpPr>
        <p:spPr bwMode="auto">
          <a:xfrm>
            <a:off x="152400" y="1252868"/>
            <a:ext cx="7620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eaLnBrk="0" hangingPunct="0">
              <a:spcBef>
                <a:spcPts val="0"/>
              </a:spcBef>
              <a:buFont typeface="Monotype Sorts" pitchFamily="2" charset="2"/>
              <a:buNone/>
              <a:defRPr/>
            </a:pPr>
            <a:r>
              <a:rPr lang="th-TH" sz="3600" b="1" dirty="0">
                <a:solidFill>
                  <a:srgbClr val="CC0000"/>
                </a:solidFill>
                <a:latin typeface="Angsana New" pitchFamily="18" charset="-34"/>
              </a:rPr>
              <a:t>ให้  </a:t>
            </a:r>
            <a:r>
              <a:rPr lang="th-TH" b="1" dirty="0">
                <a:solidFill>
                  <a:srgbClr val="CC0000"/>
                </a:solidFill>
                <a:latin typeface="Angsana New" pitchFamily="18" charset="-34"/>
                <a:sym typeface="Symbol" pitchFamily="18" charset="2"/>
              </a:rPr>
              <a:t></a:t>
            </a:r>
            <a:r>
              <a:rPr lang="th-TH" sz="3600" b="1" dirty="0">
                <a:solidFill>
                  <a:srgbClr val="CC0000"/>
                </a:solidFill>
                <a:latin typeface="Angsana New" pitchFamily="18" charset="-34"/>
              </a:rPr>
              <a:t>  แทน ค่าเฉลี่ยของคะแนนความพึงพอใจ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76200" y="93481"/>
            <a:ext cx="8972550" cy="1123950"/>
            <a:chOff x="132" y="156"/>
            <a:chExt cx="5652" cy="708"/>
          </a:xfrm>
        </p:grpSpPr>
        <p:sp>
          <p:nvSpPr>
            <p:cNvPr id="30722" name="Rectangle 2"/>
            <p:cNvSpPr>
              <a:spLocks noChangeArrowheads="1"/>
            </p:cNvSpPr>
            <p:nvPr/>
          </p:nvSpPr>
          <p:spPr bwMode="auto">
            <a:xfrm>
              <a:off x="180" y="192"/>
              <a:ext cx="5376" cy="67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92075" tIns="46038" rIns="92075" bIns="46038" anchor="ctr"/>
            <a:lstStyle/>
            <a:p>
              <a:pPr marL="1031875" indent="-1031875">
                <a:spcBef>
                  <a:spcPts val="0"/>
                </a:spcBef>
                <a:defRPr/>
              </a:pPr>
              <a:r>
                <a:rPr lang="th-TH" sz="3600" b="1" dirty="0">
                  <a:solidFill>
                    <a:srgbClr val="0000FF"/>
                  </a:solidFill>
                  <a:latin typeface="Angsana New" pitchFamily="18" charset="-34"/>
                </a:rPr>
                <a:t>ตัวอย่าง </a:t>
              </a:r>
              <a:r>
                <a:rPr lang="th-TH" sz="3600" b="1" dirty="0">
                  <a:solidFill>
                    <a:srgbClr val="00CC66"/>
                  </a:solidFill>
                  <a:latin typeface="Angsana New" pitchFamily="18" charset="-34"/>
                </a:rPr>
                <a:t>นักศึกษามีความพึงพอใจต่อบริการต่าง ๆ ของสถาบัน ในระดับ </a:t>
              </a:r>
              <a:r>
                <a:rPr lang="th-TH" sz="3600" b="1" u="sng" dirty="0">
                  <a:solidFill>
                    <a:srgbClr val="00CC66"/>
                  </a:solidFill>
                  <a:latin typeface="Angsana New" pitchFamily="18" charset="-34"/>
                </a:rPr>
                <a:t>&gt;</a:t>
              </a:r>
              <a:r>
                <a:rPr lang="th-TH" sz="3600" b="1" dirty="0">
                  <a:solidFill>
                    <a:srgbClr val="00CC66"/>
                  </a:solidFill>
                  <a:latin typeface="Angsana New" pitchFamily="18" charset="-34"/>
                </a:rPr>
                <a:t> 3.5 โดยเฉลี่ย </a:t>
              </a:r>
            </a:p>
          </p:txBody>
        </p:sp>
        <p:sp>
          <p:nvSpPr>
            <p:cNvPr id="35846" name="Rectangle 23"/>
            <p:cNvSpPr>
              <a:spLocks noChangeArrowheads="1"/>
            </p:cNvSpPr>
            <p:nvPr/>
          </p:nvSpPr>
          <p:spPr bwMode="auto">
            <a:xfrm>
              <a:off x="132" y="156"/>
              <a:ext cx="5652" cy="708"/>
            </a:xfrm>
            <a:prstGeom prst="rect">
              <a:avLst/>
            </a:prstGeom>
            <a:noFill/>
            <a:ln w="57150" cmpd="thinThick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ts val="0"/>
                </a:spcBef>
              </a:pPr>
              <a:endParaRPr lang="th-TH" sz="3600">
                <a:latin typeface="Angsana New" pitchFamily="18" charset="-34"/>
              </a:endParaRPr>
            </a:p>
          </p:txBody>
        </p:sp>
      </p:grp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52400" y="3733800"/>
            <a:ext cx="80772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eaLnBrk="0" hangingPunct="0">
              <a:spcBef>
                <a:spcPts val="0"/>
              </a:spcBef>
              <a:defRPr/>
            </a:pPr>
            <a:endParaRPr lang="en-US" sz="3600" b="1" dirty="0">
              <a:solidFill>
                <a:srgbClr val="0000FF"/>
              </a:solidFill>
              <a:latin typeface="Angsana New" pitchFamily="18" charset="-34"/>
            </a:endParaRPr>
          </a:p>
        </p:txBody>
      </p:sp>
      <p:sp>
        <p:nvSpPr>
          <p:cNvPr id="8" name="Rectangle 1033"/>
          <p:cNvSpPr>
            <a:spLocks noChangeArrowheads="1"/>
          </p:cNvSpPr>
          <p:nvPr/>
        </p:nvSpPr>
        <p:spPr bwMode="auto">
          <a:xfrm>
            <a:off x="228600" y="4419600"/>
            <a:ext cx="882015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eaLnBrk="0" hangingPunct="0">
              <a:spcBef>
                <a:spcPts val="0"/>
              </a:spcBef>
              <a:buFont typeface="Monotype Sorts" pitchFamily="2" charset="2"/>
              <a:buNone/>
              <a:defRPr/>
            </a:pPr>
            <a:r>
              <a:rPr lang="th-TH" sz="3000" b="1" dirty="0">
                <a:solidFill>
                  <a:srgbClr val="CC0000"/>
                </a:solidFill>
                <a:latin typeface="Angsana New" pitchFamily="18" charset="-34"/>
              </a:rPr>
              <a:t>ให้ </a:t>
            </a:r>
            <a:r>
              <a:rPr lang="en-US" sz="3000" b="1" dirty="0">
                <a:solidFill>
                  <a:srgbClr val="CC0000"/>
                </a:solidFill>
                <a:latin typeface="Angsana New" pitchFamily="18" charset="-34"/>
              </a:rPr>
              <a:t> </a:t>
            </a:r>
            <a:r>
              <a:rPr lang="th-TH" sz="3000" b="1" dirty="0">
                <a:solidFill>
                  <a:srgbClr val="CC0000"/>
                </a:solidFill>
                <a:latin typeface="Angsana New" pitchFamily="18" charset="-34"/>
              </a:rPr>
              <a:t>  </a:t>
            </a:r>
            <a:r>
              <a:rPr lang="th-TH" sz="3000" b="1" dirty="0">
                <a:solidFill>
                  <a:srgbClr val="CC0000"/>
                </a:solidFill>
                <a:latin typeface="Angsana New" pitchFamily="18" charset="-34"/>
                <a:sym typeface="Symbol" pitchFamily="18" charset="2"/>
              </a:rPr>
              <a:t></a:t>
            </a:r>
            <a:r>
              <a:rPr lang="en-US" sz="3000" b="1" baseline="-25000" dirty="0">
                <a:solidFill>
                  <a:srgbClr val="CC0000"/>
                </a:solidFill>
                <a:latin typeface="Angsana New" pitchFamily="18" charset="-34"/>
                <a:sym typeface="Symbol" pitchFamily="18" charset="2"/>
              </a:rPr>
              <a:t>B</a:t>
            </a:r>
            <a:r>
              <a:rPr lang="th-TH" sz="3000" b="1" dirty="0">
                <a:solidFill>
                  <a:srgbClr val="CC0000"/>
                </a:solidFill>
                <a:latin typeface="Angsana New" pitchFamily="18" charset="-34"/>
              </a:rPr>
              <a:t>  แทน ค่าเฉลี่ยของคะแนนความเข้าใจสถิติ </a:t>
            </a:r>
            <a:r>
              <a:rPr lang="th-TH" sz="3000" b="1" dirty="0">
                <a:solidFill>
                  <a:schemeClr val="tx2"/>
                </a:solidFill>
                <a:latin typeface="Angsana New" pitchFamily="18" charset="-34"/>
              </a:rPr>
              <a:t>ก่อน</a:t>
            </a:r>
            <a:r>
              <a:rPr lang="th-TH" sz="3000" b="1" dirty="0">
                <a:solidFill>
                  <a:srgbClr val="CC0000"/>
                </a:solidFill>
                <a:latin typeface="Angsana New" pitchFamily="18" charset="-34"/>
              </a:rPr>
              <a:t> การเรียนวิชา สป.6001   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th-TH" sz="3000" b="1" dirty="0">
                <a:solidFill>
                  <a:srgbClr val="CC0000"/>
                </a:solidFill>
                <a:latin typeface="Angsana New" pitchFamily="18" charset="-34"/>
              </a:rPr>
              <a:t>และ  </a:t>
            </a:r>
            <a:r>
              <a:rPr lang="th-TH" sz="3000" b="1" dirty="0">
                <a:solidFill>
                  <a:srgbClr val="CC0000"/>
                </a:solidFill>
                <a:latin typeface="Angsana New" pitchFamily="18" charset="-34"/>
                <a:sym typeface="Symbol" pitchFamily="18" charset="2"/>
              </a:rPr>
              <a:t></a:t>
            </a:r>
            <a:r>
              <a:rPr lang="en-US" sz="3000" b="1" baseline="-25000" dirty="0">
                <a:solidFill>
                  <a:srgbClr val="CC0000"/>
                </a:solidFill>
                <a:latin typeface="Angsana New" pitchFamily="18" charset="-34"/>
                <a:sym typeface="Symbol" pitchFamily="18" charset="2"/>
              </a:rPr>
              <a:t>A</a:t>
            </a:r>
            <a:r>
              <a:rPr lang="th-TH" sz="3000" b="1" baseline="-25000" dirty="0">
                <a:solidFill>
                  <a:srgbClr val="CC0000"/>
                </a:solidFill>
                <a:latin typeface="Angsana New" pitchFamily="18" charset="-34"/>
                <a:sym typeface="Symbol" pitchFamily="18" charset="2"/>
              </a:rPr>
              <a:t> </a:t>
            </a:r>
            <a:r>
              <a:rPr lang="th-TH" sz="3000" b="1" dirty="0">
                <a:solidFill>
                  <a:srgbClr val="CC0000"/>
                </a:solidFill>
                <a:latin typeface="Angsana New" pitchFamily="18" charset="-34"/>
              </a:rPr>
              <a:t> แทน ค่าเฉลี่ยของคะแนนความเข้าใจสถิติ </a:t>
            </a:r>
            <a:r>
              <a:rPr lang="th-TH" sz="3000" b="1" dirty="0">
                <a:solidFill>
                  <a:schemeClr val="tx2"/>
                </a:solidFill>
                <a:latin typeface="Angsana New" pitchFamily="18" charset="-34"/>
              </a:rPr>
              <a:t>หลัง</a:t>
            </a:r>
            <a:r>
              <a:rPr lang="th-TH" sz="3000" b="1" dirty="0">
                <a:solidFill>
                  <a:srgbClr val="CC0000"/>
                </a:solidFill>
                <a:latin typeface="Angsana New" pitchFamily="18" charset="-34"/>
              </a:rPr>
              <a:t> การเรียนวิชา สป.6001 </a:t>
            </a:r>
          </a:p>
        </p:txBody>
      </p:sp>
      <p:sp>
        <p:nvSpPr>
          <p:cNvPr id="9" name="Rectangle 1034"/>
          <p:cNvSpPr>
            <a:spLocks noChangeArrowheads="1"/>
          </p:cNvSpPr>
          <p:nvPr/>
        </p:nvSpPr>
        <p:spPr bwMode="auto">
          <a:xfrm>
            <a:off x="152400" y="5539565"/>
            <a:ext cx="8839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defTabSz="1031875" eaLnBrk="0" hangingPunct="0">
              <a:spcBef>
                <a:spcPts val="0"/>
              </a:spcBef>
              <a:buFont typeface="Monotype Sorts" pitchFamily="2" charset="2"/>
              <a:buNone/>
              <a:tabLst>
                <a:tab pos="5826125" algn="l"/>
              </a:tabLst>
              <a:defRPr/>
            </a:pPr>
            <a:r>
              <a:rPr lang="th-TH" sz="3600" b="1" dirty="0">
                <a:solidFill>
                  <a:srgbClr val="339933"/>
                </a:solidFill>
                <a:latin typeface="Angsana New" pitchFamily="18" charset="-34"/>
              </a:rPr>
              <a:t>สมมุติฐานว่าง </a:t>
            </a:r>
            <a:r>
              <a:rPr lang="en-US" sz="3600" b="1" dirty="0">
                <a:solidFill>
                  <a:srgbClr val="339933"/>
                </a:solidFill>
                <a:latin typeface="Angsana New" pitchFamily="18" charset="-34"/>
              </a:rPr>
              <a:t>(Null Hypothesis)</a:t>
            </a:r>
            <a:r>
              <a:rPr lang="th-TH" sz="3600" b="1" dirty="0">
                <a:latin typeface="Angsana New" pitchFamily="18" charset="-34"/>
              </a:rPr>
              <a:t> </a:t>
            </a:r>
            <a:r>
              <a:rPr lang="en-US" sz="3600" b="1" dirty="0">
                <a:latin typeface="Angsana New" pitchFamily="18" charset="-34"/>
              </a:rPr>
              <a:t>	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lang="en-US" sz="4800" b="1" baseline="-25000" dirty="0">
                <a:solidFill>
                  <a:srgbClr val="0000FF"/>
                </a:solidFill>
                <a:latin typeface="Angsana New" pitchFamily="18" charset="-34"/>
              </a:rPr>
              <a:t>0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 : </a:t>
            </a:r>
            <a:r>
              <a:rPr lang="en-US" b="1" dirty="0">
                <a:solidFill>
                  <a:srgbClr val="0000FF"/>
                </a:solidFill>
                <a:latin typeface="Angsana New" pitchFamily="18" charset="-34"/>
                <a:sym typeface="Symbol" pitchFamily="18" charset="2"/>
              </a:rPr>
              <a:t></a:t>
            </a:r>
            <a:r>
              <a:rPr lang="en-US" sz="4800" b="1" baseline="-25000" dirty="0">
                <a:solidFill>
                  <a:srgbClr val="0000FF"/>
                </a:solidFill>
                <a:latin typeface="Angsana New" pitchFamily="18" charset="-34"/>
                <a:sym typeface="Symbol" pitchFamily="18" charset="2"/>
              </a:rPr>
              <a:t>A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  <a:sym typeface="Symbol" pitchFamily="18" charset="2"/>
              </a:rPr>
              <a:t> – </a:t>
            </a:r>
            <a:r>
              <a:rPr lang="en-US" b="1" dirty="0">
                <a:solidFill>
                  <a:srgbClr val="0000FF"/>
                </a:solidFill>
                <a:latin typeface="Angsana New" pitchFamily="18" charset="-34"/>
                <a:sym typeface="Symbol" pitchFamily="18" charset="2"/>
              </a:rPr>
              <a:t></a:t>
            </a:r>
            <a:r>
              <a:rPr lang="en-US" sz="4800" b="1" baseline="-25000" dirty="0">
                <a:solidFill>
                  <a:srgbClr val="0000FF"/>
                </a:solidFill>
                <a:latin typeface="Angsana New" pitchFamily="18" charset="-34"/>
                <a:sym typeface="Symbol" pitchFamily="18" charset="2"/>
              </a:rPr>
              <a:t>B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  </a:t>
            </a:r>
            <a:r>
              <a:rPr lang="en-US" sz="3600" b="1" u="sng" dirty="0">
                <a:solidFill>
                  <a:srgbClr val="0000FF"/>
                </a:solidFill>
                <a:latin typeface="Angsana New" pitchFamily="18" charset="-34"/>
              </a:rPr>
              <a:t>&lt;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  0</a:t>
            </a:r>
            <a:r>
              <a:rPr lang="en-US" sz="3600" b="1" dirty="0">
                <a:latin typeface="Angsana New" pitchFamily="18" charset="-34"/>
              </a:rPr>
              <a:t> </a:t>
            </a:r>
            <a:endParaRPr lang="th-TH" sz="3600" b="1" dirty="0">
              <a:latin typeface="Angsana New" pitchFamily="18" charset="-34"/>
            </a:endParaRPr>
          </a:p>
          <a:p>
            <a:pPr defTabSz="1031875" eaLnBrk="0" hangingPunct="0">
              <a:spcBef>
                <a:spcPts val="0"/>
              </a:spcBef>
              <a:tabLst>
                <a:tab pos="5826125" algn="l"/>
              </a:tabLst>
              <a:defRPr/>
            </a:pPr>
            <a:r>
              <a:rPr lang="th-TH" sz="3600" b="1" dirty="0">
                <a:solidFill>
                  <a:srgbClr val="339933"/>
                </a:solidFill>
                <a:latin typeface="Angsana New" pitchFamily="18" charset="-34"/>
              </a:rPr>
              <a:t>สมมุติฐานทางเลือก </a:t>
            </a:r>
            <a:r>
              <a:rPr lang="en-US" sz="3600" b="1" dirty="0">
                <a:solidFill>
                  <a:srgbClr val="339933"/>
                </a:solidFill>
                <a:latin typeface="Angsana New" pitchFamily="18" charset="-34"/>
              </a:rPr>
              <a:t>(Alternative Hypothesis)</a:t>
            </a:r>
            <a:r>
              <a:rPr lang="th-TH" sz="3600" b="1" dirty="0">
                <a:latin typeface="Angsana New" pitchFamily="18" charset="-34"/>
              </a:rPr>
              <a:t>   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lang="en-US" sz="48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 : </a:t>
            </a:r>
            <a:r>
              <a:rPr lang="en-US" b="1" dirty="0">
                <a:solidFill>
                  <a:srgbClr val="0000FF"/>
                </a:solidFill>
                <a:latin typeface="Angsana New" pitchFamily="18" charset="-34"/>
                <a:sym typeface="Symbol" pitchFamily="18" charset="2"/>
              </a:rPr>
              <a:t></a:t>
            </a:r>
            <a:r>
              <a:rPr lang="en-US" sz="4800" b="1" baseline="-25000" dirty="0">
                <a:solidFill>
                  <a:srgbClr val="0000FF"/>
                </a:solidFill>
                <a:latin typeface="Angsana New" pitchFamily="18" charset="-34"/>
                <a:sym typeface="Symbol" pitchFamily="18" charset="2"/>
              </a:rPr>
              <a:t>A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  <a:sym typeface="Symbol" pitchFamily="18" charset="2"/>
              </a:rPr>
              <a:t> – </a:t>
            </a:r>
            <a:r>
              <a:rPr lang="en-US" b="1" dirty="0">
                <a:solidFill>
                  <a:srgbClr val="0000FF"/>
                </a:solidFill>
                <a:latin typeface="Angsana New" pitchFamily="18" charset="-34"/>
                <a:sym typeface="Symbol" pitchFamily="18" charset="2"/>
              </a:rPr>
              <a:t></a:t>
            </a:r>
            <a:r>
              <a:rPr lang="en-US" sz="4800" b="1" baseline="-25000" dirty="0">
                <a:solidFill>
                  <a:srgbClr val="0000FF"/>
                </a:solidFill>
                <a:latin typeface="Angsana New" pitchFamily="18" charset="-34"/>
                <a:sym typeface="Symbol" pitchFamily="18" charset="2"/>
              </a:rPr>
              <a:t>B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  &gt;  0</a:t>
            </a:r>
          </a:p>
        </p:txBody>
      </p:sp>
      <p:grpSp>
        <p:nvGrpSpPr>
          <p:cNvPr id="10" name="Group 1040"/>
          <p:cNvGrpSpPr>
            <a:grpSpLocks/>
          </p:cNvGrpSpPr>
          <p:nvPr/>
        </p:nvGrpSpPr>
        <p:grpSpPr bwMode="auto">
          <a:xfrm>
            <a:off x="65567" y="3168501"/>
            <a:ext cx="8972550" cy="1219200"/>
            <a:chOff x="96" y="120"/>
            <a:chExt cx="5652" cy="768"/>
          </a:xfrm>
        </p:grpSpPr>
        <p:sp>
          <p:nvSpPr>
            <p:cNvPr id="11" name="Rectangle 1026"/>
            <p:cNvSpPr>
              <a:spLocks noChangeArrowheads="1"/>
            </p:cNvSpPr>
            <p:nvPr/>
          </p:nvSpPr>
          <p:spPr bwMode="auto">
            <a:xfrm>
              <a:off x="108" y="167"/>
              <a:ext cx="5556" cy="72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92075" tIns="46038" rIns="92075" bIns="46038" anchor="ctr"/>
            <a:lstStyle/>
            <a:p>
              <a:pPr marL="1031875" indent="-1031875">
                <a:spcBef>
                  <a:spcPts val="0"/>
                </a:spcBef>
                <a:tabLst>
                  <a:tab pos="1031875" algn="l"/>
                </a:tabLst>
                <a:defRPr/>
              </a:pPr>
              <a:r>
                <a:rPr lang="th-TH" sz="3600" b="1" dirty="0">
                  <a:solidFill>
                    <a:srgbClr val="0000FF"/>
                  </a:solidFill>
                  <a:latin typeface="Angsana New" pitchFamily="18" charset="-34"/>
                </a:rPr>
                <a:t>ตัวอย่าง </a:t>
              </a:r>
              <a:r>
                <a:rPr lang="th-TH" sz="3600" b="1" dirty="0">
                  <a:solidFill>
                    <a:srgbClr val="339933"/>
                  </a:solidFill>
                  <a:latin typeface="Angsana New" pitchFamily="18" charset="-34"/>
                </a:rPr>
                <a:t>นักศึกษามีความรู้ความเข้าใจสถิติเพิ่มมากขึ้น เมื่อเปรียบเทียบระหว่าง</a:t>
              </a:r>
              <a:r>
                <a:rPr lang="th-TH" sz="3600" b="1" dirty="0">
                  <a:solidFill>
                    <a:srgbClr val="FF66CC"/>
                  </a:solidFill>
                  <a:latin typeface="Angsana New" pitchFamily="18" charset="-34"/>
                </a:rPr>
                <a:t>ก่อน </a:t>
              </a:r>
              <a:r>
                <a:rPr lang="en-US" sz="3600" b="1" dirty="0">
                  <a:solidFill>
                    <a:srgbClr val="FF66CC"/>
                  </a:solidFill>
                  <a:latin typeface="Angsana New" pitchFamily="18" charset="-34"/>
                </a:rPr>
                <a:t>(B)</a:t>
              </a:r>
              <a:r>
                <a:rPr lang="th-TH" sz="3600" b="1" dirty="0">
                  <a:solidFill>
                    <a:srgbClr val="FF66CC"/>
                  </a:solidFill>
                  <a:latin typeface="Angsana New" pitchFamily="18" charset="-34"/>
                </a:rPr>
                <a:t> </a:t>
              </a:r>
              <a:r>
                <a:rPr lang="th-TH" sz="3600" b="1" dirty="0">
                  <a:solidFill>
                    <a:srgbClr val="339933"/>
                  </a:solidFill>
                  <a:latin typeface="Angsana New" pitchFamily="18" charset="-34"/>
                </a:rPr>
                <a:t>และ</a:t>
              </a:r>
              <a:r>
                <a:rPr lang="th-TH" sz="3600" b="1" dirty="0">
                  <a:solidFill>
                    <a:srgbClr val="006666"/>
                  </a:solidFill>
                  <a:latin typeface="Angsana New" pitchFamily="18" charset="-34"/>
                </a:rPr>
                <a:t> </a:t>
              </a:r>
              <a:r>
                <a:rPr lang="th-TH" sz="3600" b="1" dirty="0">
                  <a:solidFill>
                    <a:srgbClr val="FF66CC"/>
                  </a:solidFill>
                  <a:latin typeface="Angsana New" pitchFamily="18" charset="-34"/>
                </a:rPr>
                <a:t>หลัง </a:t>
              </a:r>
              <a:r>
                <a:rPr lang="en-US" sz="3600" b="1" dirty="0">
                  <a:solidFill>
                    <a:srgbClr val="FF66CC"/>
                  </a:solidFill>
                  <a:latin typeface="Angsana New" pitchFamily="18" charset="-34"/>
                </a:rPr>
                <a:t>(A) </a:t>
              </a:r>
              <a:r>
                <a:rPr lang="th-TH" sz="3600" b="1" dirty="0">
                  <a:solidFill>
                    <a:srgbClr val="339933"/>
                  </a:solidFill>
                  <a:latin typeface="Angsana New" pitchFamily="18" charset="-34"/>
                </a:rPr>
                <a:t>การเรียนวิชา สป. 6001</a:t>
              </a:r>
            </a:p>
          </p:txBody>
        </p:sp>
        <p:sp>
          <p:nvSpPr>
            <p:cNvPr id="12" name="Rectangle 1039"/>
            <p:cNvSpPr>
              <a:spLocks noChangeArrowheads="1"/>
            </p:cNvSpPr>
            <p:nvPr/>
          </p:nvSpPr>
          <p:spPr bwMode="auto">
            <a:xfrm>
              <a:off x="96" y="120"/>
              <a:ext cx="5652" cy="768"/>
            </a:xfrm>
            <a:prstGeom prst="rect">
              <a:avLst/>
            </a:prstGeom>
            <a:noFill/>
            <a:ln w="57150" cmpd="thinThick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ts val="0"/>
                </a:spcBef>
              </a:pPr>
              <a:endParaRPr lang="th-TH" sz="3600"/>
            </a:p>
          </p:txBody>
        </p:sp>
      </p:grpSp>
      <p:sp>
        <p:nvSpPr>
          <p:cNvPr id="13" name="Rectangle 1034"/>
          <p:cNvSpPr>
            <a:spLocks noChangeArrowheads="1"/>
          </p:cNvSpPr>
          <p:nvPr/>
        </p:nvSpPr>
        <p:spPr bwMode="auto">
          <a:xfrm>
            <a:off x="152400" y="1747837"/>
            <a:ext cx="8839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defTabSz="1031875" eaLnBrk="0" hangingPunct="0">
              <a:spcBef>
                <a:spcPts val="0"/>
              </a:spcBef>
              <a:buFont typeface="Monotype Sorts" pitchFamily="2" charset="2"/>
              <a:buNone/>
              <a:tabLst>
                <a:tab pos="5826125" algn="l"/>
              </a:tabLst>
              <a:defRPr/>
            </a:pPr>
            <a:r>
              <a:rPr lang="th-TH" sz="3600" b="1" dirty="0">
                <a:solidFill>
                  <a:srgbClr val="339933"/>
                </a:solidFill>
                <a:latin typeface="Angsana New" pitchFamily="18" charset="-34"/>
              </a:rPr>
              <a:t>สมมุติฐานว่าง </a:t>
            </a:r>
            <a:r>
              <a:rPr lang="en-US" sz="3600" b="1" dirty="0">
                <a:solidFill>
                  <a:srgbClr val="339933"/>
                </a:solidFill>
                <a:latin typeface="Angsana New" pitchFamily="18" charset="-34"/>
              </a:rPr>
              <a:t>(Null Hypothesis)</a:t>
            </a:r>
            <a:r>
              <a:rPr lang="th-TH" sz="3600" b="1" dirty="0">
                <a:latin typeface="Angsana New" pitchFamily="18" charset="-34"/>
              </a:rPr>
              <a:t> </a:t>
            </a:r>
            <a:r>
              <a:rPr lang="en-US" sz="3600" b="1" dirty="0">
                <a:latin typeface="Angsana New" pitchFamily="18" charset="-34"/>
              </a:rPr>
              <a:t>	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lang="en-US" sz="4800" b="1" baseline="-25000" dirty="0">
                <a:solidFill>
                  <a:srgbClr val="0000FF"/>
                </a:solidFill>
                <a:latin typeface="Angsana New" pitchFamily="18" charset="-34"/>
              </a:rPr>
              <a:t>0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 : </a:t>
            </a:r>
            <a:r>
              <a:rPr lang="en-US" b="1" dirty="0">
                <a:solidFill>
                  <a:srgbClr val="0000FF"/>
                </a:solidFill>
                <a:latin typeface="Angsana New" pitchFamily="18" charset="-34"/>
                <a:sym typeface="Symbol" pitchFamily="18" charset="2"/>
              </a:rPr>
              <a:t>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  </a:t>
            </a:r>
            <a:r>
              <a:rPr lang="en-US" sz="3600" b="1" u="sng" dirty="0">
                <a:solidFill>
                  <a:srgbClr val="0000FF"/>
                </a:solidFill>
                <a:latin typeface="Angsana New" pitchFamily="18" charset="-34"/>
              </a:rPr>
              <a:t>&gt;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  3.5</a:t>
            </a:r>
            <a:r>
              <a:rPr lang="en-US" sz="3600" b="1" dirty="0">
                <a:latin typeface="Angsana New" pitchFamily="18" charset="-34"/>
              </a:rPr>
              <a:t> </a:t>
            </a:r>
            <a:endParaRPr lang="th-TH" sz="3600" b="1" dirty="0">
              <a:latin typeface="Angsana New" pitchFamily="18" charset="-34"/>
            </a:endParaRPr>
          </a:p>
          <a:p>
            <a:pPr defTabSz="1031875" eaLnBrk="0" hangingPunct="0">
              <a:spcBef>
                <a:spcPts val="0"/>
              </a:spcBef>
              <a:tabLst>
                <a:tab pos="5826125" algn="l"/>
              </a:tabLst>
              <a:defRPr/>
            </a:pPr>
            <a:r>
              <a:rPr lang="th-TH" sz="3600" b="1" dirty="0">
                <a:solidFill>
                  <a:srgbClr val="339933"/>
                </a:solidFill>
                <a:latin typeface="Angsana New" pitchFamily="18" charset="-34"/>
              </a:rPr>
              <a:t>สมมุติฐานทางเลือก </a:t>
            </a:r>
            <a:r>
              <a:rPr lang="en-US" sz="3600" b="1" dirty="0">
                <a:solidFill>
                  <a:srgbClr val="339933"/>
                </a:solidFill>
                <a:latin typeface="Angsana New" pitchFamily="18" charset="-34"/>
              </a:rPr>
              <a:t>(Alternative Hypothesis)</a:t>
            </a:r>
            <a:r>
              <a:rPr lang="th-TH" sz="3600" b="1" dirty="0">
                <a:latin typeface="Angsana New" pitchFamily="18" charset="-34"/>
              </a:rPr>
              <a:t>   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lang="en-US" sz="48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 : </a:t>
            </a:r>
            <a:r>
              <a:rPr lang="en-US" b="1" dirty="0">
                <a:solidFill>
                  <a:srgbClr val="0000FF"/>
                </a:solidFill>
                <a:latin typeface="Angsana New" pitchFamily="18" charset="-34"/>
                <a:sym typeface="Symbol" pitchFamily="18" charset="2"/>
              </a:rPr>
              <a:t>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  &lt;  3.5</a:t>
            </a:r>
          </a:p>
        </p:txBody>
      </p:sp>
      <p:cxnSp>
        <p:nvCxnSpPr>
          <p:cNvPr id="4" name="Straight Connector 3"/>
          <p:cNvCxnSpPr/>
          <p:nvPr/>
        </p:nvCxnSpPr>
        <p:spPr bwMode="auto">
          <a:xfrm>
            <a:off x="5257800" y="3733800"/>
            <a:ext cx="14478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5" name="Rounded Rectangle 4"/>
          <p:cNvSpPr/>
          <p:nvPr/>
        </p:nvSpPr>
        <p:spPr bwMode="auto">
          <a:xfrm>
            <a:off x="1250732" y="699797"/>
            <a:ext cx="1524000" cy="533400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ngsana New" pitchFamily="18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7BEDBC-65F1-4D44-9017-A13812610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D2D0C-0E2E-4E6E-9CE9-48BBDAB56A5E}" type="slidenum">
              <a:rPr lang="en-US" smtClean="0"/>
              <a:pPr>
                <a:defRPr/>
              </a:pPr>
              <a:t>5</a:t>
            </a:fld>
            <a:endParaRPr lang="th-TH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9" grpId="0"/>
      <p:bldP spid="7" grpId="0" build="p"/>
      <p:bldP spid="8" grpId="0" uiExpand="1" build="p"/>
      <p:bldP spid="9" grpId="0" uiExpand="1" build="p"/>
      <p:bldP spid="13" grpId="0" uiExpand="1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9" name="Rectangle 9"/>
          <p:cNvSpPr>
            <a:spLocks noChangeArrowheads="1"/>
          </p:cNvSpPr>
          <p:nvPr/>
        </p:nvSpPr>
        <p:spPr bwMode="auto">
          <a:xfrm>
            <a:off x="77969" y="1239234"/>
            <a:ext cx="8839200" cy="1180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eaLnBrk="0" hangingPunct="0">
              <a:spcBef>
                <a:spcPts val="0"/>
              </a:spcBef>
              <a:defRPr/>
            </a:pPr>
            <a:r>
              <a:rPr lang="th-TH" sz="3600" b="1" dirty="0">
                <a:solidFill>
                  <a:srgbClr val="C00000"/>
                </a:solidFill>
                <a:latin typeface="Angsana New" pitchFamily="18" charset="-34"/>
              </a:rPr>
              <a:t>ให้  </a:t>
            </a:r>
            <a:r>
              <a:rPr lang="en-US" sz="3600" b="1" dirty="0">
                <a:solidFill>
                  <a:srgbClr val="C00000"/>
                </a:solidFill>
                <a:latin typeface="Angsana New" pitchFamily="18" charset="-34"/>
                <a:sym typeface="Symbol" pitchFamily="18" charset="2"/>
              </a:rPr>
              <a:t>p</a:t>
            </a:r>
            <a:r>
              <a:rPr lang="th-TH" sz="3600" b="1" dirty="0">
                <a:solidFill>
                  <a:srgbClr val="C00000"/>
                </a:solidFill>
                <a:latin typeface="Angsana New" pitchFamily="18" charset="-34"/>
              </a:rPr>
              <a:t>  แทน สัดส่วนของ นศ.นิด้าที่เห็นด้วยกับการฉีดวัคซีน </a:t>
            </a:r>
            <a:r>
              <a:rPr lang="en-US" sz="3600" b="1" dirty="0">
                <a:solidFill>
                  <a:srgbClr val="C00000"/>
                </a:solidFill>
                <a:latin typeface="Angsana New" pitchFamily="18" charset="-34"/>
              </a:rPr>
              <a:t>COVID-19</a:t>
            </a:r>
            <a:r>
              <a:rPr lang="th-TH" sz="3600" b="1" dirty="0">
                <a:solidFill>
                  <a:srgbClr val="C00000"/>
                </a:solidFill>
                <a:latin typeface="Angsana New" pitchFamily="18" charset="-34"/>
              </a:rPr>
              <a:t> เข็มที่ </a:t>
            </a:r>
            <a:r>
              <a:rPr lang="en-US" sz="3600" b="1" dirty="0">
                <a:solidFill>
                  <a:srgbClr val="C00000"/>
                </a:solidFill>
                <a:latin typeface="Angsana New" pitchFamily="18" charset="-34"/>
              </a:rPr>
              <a:t>4</a:t>
            </a:r>
            <a:r>
              <a:rPr lang="th-TH" sz="3600" b="1" dirty="0">
                <a:solidFill>
                  <a:srgbClr val="C00000"/>
                </a:solidFill>
                <a:latin typeface="Angsana New" pitchFamily="18" charset="-34"/>
              </a:rPr>
              <a:t> 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76200" y="93481"/>
            <a:ext cx="8972550" cy="1125538"/>
            <a:chOff x="132" y="156"/>
            <a:chExt cx="5652" cy="709"/>
          </a:xfrm>
        </p:grpSpPr>
        <p:sp>
          <p:nvSpPr>
            <p:cNvPr id="30722" name="Rectangle 2"/>
            <p:cNvSpPr>
              <a:spLocks noChangeArrowheads="1"/>
            </p:cNvSpPr>
            <p:nvPr/>
          </p:nvSpPr>
          <p:spPr bwMode="auto">
            <a:xfrm>
              <a:off x="153" y="159"/>
              <a:ext cx="5568" cy="70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92075" tIns="46038" rIns="92075" bIns="46038" anchor="ctr"/>
            <a:lstStyle/>
            <a:p>
              <a:pPr marL="1031875" indent="-1031875">
                <a:spcBef>
                  <a:spcPts val="0"/>
                </a:spcBef>
                <a:defRPr/>
              </a:pPr>
              <a:r>
                <a:rPr lang="th-TH" sz="3600" b="1" dirty="0">
                  <a:solidFill>
                    <a:srgbClr val="0000FF"/>
                  </a:solidFill>
                  <a:latin typeface="Angsana New" pitchFamily="18" charset="-34"/>
                </a:rPr>
                <a:t>ตัวอย่าง</a:t>
              </a:r>
              <a:r>
                <a:rPr lang="th-TH" sz="3600" b="1" dirty="0">
                  <a:solidFill>
                    <a:srgbClr val="00B050"/>
                  </a:solidFill>
                  <a:latin typeface="Angsana New" pitchFamily="18" charset="-34"/>
                </a:rPr>
                <a:t> นักศึกษานิด้ามากกว่าร้อยละ </a:t>
              </a:r>
              <a:r>
                <a:rPr lang="en-US" sz="3600" b="1" dirty="0">
                  <a:solidFill>
                    <a:srgbClr val="00B050"/>
                  </a:solidFill>
                  <a:latin typeface="Angsana New" pitchFamily="18" charset="-34"/>
                </a:rPr>
                <a:t>8</a:t>
              </a:r>
              <a:r>
                <a:rPr lang="th-TH" sz="3600" b="1" dirty="0">
                  <a:solidFill>
                    <a:srgbClr val="00B050"/>
                  </a:solidFill>
                  <a:latin typeface="Angsana New" pitchFamily="18" charset="-34"/>
                </a:rPr>
                <a:t>0</a:t>
              </a:r>
              <a:r>
                <a:rPr lang="en-US" sz="3600" b="1" dirty="0">
                  <a:solidFill>
                    <a:srgbClr val="00B050"/>
                  </a:solidFill>
                  <a:latin typeface="Angsana New" pitchFamily="18" charset="-34"/>
                </a:rPr>
                <a:t> </a:t>
              </a:r>
              <a:r>
                <a:rPr lang="th-TH" sz="3600" b="1" dirty="0">
                  <a:solidFill>
                    <a:srgbClr val="00B050"/>
                  </a:solidFill>
                  <a:latin typeface="Angsana New" pitchFamily="18" charset="-34"/>
                </a:rPr>
                <a:t> เห็นด้วยกับการฉีดวัคซีน </a:t>
              </a:r>
              <a:r>
                <a:rPr lang="en-US" sz="3600" b="1" dirty="0">
                  <a:solidFill>
                    <a:srgbClr val="00B050"/>
                  </a:solidFill>
                  <a:latin typeface="Angsana New" pitchFamily="18" charset="-34"/>
                </a:rPr>
                <a:t>COVID-19</a:t>
              </a:r>
              <a:r>
                <a:rPr lang="th-TH" sz="3600" b="1" dirty="0">
                  <a:solidFill>
                    <a:srgbClr val="00B050"/>
                  </a:solidFill>
                  <a:latin typeface="Angsana New" pitchFamily="18" charset="-34"/>
                </a:rPr>
                <a:t> เข็มที่ </a:t>
              </a:r>
              <a:r>
                <a:rPr lang="en-US" sz="3600" b="1" dirty="0">
                  <a:solidFill>
                    <a:srgbClr val="00B050"/>
                  </a:solidFill>
                  <a:latin typeface="Angsana New" pitchFamily="18" charset="-34"/>
                </a:rPr>
                <a:t>4 </a:t>
              </a:r>
              <a:endParaRPr lang="th-TH" sz="3600" b="1" dirty="0">
                <a:solidFill>
                  <a:srgbClr val="00B050"/>
                </a:solidFill>
                <a:latin typeface="Angsana New" pitchFamily="18" charset="-34"/>
              </a:endParaRPr>
            </a:p>
          </p:txBody>
        </p:sp>
        <p:sp>
          <p:nvSpPr>
            <p:cNvPr id="35846" name="Rectangle 23"/>
            <p:cNvSpPr>
              <a:spLocks noChangeArrowheads="1"/>
            </p:cNvSpPr>
            <p:nvPr/>
          </p:nvSpPr>
          <p:spPr bwMode="auto">
            <a:xfrm>
              <a:off x="132" y="156"/>
              <a:ext cx="5652" cy="709"/>
            </a:xfrm>
            <a:prstGeom prst="rect">
              <a:avLst/>
            </a:prstGeom>
            <a:noFill/>
            <a:ln w="57150" cmpd="thinThick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ts val="0"/>
                </a:spcBef>
              </a:pPr>
              <a:endParaRPr lang="th-TH" sz="3600">
                <a:latin typeface="Angsana New" pitchFamily="18" charset="-34"/>
              </a:endParaRPr>
            </a:p>
          </p:txBody>
        </p:sp>
      </p:grp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52400" y="4311868"/>
            <a:ext cx="80772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eaLnBrk="0" hangingPunct="0">
              <a:spcBef>
                <a:spcPts val="0"/>
              </a:spcBef>
              <a:defRPr/>
            </a:pPr>
            <a:endParaRPr lang="en-US" sz="3600" b="1" dirty="0">
              <a:solidFill>
                <a:srgbClr val="0000FF"/>
              </a:solidFill>
              <a:latin typeface="Angsana New" pitchFamily="18" charset="-34"/>
            </a:endParaRPr>
          </a:p>
        </p:txBody>
      </p:sp>
      <p:sp>
        <p:nvSpPr>
          <p:cNvPr id="8" name="Rectangle 1033"/>
          <p:cNvSpPr>
            <a:spLocks noChangeArrowheads="1"/>
          </p:cNvSpPr>
          <p:nvPr/>
        </p:nvSpPr>
        <p:spPr bwMode="auto">
          <a:xfrm>
            <a:off x="95250" y="4610100"/>
            <a:ext cx="882015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eaLnBrk="0" hangingPunct="0">
              <a:lnSpc>
                <a:spcPts val="3600"/>
              </a:lnSpc>
              <a:spcBef>
                <a:spcPts val="0"/>
              </a:spcBef>
              <a:buFont typeface="Monotype Sorts" pitchFamily="2" charset="2"/>
              <a:buNone/>
              <a:defRPr/>
            </a:pPr>
            <a:r>
              <a:rPr lang="th-TH" sz="3600" b="1" dirty="0">
                <a:solidFill>
                  <a:srgbClr val="CC0000"/>
                </a:solidFill>
                <a:latin typeface="Angsana New" pitchFamily="18" charset="-34"/>
              </a:rPr>
              <a:t>ให้ </a:t>
            </a:r>
            <a:r>
              <a:rPr lang="en-US" sz="3600" b="1" dirty="0">
                <a:solidFill>
                  <a:srgbClr val="CC0000"/>
                </a:solidFill>
                <a:latin typeface="Angsana New" pitchFamily="18" charset="-34"/>
              </a:rPr>
              <a:t> </a:t>
            </a:r>
            <a:r>
              <a:rPr lang="th-TH" sz="3600" b="1" dirty="0">
                <a:solidFill>
                  <a:srgbClr val="CC0000"/>
                </a:solidFill>
                <a:latin typeface="Angsana New" pitchFamily="18" charset="-34"/>
              </a:rPr>
              <a:t>  </a:t>
            </a:r>
            <a:r>
              <a:rPr lang="en-US" sz="3600" b="1" dirty="0">
                <a:solidFill>
                  <a:srgbClr val="CC0000"/>
                </a:solidFill>
                <a:latin typeface="Angsana New" pitchFamily="18" charset="-34"/>
                <a:sym typeface="Symbol" pitchFamily="18" charset="2"/>
              </a:rPr>
              <a:t>X</a:t>
            </a:r>
            <a:r>
              <a:rPr lang="th-TH" sz="3600" b="1" dirty="0">
                <a:solidFill>
                  <a:srgbClr val="CC0000"/>
                </a:solidFill>
                <a:latin typeface="Angsana New" pitchFamily="18" charset="-34"/>
              </a:rPr>
              <a:t>  แทน น้ำหนักของฝาแฝดคนพี่</a:t>
            </a:r>
          </a:p>
          <a:p>
            <a:pPr eaLnBrk="0" hangingPunct="0">
              <a:lnSpc>
                <a:spcPts val="3600"/>
              </a:lnSpc>
              <a:spcBef>
                <a:spcPts val="0"/>
              </a:spcBef>
              <a:defRPr/>
            </a:pPr>
            <a:r>
              <a:rPr lang="th-TH" sz="3600" b="1" dirty="0">
                <a:solidFill>
                  <a:srgbClr val="CC0000"/>
                </a:solidFill>
                <a:latin typeface="Angsana New" pitchFamily="18" charset="-34"/>
              </a:rPr>
              <a:t>และ</a:t>
            </a:r>
            <a:r>
              <a:rPr lang="th-TH" sz="4400" b="1" dirty="0">
                <a:solidFill>
                  <a:srgbClr val="CC0000"/>
                </a:solidFill>
                <a:latin typeface="Angsana New" pitchFamily="18" charset="-34"/>
              </a:rPr>
              <a:t> </a:t>
            </a:r>
            <a:r>
              <a:rPr lang="en-US" sz="3600" b="1" dirty="0">
                <a:solidFill>
                  <a:srgbClr val="CC0000"/>
                </a:solidFill>
                <a:latin typeface="Angsana New" pitchFamily="18" charset="-34"/>
                <a:sym typeface="Symbol" pitchFamily="18" charset="2"/>
              </a:rPr>
              <a:t>Y  </a:t>
            </a:r>
            <a:r>
              <a:rPr lang="th-TH" sz="3600" b="1" dirty="0">
                <a:solidFill>
                  <a:srgbClr val="CC0000"/>
                </a:solidFill>
                <a:latin typeface="Angsana New" pitchFamily="18" charset="-34"/>
              </a:rPr>
              <a:t>แทน น้ำหนักของฝาแฝดคนน้อง</a:t>
            </a:r>
          </a:p>
        </p:txBody>
      </p:sp>
      <p:sp>
        <p:nvSpPr>
          <p:cNvPr id="9" name="Rectangle 1034"/>
          <p:cNvSpPr>
            <a:spLocks noChangeArrowheads="1"/>
          </p:cNvSpPr>
          <p:nvPr/>
        </p:nvSpPr>
        <p:spPr bwMode="auto">
          <a:xfrm>
            <a:off x="-7095" y="5486400"/>
            <a:ext cx="915109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defTabSz="1031875" eaLnBrk="0" hangingPunct="0">
              <a:spcBef>
                <a:spcPts val="0"/>
              </a:spcBef>
              <a:buFont typeface="Monotype Sorts" pitchFamily="2" charset="2"/>
              <a:buNone/>
              <a:tabLst>
                <a:tab pos="5656263" algn="l"/>
              </a:tabLst>
              <a:defRPr/>
            </a:pPr>
            <a:r>
              <a:rPr lang="th-TH" sz="3600" b="1" dirty="0">
                <a:solidFill>
                  <a:srgbClr val="339933"/>
                </a:solidFill>
                <a:latin typeface="Angsana New" pitchFamily="18" charset="-34"/>
              </a:rPr>
              <a:t>สมมุติฐานว่าง</a:t>
            </a:r>
            <a:r>
              <a:rPr lang="th-TH" sz="1600" b="1" dirty="0">
                <a:solidFill>
                  <a:srgbClr val="339933"/>
                </a:solidFill>
                <a:latin typeface="Angsana New" pitchFamily="18" charset="-34"/>
              </a:rPr>
              <a:t> </a:t>
            </a:r>
            <a:r>
              <a:rPr lang="en-US" sz="3600" b="1" dirty="0">
                <a:solidFill>
                  <a:srgbClr val="339933"/>
                </a:solidFill>
                <a:latin typeface="Angsana New" pitchFamily="18" charset="-34"/>
              </a:rPr>
              <a:t>(Null Hypothesis)</a:t>
            </a:r>
            <a:r>
              <a:rPr lang="th-TH" sz="3600" b="1" dirty="0">
                <a:latin typeface="Angsana New" pitchFamily="18" charset="-34"/>
              </a:rPr>
              <a:t> 	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lang="en-US" sz="4800" b="1" baseline="-25000" dirty="0">
                <a:solidFill>
                  <a:srgbClr val="0000FF"/>
                </a:solidFill>
                <a:latin typeface="Angsana New" pitchFamily="18" charset="-34"/>
              </a:rPr>
              <a:t>0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: X</a:t>
            </a:r>
            <a:r>
              <a:rPr lang="en-US" sz="1600" b="1" dirty="0">
                <a:solidFill>
                  <a:srgbClr val="0000FF"/>
                </a:solidFill>
                <a:latin typeface="Angsana New" pitchFamily="18" charset="-34"/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&amp;</a:t>
            </a:r>
            <a:r>
              <a:rPr lang="en-US" sz="1600" b="1" dirty="0">
                <a:solidFill>
                  <a:srgbClr val="0000FF"/>
                </a:solidFill>
                <a:latin typeface="Angsana New" pitchFamily="18" charset="-34"/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Y </a:t>
            </a:r>
            <a:r>
              <a:rPr lang="th-TH" sz="3600" b="1" dirty="0">
                <a:solidFill>
                  <a:srgbClr val="0000FF"/>
                </a:solidFill>
                <a:latin typeface="Angsana New" pitchFamily="18" charset="-34"/>
              </a:rPr>
              <a:t>เป็นอิสระกัน</a:t>
            </a:r>
            <a:r>
              <a:rPr lang="en-US" sz="3600" b="1" dirty="0">
                <a:latin typeface="Angsana New" pitchFamily="18" charset="-34"/>
              </a:rPr>
              <a:t> </a:t>
            </a:r>
            <a:endParaRPr lang="th-TH" sz="3600" b="1" dirty="0">
              <a:latin typeface="Angsana New" pitchFamily="18" charset="-34"/>
            </a:endParaRPr>
          </a:p>
          <a:p>
            <a:pPr defTabSz="1031875" eaLnBrk="0" hangingPunct="0">
              <a:spcBef>
                <a:spcPts val="0"/>
              </a:spcBef>
              <a:tabLst>
                <a:tab pos="5719763" algn="l"/>
              </a:tabLst>
              <a:defRPr/>
            </a:pPr>
            <a:r>
              <a:rPr lang="th-TH" sz="3600" b="1" dirty="0">
                <a:solidFill>
                  <a:srgbClr val="339933"/>
                </a:solidFill>
                <a:latin typeface="Angsana New" pitchFamily="18" charset="-34"/>
              </a:rPr>
              <a:t>สมมุติฐานทางเลือก</a:t>
            </a:r>
            <a:r>
              <a:rPr lang="th-TH" sz="1600" b="1" dirty="0">
                <a:solidFill>
                  <a:srgbClr val="339933"/>
                </a:solidFill>
                <a:latin typeface="Angsana New" pitchFamily="18" charset="-34"/>
              </a:rPr>
              <a:t> </a:t>
            </a:r>
            <a:r>
              <a:rPr lang="en-US" sz="3600" b="1" dirty="0">
                <a:solidFill>
                  <a:srgbClr val="339933"/>
                </a:solidFill>
                <a:latin typeface="Angsana New" pitchFamily="18" charset="-34"/>
              </a:rPr>
              <a:t>(Alternative Hypothesis)</a:t>
            </a:r>
            <a:r>
              <a:rPr lang="th-TH" sz="3600" b="1" dirty="0">
                <a:latin typeface="Angsana New" pitchFamily="18" charset="-34"/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lang="en-US" sz="48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: X</a:t>
            </a:r>
            <a:r>
              <a:rPr lang="en-US" sz="1600" b="1" dirty="0">
                <a:solidFill>
                  <a:srgbClr val="0000FF"/>
                </a:solidFill>
                <a:latin typeface="Angsana New" pitchFamily="18" charset="-34"/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&amp;</a:t>
            </a:r>
            <a:r>
              <a:rPr lang="en-US" sz="1600" b="1" dirty="0">
                <a:solidFill>
                  <a:srgbClr val="0000FF"/>
                </a:solidFill>
                <a:latin typeface="Angsana New" pitchFamily="18" charset="-34"/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Y </a:t>
            </a:r>
            <a:r>
              <a:rPr lang="th-TH" sz="3600" b="1" dirty="0">
                <a:solidFill>
                  <a:srgbClr val="0000FF"/>
                </a:solidFill>
                <a:latin typeface="Angsana New" pitchFamily="18" charset="-34"/>
              </a:rPr>
              <a:t>ไม่เป็นอิสระกัน</a:t>
            </a:r>
            <a:r>
              <a:rPr lang="en-US" b="1" dirty="0">
                <a:latin typeface="Angsana New" pitchFamily="18" charset="-34"/>
              </a:rPr>
              <a:t> </a:t>
            </a:r>
            <a:endParaRPr lang="en-US" sz="3600" b="1" dirty="0">
              <a:solidFill>
                <a:srgbClr val="0000FF"/>
              </a:solidFill>
              <a:latin typeface="Angsana New" pitchFamily="18" charset="-34"/>
            </a:endParaRPr>
          </a:p>
        </p:txBody>
      </p:sp>
      <p:grpSp>
        <p:nvGrpSpPr>
          <p:cNvPr id="3" name="Group 1040"/>
          <p:cNvGrpSpPr>
            <a:grpSpLocks/>
          </p:cNvGrpSpPr>
          <p:nvPr/>
        </p:nvGrpSpPr>
        <p:grpSpPr bwMode="auto">
          <a:xfrm>
            <a:off x="76200" y="3702050"/>
            <a:ext cx="8972550" cy="717550"/>
            <a:chOff x="96" y="120"/>
            <a:chExt cx="5652" cy="452"/>
          </a:xfrm>
        </p:grpSpPr>
        <p:sp>
          <p:nvSpPr>
            <p:cNvPr id="11" name="Rectangle 1026"/>
            <p:cNvSpPr>
              <a:spLocks noChangeArrowheads="1"/>
            </p:cNvSpPr>
            <p:nvPr/>
          </p:nvSpPr>
          <p:spPr bwMode="auto">
            <a:xfrm>
              <a:off x="108" y="134"/>
              <a:ext cx="5556" cy="40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92075" tIns="46038" rIns="92075" bIns="46038" anchor="ctr"/>
            <a:lstStyle/>
            <a:p>
              <a:pPr marL="1031875" indent="-1031875">
                <a:spcBef>
                  <a:spcPts val="0"/>
                </a:spcBef>
                <a:tabLst>
                  <a:tab pos="1031875" algn="l"/>
                </a:tabLst>
                <a:defRPr/>
              </a:pPr>
              <a:r>
                <a:rPr lang="th-TH" sz="3600" b="1" dirty="0">
                  <a:solidFill>
                    <a:srgbClr val="0000FF"/>
                  </a:solidFill>
                  <a:latin typeface="Angsana New" pitchFamily="18" charset="-34"/>
                </a:rPr>
                <a:t>ตัวอย่าง </a:t>
              </a:r>
              <a:r>
                <a:rPr lang="th-TH" sz="3600" b="1" dirty="0">
                  <a:solidFill>
                    <a:srgbClr val="339933"/>
                  </a:solidFill>
                  <a:latin typeface="Angsana New" pitchFamily="18" charset="-34"/>
                </a:rPr>
                <a:t>น้ำหนักของฝาแฝด (เพศเดียวกัน) เป็นอิสระกัน</a:t>
              </a:r>
            </a:p>
          </p:txBody>
        </p:sp>
        <p:sp>
          <p:nvSpPr>
            <p:cNvPr id="12" name="Rectangle 1039"/>
            <p:cNvSpPr>
              <a:spLocks noChangeArrowheads="1"/>
            </p:cNvSpPr>
            <p:nvPr/>
          </p:nvSpPr>
          <p:spPr bwMode="auto">
            <a:xfrm>
              <a:off x="96" y="120"/>
              <a:ext cx="5652" cy="452"/>
            </a:xfrm>
            <a:prstGeom prst="rect">
              <a:avLst/>
            </a:prstGeom>
            <a:noFill/>
            <a:ln w="57150" cmpd="thinThick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ts val="0"/>
                </a:spcBef>
              </a:pPr>
              <a:endParaRPr lang="th-TH" sz="3600"/>
            </a:p>
          </p:txBody>
        </p:sp>
      </p:grpSp>
      <p:sp>
        <p:nvSpPr>
          <p:cNvPr id="13" name="Rectangle 1034"/>
          <p:cNvSpPr>
            <a:spLocks noChangeArrowheads="1"/>
          </p:cNvSpPr>
          <p:nvPr/>
        </p:nvSpPr>
        <p:spPr bwMode="auto">
          <a:xfrm>
            <a:off x="77969" y="2314902"/>
            <a:ext cx="8839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defTabSz="1031875" eaLnBrk="0" hangingPunct="0">
              <a:spcBef>
                <a:spcPts val="0"/>
              </a:spcBef>
              <a:buFont typeface="Monotype Sorts" pitchFamily="2" charset="2"/>
              <a:buNone/>
              <a:tabLst>
                <a:tab pos="5826125" algn="l"/>
              </a:tabLst>
              <a:defRPr/>
            </a:pPr>
            <a:r>
              <a:rPr lang="th-TH" sz="3600" b="1" dirty="0">
                <a:solidFill>
                  <a:srgbClr val="339933"/>
                </a:solidFill>
                <a:latin typeface="Angsana New" pitchFamily="18" charset="-34"/>
              </a:rPr>
              <a:t>สมมุติฐานว่าง </a:t>
            </a:r>
            <a:r>
              <a:rPr lang="en-US" sz="3600" b="1" dirty="0">
                <a:solidFill>
                  <a:srgbClr val="339933"/>
                </a:solidFill>
                <a:latin typeface="Angsana New" pitchFamily="18" charset="-34"/>
              </a:rPr>
              <a:t>(Null Hypothesis)</a:t>
            </a:r>
            <a:r>
              <a:rPr lang="th-TH" sz="3600" b="1" dirty="0">
                <a:latin typeface="Angsana New" pitchFamily="18" charset="-34"/>
              </a:rPr>
              <a:t> </a:t>
            </a:r>
            <a:r>
              <a:rPr lang="en-US" sz="3600" b="1" dirty="0">
                <a:latin typeface="Angsana New" pitchFamily="18" charset="-34"/>
              </a:rPr>
              <a:t>	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lang="en-US" sz="4800" b="1" baseline="-25000" dirty="0">
                <a:solidFill>
                  <a:srgbClr val="0000FF"/>
                </a:solidFill>
                <a:latin typeface="Angsana New" pitchFamily="18" charset="-34"/>
              </a:rPr>
              <a:t>0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 : 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  <a:sym typeface="Symbol" pitchFamily="18" charset="2"/>
              </a:rPr>
              <a:t>p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  </a:t>
            </a:r>
            <a:r>
              <a:rPr lang="en-US" sz="3600" b="1" u="sng" dirty="0">
                <a:solidFill>
                  <a:srgbClr val="0000FF"/>
                </a:solidFill>
                <a:latin typeface="Angsana New" pitchFamily="18" charset="-34"/>
              </a:rPr>
              <a:t>&lt;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  0.8</a:t>
            </a:r>
            <a:r>
              <a:rPr lang="en-US" sz="3600" b="1" dirty="0">
                <a:latin typeface="Angsana New" pitchFamily="18" charset="-34"/>
              </a:rPr>
              <a:t> </a:t>
            </a:r>
            <a:endParaRPr lang="th-TH" sz="3600" b="1" dirty="0">
              <a:latin typeface="Angsana New" pitchFamily="18" charset="-34"/>
            </a:endParaRPr>
          </a:p>
          <a:p>
            <a:pPr defTabSz="1031875" eaLnBrk="0" hangingPunct="0">
              <a:spcBef>
                <a:spcPts val="0"/>
              </a:spcBef>
              <a:tabLst>
                <a:tab pos="5826125" algn="l"/>
              </a:tabLst>
              <a:defRPr/>
            </a:pPr>
            <a:r>
              <a:rPr lang="th-TH" sz="3600" b="1" dirty="0">
                <a:solidFill>
                  <a:srgbClr val="339933"/>
                </a:solidFill>
                <a:latin typeface="Angsana New" pitchFamily="18" charset="-34"/>
              </a:rPr>
              <a:t>สมมุติฐานทางเลือก </a:t>
            </a:r>
            <a:r>
              <a:rPr lang="en-US" sz="3600" b="1" dirty="0">
                <a:solidFill>
                  <a:srgbClr val="339933"/>
                </a:solidFill>
                <a:latin typeface="Angsana New" pitchFamily="18" charset="-34"/>
              </a:rPr>
              <a:t>(Alternative Hypothesis)</a:t>
            </a:r>
            <a:r>
              <a:rPr lang="th-TH" sz="3600" b="1" dirty="0">
                <a:latin typeface="Angsana New" pitchFamily="18" charset="-34"/>
              </a:rPr>
              <a:t>   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lang="en-US" sz="48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 : 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  <a:sym typeface="Symbol" pitchFamily="18" charset="2"/>
              </a:rPr>
              <a:t>p</a:t>
            </a:r>
            <a:r>
              <a:rPr lang="en-US" sz="3600" b="1" dirty="0">
                <a:solidFill>
                  <a:srgbClr val="0000FF"/>
                </a:solidFill>
                <a:latin typeface="Angsana New" pitchFamily="18" charset="-34"/>
              </a:rPr>
              <a:t>  &gt;  0.8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2819400" y="580698"/>
            <a:ext cx="2286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5410200" y="4191000"/>
            <a:ext cx="155448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C9926-6631-49A7-9330-87E26D6EF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D2D0C-0E2E-4E6E-9CE9-48BBDAB56A5E}" type="slidenum">
              <a:rPr lang="en-US" smtClean="0"/>
              <a:pPr>
                <a:defRPr/>
              </a:pPr>
              <a:t>6</a:t>
            </a:fld>
            <a:endParaRPr lang="th-TH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9" grpId="0" uiExpand="1" build="p"/>
      <p:bldP spid="7" grpId="0" build="p"/>
      <p:bldP spid="8" grpId="0" build="p"/>
      <p:bldP spid="9" grpId="0" uiExpand="1" build="p"/>
      <p:bldP spid="1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543800" cy="838200"/>
          </a:xfrm>
        </p:spPr>
        <p:txBody>
          <a:bodyPr lIns="92075" tIns="46038" rIns="92075" bIns="46038"/>
          <a:lstStyle/>
          <a:p>
            <a:pPr eaLnBrk="1" hangingPunct="1">
              <a:spcBef>
                <a:spcPts val="0"/>
              </a:spcBef>
              <a:defRPr/>
            </a:pPr>
            <a:r>
              <a:rPr lang="th-TH" b="1" dirty="0">
                <a:solidFill>
                  <a:srgbClr val="6600FF"/>
                </a:solidFill>
                <a:latin typeface="Angsana New" pitchFamily="18" charset="-34"/>
                <a:cs typeface="Angsana New" pitchFamily="18" charset="-34"/>
              </a:rPr>
              <a:t>ปรัชญาของการทดสอบสมมุติฐานเชิงสถิติ</a:t>
            </a:r>
          </a:p>
        </p:txBody>
      </p:sp>
      <p:sp>
        <p:nvSpPr>
          <p:cNvPr id="49155" name="Rectangle 3" descr="Newsprint"/>
          <p:cNvSpPr>
            <a:spLocks noGrp="1" noChangeArrowheads="1"/>
          </p:cNvSpPr>
          <p:nvPr>
            <p:ph type="body" idx="1"/>
          </p:nvPr>
        </p:nvSpPr>
        <p:spPr>
          <a:xfrm>
            <a:off x="457200" y="685800"/>
            <a:ext cx="8458200" cy="609600"/>
          </a:xfrm>
          <a:noFill/>
          <a:ln w="38100" cmpd="dbl">
            <a:solidFill>
              <a:srgbClr val="006699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n-US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A  =&gt;  B</a:t>
            </a:r>
            <a:r>
              <a:rPr lang="en-US" b="1" dirty="0">
                <a:latin typeface="Angsana New" pitchFamily="18" charset="-34"/>
                <a:cs typeface="Angsana New" pitchFamily="18" charset="-34"/>
              </a:rPr>
              <a:t>   </a:t>
            </a:r>
            <a:r>
              <a:rPr lang="th-TH" b="1" dirty="0">
                <a:latin typeface="Angsana New" pitchFamily="18" charset="-34"/>
                <a:cs typeface="Angsana New" pitchFamily="18" charset="-34"/>
              </a:rPr>
              <a:t>มีความหมายเหมือนกับ   </a:t>
            </a:r>
            <a:r>
              <a:rPr lang="th-TH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~B  =&gt; ~A</a:t>
            </a:r>
            <a:r>
              <a:rPr lang="en-US" b="1" dirty="0">
                <a:latin typeface="Angsana New" pitchFamily="18" charset="-34"/>
                <a:cs typeface="Angsana New" pitchFamily="18" charset="-34"/>
              </a:rPr>
              <a:t> </a:t>
            </a:r>
            <a:endParaRPr lang="en-US" b="1" baseline="-25000" dirty="0">
              <a:solidFill>
                <a:srgbClr val="003399"/>
              </a:solidFill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49159" name="Text Box 7"/>
          <p:cNvSpPr txBox="1">
            <a:spLocks noChangeArrowheads="1"/>
          </p:cNvSpPr>
          <p:nvPr/>
        </p:nvSpPr>
        <p:spPr bwMode="auto">
          <a:xfrm>
            <a:off x="0" y="213360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lang="th-TH" sz="3200" b="1" dirty="0">
                <a:solidFill>
                  <a:srgbClr val="FF9900"/>
                </a:solidFill>
                <a:latin typeface="Angsana New" pitchFamily="18" charset="-34"/>
              </a:rPr>
              <a:t>เช่น</a:t>
            </a:r>
            <a:r>
              <a:rPr lang="th-TH" sz="3200" b="1" dirty="0">
                <a:solidFill>
                  <a:schemeClr val="bg2"/>
                </a:solidFill>
                <a:latin typeface="Angsana New" pitchFamily="18" charset="-34"/>
              </a:rPr>
              <a:t> </a:t>
            </a:r>
            <a:r>
              <a:rPr lang="th-TH" sz="3200" b="1" dirty="0">
                <a:latin typeface="Angsana New" pitchFamily="18" charset="-34"/>
              </a:rPr>
              <a:t> </a:t>
            </a:r>
            <a:r>
              <a:rPr kumimoji="1" lang="en-US" sz="3200" b="1" dirty="0">
                <a:solidFill>
                  <a:srgbClr val="0070C0"/>
                </a:solidFill>
                <a:latin typeface="Angsana New" pitchFamily="18" charset="-34"/>
              </a:rPr>
              <a:t>H</a:t>
            </a:r>
            <a:r>
              <a:rPr kumimoji="1" lang="en-US" sz="4400" b="1" baseline="-25000" dirty="0">
                <a:solidFill>
                  <a:srgbClr val="0070C0"/>
                </a:solidFill>
                <a:latin typeface="Angsana New" pitchFamily="18" charset="-34"/>
              </a:rPr>
              <a:t>0</a:t>
            </a:r>
            <a:r>
              <a:rPr kumimoji="1" lang="en-US" sz="3200" b="1" dirty="0">
                <a:solidFill>
                  <a:srgbClr val="0070C0"/>
                </a:solidFill>
                <a:latin typeface="Angsana New" pitchFamily="18" charset="-34"/>
              </a:rPr>
              <a:t>:</a:t>
            </a:r>
            <a:r>
              <a:rPr lang="th-TH" sz="3200" b="1" dirty="0">
                <a:solidFill>
                  <a:srgbClr val="0070C0"/>
                </a:solidFill>
                <a:latin typeface="Angsana New" pitchFamily="18" charset="-34"/>
              </a:rPr>
              <a:t>  </a:t>
            </a:r>
            <a:r>
              <a:rPr lang="th-TH" sz="2400" b="1" dirty="0">
                <a:solidFill>
                  <a:srgbClr val="0070C0"/>
                </a:solidFill>
                <a:latin typeface="Angsana New" pitchFamily="18" charset="-34"/>
                <a:sym typeface="Symbol"/>
              </a:rPr>
              <a:t></a:t>
            </a:r>
            <a:r>
              <a:rPr lang="en-US" sz="3200" b="1" dirty="0">
                <a:solidFill>
                  <a:srgbClr val="0070C0"/>
                </a:solidFill>
                <a:latin typeface="Angsana New" pitchFamily="18" charset="-34"/>
                <a:sym typeface="Symbol"/>
              </a:rPr>
              <a:t> </a:t>
            </a:r>
            <a:r>
              <a:rPr lang="en-US" sz="3200" b="1" dirty="0">
                <a:solidFill>
                  <a:srgbClr val="0070C0"/>
                </a:solidFill>
                <a:latin typeface="Angsana New" pitchFamily="18" charset="-34"/>
              </a:rPr>
              <a:t>= 100 </a:t>
            </a:r>
            <a:r>
              <a:rPr lang="th-TH" sz="3200" b="1" dirty="0">
                <a:solidFill>
                  <a:srgbClr val="0070C0"/>
                </a:solidFill>
                <a:latin typeface="Angsana New" pitchFamily="18" charset="-34"/>
              </a:rPr>
              <a:t> </a:t>
            </a:r>
            <a:r>
              <a:rPr lang="th-TH" sz="3200" b="1" dirty="0">
                <a:solidFill>
                  <a:srgbClr val="006600"/>
                </a:solidFill>
                <a:latin typeface="Angsana New" pitchFamily="18" charset="-34"/>
              </a:rPr>
              <a:t>เป็นจริง </a:t>
            </a:r>
            <a:r>
              <a:rPr lang="th-TH" sz="3200" b="1" dirty="0">
                <a:latin typeface="Angsana New" pitchFamily="18" charset="-34"/>
              </a:rPr>
              <a:t>นั่นคือ</a:t>
            </a:r>
            <a:r>
              <a:rPr lang="th-TH" sz="3200" b="1" dirty="0">
                <a:solidFill>
                  <a:srgbClr val="006600"/>
                </a:solidFill>
                <a:latin typeface="Angsana New" pitchFamily="18" charset="-34"/>
              </a:rPr>
              <a:t> </a:t>
            </a:r>
            <a:r>
              <a:rPr kumimoji="1" lang="en-US" sz="3200" b="1" dirty="0">
                <a:solidFill>
                  <a:srgbClr val="0070C0"/>
                </a:solidFill>
                <a:latin typeface="Angsana New" pitchFamily="18" charset="-34"/>
              </a:rPr>
              <a:t>A =</a:t>
            </a:r>
            <a:r>
              <a:rPr kumimoji="1" lang="th-TH" sz="3200" b="1" dirty="0">
                <a:solidFill>
                  <a:srgbClr val="0070C0"/>
                </a:solidFill>
                <a:latin typeface="Angsana New" pitchFamily="18" charset="-34"/>
              </a:rPr>
              <a:t> </a:t>
            </a:r>
            <a:r>
              <a:rPr kumimoji="1" lang="en-US" sz="3200" b="1" dirty="0">
                <a:solidFill>
                  <a:srgbClr val="0070C0"/>
                </a:solidFill>
                <a:latin typeface="Angsana New" pitchFamily="18" charset="-34"/>
              </a:rPr>
              <a:t>“</a:t>
            </a:r>
            <a:r>
              <a:rPr kumimoji="1" lang="th-TH" sz="3200" b="1" dirty="0">
                <a:solidFill>
                  <a:srgbClr val="0070C0"/>
                </a:solidFill>
                <a:latin typeface="Angsana New" pitchFamily="18" charset="-34"/>
              </a:rPr>
              <a:t>ประชากรมีลักษณะตาม</a:t>
            </a:r>
            <a:r>
              <a:rPr kumimoji="1" lang="en-US" sz="3200" b="1" dirty="0">
                <a:solidFill>
                  <a:srgbClr val="0070C0"/>
                </a:solidFill>
                <a:latin typeface="Angsana New" pitchFamily="18" charset="-34"/>
              </a:rPr>
              <a:t>  H</a:t>
            </a:r>
            <a:r>
              <a:rPr kumimoji="1" lang="en-US" sz="4400" b="1" baseline="-25000" dirty="0">
                <a:solidFill>
                  <a:srgbClr val="0070C0"/>
                </a:solidFill>
                <a:latin typeface="Angsana New" pitchFamily="18" charset="-34"/>
              </a:rPr>
              <a:t>0</a:t>
            </a:r>
            <a:r>
              <a:rPr kumimoji="1" lang="en-US" sz="3200" b="1" dirty="0">
                <a:solidFill>
                  <a:srgbClr val="0070C0"/>
                </a:solidFill>
                <a:latin typeface="Angsana New" pitchFamily="18" charset="-34"/>
              </a:rPr>
              <a:t>” </a:t>
            </a:r>
            <a:r>
              <a:rPr kumimoji="1" lang="th-TH" sz="3200" b="1" dirty="0">
                <a:solidFill>
                  <a:srgbClr val="0070C0"/>
                </a:solidFill>
                <a:latin typeface="Angsana New" pitchFamily="18" charset="-34"/>
              </a:rPr>
              <a:t> </a:t>
            </a:r>
            <a:r>
              <a:rPr kumimoji="1" lang="th-TH" sz="3200" b="1" dirty="0">
                <a:solidFill>
                  <a:srgbClr val="006600"/>
                </a:solidFill>
                <a:latin typeface="Angsana New" pitchFamily="18" charset="-34"/>
              </a:rPr>
              <a:t>เป็นจริง</a:t>
            </a:r>
            <a:endParaRPr lang="th-TH" sz="3200" b="1" dirty="0">
              <a:solidFill>
                <a:srgbClr val="006600"/>
              </a:solidFill>
              <a:latin typeface="Angsana New" pitchFamily="18" charset="-34"/>
            </a:endParaRPr>
          </a:p>
        </p:txBody>
      </p:sp>
      <p:sp>
        <p:nvSpPr>
          <p:cNvPr id="49161" name="Text Box 9"/>
          <p:cNvSpPr txBox="1">
            <a:spLocks noChangeArrowheads="1"/>
          </p:cNvSpPr>
          <p:nvPr/>
        </p:nvSpPr>
        <p:spPr bwMode="auto">
          <a:xfrm>
            <a:off x="0" y="160020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latin typeface="Angsana New" pitchFamily="18" charset="-34"/>
              </a:rPr>
              <a:t> </a:t>
            </a:r>
            <a:r>
              <a:rPr kumimoji="1" lang="en-US" sz="3200" b="1" dirty="0" err="1">
                <a:latin typeface="Angsana New" pitchFamily="18" charset="-34"/>
              </a:rPr>
              <a:t>ให้</a:t>
            </a:r>
            <a:r>
              <a:rPr kumimoji="1" lang="en-US" sz="3200" b="1" dirty="0">
                <a:latin typeface="Angsana New" pitchFamily="18" charset="-34"/>
              </a:rPr>
              <a:t> </a:t>
            </a:r>
            <a:r>
              <a:rPr kumimoji="1" lang="en-US" sz="3200" b="1" dirty="0">
                <a:solidFill>
                  <a:srgbClr val="0070C0"/>
                </a:solidFill>
                <a:latin typeface="Angsana New" pitchFamily="18" charset="-34"/>
              </a:rPr>
              <a:t>A =</a:t>
            </a:r>
            <a:r>
              <a:rPr kumimoji="1" lang="th-TH" sz="3200" b="1" dirty="0">
                <a:solidFill>
                  <a:srgbClr val="0070C0"/>
                </a:solidFill>
                <a:latin typeface="Angsana New" pitchFamily="18" charset="-34"/>
              </a:rPr>
              <a:t> </a:t>
            </a:r>
            <a:r>
              <a:rPr kumimoji="1" lang="en-US" sz="3200" b="1" dirty="0">
                <a:solidFill>
                  <a:srgbClr val="0070C0"/>
                </a:solidFill>
                <a:latin typeface="Angsana New" pitchFamily="18" charset="-34"/>
              </a:rPr>
              <a:t>“</a:t>
            </a:r>
            <a:r>
              <a:rPr kumimoji="1" lang="th-TH" sz="3200" b="1" dirty="0">
                <a:solidFill>
                  <a:srgbClr val="0070C0"/>
                </a:solidFill>
                <a:latin typeface="Angsana New" pitchFamily="18" charset="-34"/>
              </a:rPr>
              <a:t>ประชากรมีลักษณะตาม</a:t>
            </a:r>
            <a:r>
              <a:rPr kumimoji="1" lang="en-US" sz="3200" b="1" dirty="0">
                <a:solidFill>
                  <a:srgbClr val="0070C0"/>
                </a:solidFill>
                <a:latin typeface="Angsana New" pitchFamily="18" charset="-34"/>
              </a:rPr>
              <a:t>  H</a:t>
            </a:r>
            <a:r>
              <a:rPr kumimoji="1" lang="en-US" sz="4400" b="1" baseline="-25000" dirty="0">
                <a:solidFill>
                  <a:srgbClr val="0070C0"/>
                </a:solidFill>
                <a:latin typeface="Angsana New" pitchFamily="18" charset="-34"/>
              </a:rPr>
              <a:t>0</a:t>
            </a:r>
            <a:r>
              <a:rPr kumimoji="1" lang="en-US" sz="3200" b="1" dirty="0">
                <a:solidFill>
                  <a:srgbClr val="0070C0"/>
                </a:solidFill>
                <a:latin typeface="Angsana New" pitchFamily="18" charset="-34"/>
              </a:rPr>
              <a:t>” </a:t>
            </a:r>
            <a:r>
              <a:rPr kumimoji="1" lang="th-TH" sz="3200" b="1" dirty="0">
                <a:solidFill>
                  <a:srgbClr val="0070C0"/>
                </a:solidFill>
                <a:latin typeface="Angsana New" pitchFamily="18" charset="-34"/>
              </a:rPr>
              <a:t> </a:t>
            </a:r>
            <a:r>
              <a:rPr kumimoji="1" lang="th-TH" sz="3200" b="1" dirty="0">
                <a:latin typeface="Angsana New" pitchFamily="18" charset="-34"/>
              </a:rPr>
              <a:t>และ </a:t>
            </a:r>
            <a:r>
              <a:rPr kumimoji="1" lang="en-US" sz="3200" b="1" dirty="0">
                <a:solidFill>
                  <a:srgbClr val="CC3399"/>
                </a:solidFill>
                <a:latin typeface="Angsana New" pitchFamily="18" charset="-34"/>
              </a:rPr>
              <a:t>B </a:t>
            </a:r>
            <a:r>
              <a:rPr kumimoji="1" lang="th-TH" sz="3200" b="1" dirty="0">
                <a:solidFill>
                  <a:srgbClr val="CC3399"/>
                </a:solidFill>
                <a:latin typeface="Angsana New" pitchFamily="18" charset="-34"/>
              </a:rPr>
              <a:t> </a:t>
            </a:r>
            <a:r>
              <a:rPr kumimoji="1" lang="en-US" sz="3200" b="1" dirty="0">
                <a:solidFill>
                  <a:srgbClr val="CC3399"/>
                </a:solidFill>
                <a:latin typeface="Angsana New" pitchFamily="18" charset="-34"/>
              </a:rPr>
              <a:t>=</a:t>
            </a:r>
            <a:r>
              <a:rPr kumimoji="1" lang="th-TH" sz="3200" b="1" dirty="0">
                <a:solidFill>
                  <a:srgbClr val="CC3399"/>
                </a:solidFill>
                <a:latin typeface="Angsana New" pitchFamily="18" charset="-34"/>
              </a:rPr>
              <a:t> </a:t>
            </a:r>
            <a:r>
              <a:rPr kumimoji="1" lang="en-US" sz="3200" b="1" dirty="0">
                <a:solidFill>
                  <a:srgbClr val="CC3399"/>
                </a:solidFill>
                <a:latin typeface="Angsana New" pitchFamily="18" charset="-34"/>
              </a:rPr>
              <a:t>“</a:t>
            </a:r>
            <a:r>
              <a:rPr kumimoji="1" lang="th-TH" sz="3200" b="1" dirty="0">
                <a:solidFill>
                  <a:srgbClr val="CC3399"/>
                </a:solidFill>
                <a:latin typeface="Angsana New" pitchFamily="18" charset="-34"/>
              </a:rPr>
              <a:t>ตัวอย่างมีลักษณะคล้ายกับ  </a:t>
            </a:r>
            <a:r>
              <a:rPr kumimoji="1" lang="en-US" sz="3200" b="1" dirty="0">
                <a:solidFill>
                  <a:srgbClr val="CC3399"/>
                </a:solidFill>
                <a:latin typeface="Angsana New" pitchFamily="18" charset="-34"/>
              </a:rPr>
              <a:t>H</a:t>
            </a:r>
            <a:r>
              <a:rPr kumimoji="1" lang="en-US" sz="4400" b="1" baseline="-25000" dirty="0">
                <a:solidFill>
                  <a:srgbClr val="CC3399"/>
                </a:solidFill>
                <a:latin typeface="Angsana New" pitchFamily="18" charset="-34"/>
              </a:rPr>
              <a:t>0</a:t>
            </a:r>
            <a:r>
              <a:rPr kumimoji="1" lang="en-US" sz="3200" b="1" dirty="0">
                <a:solidFill>
                  <a:srgbClr val="CC3399"/>
                </a:solidFill>
                <a:latin typeface="Angsana New" pitchFamily="18" charset="-34"/>
              </a:rPr>
              <a:t>”</a:t>
            </a:r>
            <a:endParaRPr kumimoji="1" lang="th-TH" sz="3200" b="1" baseline="-25000" dirty="0">
              <a:solidFill>
                <a:srgbClr val="CC3399"/>
              </a:solidFill>
              <a:latin typeface="Angsana New" pitchFamily="18" charset="-34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1266" y="2971800"/>
            <a:ext cx="8763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lang="th-TH" sz="3200" b="1" dirty="0">
                <a:solidFill>
                  <a:srgbClr val="00B050"/>
                </a:solidFill>
                <a:latin typeface="Angsana New" pitchFamily="18" charset="-34"/>
              </a:rPr>
              <a:t>ให้</a:t>
            </a:r>
            <a:r>
              <a:rPr lang="th-TH" sz="3200" b="1" dirty="0">
                <a:solidFill>
                  <a:srgbClr val="CC3399"/>
                </a:solidFill>
                <a:latin typeface="Angsana New" pitchFamily="18" charset="-34"/>
              </a:rPr>
              <a:t> </a:t>
            </a:r>
            <a:r>
              <a:rPr kumimoji="1" lang="en-US" sz="3200" b="1" dirty="0">
                <a:solidFill>
                  <a:srgbClr val="CC3399"/>
                </a:solidFill>
                <a:latin typeface="Angsana New" pitchFamily="18" charset="-34"/>
              </a:rPr>
              <a:t>A</a:t>
            </a:r>
            <a:r>
              <a:rPr lang="en-US" sz="3200" b="1" dirty="0">
                <a:latin typeface="Angsana New" pitchFamily="18" charset="-34"/>
              </a:rPr>
              <a:t> = </a:t>
            </a:r>
            <a:r>
              <a:rPr lang="en-US" sz="3200" b="1" dirty="0">
                <a:solidFill>
                  <a:srgbClr val="CC3399"/>
                </a:solidFill>
                <a:latin typeface="Angsana New" pitchFamily="18" charset="-34"/>
              </a:rPr>
              <a:t>“</a:t>
            </a:r>
            <a:r>
              <a:rPr lang="th-TH" sz="3200" b="1" dirty="0">
                <a:solidFill>
                  <a:srgbClr val="CC3399"/>
                </a:solidFill>
                <a:latin typeface="Angsana New" pitchFamily="18" charset="-34"/>
              </a:rPr>
              <a:t>ค่าเฉลี่ย</a:t>
            </a:r>
            <a:r>
              <a:rPr kumimoji="1" lang="th-TH" sz="3200" b="1" dirty="0">
                <a:solidFill>
                  <a:srgbClr val="CC3399"/>
                </a:solidFill>
                <a:latin typeface="Angsana New" pitchFamily="18" charset="-34"/>
              </a:rPr>
              <a:t>ประชากร </a:t>
            </a:r>
            <a:r>
              <a:rPr kumimoji="1" lang="en-US" sz="3200" b="1" dirty="0">
                <a:solidFill>
                  <a:srgbClr val="CC3399"/>
                </a:solidFill>
                <a:latin typeface="Angsana New" pitchFamily="18" charset="-34"/>
              </a:rPr>
              <a:t>= 100”</a:t>
            </a:r>
            <a:r>
              <a:rPr kumimoji="1" lang="th-TH" sz="3200" b="1" dirty="0">
                <a:solidFill>
                  <a:srgbClr val="CC3399"/>
                </a:solidFill>
                <a:latin typeface="Angsana New" pitchFamily="18" charset="-34"/>
              </a:rPr>
              <a:t> </a:t>
            </a:r>
            <a:r>
              <a:rPr kumimoji="1" lang="th-TH" sz="3200" b="1" dirty="0">
                <a:latin typeface="Angsana New" pitchFamily="18" charset="-34"/>
              </a:rPr>
              <a:t>และ</a:t>
            </a:r>
            <a:r>
              <a:rPr kumimoji="1" lang="th-TH" sz="3200" b="1" dirty="0">
                <a:solidFill>
                  <a:srgbClr val="CC3399"/>
                </a:solidFill>
                <a:latin typeface="Angsana New" pitchFamily="18" charset="-34"/>
              </a:rPr>
              <a:t> </a:t>
            </a:r>
            <a:r>
              <a:rPr lang="en-US" sz="3200" b="1" dirty="0">
                <a:solidFill>
                  <a:srgbClr val="CC3399"/>
                </a:solidFill>
                <a:latin typeface="Angsana New" pitchFamily="18" charset="-34"/>
              </a:rPr>
              <a:t>B = “</a:t>
            </a:r>
            <a:r>
              <a:rPr lang="th-TH" sz="3200" b="1" dirty="0">
                <a:solidFill>
                  <a:srgbClr val="CC3399"/>
                </a:solidFill>
                <a:latin typeface="Angsana New" pitchFamily="18" charset="-34"/>
              </a:rPr>
              <a:t>ค่าเฉลี่ยตัวอย่าง </a:t>
            </a:r>
            <a:r>
              <a:rPr lang="th-TH" sz="3200" b="1" dirty="0">
                <a:solidFill>
                  <a:srgbClr val="CC3399"/>
                </a:solidFill>
                <a:latin typeface="Angsana New" pitchFamily="18" charset="-34"/>
                <a:sym typeface="Symbol"/>
              </a:rPr>
              <a:t></a:t>
            </a:r>
            <a:r>
              <a:rPr lang="th-TH" sz="3200" b="1" dirty="0">
                <a:solidFill>
                  <a:srgbClr val="CC3399"/>
                </a:solidFill>
                <a:latin typeface="Angsana New" pitchFamily="18" charset="-34"/>
              </a:rPr>
              <a:t> 100</a:t>
            </a:r>
            <a:r>
              <a:rPr lang="en-US" sz="3200" b="1" dirty="0">
                <a:solidFill>
                  <a:srgbClr val="CC3399"/>
                </a:solidFill>
                <a:latin typeface="Angsana New" pitchFamily="18" charset="-34"/>
              </a:rPr>
              <a:t>”</a:t>
            </a:r>
            <a:endParaRPr lang="th-TH" sz="3200" b="1" dirty="0">
              <a:solidFill>
                <a:srgbClr val="CC3399"/>
              </a:solidFill>
              <a:latin typeface="Angsana New" pitchFamily="18" charset="-34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1266" y="3572061"/>
            <a:ext cx="8763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th-TH" sz="3200" b="1" dirty="0">
                <a:latin typeface="Angsana New" pitchFamily="18" charset="-34"/>
              </a:rPr>
              <a:t>เห็นได้ว่า  </a:t>
            </a:r>
            <a:r>
              <a:rPr kumimoji="1" lang="en-US" sz="3200" b="1" dirty="0">
                <a:solidFill>
                  <a:srgbClr val="CC3399"/>
                </a:solidFill>
                <a:latin typeface="Angsana New" pitchFamily="18" charset="-34"/>
              </a:rPr>
              <a:t>A =&gt; </a:t>
            </a:r>
            <a:r>
              <a:rPr lang="en-US" sz="3200" b="1" dirty="0">
                <a:solidFill>
                  <a:srgbClr val="CC3399"/>
                </a:solidFill>
                <a:latin typeface="Angsana New" pitchFamily="18" charset="-34"/>
              </a:rPr>
              <a:t>B </a:t>
            </a:r>
            <a:r>
              <a:rPr lang="th-TH" sz="3200" b="1" dirty="0">
                <a:latin typeface="Angsana New" pitchFamily="18" charset="-34"/>
              </a:rPr>
              <a:t>แต่</a:t>
            </a:r>
            <a:r>
              <a:rPr lang="en-US" sz="3200" b="1" dirty="0">
                <a:latin typeface="Angsana New" pitchFamily="18" charset="-34"/>
              </a:rPr>
              <a:t> </a:t>
            </a:r>
            <a:r>
              <a:rPr lang="en-US" sz="3200" b="1" dirty="0">
                <a:solidFill>
                  <a:srgbClr val="CC3399"/>
                </a:solidFill>
                <a:latin typeface="Angsana New" pitchFamily="18" charset="-34"/>
              </a:rPr>
              <a:t>B </a:t>
            </a:r>
            <a:r>
              <a:rPr lang="en-US" sz="2600" b="1" dirty="0">
                <a:solidFill>
                  <a:srgbClr val="CC3399"/>
                </a:solidFill>
                <a:latin typeface="Angsana New" pitchFamily="18" charset="-34"/>
                <a:sym typeface="Symbol"/>
              </a:rPr>
              <a:t></a:t>
            </a:r>
            <a:r>
              <a:rPr lang="en-US" sz="3200" b="1" dirty="0">
                <a:solidFill>
                  <a:srgbClr val="CC3399"/>
                </a:solidFill>
                <a:latin typeface="Angsana New" pitchFamily="18" charset="-34"/>
              </a:rPr>
              <a:t>&gt; A</a:t>
            </a:r>
            <a:endParaRPr lang="th-TH" sz="3200" b="1" dirty="0">
              <a:solidFill>
                <a:srgbClr val="CC3399"/>
              </a:solidFill>
              <a:latin typeface="Angsana New" pitchFamily="18" charset="-34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21266" y="4139625"/>
            <a:ext cx="8763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th-TH" sz="3200" b="1" dirty="0">
                <a:latin typeface="Angsana New" pitchFamily="18" charset="-34"/>
              </a:rPr>
              <a:t>อย่างไรก็ตาม ถ้า </a:t>
            </a:r>
            <a:r>
              <a:rPr lang="en-US" sz="3200" b="1" dirty="0">
                <a:solidFill>
                  <a:srgbClr val="CC3399"/>
                </a:solidFill>
                <a:latin typeface="Angsana New" pitchFamily="18" charset="-34"/>
              </a:rPr>
              <a:t>B = “</a:t>
            </a:r>
            <a:r>
              <a:rPr lang="th-TH" sz="3200" b="1" dirty="0">
                <a:solidFill>
                  <a:srgbClr val="CC3399"/>
                </a:solidFill>
                <a:latin typeface="Angsana New" pitchFamily="18" charset="-34"/>
              </a:rPr>
              <a:t>ค่าเฉลี่ยตัวอย่าง </a:t>
            </a:r>
            <a:r>
              <a:rPr lang="th-TH" sz="3200" b="1" dirty="0">
                <a:solidFill>
                  <a:srgbClr val="CC3399"/>
                </a:solidFill>
                <a:latin typeface="Angsana New" pitchFamily="18" charset="-34"/>
                <a:sym typeface="Symbol"/>
              </a:rPr>
              <a:t></a:t>
            </a:r>
            <a:r>
              <a:rPr lang="th-TH" sz="3200" b="1" dirty="0">
                <a:solidFill>
                  <a:srgbClr val="CC3399"/>
                </a:solidFill>
                <a:latin typeface="Angsana New" pitchFamily="18" charset="-34"/>
              </a:rPr>
              <a:t> 100</a:t>
            </a:r>
            <a:r>
              <a:rPr lang="en-US" sz="3200" b="1" dirty="0">
                <a:solidFill>
                  <a:srgbClr val="CC3399"/>
                </a:solidFill>
                <a:latin typeface="Angsana New" pitchFamily="18" charset="-34"/>
              </a:rPr>
              <a:t>”</a:t>
            </a:r>
            <a:r>
              <a:rPr lang="th-TH" sz="3200" b="1" dirty="0">
                <a:solidFill>
                  <a:srgbClr val="CC3399"/>
                </a:solidFill>
                <a:latin typeface="Angsana New" pitchFamily="18" charset="-34"/>
              </a:rPr>
              <a:t>  </a:t>
            </a:r>
            <a:r>
              <a:rPr lang="th-TH" sz="3200" b="1" dirty="0">
                <a:latin typeface="Angsana New" pitchFamily="18" charset="-34"/>
              </a:rPr>
              <a:t>ไม่จริง</a:t>
            </a:r>
            <a:endParaRPr lang="th-TH" sz="3200" b="1" dirty="0">
              <a:solidFill>
                <a:srgbClr val="CC3399"/>
              </a:solidFill>
              <a:latin typeface="Angsana New" pitchFamily="18" charset="-34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121734" y="4596825"/>
            <a:ext cx="6629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th-TH" sz="3200" b="1" dirty="0">
                <a:latin typeface="Angsana New" pitchFamily="18" charset="-34"/>
              </a:rPr>
              <a:t>ดังนั้น </a:t>
            </a:r>
            <a:r>
              <a:rPr kumimoji="1" lang="en-US" sz="3200" b="1" dirty="0">
                <a:solidFill>
                  <a:srgbClr val="CC3399"/>
                </a:solidFill>
                <a:latin typeface="Angsana New" pitchFamily="18" charset="-34"/>
              </a:rPr>
              <a:t>A</a:t>
            </a:r>
            <a:r>
              <a:rPr lang="en-US" sz="3200" b="1" dirty="0">
                <a:latin typeface="Angsana New" pitchFamily="18" charset="-34"/>
              </a:rPr>
              <a:t> </a:t>
            </a:r>
            <a:r>
              <a:rPr lang="en-US" sz="3200" b="1" dirty="0">
                <a:solidFill>
                  <a:srgbClr val="CC3399"/>
                </a:solidFill>
                <a:latin typeface="Angsana New" pitchFamily="18" charset="-34"/>
              </a:rPr>
              <a:t>=</a:t>
            </a:r>
            <a:r>
              <a:rPr lang="en-US" sz="3200" b="1" dirty="0">
                <a:latin typeface="Angsana New" pitchFamily="18" charset="-34"/>
              </a:rPr>
              <a:t> </a:t>
            </a:r>
            <a:r>
              <a:rPr lang="en-US" sz="3200" b="1" dirty="0">
                <a:solidFill>
                  <a:srgbClr val="CC3399"/>
                </a:solidFill>
                <a:latin typeface="Angsana New" pitchFamily="18" charset="-34"/>
              </a:rPr>
              <a:t>“</a:t>
            </a:r>
            <a:r>
              <a:rPr lang="th-TH" sz="3200" b="1" dirty="0">
                <a:solidFill>
                  <a:srgbClr val="CC3399"/>
                </a:solidFill>
                <a:latin typeface="Angsana New" pitchFamily="18" charset="-34"/>
              </a:rPr>
              <a:t>ค่าเฉลี่ย</a:t>
            </a:r>
            <a:r>
              <a:rPr kumimoji="1" lang="th-TH" sz="3200" b="1" dirty="0">
                <a:solidFill>
                  <a:srgbClr val="CC3399"/>
                </a:solidFill>
                <a:latin typeface="Angsana New" pitchFamily="18" charset="-34"/>
              </a:rPr>
              <a:t>ประชากร </a:t>
            </a:r>
            <a:r>
              <a:rPr kumimoji="1" lang="en-US" sz="3200" b="1" dirty="0">
                <a:solidFill>
                  <a:srgbClr val="CC3399"/>
                </a:solidFill>
                <a:latin typeface="Angsana New" pitchFamily="18" charset="-34"/>
              </a:rPr>
              <a:t>= 100”</a:t>
            </a:r>
            <a:r>
              <a:rPr kumimoji="1" lang="th-TH" sz="3200" b="1" dirty="0">
                <a:solidFill>
                  <a:srgbClr val="CC3399"/>
                </a:solidFill>
                <a:latin typeface="Angsana New" pitchFamily="18" charset="-34"/>
              </a:rPr>
              <a:t> </a:t>
            </a:r>
            <a:r>
              <a:rPr kumimoji="1" lang="th-TH" sz="3200" b="1" dirty="0">
                <a:latin typeface="Angsana New" pitchFamily="18" charset="-34"/>
              </a:rPr>
              <a:t>น่าจะไม่จริงด้วย</a:t>
            </a:r>
            <a:endParaRPr lang="th-TH" sz="3200" b="1" dirty="0">
              <a:solidFill>
                <a:srgbClr val="CC3399"/>
              </a:solidFill>
              <a:latin typeface="Angsana New" pitchFamily="18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45543B-79CB-404A-BDD5-95A9A6182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D2D0C-0E2E-4E6E-9CE9-48BBDAB56A5E}" type="slidenum">
              <a:rPr lang="en-US" smtClean="0"/>
              <a:pPr>
                <a:defRPr/>
              </a:pPr>
              <a:t>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4769306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915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15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9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9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autoUpdateAnimBg="0"/>
      <p:bldP spid="49155" grpId="0" build="p" animBg="1" autoUpdateAnimBg="0" advAuto="0"/>
      <p:bldP spid="49159" grpId="0" build="p" autoUpdateAnimBg="0" advAuto="0"/>
      <p:bldP spid="49161" grpId="0" build="p" autoUpdateAnimBg="0" advAuto="0"/>
      <p:bldP spid="8" grpId="0" build="p" autoUpdateAnimBg="0" advAuto="0"/>
      <p:bldP spid="9" grpId="0" build="p" autoUpdateAnimBg="0" advAuto="0"/>
      <p:bldP spid="11" grpId="0" build="p" autoUpdateAnimBg="0" advAuto="0"/>
      <p:bldP spid="12" grpId="0" build="p" autoUpdateAnimBg="0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8014" y="0"/>
            <a:ext cx="9135986" cy="668432"/>
          </a:xfrm>
        </p:spPr>
        <p:txBody>
          <a:bodyPr lIns="92075" tIns="46038" rIns="92075" bIns="46038"/>
          <a:lstStyle/>
          <a:p>
            <a:pPr eaLnBrk="1" hangingPunct="1">
              <a:spcBef>
                <a:spcPts val="0"/>
              </a:spcBef>
              <a:defRPr/>
            </a:pPr>
            <a:r>
              <a:rPr lang="en-GB" sz="3200" b="1" dirty="0">
                <a:solidFill>
                  <a:srgbClr val="6600FF"/>
                </a:solidFill>
                <a:latin typeface="Angsana New" pitchFamily="18" charset="-34"/>
                <a:cs typeface="Angsana New" pitchFamily="18" charset="-34"/>
              </a:rPr>
              <a:t>Logic in Testing of Hypothesis</a:t>
            </a:r>
            <a:endParaRPr lang="th-TH" sz="3200" b="1" dirty="0">
              <a:solidFill>
                <a:srgbClr val="6600FF"/>
              </a:solidFill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49155" name="Rectangle 3" descr="Newsprint"/>
          <p:cNvSpPr>
            <a:spLocks noGrp="1" noChangeArrowheads="1"/>
          </p:cNvSpPr>
          <p:nvPr>
            <p:ph type="body" idx="1"/>
          </p:nvPr>
        </p:nvSpPr>
        <p:spPr>
          <a:xfrm>
            <a:off x="457200" y="533400"/>
            <a:ext cx="8458200" cy="609600"/>
          </a:xfrm>
          <a:noFill/>
          <a:ln w="38100" cmpd="dbl">
            <a:solidFill>
              <a:srgbClr val="006699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n-US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A  =&gt;  B</a:t>
            </a:r>
            <a:r>
              <a:rPr lang="en-US" b="1" dirty="0">
                <a:latin typeface="Angsana New" pitchFamily="18" charset="-34"/>
                <a:cs typeface="Angsana New" pitchFamily="18" charset="-34"/>
              </a:rPr>
              <a:t>         </a:t>
            </a:r>
            <a:r>
              <a:rPr lang="en-GB" b="1" dirty="0">
                <a:latin typeface="Angsana New" pitchFamily="18" charset="-34"/>
                <a:cs typeface="Angsana New" pitchFamily="18" charset="-34"/>
              </a:rPr>
              <a:t>is equivalent to        </a:t>
            </a:r>
            <a:r>
              <a:rPr lang="th-TH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~B  =&gt; ~A</a:t>
            </a:r>
            <a:r>
              <a:rPr lang="en-US" b="1" dirty="0">
                <a:latin typeface="Angsana New" pitchFamily="18" charset="-34"/>
                <a:cs typeface="Angsana New" pitchFamily="18" charset="-34"/>
              </a:rPr>
              <a:t> </a:t>
            </a:r>
            <a:endParaRPr lang="en-US" b="1" baseline="-25000" dirty="0">
              <a:solidFill>
                <a:srgbClr val="003399"/>
              </a:solidFill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49161" name="Text Box 9"/>
          <p:cNvSpPr txBox="1">
            <a:spLocks noChangeArrowheads="1"/>
          </p:cNvSpPr>
          <p:nvPr/>
        </p:nvSpPr>
        <p:spPr bwMode="auto">
          <a:xfrm>
            <a:off x="620927" y="2219739"/>
            <a:ext cx="621056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b="1" dirty="0">
                <a:latin typeface="Angsana New" pitchFamily="18" charset="-34"/>
              </a:rPr>
              <a:t>Let a sentence </a:t>
            </a:r>
            <a:r>
              <a:rPr kumimoji="1" lang="en-US" b="1" dirty="0">
                <a:solidFill>
                  <a:srgbClr val="0070C0"/>
                </a:solidFill>
                <a:latin typeface="Angsana New" pitchFamily="18" charset="-34"/>
              </a:rPr>
              <a:t>A </a:t>
            </a:r>
            <a:r>
              <a:rPr kumimoji="1" lang="en-GB" b="1" dirty="0">
                <a:latin typeface="Angsana New" pitchFamily="18" charset="-34"/>
              </a:rPr>
              <a:t>is</a:t>
            </a:r>
            <a:r>
              <a:rPr kumimoji="1" lang="th-TH" b="1" dirty="0">
                <a:latin typeface="Angsana New" pitchFamily="18" charset="-34"/>
              </a:rPr>
              <a:t> “</a:t>
            </a:r>
            <a:r>
              <a:rPr kumimoji="1" lang="en-US" sz="2000" b="1" dirty="0">
                <a:solidFill>
                  <a:srgbClr val="0070C0"/>
                </a:solidFill>
                <a:latin typeface="Angsana New" pitchFamily="18" charset="-34"/>
                <a:sym typeface="Symbol" panose="05050102010706020507" pitchFamily="18" charset="2"/>
              </a:rPr>
              <a:t></a:t>
            </a:r>
            <a:r>
              <a:rPr kumimoji="1" lang="en-US" b="1" dirty="0">
                <a:solidFill>
                  <a:srgbClr val="0070C0"/>
                </a:solidFill>
                <a:latin typeface="Angsana New" pitchFamily="18" charset="-34"/>
                <a:sym typeface="Symbol" panose="05050102010706020507" pitchFamily="18" charset="2"/>
              </a:rPr>
              <a:t> = </a:t>
            </a:r>
            <a:r>
              <a:rPr kumimoji="1" lang="en-US" sz="2000" b="1" dirty="0">
                <a:solidFill>
                  <a:srgbClr val="0070C0"/>
                </a:solidFill>
                <a:latin typeface="Angsana New" pitchFamily="18" charset="-34"/>
                <a:sym typeface="Symbol" panose="05050102010706020507" pitchFamily="18" charset="2"/>
              </a:rPr>
              <a:t></a:t>
            </a:r>
            <a:r>
              <a:rPr kumimoji="1" lang="en-US" b="1" baseline="-25000" dirty="0">
                <a:solidFill>
                  <a:srgbClr val="0070C0"/>
                </a:solidFill>
                <a:latin typeface="Angsana New" pitchFamily="18" charset="-34"/>
              </a:rPr>
              <a:t>0</a:t>
            </a:r>
            <a:r>
              <a:rPr kumimoji="1" lang="th-TH" b="1" dirty="0">
                <a:latin typeface="Angsana New" pitchFamily="18" charset="-34"/>
              </a:rPr>
              <a:t>”</a:t>
            </a:r>
            <a:r>
              <a:rPr kumimoji="1" lang="th-TH" b="1" dirty="0">
                <a:solidFill>
                  <a:srgbClr val="0070C0"/>
                </a:solidFill>
                <a:latin typeface="Angsana New" pitchFamily="18" charset="-34"/>
              </a:rPr>
              <a:t> </a:t>
            </a:r>
            <a:r>
              <a:rPr kumimoji="1" lang="en-US" b="1" dirty="0">
                <a:latin typeface="Angsana New" pitchFamily="18" charset="-34"/>
              </a:rPr>
              <a:t>=&gt; </a:t>
            </a:r>
            <a:r>
              <a:rPr kumimoji="1" lang="en-US" b="1" dirty="0">
                <a:solidFill>
                  <a:srgbClr val="0070C0"/>
                </a:solidFill>
                <a:latin typeface="Angsana New" pitchFamily="18" charset="-34"/>
              </a:rPr>
              <a:t> H</a:t>
            </a:r>
            <a:r>
              <a:rPr kumimoji="1" lang="en-US" b="1" baseline="-25000" dirty="0">
                <a:solidFill>
                  <a:srgbClr val="0070C0"/>
                </a:solidFill>
                <a:latin typeface="Angsana New" pitchFamily="18" charset="-34"/>
              </a:rPr>
              <a:t>0  </a:t>
            </a:r>
            <a:r>
              <a:rPr kumimoji="1" lang="en-GB" b="1" dirty="0">
                <a:latin typeface="Angsana New" pitchFamily="18" charset="-34"/>
              </a:rPr>
              <a:t>is true</a:t>
            </a:r>
            <a:endParaRPr kumimoji="1" lang="th-TH" b="1" baseline="-25000" dirty="0">
              <a:solidFill>
                <a:srgbClr val="CC3399"/>
              </a:solidFill>
              <a:latin typeface="Angsana New" pitchFamily="18" charset="-34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0" y="1752841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b="1" dirty="0">
                <a:latin typeface="Angsana New" pitchFamily="18" charset="-34"/>
              </a:rPr>
              <a:t>Suppose </a:t>
            </a:r>
            <a:r>
              <a:rPr kumimoji="1" lang="en-US" b="1" dirty="0">
                <a:solidFill>
                  <a:srgbClr val="0070C0"/>
                </a:solidFill>
                <a:latin typeface="Angsana New" pitchFamily="18" charset="-34"/>
              </a:rPr>
              <a:t>H</a:t>
            </a:r>
            <a:r>
              <a:rPr kumimoji="1" lang="en-US" b="1" baseline="-25000" dirty="0">
                <a:solidFill>
                  <a:srgbClr val="0070C0"/>
                </a:solidFill>
                <a:latin typeface="Angsana New" pitchFamily="18" charset="-34"/>
              </a:rPr>
              <a:t>0</a:t>
            </a:r>
            <a:r>
              <a:rPr kumimoji="1" lang="en-US" b="1" dirty="0">
                <a:solidFill>
                  <a:srgbClr val="0070C0"/>
                </a:solidFill>
                <a:latin typeface="Angsana New" pitchFamily="18" charset="-34"/>
              </a:rPr>
              <a:t>: </a:t>
            </a:r>
            <a:r>
              <a:rPr kumimoji="1" lang="en-US" sz="2000" b="1" dirty="0">
                <a:solidFill>
                  <a:srgbClr val="0070C0"/>
                </a:solidFill>
                <a:latin typeface="Angsana New" pitchFamily="18" charset="-34"/>
                <a:sym typeface="Symbol" panose="05050102010706020507" pitchFamily="18" charset="2"/>
              </a:rPr>
              <a:t></a:t>
            </a:r>
            <a:r>
              <a:rPr kumimoji="1" lang="en-US" b="1" dirty="0">
                <a:solidFill>
                  <a:srgbClr val="0070C0"/>
                </a:solidFill>
                <a:latin typeface="Angsana New" pitchFamily="18" charset="-34"/>
                <a:sym typeface="Symbol" panose="05050102010706020507" pitchFamily="18" charset="2"/>
              </a:rPr>
              <a:t> = </a:t>
            </a:r>
            <a:r>
              <a:rPr kumimoji="1" lang="en-US" sz="2000" b="1" dirty="0">
                <a:solidFill>
                  <a:srgbClr val="0070C0"/>
                </a:solidFill>
                <a:latin typeface="Angsana New" pitchFamily="18" charset="-34"/>
                <a:sym typeface="Symbol" panose="05050102010706020507" pitchFamily="18" charset="2"/>
              </a:rPr>
              <a:t></a:t>
            </a:r>
            <a:r>
              <a:rPr kumimoji="1" lang="en-US" b="1" baseline="-25000" dirty="0">
                <a:solidFill>
                  <a:srgbClr val="0070C0"/>
                </a:solidFill>
                <a:latin typeface="Angsana New" pitchFamily="18" charset="-34"/>
              </a:rPr>
              <a:t>0</a:t>
            </a:r>
            <a:r>
              <a:rPr kumimoji="1" lang="th-TH" b="1" baseline="-25000" dirty="0">
                <a:solidFill>
                  <a:srgbClr val="0070C0"/>
                </a:solidFill>
                <a:latin typeface="Angsana New" pitchFamily="18" charset="-34"/>
              </a:rPr>
              <a:t>  </a:t>
            </a:r>
            <a:r>
              <a:rPr kumimoji="1" lang="th-TH" b="1" dirty="0">
                <a:solidFill>
                  <a:srgbClr val="0070C0"/>
                </a:solidFill>
                <a:latin typeface="Angsana New" pitchFamily="18" charset="-34"/>
              </a:rPr>
              <a:t> </a:t>
            </a:r>
            <a:r>
              <a:rPr kumimoji="1" lang="en-GB" b="1" dirty="0">
                <a:latin typeface="Angsana New" pitchFamily="18" charset="-34"/>
              </a:rPr>
              <a:t>VS   </a:t>
            </a:r>
            <a:r>
              <a:rPr kumimoji="1" lang="en-US" b="1" dirty="0">
                <a:solidFill>
                  <a:srgbClr val="0070C0"/>
                </a:solidFill>
                <a:latin typeface="Angsana New" pitchFamily="18" charset="-34"/>
              </a:rPr>
              <a:t>H</a:t>
            </a:r>
            <a:r>
              <a:rPr kumimoji="1" lang="en-US" b="1" baseline="-25000" dirty="0">
                <a:solidFill>
                  <a:srgbClr val="0070C0"/>
                </a:solidFill>
                <a:latin typeface="Angsana New" pitchFamily="18" charset="-34"/>
              </a:rPr>
              <a:t>0</a:t>
            </a:r>
            <a:r>
              <a:rPr kumimoji="1" lang="en-US" b="1" dirty="0">
                <a:solidFill>
                  <a:srgbClr val="0070C0"/>
                </a:solidFill>
                <a:latin typeface="Angsana New" pitchFamily="18" charset="-34"/>
              </a:rPr>
              <a:t>: </a:t>
            </a:r>
            <a:r>
              <a:rPr kumimoji="1" lang="en-US" sz="2000" b="1" dirty="0">
                <a:solidFill>
                  <a:srgbClr val="0070C0"/>
                </a:solidFill>
                <a:latin typeface="Angsana New" pitchFamily="18" charset="-34"/>
                <a:sym typeface="Symbol" panose="05050102010706020507" pitchFamily="18" charset="2"/>
              </a:rPr>
              <a:t></a:t>
            </a:r>
            <a:r>
              <a:rPr kumimoji="1" lang="en-US" b="1" dirty="0">
                <a:solidFill>
                  <a:srgbClr val="0070C0"/>
                </a:solidFill>
                <a:latin typeface="Angsana New" pitchFamily="18" charset="-34"/>
                <a:sym typeface="Symbol" panose="05050102010706020507" pitchFamily="18" charset="2"/>
              </a:rPr>
              <a:t> &gt; </a:t>
            </a:r>
            <a:r>
              <a:rPr kumimoji="1" lang="en-US" sz="2000" b="1" dirty="0">
                <a:solidFill>
                  <a:srgbClr val="0070C0"/>
                </a:solidFill>
                <a:latin typeface="Angsana New" pitchFamily="18" charset="-34"/>
                <a:sym typeface="Symbol" panose="05050102010706020507" pitchFamily="18" charset="2"/>
              </a:rPr>
              <a:t></a:t>
            </a:r>
            <a:r>
              <a:rPr kumimoji="1" lang="en-US" b="1" baseline="-25000" dirty="0">
                <a:solidFill>
                  <a:srgbClr val="0070C0"/>
                </a:solidFill>
                <a:latin typeface="Angsana New" pitchFamily="18" charset="-34"/>
              </a:rPr>
              <a:t>0</a:t>
            </a:r>
            <a:r>
              <a:rPr kumimoji="1" lang="th-TH" b="1" baseline="-25000" dirty="0">
                <a:solidFill>
                  <a:srgbClr val="0070C0"/>
                </a:solidFill>
                <a:latin typeface="Angsana New" pitchFamily="18" charset="-34"/>
              </a:rPr>
              <a:t> </a:t>
            </a:r>
            <a:endParaRPr kumimoji="1" lang="th-TH" b="1" baseline="-25000" dirty="0">
              <a:solidFill>
                <a:srgbClr val="CC3399"/>
              </a:solidFill>
              <a:latin typeface="Angsana New" pitchFamily="18" charset="-34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850296" y="2093267"/>
            <a:ext cx="3455504" cy="639994"/>
            <a:chOff x="-437322" y="2392258"/>
            <a:chExt cx="3455504" cy="639994"/>
          </a:xfrm>
        </p:grpSpPr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-437322" y="2509032"/>
              <a:ext cx="3455504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b="1" dirty="0">
                  <a:latin typeface="Angsana New" pitchFamily="18" charset="-34"/>
                </a:rPr>
                <a:t>and let a sentence 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B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en-GB" b="1" dirty="0">
                  <a:latin typeface="Angsana New" pitchFamily="18" charset="-34"/>
                </a:rPr>
                <a:t>is</a:t>
              </a:r>
              <a:r>
                <a:rPr kumimoji="1" lang="th-TH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th-TH" b="1" dirty="0">
                  <a:latin typeface="Angsana New" pitchFamily="18" charset="-34"/>
                </a:rPr>
                <a:t>“</a:t>
              </a:r>
              <a:r>
                <a:rPr kumimoji="1" lang="en-US" sz="2000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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 </a:t>
              </a:r>
              <a:r>
                <a:rPr kumimoji="1" lang="en-US" sz="2000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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 </a:t>
              </a:r>
              <a:r>
                <a:rPr kumimoji="1" lang="en-US" sz="2000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</a:t>
              </a:r>
              <a:r>
                <a:rPr kumimoji="1" lang="en-US" b="1" baseline="-25000" dirty="0">
                  <a:solidFill>
                    <a:srgbClr val="CC3399"/>
                  </a:solidFill>
                  <a:latin typeface="Angsana New" pitchFamily="18" charset="-34"/>
                </a:rPr>
                <a:t>0</a:t>
              </a:r>
              <a:r>
                <a:rPr kumimoji="1" lang="th-TH" b="1" dirty="0">
                  <a:latin typeface="Angsana New" pitchFamily="18" charset="-34"/>
                </a:rPr>
                <a:t>”</a:t>
              </a:r>
              <a:endParaRPr kumimoji="1" lang="th-TH" b="1" baseline="-25000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1941444" y="2392258"/>
              <a:ext cx="3048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^</a:t>
              </a:r>
              <a:endParaRPr kumimoji="1" lang="th-TH" b="1" baseline="-25000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767239" y="1143000"/>
            <a:ext cx="695407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ts val="0"/>
              </a:spcBef>
              <a:buFontTx/>
              <a:buNone/>
            </a:pPr>
            <a:r>
              <a:rPr kumimoji="1" lang="en-US" sz="3200" b="1" dirty="0">
                <a:latin typeface="Angsana New" pitchFamily="18" charset="-34"/>
              </a:rPr>
              <a:t>However, “</a:t>
            </a:r>
            <a:r>
              <a:rPr lang="en-US" sz="3200" b="1" dirty="0">
                <a:solidFill>
                  <a:srgbClr val="FF0066"/>
                </a:solidFill>
                <a:latin typeface="Angsana New" pitchFamily="18" charset="-34"/>
              </a:rPr>
              <a:t>A  =&gt;  B</a:t>
            </a:r>
            <a:r>
              <a:rPr kumimoji="1" lang="en-US" sz="3200" b="1" dirty="0">
                <a:latin typeface="Angsana New" pitchFamily="18" charset="-34"/>
              </a:rPr>
              <a:t>”</a:t>
            </a:r>
            <a:r>
              <a:rPr lang="en-US" sz="3200" b="1" dirty="0">
                <a:solidFill>
                  <a:srgbClr val="FF0066"/>
                </a:solidFill>
                <a:latin typeface="Angsana New" pitchFamily="18" charset="-34"/>
              </a:rPr>
              <a:t> </a:t>
            </a:r>
            <a:r>
              <a:rPr lang="en-GB" sz="3200" b="1" dirty="0">
                <a:solidFill>
                  <a:srgbClr val="FF0066"/>
                </a:solidFill>
                <a:latin typeface="Angsana New" pitchFamily="18" charset="-34"/>
              </a:rPr>
              <a:t> </a:t>
            </a:r>
            <a:r>
              <a:rPr lang="en-GB" sz="3200" b="1" dirty="0">
                <a:latin typeface="Angsana New" pitchFamily="18" charset="-34"/>
              </a:rPr>
              <a:t>does not implied that  </a:t>
            </a:r>
            <a:r>
              <a:rPr lang="en-US" sz="3200" b="1" dirty="0">
                <a:latin typeface="Angsana New" pitchFamily="18" charset="-34"/>
              </a:rPr>
              <a:t> </a:t>
            </a:r>
            <a:r>
              <a:rPr kumimoji="1" lang="en-US" sz="3200" b="1" dirty="0">
                <a:latin typeface="Angsana New" pitchFamily="18" charset="-34"/>
              </a:rPr>
              <a:t>“</a:t>
            </a:r>
            <a:r>
              <a:rPr lang="en-US" sz="3200" b="1" dirty="0">
                <a:solidFill>
                  <a:srgbClr val="FF0066"/>
                </a:solidFill>
                <a:latin typeface="Angsana New" pitchFamily="18" charset="-34"/>
              </a:rPr>
              <a:t>B  =&gt;   A</a:t>
            </a:r>
            <a:r>
              <a:rPr kumimoji="1" lang="en-US" sz="3200" b="1" dirty="0">
                <a:latin typeface="Angsana New" pitchFamily="18" charset="-34"/>
              </a:rPr>
              <a:t>”</a:t>
            </a:r>
            <a:r>
              <a:rPr lang="en-US" sz="3200" b="1" dirty="0">
                <a:solidFill>
                  <a:srgbClr val="FF0066"/>
                </a:solidFill>
                <a:latin typeface="Angsana New" pitchFamily="18" charset="-34"/>
              </a:rPr>
              <a:t> </a:t>
            </a:r>
            <a:endParaRPr lang="en-US" sz="3200" b="1" baseline="-25000" dirty="0">
              <a:solidFill>
                <a:srgbClr val="003399"/>
              </a:solidFill>
              <a:latin typeface="Angsana New" pitchFamily="18" charset="-34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19539" y="2590800"/>
            <a:ext cx="7914861" cy="641252"/>
            <a:chOff x="619539" y="2883826"/>
            <a:chExt cx="7914861" cy="641252"/>
          </a:xfrm>
        </p:grpSpPr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619539" y="3001858"/>
              <a:ext cx="791486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b="1" dirty="0">
                  <a:latin typeface="Angsana New" pitchFamily="18" charset="-34"/>
                </a:rPr>
                <a:t>If 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A </a:t>
              </a:r>
              <a:r>
                <a:rPr kumimoji="1" lang="en-GB" b="1" dirty="0">
                  <a:latin typeface="Angsana New" pitchFamily="18" charset="-34"/>
                </a:rPr>
                <a:t>is</a:t>
              </a:r>
              <a:r>
                <a:rPr kumimoji="1" lang="th-TH" b="1" dirty="0">
                  <a:latin typeface="Angsana New" pitchFamily="18" charset="-34"/>
                </a:rPr>
                <a:t> </a:t>
              </a:r>
              <a:r>
                <a:rPr kumimoji="1" lang="en-GB" b="1" dirty="0">
                  <a:latin typeface="Angsana New" pitchFamily="18" charset="-34"/>
                </a:rPr>
                <a:t>true =&gt; </a:t>
              </a:r>
              <a:r>
                <a:rPr kumimoji="1" lang="th-TH" b="1" dirty="0">
                  <a:latin typeface="Angsana New" pitchFamily="18" charset="-34"/>
                </a:rPr>
                <a:t> “</a:t>
              </a:r>
              <a:r>
                <a:rPr kumimoji="1" lang="en-US" sz="2000" b="1" dirty="0">
                  <a:solidFill>
                    <a:srgbClr val="0070C0"/>
                  </a:solidFill>
                  <a:latin typeface="Angsana New" pitchFamily="18" charset="-34"/>
                  <a:sym typeface="Symbol" panose="05050102010706020507" pitchFamily="18" charset="2"/>
                </a:rPr>
                <a:t>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  <a:sym typeface="Symbol" panose="05050102010706020507" pitchFamily="18" charset="2"/>
                </a:rPr>
                <a:t> = </a:t>
              </a:r>
              <a:r>
                <a:rPr kumimoji="1" lang="en-US" sz="2000" b="1" dirty="0">
                  <a:solidFill>
                    <a:srgbClr val="0070C0"/>
                  </a:solidFill>
                  <a:latin typeface="Angsana New" pitchFamily="18" charset="-34"/>
                  <a:sym typeface="Symbol" panose="05050102010706020507" pitchFamily="18" charset="2"/>
                </a:rPr>
                <a:t></a:t>
              </a:r>
              <a:r>
                <a:rPr kumimoji="1" lang="en-US" b="1" baseline="-25000" dirty="0">
                  <a:solidFill>
                    <a:srgbClr val="0070C0"/>
                  </a:solidFill>
                  <a:latin typeface="Angsana New" pitchFamily="18" charset="-34"/>
                </a:rPr>
                <a:t>0</a:t>
              </a:r>
              <a:r>
                <a:rPr kumimoji="1" lang="th-TH" b="1" dirty="0">
                  <a:latin typeface="Angsana New" pitchFamily="18" charset="-34"/>
                </a:rPr>
                <a:t>”</a:t>
              </a:r>
              <a:r>
                <a:rPr kumimoji="1" lang="th-TH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en-US" b="1" dirty="0">
                  <a:latin typeface="Angsana New" pitchFamily="18" charset="-34"/>
                </a:rPr>
                <a:t>=&gt; 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 H</a:t>
              </a:r>
              <a:r>
                <a:rPr kumimoji="1" lang="en-US" b="1" baseline="-25000" dirty="0">
                  <a:solidFill>
                    <a:srgbClr val="0070C0"/>
                  </a:solidFill>
                  <a:latin typeface="Angsana New" pitchFamily="18" charset="-34"/>
                </a:rPr>
                <a:t>0  </a:t>
              </a:r>
              <a:r>
                <a:rPr kumimoji="1" lang="en-GB" b="1" dirty="0">
                  <a:latin typeface="Angsana New" pitchFamily="18" charset="-34"/>
                </a:rPr>
                <a:t>is true </a:t>
              </a:r>
              <a:r>
                <a:rPr kumimoji="1" lang="en-US" b="1" dirty="0">
                  <a:latin typeface="Angsana New" pitchFamily="18" charset="-34"/>
                </a:rPr>
                <a:t>=&gt; 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B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en-GB" b="1" dirty="0">
                  <a:latin typeface="Angsana New" pitchFamily="18" charset="-34"/>
                </a:rPr>
                <a:t>is true =&gt;  is</a:t>
              </a:r>
              <a:r>
                <a:rPr kumimoji="1" lang="th-TH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th-TH" b="1" dirty="0">
                  <a:latin typeface="Angsana New" pitchFamily="18" charset="-34"/>
                </a:rPr>
                <a:t>“</a:t>
              </a:r>
              <a:r>
                <a:rPr kumimoji="1" lang="en-US" sz="2000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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 </a:t>
              </a:r>
              <a:r>
                <a:rPr kumimoji="1" lang="en-US" sz="2000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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 </a:t>
              </a:r>
              <a:r>
                <a:rPr kumimoji="1" lang="en-US" sz="2000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</a:t>
              </a:r>
              <a:r>
                <a:rPr kumimoji="1" lang="en-US" b="1" baseline="-25000" dirty="0">
                  <a:solidFill>
                    <a:srgbClr val="CC3399"/>
                  </a:solidFill>
                  <a:latin typeface="Angsana New" pitchFamily="18" charset="-34"/>
                </a:rPr>
                <a:t>0</a:t>
              </a:r>
              <a:r>
                <a:rPr kumimoji="1" lang="th-TH" b="1" dirty="0">
                  <a:latin typeface="Angsana New" pitchFamily="18" charset="-34"/>
                </a:rPr>
                <a:t>”</a:t>
              </a:r>
              <a:r>
                <a:rPr kumimoji="1" lang="en-GB" b="1" dirty="0">
                  <a:latin typeface="Angsana New" pitchFamily="18" charset="-34"/>
                </a:rPr>
                <a:t> </a:t>
              </a:r>
              <a:r>
                <a:rPr kumimoji="1" lang="en-US" b="1" dirty="0">
                  <a:latin typeface="Angsana New" pitchFamily="18" charset="-34"/>
                </a:rPr>
                <a:t> </a:t>
              </a:r>
              <a:r>
                <a:rPr kumimoji="1" lang="en-GB" b="1" dirty="0">
                  <a:latin typeface="Angsana New" pitchFamily="18" charset="-34"/>
                </a:rPr>
                <a:t> </a:t>
              </a:r>
              <a:endParaRPr kumimoji="1" lang="th-TH" b="1" baseline="-25000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  <p:sp>
          <p:nvSpPr>
            <p:cNvPr id="17" name="Text Box 9"/>
            <p:cNvSpPr txBox="1">
              <a:spLocks noChangeArrowheads="1"/>
            </p:cNvSpPr>
            <p:nvPr/>
          </p:nvSpPr>
          <p:spPr bwMode="auto">
            <a:xfrm>
              <a:off x="6404249" y="2883826"/>
              <a:ext cx="3048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^</a:t>
              </a:r>
              <a:endParaRPr kumimoji="1" lang="th-TH" b="1" baseline="-25000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19539" y="3077817"/>
            <a:ext cx="8448261" cy="641229"/>
            <a:chOff x="619539" y="2883849"/>
            <a:chExt cx="8448261" cy="641229"/>
          </a:xfrm>
        </p:grpSpPr>
        <p:sp>
          <p:nvSpPr>
            <p:cNvPr id="20" name="Text Box 9"/>
            <p:cNvSpPr txBox="1">
              <a:spLocks noChangeArrowheads="1"/>
            </p:cNvSpPr>
            <p:nvPr/>
          </p:nvSpPr>
          <p:spPr bwMode="auto">
            <a:xfrm>
              <a:off x="619539" y="3001858"/>
              <a:ext cx="844826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b="1" dirty="0">
                  <a:latin typeface="Angsana New" pitchFamily="18" charset="-34"/>
                </a:rPr>
                <a:t>If 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B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en-GB" b="1" dirty="0">
                  <a:latin typeface="Angsana New" pitchFamily="18" charset="-34"/>
                </a:rPr>
                <a:t>is true </a:t>
              </a:r>
              <a:r>
                <a:rPr kumimoji="1" lang="th-TH" b="1" dirty="0">
                  <a:latin typeface="Angsana New" pitchFamily="18" charset="-34"/>
                </a:rPr>
                <a:t>(</a:t>
              </a:r>
              <a:r>
                <a:rPr kumimoji="1" lang="en-US" sz="2000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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 </a:t>
              </a:r>
              <a:r>
                <a:rPr kumimoji="1" lang="en-US" sz="2000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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 </a:t>
              </a:r>
              <a:r>
                <a:rPr kumimoji="1" lang="en-US" sz="2000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</a:t>
              </a:r>
              <a:r>
                <a:rPr kumimoji="1" lang="en-US" b="1" baseline="-25000" dirty="0">
                  <a:solidFill>
                    <a:srgbClr val="CC3399"/>
                  </a:solidFill>
                  <a:latin typeface="Angsana New" pitchFamily="18" charset="-34"/>
                </a:rPr>
                <a:t>0</a:t>
              </a:r>
              <a:r>
                <a:rPr kumimoji="1" lang="en-US" b="1" dirty="0">
                  <a:latin typeface="Angsana New" pitchFamily="18" charset="-34"/>
                </a:rPr>
                <a:t>)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en-US" sz="2400" b="1" dirty="0">
                  <a:latin typeface="Angsana New" pitchFamily="18" charset="-34"/>
                  <a:sym typeface="Symbol" panose="05050102010706020507" pitchFamily="18" charset="2"/>
                </a:rPr>
                <a:t></a:t>
              </a:r>
              <a:r>
                <a:rPr kumimoji="1" lang="en-US" b="1" dirty="0">
                  <a:latin typeface="Angsana New" pitchFamily="18" charset="-34"/>
                </a:rPr>
                <a:t>&gt; </a:t>
              </a:r>
              <a:r>
                <a:rPr kumimoji="1" lang="th-TH" b="1" dirty="0">
                  <a:latin typeface="Angsana New" pitchFamily="18" charset="-34"/>
                </a:rPr>
                <a:t> “</a:t>
              </a:r>
              <a:r>
                <a:rPr kumimoji="1" lang="en-US" sz="2000" b="1" dirty="0">
                  <a:solidFill>
                    <a:srgbClr val="0070C0"/>
                  </a:solidFill>
                  <a:latin typeface="Angsana New" pitchFamily="18" charset="-34"/>
                  <a:sym typeface="Symbol" panose="05050102010706020507" pitchFamily="18" charset="2"/>
                </a:rPr>
                <a:t>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  <a:sym typeface="Symbol" panose="05050102010706020507" pitchFamily="18" charset="2"/>
                </a:rPr>
                <a:t> = </a:t>
              </a:r>
              <a:r>
                <a:rPr kumimoji="1" lang="en-US" sz="2000" b="1" dirty="0">
                  <a:solidFill>
                    <a:srgbClr val="0070C0"/>
                  </a:solidFill>
                  <a:latin typeface="Angsana New" pitchFamily="18" charset="-34"/>
                  <a:sym typeface="Symbol" panose="05050102010706020507" pitchFamily="18" charset="2"/>
                </a:rPr>
                <a:t></a:t>
              </a:r>
              <a:r>
                <a:rPr kumimoji="1" lang="en-US" b="1" baseline="-25000" dirty="0">
                  <a:solidFill>
                    <a:srgbClr val="0070C0"/>
                  </a:solidFill>
                  <a:latin typeface="Angsana New" pitchFamily="18" charset="-34"/>
                </a:rPr>
                <a:t>0</a:t>
              </a:r>
              <a:r>
                <a:rPr kumimoji="1" lang="th-TH" b="1" dirty="0">
                  <a:latin typeface="Angsana New" pitchFamily="18" charset="-34"/>
                </a:rPr>
                <a:t>”</a:t>
              </a:r>
              <a:r>
                <a:rPr kumimoji="1" lang="th-TH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th-TH" b="1" dirty="0">
                  <a:latin typeface="Angsana New" pitchFamily="18" charset="-34"/>
                </a:rPr>
                <a:t>(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A </a:t>
              </a:r>
              <a:r>
                <a:rPr kumimoji="1" lang="en-GB" b="1" dirty="0">
                  <a:latin typeface="Angsana New" pitchFamily="18" charset="-34"/>
                </a:rPr>
                <a:t>is</a:t>
              </a:r>
              <a:r>
                <a:rPr kumimoji="1" lang="th-TH" b="1" dirty="0">
                  <a:latin typeface="Angsana New" pitchFamily="18" charset="-34"/>
                </a:rPr>
                <a:t> </a:t>
              </a:r>
              <a:r>
                <a:rPr kumimoji="1" lang="en-GB" b="1" dirty="0">
                  <a:latin typeface="Angsana New" pitchFamily="18" charset="-34"/>
                </a:rPr>
                <a:t>true</a:t>
              </a:r>
              <a:r>
                <a:rPr kumimoji="1" lang="en-US" b="1" dirty="0">
                  <a:latin typeface="Angsana New" pitchFamily="18" charset="-34"/>
                </a:rPr>
                <a:t>)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en-US" b="1" dirty="0">
                  <a:latin typeface="Angsana New" pitchFamily="18" charset="-34"/>
                </a:rPr>
                <a:t>=&gt; </a:t>
              </a:r>
              <a:r>
                <a:rPr kumimoji="1" lang="en-GB" b="1" dirty="0">
                  <a:latin typeface="Angsana New" pitchFamily="18" charset="-34"/>
                </a:rPr>
                <a:t>cannot conclude that</a:t>
              </a:r>
              <a:r>
                <a:rPr kumimoji="1" lang="en-GB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H</a:t>
              </a:r>
              <a:r>
                <a:rPr kumimoji="1" lang="en-US" b="1" baseline="-25000" dirty="0">
                  <a:solidFill>
                    <a:srgbClr val="0070C0"/>
                  </a:solidFill>
                  <a:latin typeface="Angsana New" pitchFamily="18" charset="-34"/>
                </a:rPr>
                <a:t>0  </a:t>
              </a:r>
              <a:r>
                <a:rPr kumimoji="1" lang="en-GB" b="1" dirty="0">
                  <a:latin typeface="Angsana New" pitchFamily="18" charset="-34"/>
                </a:rPr>
                <a:t>is true</a:t>
              </a:r>
              <a:endParaRPr kumimoji="1" lang="th-TH" b="1" baseline="-25000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  <p:sp>
          <p:nvSpPr>
            <p:cNvPr id="21" name="Text Box 9"/>
            <p:cNvSpPr txBox="1">
              <a:spLocks noChangeArrowheads="1"/>
            </p:cNvSpPr>
            <p:nvPr/>
          </p:nvSpPr>
          <p:spPr bwMode="auto">
            <a:xfrm>
              <a:off x="1838739" y="2883849"/>
              <a:ext cx="3048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^</a:t>
              </a:r>
              <a:endParaRPr kumimoji="1" lang="th-TH" b="1" baseline="-25000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19539" y="3549771"/>
            <a:ext cx="7914861" cy="641229"/>
            <a:chOff x="619539" y="2883849"/>
            <a:chExt cx="7914861" cy="641229"/>
          </a:xfrm>
        </p:grpSpPr>
        <p:sp>
          <p:nvSpPr>
            <p:cNvPr id="23" name="Text Box 9"/>
            <p:cNvSpPr txBox="1">
              <a:spLocks noChangeArrowheads="1"/>
            </p:cNvSpPr>
            <p:nvPr/>
          </p:nvSpPr>
          <p:spPr bwMode="auto">
            <a:xfrm>
              <a:off x="619539" y="3001858"/>
              <a:ext cx="791486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b="1" dirty="0">
                  <a:latin typeface="Angsana New" pitchFamily="18" charset="-34"/>
                </a:rPr>
                <a:t>If </a:t>
              </a:r>
              <a:r>
                <a:rPr kumimoji="1" lang="en-US" sz="2000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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 </a:t>
              </a:r>
              <a:r>
                <a:rPr kumimoji="1" lang="en-US" sz="2000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&gt;&gt;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 </a:t>
              </a:r>
              <a:r>
                <a:rPr kumimoji="1" lang="en-US" sz="2000" b="1" dirty="0">
                  <a:solidFill>
                    <a:srgbClr val="CC3399"/>
                  </a:solidFill>
                  <a:latin typeface="Angsana New" pitchFamily="18" charset="-34"/>
                  <a:sym typeface="Symbol" panose="05050102010706020507" pitchFamily="18" charset="2"/>
                </a:rPr>
                <a:t></a:t>
              </a:r>
              <a:r>
                <a:rPr kumimoji="1" lang="en-US" b="1" baseline="-25000" dirty="0">
                  <a:solidFill>
                    <a:srgbClr val="CC3399"/>
                  </a:solidFill>
                  <a:latin typeface="Angsana New" pitchFamily="18" charset="-34"/>
                </a:rPr>
                <a:t>0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th-TH" b="1" dirty="0">
                  <a:latin typeface="Angsana New" pitchFamily="18" charset="-34"/>
                </a:rPr>
                <a:t>(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B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en-GB" b="1" dirty="0">
                  <a:latin typeface="Angsana New" pitchFamily="18" charset="-34"/>
                </a:rPr>
                <a:t>is false</a:t>
              </a:r>
              <a:r>
                <a:rPr kumimoji="1" lang="en-US" b="1" dirty="0">
                  <a:latin typeface="Angsana New" pitchFamily="18" charset="-34"/>
                </a:rPr>
                <a:t>)</a:t>
              </a:r>
              <a:r>
                <a:rPr kumimoji="1" lang="en-GB" b="1" dirty="0">
                  <a:latin typeface="Angsana New" pitchFamily="18" charset="-34"/>
                </a:rPr>
                <a:t> </a:t>
              </a:r>
              <a:r>
                <a:rPr kumimoji="1" lang="en-US" b="1" dirty="0">
                  <a:latin typeface="Angsana New" pitchFamily="18" charset="-34"/>
                </a:rPr>
                <a:t>=&gt;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en-GB" b="1" dirty="0">
                  <a:latin typeface="Angsana New" pitchFamily="18" charset="-34"/>
                </a:rPr>
                <a:t>It is</a:t>
              </a:r>
              <a:r>
                <a:rPr kumimoji="1" lang="en-US" b="1" dirty="0">
                  <a:latin typeface="Angsana New" pitchFamily="18" charset="-34"/>
                </a:rPr>
                <a:t> likely that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th-TH" b="1" dirty="0">
                  <a:latin typeface="Angsana New" pitchFamily="18" charset="-34"/>
                </a:rPr>
                <a:t>“</a:t>
              </a:r>
              <a:r>
                <a:rPr kumimoji="1" lang="en-US" sz="2000" b="1" dirty="0">
                  <a:solidFill>
                    <a:srgbClr val="0070C0"/>
                  </a:solidFill>
                  <a:latin typeface="Angsana New" pitchFamily="18" charset="-34"/>
                  <a:sym typeface="Symbol" panose="05050102010706020507" pitchFamily="18" charset="2"/>
                </a:rPr>
                <a:t>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  <a:sym typeface="Symbol" panose="05050102010706020507" pitchFamily="18" charset="2"/>
                </a:rPr>
                <a:t> </a:t>
              </a:r>
              <a:r>
                <a:rPr kumimoji="1" lang="en-US" sz="2000" b="1" dirty="0">
                  <a:solidFill>
                    <a:srgbClr val="0070C0"/>
                  </a:solidFill>
                  <a:latin typeface="Angsana New" pitchFamily="18" charset="-34"/>
                  <a:sym typeface="Symbol" panose="05050102010706020507" pitchFamily="18" charset="2"/>
                </a:rPr>
                <a:t>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  <a:sym typeface="Symbol" panose="05050102010706020507" pitchFamily="18" charset="2"/>
                </a:rPr>
                <a:t> </a:t>
              </a:r>
              <a:r>
                <a:rPr kumimoji="1" lang="en-US" sz="2000" b="1" dirty="0">
                  <a:solidFill>
                    <a:srgbClr val="0070C0"/>
                  </a:solidFill>
                  <a:latin typeface="Angsana New" pitchFamily="18" charset="-34"/>
                  <a:sym typeface="Symbol" panose="05050102010706020507" pitchFamily="18" charset="2"/>
                </a:rPr>
                <a:t></a:t>
              </a:r>
              <a:r>
                <a:rPr kumimoji="1" lang="en-US" b="1" baseline="-25000" dirty="0">
                  <a:solidFill>
                    <a:srgbClr val="0070C0"/>
                  </a:solidFill>
                  <a:latin typeface="Angsana New" pitchFamily="18" charset="-34"/>
                </a:rPr>
                <a:t>0</a:t>
              </a:r>
              <a:r>
                <a:rPr kumimoji="1" lang="th-TH" b="1" dirty="0">
                  <a:latin typeface="Angsana New" pitchFamily="18" charset="-34"/>
                </a:rPr>
                <a:t>”</a:t>
              </a:r>
              <a:r>
                <a:rPr kumimoji="1" lang="th-TH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th-TH" b="1" dirty="0">
                  <a:latin typeface="Angsana New" pitchFamily="18" charset="-34"/>
                </a:rPr>
                <a:t>(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A </a:t>
              </a:r>
              <a:r>
                <a:rPr kumimoji="1" lang="en-GB" b="1" dirty="0">
                  <a:latin typeface="Angsana New" pitchFamily="18" charset="-34"/>
                </a:rPr>
                <a:t>is</a:t>
              </a:r>
              <a:r>
                <a:rPr kumimoji="1" lang="th-TH" b="1" dirty="0">
                  <a:latin typeface="Angsana New" pitchFamily="18" charset="-34"/>
                </a:rPr>
                <a:t> </a:t>
              </a:r>
              <a:r>
                <a:rPr kumimoji="1" lang="en-GB" b="1" dirty="0">
                  <a:latin typeface="Angsana New" pitchFamily="18" charset="-34"/>
                </a:rPr>
                <a:t>false</a:t>
              </a:r>
              <a:r>
                <a:rPr kumimoji="1" lang="en-US" b="1" dirty="0">
                  <a:latin typeface="Angsana New" pitchFamily="18" charset="-34"/>
                </a:rPr>
                <a:t>)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en-US" b="1" dirty="0">
                  <a:latin typeface="Angsana New" pitchFamily="18" charset="-34"/>
                </a:rPr>
                <a:t>=&gt; </a:t>
              </a:r>
              <a:r>
                <a:rPr kumimoji="1" lang="en-GB" b="1" dirty="0">
                  <a:latin typeface="Angsana New" pitchFamily="18" charset="-34"/>
                </a:rPr>
                <a:t>Reject</a:t>
              </a:r>
              <a:r>
                <a:rPr kumimoji="1" lang="en-GB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H</a:t>
              </a:r>
              <a:r>
                <a:rPr kumimoji="1" lang="en-US" b="1" baseline="-25000" dirty="0">
                  <a:solidFill>
                    <a:srgbClr val="0070C0"/>
                  </a:solidFill>
                  <a:latin typeface="Angsana New" pitchFamily="18" charset="-34"/>
                </a:rPr>
                <a:t>0</a:t>
              </a:r>
              <a:endParaRPr kumimoji="1" lang="th-TH" b="1" baseline="-25000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  <p:sp>
          <p:nvSpPr>
            <p:cNvPr id="24" name="Text Box 9"/>
            <p:cNvSpPr txBox="1">
              <a:spLocks noChangeArrowheads="1"/>
            </p:cNvSpPr>
            <p:nvPr/>
          </p:nvSpPr>
          <p:spPr bwMode="auto">
            <a:xfrm>
              <a:off x="854766" y="2883849"/>
              <a:ext cx="3048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^</a:t>
              </a:r>
              <a:endParaRPr kumimoji="1" lang="th-TH" b="1" baseline="-25000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84483" y="4389747"/>
            <a:ext cx="8039100" cy="523220"/>
            <a:chOff x="84483" y="3872913"/>
            <a:chExt cx="8039100" cy="523220"/>
          </a:xfrm>
        </p:grpSpPr>
        <p:sp>
          <p:nvSpPr>
            <p:cNvPr id="49159" name="Text Box 7"/>
            <p:cNvSpPr txBox="1">
              <a:spLocks noChangeArrowheads="1"/>
            </p:cNvSpPr>
            <p:nvPr/>
          </p:nvSpPr>
          <p:spPr bwMode="auto">
            <a:xfrm>
              <a:off x="84483" y="3872913"/>
              <a:ext cx="80391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lang="en-GB" b="1" dirty="0">
                  <a:solidFill>
                    <a:srgbClr val="FF9900"/>
                  </a:solidFill>
                  <a:latin typeface="Angsana New" pitchFamily="18" charset="-34"/>
                </a:rPr>
                <a:t>For example,</a:t>
              </a:r>
              <a:r>
                <a:rPr lang="th-TH" b="1" dirty="0">
                  <a:solidFill>
                    <a:schemeClr val="bg2"/>
                  </a:solidFill>
                  <a:latin typeface="Angsana New" pitchFamily="18" charset="-34"/>
                </a:rPr>
                <a:t> </a:t>
              </a:r>
              <a:r>
                <a:rPr lang="th-TH" b="1" dirty="0">
                  <a:latin typeface="Angsana New" pitchFamily="18" charset="-34"/>
                </a:rPr>
                <a:t> </a:t>
              </a:r>
              <a:r>
                <a:rPr lang="en-US" b="1" dirty="0">
                  <a:latin typeface="Angsana New" pitchFamily="18" charset="-34"/>
                </a:rPr>
                <a:t>if 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H</a:t>
              </a:r>
              <a:r>
                <a:rPr kumimoji="1" lang="en-US" b="1" baseline="-25000" dirty="0">
                  <a:solidFill>
                    <a:srgbClr val="0070C0"/>
                  </a:solidFill>
                  <a:latin typeface="Angsana New" pitchFamily="18" charset="-34"/>
                </a:rPr>
                <a:t>0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:</a:t>
              </a:r>
              <a:r>
                <a:rPr lang="th-TH" b="1" dirty="0">
                  <a:solidFill>
                    <a:srgbClr val="0070C0"/>
                  </a:solidFill>
                  <a:latin typeface="Angsana New" pitchFamily="18" charset="-34"/>
                </a:rPr>
                <a:t>  </a:t>
              </a:r>
              <a:r>
                <a:rPr lang="th-TH" sz="2000" b="1" dirty="0">
                  <a:solidFill>
                    <a:srgbClr val="0070C0"/>
                  </a:solidFill>
                  <a:latin typeface="Angsana New" pitchFamily="18" charset="-34"/>
                  <a:sym typeface="Symbol"/>
                </a:rPr>
                <a:t></a:t>
              </a:r>
              <a:r>
                <a:rPr lang="en-US" b="1" dirty="0">
                  <a:solidFill>
                    <a:srgbClr val="0070C0"/>
                  </a:solidFill>
                  <a:latin typeface="Angsana New" pitchFamily="18" charset="-34"/>
                  <a:sym typeface="Symbol"/>
                </a:rPr>
                <a:t> </a:t>
              </a:r>
              <a:r>
                <a:rPr lang="en-US" b="1" dirty="0">
                  <a:solidFill>
                    <a:srgbClr val="0070C0"/>
                  </a:solidFill>
                  <a:latin typeface="Angsana New" pitchFamily="18" charset="-34"/>
                </a:rPr>
                <a:t>= 100 </a:t>
              </a:r>
              <a:r>
                <a:rPr lang="th-TH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lang="en-GB" b="1" dirty="0">
                  <a:latin typeface="Angsana New" pitchFamily="18" charset="-34"/>
                </a:rPr>
                <a:t>is true 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=&gt; </a:t>
              </a:r>
              <a:r>
                <a:rPr kumimoji="1" lang="en-GB" b="1" dirty="0">
                  <a:latin typeface="Angsana New" pitchFamily="18" charset="-34"/>
                </a:rPr>
                <a:t>It is</a:t>
              </a:r>
              <a:r>
                <a:rPr kumimoji="1" lang="en-US" b="1" dirty="0">
                  <a:latin typeface="Angsana New" pitchFamily="18" charset="-34"/>
                </a:rPr>
                <a:t> likely that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X </a:t>
              </a:r>
              <a:r>
                <a:rPr lang="th-TH" sz="20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</a:t>
              </a:r>
              <a:r>
                <a:rPr lang="th-TH" b="1" dirty="0">
                  <a:solidFill>
                    <a:srgbClr val="CC3399"/>
                  </a:solidFill>
                  <a:latin typeface="Angsana New" pitchFamily="18" charset="-34"/>
                </a:rPr>
                <a:t> 100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  </a:t>
              </a:r>
              <a:endParaRPr lang="th-TH" b="1" dirty="0">
                <a:solidFill>
                  <a:srgbClr val="006600"/>
                </a:solidFill>
                <a:latin typeface="Angsana New" pitchFamily="18" charset="-34"/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 bwMode="auto">
            <a:xfrm>
              <a:off x="5665305" y="4008783"/>
              <a:ext cx="1524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99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" name="Group 6"/>
          <p:cNvGrpSpPr/>
          <p:nvPr/>
        </p:nvGrpSpPr>
        <p:grpSpPr>
          <a:xfrm>
            <a:off x="1502466" y="4870414"/>
            <a:ext cx="7281800" cy="523220"/>
            <a:chOff x="107674" y="4943061"/>
            <a:chExt cx="5710031" cy="523220"/>
          </a:xfrm>
        </p:grpSpPr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107674" y="4943061"/>
              <a:ext cx="571003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GB" b="1" dirty="0">
                  <a:latin typeface="Angsana New" pitchFamily="18" charset="-34"/>
                </a:rPr>
                <a:t>If 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X &gt;&gt; 100  </a:t>
              </a:r>
              <a:r>
                <a:rPr lang="en-GB" b="1" dirty="0">
                  <a:latin typeface="Angsana New" pitchFamily="18" charset="-34"/>
                </a:rPr>
                <a:t>=&gt;</a:t>
              </a:r>
              <a:r>
                <a:rPr lang="en-US" b="1" dirty="0">
                  <a:latin typeface="Angsana New" pitchFamily="18" charset="-34"/>
                </a:rPr>
                <a:t> </a:t>
              </a:r>
              <a:r>
                <a:rPr kumimoji="1" lang="en-GB" b="1" dirty="0">
                  <a:latin typeface="Angsana New" pitchFamily="18" charset="-34"/>
                </a:rPr>
                <a:t>It is</a:t>
              </a:r>
              <a:r>
                <a:rPr kumimoji="1" lang="en-US" b="1" dirty="0">
                  <a:latin typeface="Angsana New" pitchFamily="18" charset="-34"/>
                </a:rPr>
                <a:t> likely that </a:t>
              </a:r>
              <a:r>
                <a:rPr lang="th-TH" sz="2000" b="1" dirty="0">
                  <a:solidFill>
                    <a:srgbClr val="0070C0"/>
                  </a:solidFill>
                  <a:latin typeface="Angsana New" pitchFamily="18" charset="-34"/>
                  <a:sym typeface="Symbol"/>
                </a:rPr>
                <a:t></a:t>
              </a:r>
              <a:r>
                <a:rPr lang="en-US" b="1" dirty="0">
                  <a:solidFill>
                    <a:srgbClr val="0070C0"/>
                  </a:solidFill>
                  <a:latin typeface="Angsana New" pitchFamily="18" charset="-34"/>
                  <a:sym typeface="Symbol"/>
                </a:rPr>
                <a:t> 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  <a:sym typeface="Symbol" panose="05050102010706020507" pitchFamily="18" charset="2"/>
                </a:rPr>
                <a:t></a:t>
              </a:r>
              <a:r>
                <a:rPr lang="en-US" b="1" dirty="0">
                  <a:solidFill>
                    <a:srgbClr val="0070C0"/>
                  </a:solidFill>
                  <a:latin typeface="Angsana New" pitchFamily="18" charset="-34"/>
                </a:rPr>
                <a:t> 100</a:t>
              </a:r>
              <a:r>
                <a:rPr lang="en-US" b="1" dirty="0">
                  <a:latin typeface="Angsana New" pitchFamily="18" charset="-34"/>
                </a:rPr>
                <a:t> =&gt; </a:t>
              </a:r>
              <a:r>
                <a:rPr kumimoji="1" lang="en-GB" b="1" dirty="0">
                  <a:solidFill>
                    <a:srgbClr val="FF0000"/>
                  </a:solidFill>
                  <a:latin typeface="Angsana New" pitchFamily="18" charset="-34"/>
                </a:rPr>
                <a:t>Reject</a:t>
              </a:r>
              <a:r>
                <a:rPr kumimoji="1" lang="en-GB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H</a:t>
              </a:r>
              <a:r>
                <a:rPr kumimoji="1" lang="en-US" b="1" baseline="-25000" dirty="0">
                  <a:solidFill>
                    <a:srgbClr val="0070C0"/>
                  </a:solidFill>
                  <a:latin typeface="Angsana New" pitchFamily="18" charset="-34"/>
                </a:rPr>
                <a:t>0 </a:t>
              </a:r>
              <a:r>
                <a:rPr kumimoji="1" lang="en-GB" b="1" dirty="0">
                  <a:latin typeface="Angsana New" pitchFamily="18" charset="-34"/>
                </a:rPr>
                <a:t>    or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endParaRPr lang="th-TH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  <p:cxnSp>
          <p:nvCxnSpPr>
            <p:cNvPr id="28" name="Straight Connector 27"/>
            <p:cNvCxnSpPr/>
            <p:nvPr/>
          </p:nvCxnSpPr>
          <p:spPr bwMode="auto">
            <a:xfrm>
              <a:off x="363568" y="5095461"/>
              <a:ext cx="112918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99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3" name="Group 32"/>
          <p:cNvGrpSpPr/>
          <p:nvPr/>
        </p:nvGrpSpPr>
        <p:grpSpPr>
          <a:xfrm>
            <a:off x="1504122" y="5393634"/>
            <a:ext cx="7281800" cy="523220"/>
            <a:chOff x="107674" y="4943061"/>
            <a:chExt cx="5710031" cy="523220"/>
          </a:xfrm>
        </p:grpSpPr>
        <p:sp>
          <p:nvSpPr>
            <p:cNvPr id="34" name="Text Box 7"/>
            <p:cNvSpPr txBox="1">
              <a:spLocks noChangeArrowheads="1"/>
            </p:cNvSpPr>
            <p:nvPr/>
          </p:nvSpPr>
          <p:spPr bwMode="auto">
            <a:xfrm>
              <a:off x="107674" y="4943061"/>
              <a:ext cx="571003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GB" b="1" dirty="0">
                  <a:latin typeface="Angsana New" pitchFamily="18" charset="-34"/>
                </a:rPr>
                <a:t>if 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X &lt;&lt; 100  </a:t>
              </a:r>
              <a:r>
                <a:rPr lang="en-GB" b="1" dirty="0">
                  <a:latin typeface="Angsana New" pitchFamily="18" charset="-34"/>
                </a:rPr>
                <a:t>=&gt;</a:t>
              </a:r>
              <a:r>
                <a:rPr lang="en-US" b="1" dirty="0">
                  <a:latin typeface="Angsana New" pitchFamily="18" charset="-34"/>
                </a:rPr>
                <a:t> </a:t>
              </a:r>
              <a:r>
                <a:rPr kumimoji="1" lang="en-GB" b="1" dirty="0">
                  <a:latin typeface="Angsana New" pitchFamily="18" charset="-34"/>
                </a:rPr>
                <a:t>It is</a:t>
              </a:r>
              <a:r>
                <a:rPr kumimoji="1" lang="en-US" b="1" dirty="0">
                  <a:latin typeface="Angsana New" pitchFamily="18" charset="-34"/>
                </a:rPr>
                <a:t> likely that </a:t>
              </a:r>
              <a:r>
                <a:rPr lang="th-TH" sz="2000" b="1" dirty="0">
                  <a:solidFill>
                    <a:srgbClr val="0070C0"/>
                  </a:solidFill>
                  <a:latin typeface="Angsana New" pitchFamily="18" charset="-34"/>
                  <a:sym typeface="Symbol"/>
                </a:rPr>
                <a:t></a:t>
              </a:r>
              <a:r>
                <a:rPr lang="en-US" b="1" dirty="0">
                  <a:solidFill>
                    <a:srgbClr val="0070C0"/>
                  </a:solidFill>
                  <a:latin typeface="Angsana New" pitchFamily="18" charset="-34"/>
                  <a:sym typeface="Symbol"/>
                </a:rPr>
                <a:t> 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  <a:sym typeface="Symbol" panose="05050102010706020507" pitchFamily="18" charset="2"/>
                </a:rPr>
                <a:t></a:t>
              </a:r>
              <a:r>
                <a:rPr lang="en-US" b="1" dirty="0">
                  <a:solidFill>
                    <a:srgbClr val="0070C0"/>
                  </a:solidFill>
                  <a:latin typeface="Angsana New" pitchFamily="18" charset="-34"/>
                </a:rPr>
                <a:t> 100</a:t>
              </a:r>
              <a:r>
                <a:rPr lang="en-US" b="1" dirty="0">
                  <a:latin typeface="Angsana New" pitchFamily="18" charset="-34"/>
                </a:rPr>
                <a:t> =&gt; </a:t>
              </a:r>
              <a:r>
                <a:rPr kumimoji="1" lang="en-GB" b="1" dirty="0">
                  <a:solidFill>
                    <a:srgbClr val="FF0000"/>
                  </a:solidFill>
                  <a:latin typeface="Angsana New" pitchFamily="18" charset="-34"/>
                </a:rPr>
                <a:t>Reject</a:t>
              </a:r>
              <a:r>
                <a:rPr kumimoji="1" lang="en-GB" b="1" dirty="0">
                  <a:solidFill>
                    <a:srgbClr val="0070C0"/>
                  </a:solidFill>
                  <a:latin typeface="Angsana New" pitchFamily="18" charset="-34"/>
                </a:rPr>
                <a:t> 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H</a:t>
              </a:r>
              <a:r>
                <a:rPr kumimoji="1" lang="en-US" b="1" baseline="-25000" dirty="0">
                  <a:solidFill>
                    <a:srgbClr val="0070C0"/>
                  </a:solidFill>
                  <a:latin typeface="Angsana New" pitchFamily="18" charset="-34"/>
                </a:rPr>
                <a:t>0</a:t>
              </a:r>
              <a:r>
                <a:rPr kumimoji="1" lang="en-GB" b="1" dirty="0">
                  <a:latin typeface="Angsana New" pitchFamily="18" charset="-34"/>
                </a:rPr>
                <a:t>     but</a:t>
              </a:r>
              <a:endParaRPr lang="th-TH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  <p:cxnSp>
          <p:nvCxnSpPr>
            <p:cNvPr id="35" name="Straight Connector 34"/>
            <p:cNvCxnSpPr/>
            <p:nvPr/>
          </p:nvCxnSpPr>
          <p:spPr bwMode="auto">
            <a:xfrm>
              <a:off x="347981" y="5085522"/>
              <a:ext cx="112918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99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6" name="Group 35"/>
          <p:cNvGrpSpPr/>
          <p:nvPr/>
        </p:nvGrpSpPr>
        <p:grpSpPr>
          <a:xfrm>
            <a:off x="1371600" y="5905374"/>
            <a:ext cx="7929500" cy="523220"/>
            <a:chOff x="6144" y="4970855"/>
            <a:chExt cx="6217926" cy="523220"/>
          </a:xfrm>
        </p:grpSpPr>
        <p:sp>
          <p:nvSpPr>
            <p:cNvPr id="37" name="Text Box 7"/>
            <p:cNvSpPr txBox="1">
              <a:spLocks noChangeArrowheads="1"/>
            </p:cNvSpPr>
            <p:nvPr/>
          </p:nvSpPr>
          <p:spPr bwMode="auto">
            <a:xfrm>
              <a:off x="6144" y="4970855"/>
              <a:ext cx="6217926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GB" b="1" dirty="0">
                  <a:latin typeface="Angsana New" pitchFamily="18" charset="-34"/>
                </a:rPr>
                <a:t>if </a:t>
              </a:r>
              <a:r>
                <a:rPr kumimoji="1" lang="en-US" b="1" dirty="0">
                  <a:latin typeface="Angsana New" pitchFamily="18" charset="-34"/>
                </a:rPr>
                <a:t> 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X </a:t>
              </a:r>
              <a:r>
                <a:rPr kumimoji="1" lang="th-TH" b="1" dirty="0">
                  <a:solidFill>
                    <a:srgbClr val="CC3399"/>
                  </a:solidFill>
                  <a:latin typeface="Angsana New" pitchFamily="18" charset="-34"/>
                </a:rPr>
                <a:t> </a:t>
              </a:r>
              <a:r>
                <a:rPr lang="th-TH" sz="20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</a:t>
              </a:r>
              <a:r>
                <a:rPr lang="en-US" sz="20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 </a:t>
              </a:r>
              <a:r>
                <a:rPr kumimoji="1" lang="en-US" sz="2000" b="1" dirty="0">
                  <a:solidFill>
                    <a:srgbClr val="CC3399"/>
                  </a:solidFill>
                  <a:latin typeface="Angsana New" pitchFamily="18" charset="-34"/>
                </a:rPr>
                <a:t> 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100  </a:t>
              </a:r>
              <a:r>
                <a:rPr lang="en-GB" b="1" dirty="0">
                  <a:latin typeface="Angsana New" pitchFamily="18" charset="-34"/>
                </a:rPr>
                <a:t>=&gt;</a:t>
              </a:r>
              <a:r>
                <a:rPr lang="en-US" b="1" dirty="0">
                  <a:latin typeface="Angsana New" pitchFamily="18" charset="-34"/>
                </a:rPr>
                <a:t> </a:t>
              </a:r>
              <a:r>
                <a:rPr kumimoji="1" lang="en-GB" b="1" dirty="0">
                  <a:latin typeface="Angsana New" pitchFamily="18" charset="-34"/>
                </a:rPr>
                <a:t>There is not enough evidence to reject </a:t>
              </a:r>
              <a:r>
                <a:rPr kumimoji="1" lang="en-US" sz="2000" b="1" dirty="0">
                  <a:solidFill>
                    <a:srgbClr val="0070C0"/>
                  </a:solidFill>
                  <a:latin typeface="Angsana New" pitchFamily="18" charset="-34"/>
                </a:rPr>
                <a:t>H</a:t>
              </a:r>
              <a:r>
                <a:rPr kumimoji="1" lang="en-US" sz="2000" b="1" baseline="-25000" dirty="0">
                  <a:solidFill>
                    <a:srgbClr val="0070C0"/>
                  </a:solidFill>
                  <a:latin typeface="Angsana New" pitchFamily="18" charset="-34"/>
                </a:rPr>
                <a:t>0</a:t>
              </a:r>
              <a:r>
                <a:rPr kumimoji="1" lang="en-GB" sz="2000" b="1" dirty="0">
                  <a:latin typeface="Angsana New" pitchFamily="18" charset="-34"/>
                </a:rPr>
                <a:t> </a:t>
              </a:r>
              <a:r>
                <a:rPr lang="en-US" b="1" dirty="0">
                  <a:latin typeface="Angsana New" pitchFamily="18" charset="-34"/>
                </a:rPr>
                <a:t>=&gt;  </a:t>
              </a:r>
              <a:r>
                <a:rPr lang="en-US" b="1" dirty="0">
                  <a:solidFill>
                    <a:srgbClr val="FF0000"/>
                  </a:solidFill>
                  <a:latin typeface="Angsana New" pitchFamily="18" charset="-34"/>
                </a:rPr>
                <a:t>Not r</a:t>
              </a:r>
              <a:r>
                <a:rPr kumimoji="1" lang="en-GB" b="1" dirty="0">
                  <a:solidFill>
                    <a:srgbClr val="FF0000"/>
                  </a:solidFill>
                  <a:latin typeface="Angsana New" pitchFamily="18" charset="-34"/>
                </a:rPr>
                <a:t>eject </a:t>
              </a:r>
              <a:r>
                <a:rPr kumimoji="1" lang="en-US" b="1" dirty="0">
                  <a:solidFill>
                    <a:srgbClr val="0070C0"/>
                  </a:solidFill>
                  <a:latin typeface="Angsana New" pitchFamily="18" charset="-34"/>
                </a:rPr>
                <a:t>H</a:t>
              </a:r>
              <a:r>
                <a:rPr kumimoji="1" lang="en-US" b="1" baseline="-25000" dirty="0">
                  <a:solidFill>
                    <a:srgbClr val="0070C0"/>
                  </a:solidFill>
                  <a:latin typeface="Angsana New" pitchFamily="18" charset="-34"/>
                </a:rPr>
                <a:t>0</a:t>
              </a:r>
              <a:r>
                <a:rPr kumimoji="1" lang="en-GB" b="1" dirty="0">
                  <a:latin typeface="Angsana New" pitchFamily="18" charset="-34"/>
                </a:rPr>
                <a:t>     </a:t>
              </a:r>
              <a:endParaRPr lang="th-TH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  <p:cxnSp>
          <p:nvCxnSpPr>
            <p:cNvPr id="38" name="Straight Connector 37"/>
            <p:cNvCxnSpPr/>
            <p:nvPr/>
          </p:nvCxnSpPr>
          <p:spPr bwMode="auto">
            <a:xfrm>
              <a:off x="293909" y="5085281"/>
              <a:ext cx="112918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99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1BD86-CC55-40D0-BDF1-825642714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D2D0C-0E2E-4E6E-9CE9-48BBDAB56A5E}" type="slidenum">
              <a:rPr lang="en-US" smtClean="0"/>
              <a:pPr>
                <a:defRPr/>
              </a:pPr>
              <a:t>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52880974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491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/>
      <p:bldP spid="49155" grpId="0" build="p" animBg="1" autoUpdateAnimBg="0"/>
      <p:bldP spid="49161" grpId="0"/>
      <p:bldP spid="10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 descr="Newsprint"/>
          <p:cNvSpPr txBox="1">
            <a:spLocks noChangeArrowheads="1"/>
          </p:cNvSpPr>
          <p:nvPr/>
        </p:nvSpPr>
        <p:spPr bwMode="auto">
          <a:xfrm>
            <a:off x="53165" y="0"/>
            <a:ext cx="8610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40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ส่วนประกอบของการทดสอบสมมุติฐาน</a:t>
            </a:r>
            <a:endParaRPr kumimoji="0" lang="th-TH" sz="4000" b="0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Angsana New" pitchFamily="18" charset="-34"/>
              <a:ea typeface="+mj-ea"/>
              <a:cs typeface="Angsana New" pitchFamily="18" charset="-34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124200" y="932826"/>
            <a:ext cx="60198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buClr>
                <a:srgbClr val="FF0066"/>
              </a:buClr>
              <a:buSzPct val="50000"/>
              <a:defRPr/>
            </a:pPr>
            <a:r>
              <a:rPr lang="en-US" sz="3200" b="1" dirty="0">
                <a:solidFill>
                  <a:srgbClr val="FF0066"/>
                </a:solidFill>
                <a:latin typeface="Angsana New" pitchFamily="18" charset="-34"/>
              </a:rPr>
              <a:t>=&gt; </a:t>
            </a:r>
            <a:r>
              <a:rPr lang="th-TH" sz="3000" b="1" dirty="0">
                <a:solidFill>
                  <a:srgbClr val="FF0066"/>
                </a:solidFill>
                <a:latin typeface="Angsana New" pitchFamily="18" charset="-34"/>
              </a:rPr>
              <a:t>ตัวสถิติทดสอบ</a:t>
            </a:r>
            <a:r>
              <a:rPr lang="en-US" sz="3000" b="1" dirty="0">
                <a:solidFill>
                  <a:srgbClr val="FF0066"/>
                </a:solidFill>
                <a:latin typeface="Angsana New" pitchFamily="18" charset="-34"/>
              </a:rPr>
              <a:t> </a:t>
            </a:r>
            <a:r>
              <a:rPr lang="th-TH" sz="3000" b="1" dirty="0">
                <a:solidFill>
                  <a:srgbClr val="FF0066"/>
                </a:solidFill>
                <a:latin typeface="Angsana New" pitchFamily="18" charset="-34"/>
              </a:rPr>
              <a:t>และ การแจกแจงของตัวสถิติทดสอบ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54169" y="1412342"/>
            <a:ext cx="32877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rgbClr val="800080"/>
              </a:buClr>
              <a:buSzPct val="65000"/>
              <a:buFont typeface="Monotype Sorts" pitchFamily="2" charset="2"/>
              <a:buChar char="n"/>
              <a:defRPr/>
            </a:pPr>
            <a:r>
              <a:rPr lang="th-TH" sz="3200" b="1" dirty="0">
                <a:latin typeface="Angsana New" pitchFamily="18" charset="-34"/>
              </a:rPr>
              <a:t>  </a:t>
            </a:r>
            <a:r>
              <a:rPr lang="th-TH" sz="3200" b="1" dirty="0">
                <a:solidFill>
                  <a:srgbClr val="660066"/>
                </a:solidFill>
                <a:latin typeface="Angsana New" pitchFamily="18" charset="-34"/>
              </a:rPr>
              <a:t>เกณฑ์ของการทดสอบ</a:t>
            </a:r>
            <a:endParaRPr lang="th-TH" sz="3200" b="1" dirty="0">
              <a:solidFill>
                <a:srgbClr val="800080"/>
              </a:solidFill>
              <a:latin typeface="Angsana New" pitchFamily="18" charset="-34"/>
            </a:endParaRPr>
          </a:p>
        </p:txBody>
      </p:sp>
      <p:sp>
        <p:nvSpPr>
          <p:cNvPr id="8" name="Text Box 10" descr="Newsprint"/>
          <p:cNvSpPr txBox="1">
            <a:spLocks noChangeArrowheads="1"/>
          </p:cNvSpPr>
          <p:nvPr/>
        </p:nvSpPr>
        <p:spPr bwMode="auto">
          <a:xfrm>
            <a:off x="3810000" y="352293"/>
            <a:ext cx="2133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buClr>
                <a:srgbClr val="008000"/>
              </a:buClr>
              <a:buSzPct val="50000"/>
              <a:defRPr/>
            </a:pPr>
            <a:r>
              <a:rPr lang="en-US" sz="3200" b="1" dirty="0">
                <a:solidFill>
                  <a:srgbClr val="008000"/>
                </a:solidFill>
                <a:latin typeface="Angsana New" pitchFamily="18" charset="-34"/>
              </a:rPr>
              <a:t>=&gt; H</a:t>
            </a:r>
            <a:r>
              <a:rPr lang="en-US" sz="4400" b="1" baseline="-25000" dirty="0">
                <a:solidFill>
                  <a:srgbClr val="008000"/>
                </a:solidFill>
                <a:latin typeface="Angsana New" pitchFamily="18" charset="-34"/>
              </a:rPr>
              <a:t>0 </a:t>
            </a:r>
            <a:r>
              <a:rPr lang="en-US" sz="3200" b="1" baseline="-25000" dirty="0">
                <a:solidFill>
                  <a:srgbClr val="008000"/>
                </a:solidFill>
                <a:latin typeface="Angsana New" pitchFamily="18" charset="-34"/>
              </a:rPr>
              <a:t>  </a:t>
            </a:r>
            <a:r>
              <a:rPr lang="th-TH" sz="3200" b="1" dirty="0">
                <a:solidFill>
                  <a:srgbClr val="008000"/>
                </a:solidFill>
                <a:latin typeface="Angsana New" pitchFamily="18" charset="-34"/>
              </a:rPr>
              <a:t>และ </a:t>
            </a:r>
            <a:r>
              <a:rPr lang="en-US" sz="3200" b="1" dirty="0">
                <a:solidFill>
                  <a:srgbClr val="008000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008000"/>
                </a:solidFill>
                <a:latin typeface="Angsana New" pitchFamily="18" charset="-34"/>
              </a:rPr>
              <a:t>1</a:t>
            </a:r>
            <a:endParaRPr lang="th-TH" sz="4400" b="1" dirty="0">
              <a:solidFill>
                <a:srgbClr val="008000"/>
              </a:solidFill>
              <a:latin typeface="Angsana New" pitchFamily="18" charset="-34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811769" y="1412342"/>
            <a:ext cx="471199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buClr>
                <a:srgbClr val="800080"/>
              </a:buClr>
              <a:buSzPct val="50000"/>
              <a:defRPr/>
            </a:pPr>
            <a:r>
              <a:rPr lang="en-US" sz="3200" b="1" dirty="0">
                <a:solidFill>
                  <a:srgbClr val="660066"/>
                </a:solidFill>
                <a:latin typeface="Angsana New" pitchFamily="18" charset="-34"/>
              </a:rPr>
              <a:t>=&gt;</a:t>
            </a:r>
            <a:r>
              <a:rPr lang="th-TH" sz="3200" b="1" dirty="0">
                <a:solidFill>
                  <a:srgbClr val="660066"/>
                </a:solidFill>
                <a:latin typeface="Angsana New" pitchFamily="18" charset="-34"/>
              </a:rPr>
              <a:t> ระดับนัยสำคัญ</a:t>
            </a:r>
            <a:r>
              <a:rPr lang="en-US" sz="3200" b="1" dirty="0">
                <a:solidFill>
                  <a:srgbClr val="660066"/>
                </a:solidFill>
                <a:latin typeface="Angsana New" pitchFamily="18" charset="-34"/>
              </a:rPr>
              <a:t> </a:t>
            </a:r>
            <a:r>
              <a:rPr lang="th-TH" sz="3200" b="1" dirty="0">
                <a:solidFill>
                  <a:srgbClr val="660066"/>
                </a:solidFill>
                <a:latin typeface="Angsana New" pitchFamily="18" charset="-34"/>
              </a:rPr>
              <a:t>และ เขตวิกฤต</a:t>
            </a:r>
            <a:endParaRPr lang="th-TH" sz="3200" dirty="0">
              <a:solidFill>
                <a:srgbClr val="9900FF"/>
              </a:solidFill>
              <a:latin typeface="Angsana New" pitchFamily="18" charset="-34"/>
            </a:endParaRP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3811769" y="1919192"/>
            <a:ext cx="425479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buClr>
                <a:srgbClr val="663300"/>
              </a:buClr>
              <a:buSzPct val="50000"/>
              <a:defRPr/>
            </a:pPr>
            <a:r>
              <a:rPr lang="en-US" sz="3200" b="1" dirty="0">
                <a:solidFill>
                  <a:srgbClr val="663300"/>
                </a:solidFill>
                <a:latin typeface="Angsana New" pitchFamily="18" charset="-34"/>
              </a:rPr>
              <a:t>=&gt;</a:t>
            </a:r>
            <a:r>
              <a:rPr lang="th-TH" sz="3200" b="1" dirty="0">
                <a:solidFill>
                  <a:srgbClr val="663300"/>
                </a:solidFill>
                <a:latin typeface="Angsana New" pitchFamily="18" charset="-34"/>
              </a:rPr>
              <a:t>  กำลังการทดสอบ</a:t>
            </a:r>
            <a:r>
              <a:rPr lang="en-US" sz="3200" b="1" dirty="0">
                <a:solidFill>
                  <a:srgbClr val="663300"/>
                </a:solidFill>
                <a:latin typeface="Angsana New" pitchFamily="18" charset="-34"/>
              </a:rPr>
              <a:t> </a:t>
            </a:r>
            <a:r>
              <a:rPr lang="th-TH" sz="3200" b="1" dirty="0">
                <a:solidFill>
                  <a:srgbClr val="663300"/>
                </a:solidFill>
                <a:latin typeface="Angsana New" pitchFamily="18" charset="-34"/>
              </a:rPr>
              <a:t>และอื่น ๆ</a:t>
            </a:r>
          </a:p>
        </p:txBody>
      </p:sp>
      <p:sp>
        <p:nvSpPr>
          <p:cNvPr id="11" name="Text Box 15" descr="Newsprint"/>
          <p:cNvSpPr txBox="1">
            <a:spLocks noChangeArrowheads="1"/>
          </p:cNvSpPr>
          <p:nvPr/>
        </p:nvSpPr>
        <p:spPr bwMode="auto">
          <a:xfrm>
            <a:off x="152400" y="473161"/>
            <a:ext cx="220894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rgbClr val="008000"/>
              </a:buClr>
              <a:buSzPct val="65000"/>
              <a:buFont typeface="Monotype Sorts" pitchFamily="2" charset="2"/>
              <a:buChar char="n"/>
              <a:defRPr/>
            </a:pPr>
            <a:r>
              <a:rPr lang="th-TH" sz="3200" b="1" dirty="0">
                <a:solidFill>
                  <a:srgbClr val="008000"/>
                </a:solidFill>
                <a:latin typeface="Angsana New" pitchFamily="18" charset="-34"/>
              </a:rPr>
              <a:t>  สมมุติฐาน</a:t>
            </a:r>
            <a:endParaRPr lang="th-TH" sz="3200" dirty="0">
              <a:solidFill>
                <a:srgbClr val="008000"/>
              </a:solidFill>
              <a:latin typeface="Angsana New" pitchFamily="18" charset="-34"/>
            </a:endParaRPr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152400" y="914400"/>
            <a:ext cx="3276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rgbClr val="FF0066"/>
              </a:buClr>
              <a:buSzPct val="65000"/>
              <a:buFont typeface="Monotype Sorts" pitchFamily="2" charset="2"/>
              <a:buChar char="n"/>
              <a:defRPr/>
            </a:pPr>
            <a:r>
              <a:rPr lang="th-TH" sz="3200" dirty="0">
                <a:solidFill>
                  <a:schemeClr val="folHlink"/>
                </a:solidFill>
                <a:latin typeface="Angsana New" pitchFamily="18" charset="-34"/>
              </a:rPr>
              <a:t>  </a:t>
            </a:r>
            <a:r>
              <a:rPr lang="th-TH" sz="3200" b="1" dirty="0">
                <a:solidFill>
                  <a:srgbClr val="FF0066"/>
                </a:solidFill>
                <a:latin typeface="Angsana New" pitchFamily="18" charset="-34"/>
              </a:rPr>
              <a:t>สถิติสำหรับการทดสอบ</a:t>
            </a:r>
            <a:endParaRPr lang="th-TH" sz="3200" b="1" dirty="0">
              <a:solidFill>
                <a:srgbClr val="CC6600"/>
              </a:solidFill>
              <a:latin typeface="Angsana New" pitchFamily="18" charset="-34"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152400" y="1920917"/>
            <a:ext cx="3810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rgbClr val="663300"/>
              </a:buClr>
              <a:buSzPct val="65000"/>
              <a:buFont typeface="Monotype Sorts" pitchFamily="2" charset="2"/>
              <a:buChar char="n"/>
              <a:defRPr/>
            </a:pPr>
            <a:r>
              <a:rPr lang="th-TH" sz="3200" b="1" dirty="0">
                <a:solidFill>
                  <a:srgbClr val="663300"/>
                </a:solidFill>
                <a:latin typeface="Angsana New" pitchFamily="18" charset="-34"/>
              </a:rPr>
              <a:t> ประสิทธิภาพของการทดสอบ</a:t>
            </a: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10633" y="2503967"/>
            <a:ext cx="4408967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ขั้นตอนการทดสอบสมมุติฐาน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28918" y="5353847"/>
            <a:ext cx="8896350" cy="731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0"/>
              </a:spcBef>
              <a:defRPr/>
            </a:pPr>
            <a:r>
              <a:rPr lang="th-TH" sz="3200" b="1" dirty="0">
                <a:solidFill>
                  <a:srgbClr val="006600"/>
                </a:solidFill>
                <a:latin typeface="Angsana New" pitchFamily="18" charset="-34"/>
              </a:rPr>
              <a:t>5.  เกณฑ์การทดสอบ : เลือกระดับนัยสำคัญ &amp; หาเขตวิกฤต</a:t>
            </a:r>
            <a:r>
              <a:rPr lang="th-TH" sz="3200" b="1" dirty="0">
                <a:solidFill>
                  <a:srgbClr val="CC9900"/>
                </a:solidFill>
                <a:latin typeface="Angsana New" pitchFamily="18" charset="-34"/>
              </a:rPr>
              <a:t>  </a:t>
            </a:r>
            <a:endParaRPr lang="th-TH" sz="3200" b="1" dirty="0">
              <a:solidFill>
                <a:schemeClr val="tx2"/>
              </a:solidFill>
              <a:latin typeface="Angsana New" pitchFamily="18" charset="-34"/>
            </a:endParaRP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133350" y="4890992"/>
            <a:ext cx="55054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lang="th-TH" sz="3200" b="1" dirty="0">
                <a:solidFill>
                  <a:schemeClr val="tx2"/>
                </a:solidFill>
                <a:latin typeface="Angsana New" pitchFamily="18" charset="-34"/>
              </a:rPr>
              <a:t>4.  เก็บรวบรวมข้อมูล คำนวณค่าตัวสถิติทดสอบ</a:t>
            </a:r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131134" y="5811047"/>
            <a:ext cx="7239000" cy="731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0"/>
              </a:spcBef>
              <a:defRPr/>
            </a:pPr>
            <a:r>
              <a:rPr lang="en-US" sz="3200" b="1" dirty="0">
                <a:solidFill>
                  <a:srgbClr val="FF0000"/>
                </a:solidFill>
                <a:latin typeface="Angsana New" pitchFamily="18" charset="-34"/>
              </a:rPr>
              <a:t>6.  </a:t>
            </a:r>
            <a:r>
              <a:rPr lang="th-TH" sz="3200" b="1" dirty="0">
                <a:solidFill>
                  <a:srgbClr val="FF0000"/>
                </a:solidFill>
                <a:latin typeface="Angsana New" pitchFamily="18" charset="-34"/>
              </a:rPr>
              <a:t>ตัดสินใจ </a:t>
            </a:r>
            <a:r>
              <a:rPr lang="en-US" sz="3200" b="1" dirty="0">
                <a:solidFill>
                  <a:srgbClr val="FF0000"/>
                </a:solidFill>
                <a:latin typeface="Angsana New" pitchFamily="18" charset="-34"/>
              </a:rPr>
              <a:t>: </a:t>
            </a:r>
            <a:r>
              <a:rPr lang="th-TH" sz="3200" b="1" dirty="0">
                <a:solidFill>
                  <a:srgbClr val="FF0000"/>
                </a:solidFill>
                <a:latin typeface="Angsana New" pitchFamily="18" charset="-34"/>
              </a:rPr>
              <a:t>ปฏิเสธ </a:t>
            </a:r>
            <a:r>
              <a:rPr lang="th-TH" sz="3200" b="1" dirty="0">
                <a:solidFill>
                  <a:srgbClr val="FF6600"/>
                </a:solidFill>
                <a:latin typeface="Angsana New" pitchFamily="18" charset="-34"/>
              </a:rPr>
              <a:t> </a:t>
            </a:r>
            <a:r>
              <a:rPr lang="th-TH" sz="3200" b="1" dirty="0">
                <a:solidFill>
                  <a:srgbClr val="00CC66"/>
                </a:solidFill>
                <a:latin typeface="Angsana New" pitchFamily="18" charset="-34"/>
              </a:rPr>
              <a:t>หรือ</a:t>
            </a:r>
            <a:r>
              <a:rPr lang="th-TH" sz="3200" b="1" dirty="0">
                <a:solidFill>
                  <a:srgbClr val="FF6600"/>
                </a:solidFill>
                <a:latin typeface="Angsana New" pitchFamily="18" charset="-34"/>
              </a:rPr>
              <a:t> </a:t>
            </a:r>
            <a:r>
              <a:rPr lang="th-TH" sz="3200" b="1" dirty="0">
                <a:solidFill>
                  <a:srgbClr val="FF0000"/>
                </a:solidFill>
                <a:latin typeface="Angsana New" pitchFamily="18" charset="-34"/>
              </a:rPr>
              <a:t>ไม่ปฏิเสธ </a:t>
            </a:r>
            <a:r>
              <a:rPr lang="en-US" sz="3200" b="1" dirty="0">
                <a:solidFill>
                  <a:srgbClr val="FF0000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FF0000"/>
                </a:solidFill>
                <a:latin typeface="Angsana New" pitchFamily="18" charset="-34"/>
              </a:rPr>
              <a:t>0</a:t>
            </a:r>
            <a:endParaRPr lang="th-TH" sz="4400" b="1" baseline="-25000" dirty="0">
              <a:solidFill>
                <a:srgbClr val="FF6600"/>
              </a:solidFill>
              <a:latin typeface="Angsana New" pitchFamily="18" charset="-34"/>
            </a:endParaRPr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131134" y="6316805"/>
            <a:ext cx="6477000" cy="594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0"/>
              </a:spcBef>
              <a:defRPr/>
            </a:pPr>
            <a:r>
              <a:rPr lang="th-TH" sz="3200" b="1" dirty="0">
                <a:solidFill>
                  <a:srgbClr val="660066"/>
                </a:solidFill>
                <a:latin typeface="Angsana New" pitchFamily="18" charset="-34"/>
              </a:rPr>
              <a:t>7.  สรุปผล และ แปลความหมาย</a:t>
            </a:r>
            <a:r>
              <a:rPr lang="th-TH" sz="3200" b="1" dirty="0">
                <a:solidFill>
                  <a:srgbClr val="CC9900"/>
                </a:solidFill>
                <a:latin typeface="Angsana New" pitchFamily="18" charset="-34"/>
              </a:rPr>
              <a:t>  </a:t>
            </a:r>
            <a:endParaRPr lang="th-TH" sz="3200" b="1" dirty="0">
              <a:solidFill>
                <a:schemeClr val="tx2"/>
              </a:solidFill>
              <a:latin typeface="Angsana New" pitchFamily="18" charset="-34"/>
            </a:endParaRPr>
          </a:p>
        </p:txBody>
      </p:sp>
      <p:sp>
        <p:nvSpPr>
          <p:cNvPr id="23" name="Text Box 8" descr="Newsprint"/>
          <p:cNvSpPr txBox="1">
            <a:spLocks noChangeArrowheads="1"/>
          </p:cNvSpPr>
          <p:nvPr/>
        </p:nvSpPr>
        <p:spPr bwMode="auto">
          <a:xfrm>
            <a:off x="131134" y="3340506"/>
            <a:ext cx="4648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th-TH" sz="3200" b="1" dirty="0">
                <a:solidFill>
                  <a:srgbClr val="663300"/>
                </a:solidFill>
                <a:latin typeface="Angsana New" pitchFamily="18" charset="-34"/>
              </a:rPr>
              <a:t>2.</a:t>
            </a:r>
            <a:r>
              <a:rPr kumimoji="1" lang="en-US" sz="3200" b="1" dirty="0">
                <a:solidFill>
                  <a:srgbClr val="663300"/>
                </a:solidFill>
                <a:latin typeface="Angsana New" pitchFamily="18" charset="-34"/>
              </a:rPr>
              <a:t> </a:t>
            </a:r>
            <a:r>
              <a:rPr kumimoji="1" lang="th-TH" sz="3200" b="1" dirty="0">
                <a:solidFill>
                  <a:srgbClr val="663300"/>
                </a:solidFill>
                <a:latin typeface="Angsana New" pitchFamily="18" charset="-34"/>
              </a:rPr>
              <a:t>ตั้งสมมุติฐาน   </a:t>
            </a:r>
            <a:r>
              <a:rPr kumimoji="1" lang="en-US" sz="3200" b="1" dirty="0">
                <a:solidFill>
                  <a:srgbClr val="663300"/>
                </a:solidFill>
                <a:latin typeface="Angsana New" pitchFamily="18" charset="-34"/>
              </a:rPr>
              <a:t>=&gt;</a:t>
            </a:r>
            <a:r>
              <a:rPr kumimoji="1" lang="th-TH" sz="3200" b="1" dirty="0">
                <a:solidFill>
                  <a:srgbClr val="663300"/>
                </a:solidFill>
                <a:latin typeface="Angsana New" pitchFamily="18" charset="-34"/>
              </a:rPr>
              <a:t>   </a:t>
            </a:r>
            <a:r>
              <a:rPr kumimoji="1" lang="en-US" sz="3200" b="1" dirty="0">
                <a:solidFill>
                  <a:srgbClr val="663300"/>
                </a:solidFill>
                <a:latin typeface="Angsana New" pitchFamily="18" charset="-34"/>
              </a:rPr>
              <a:t>H</a:t>
            </a:r>
            <a:r>
              <a:rPr kumimoji="1" lang="en-US" sz="4800" b="1" baseline="-25000" dirty="0">
                <a:solidFill>
                  <a:srgbClr val="663300"/>
                </a:solidFill>
                <a:latin typeface="Angsana New" pitchFamily="18" charset="-34"/>
              </a:rPr>
              <a:t>0 </a:t>
            </a:r>
            <a:r>
              <a:rPr kumimoji="1" lang="en-US" sz="4800" b="1" dirty="0">
                <a:solidFill>
                  <a:srgbClr val="663300"/>
                </a:solidFill>
                <a:latin typeface="Angsana New" pitchFamily="18" charset="-34"/>
              </a:rPr>
              <a:t> </a:t>
            </a:r>
            <a:r>
              <a:rPr kumimoji="1" lang="en-US" sz="4800" b="1" dirty="0">
                <a:latin typeface="Angsana New" pitchFamily="18" charset="-34"/>
              </a:rPr>
              <a:t>VS  </a:t>
            </a:r>
            <a:r>
              <a:rPr kumimoji="1" lang="en-US" sz="3200" b="1" dirty="0">
                <a:solidFill>
                  <a:srgbClr val="663300"/>
                </a:solidFill>
                <a:latin typeface="Angsana New" pitchFamily="18" charset="-34"/>
              </a:rPr>
              <a:t>H</a:t>
            </a:r>
            <a:r>
              <a:rPr kumimoji="1" lang="en-US" sz="4800" b="1" baseline="-25000" dirty="0">
                <a:solidFill>
                  <a:srgbClr val="663300"/>
                </a:solidFill>
                <a:latin typeface="Angsana New" pitchFamily="18" charset="-34"/>
              </a:rPr>
              <a:t>1</a:t>
            </a:r>
            <a:endParaRPr kumimoji="1" lang="th-TH" sz="4800" b="1" baseline="-25000" dirty="0">
              <a:solidFill>
                <a:srgbClr val="663300"/>
              </a:solidFill>
              <a:latin typeface="Angsana New" pitchFamily="18" charset="-34"/>
            </a:endParaRPr>
          </a:p>
        </p:txBody>
      </p:sp>
      <p:sp>
        <p:nvSpPr>
          <p:cNvPr id="24" name="Text Box 9"/>
          <p:cNvSpPr txBox="1">
            <a:spLocks noChangeArrowheads="1"/>
          </p:cNvSpPr>
          <p:nvPr/>
        </p:nvSpPr>
        <p:spPr bwMode="auto">
          <a:xfrm>
            <a:off x="133350" y="3997837"/>
            <a:ext cx="878205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tabLst>
                <a:tab pos="3890963" algn="l"/>
              </a:tabLst>
              <a:defRPr/>
            </a:pPr>
            <a:r>
              <a:rPr kumimoji="1" lang="th-TH" sz="3200" b="1" dirty="0">
                <a:solidFill>
                  <a:srgbClr val="0070C0"/>
                </a:solidFill>
                <a:latin typeface="Angsana New" pitchFamily="18" charset="-34"/>
              </a:rPr>
              <a:t>3.  เลือกตัวสถิติทดสอบ</a:t>
            </a:r>
            <a:r>
              <a:rPr kumimoji="1" lang="en-US" sz="3200" b="1" dirty="0">
                <a:solidFill>
                  <a:srgbClr val="0070C0"/>
                </a:solidFill>
                <a:latin typeface="Angsana New" pitchFamily="18" charset="-34"/>
              </a:rPr>
              <a:t>	</a:t>
            </a:r>
            <a:r>
              <a:rPr kumimoji="1" lang="th-TH" sz="3200" b="1" dirty="0">
                <a:solidFill>
                  <a:srgbClr val="0070C0"/>
                </a:solidFill>
                <a:latin typeface="Angsana New" pitchFamily="18" charset="-34"/>
              </a:rPr>
              <a:t>=&gt; ที่เหมาะสม / สอดคล้องกับการทดสอบ</a:t>
            </a:r>
          </a:p>
          <a:p>
            <a:pPr eaLnBrk="0" hangingPunct="0">
              <a:spcBef>
                <a:spcPts val="0"/>
              </a:spcBef>
              <a:tabLst>
                <a:tab pos="3890963" algn="l"/>
              </a:tabLst>
              <a:defRPr/>
            </a:pPr>
            <a:r>
              <a:rPr kumimoji="1" lang="th-TH" sz="3200" b="1" dirty="0">
                <a:solidFill>
                  <a:srgbClr val="0070C0"/>
                </a:solidFill>
                <a:latin typeface="Angsana New" pitchFamily="18" charset="-34"/>
              </a:rPr>
              <a:t>      </a:t>
            </a:r>
            <a:r>
              <a:rPr kumimoji="1" lang="en-US" sz="3200" b="1" dirty="0">
                <a:solidFill>
                  <a:srgbClr val="0070C0"/>
                </a:solidFill>
                <a:latin typeface="Angsana New" pitchFamily="18" charset="-34"/>
              </a:rPr>
              <a:t>	</a:t>
            </a:r>
            <a:r>
              <a:rPr kumimoji="1" lang="th-TH" sz="3200" b="1" dirty="0">
                <a:solidFill>
                  <a:srgbClr val="0070C0"/>
                </a:solidFill>
                <a:latin typeface="Angsana New" pitchFamily="18" charset="-34"/>
              </a:rPr>
              <a:t>=&gt; ที่มีประสิทธิภาพ</a:t>
            </a:r>
          </a:p>
        </p:txBody>
      </p:sp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133350" y="2973569"/>
            <a:ext cx="3752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 eaLnBrk="0" hangingPunct="0">
              <a:spcBef>
                <a:spcPts val="0"/>
              </a:spcBef>
              <a:defRPr/>
            </a:pPr>
            <a:r>
              <a:rPr lang="th-TH" sz="3200" b="1" dirty="0">
                <a:solidFill>
                  <a:srgbClr val="CC0000"/>
                </a:solidFill>
                <a:latin typeface="Angsana New" pitchFamily="18" charset="-34"/>
              </a:rPr>
              <a:t>1.  กำหนดวัตถุประสงค์ </a:t>
            </a:r>
            <a:r>
              <a:rPr lang="en-US" sz="3200" b="1" dirty="0">
                <a:solidFill>
                  <a:srgbClr val="CC0000"/>
                </a:solidFill>
                <a:latin typeface="Angsana New" pitchFamily="18" charset="-34"/>
              </a:rPr>
              <a:t>/ </a:t>
            </a:r>
            <a:r>
              <a:rPr lang="th-TH" sz="3200" b="1" dirty="0">
                <a:solidFill>
                  <a:srgbClr val="CC0000"/>
                </a:solidFill>
                <a:latin typeface="Angsana New" pitchFamily="18" charset="-34"/>
              </a:rPr>
              <a:t>ตัววัด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2CC3CA-F4EF-4FA8-8116-676646A5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D2D0C-0E2E-4E6E-9CE9-48BBDAB56A5E}" type="slidenum">
              <a:rPr lang="en-US" smtClean="0"/>
              <a:pPr>
                <a:defRPr/>
              </a:pPr>
              <a:t>9</a:t>
            </a:fld>
            <a:endParaRPr lang="th-TH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 autoUpdateAnimBg="0" advAuto="0"/>
      <p:bldP spid="7" grpId="0" autoUpdateAnimBg="0"/>
      <p:bldP spid="8" grpId="0" autoUpdateAnimBg="0"/>
      <p:bldP spid="9" grpId="0" build="p" autoUpdateAnimBg="0" advAuto="0"/>
      <p:bldP spid="10" grpId="0" autoUpdateAnimBg="0"/>
      <p:bldP spid="11" grpId="0" autoUpdateAnimBg="0"/>
      <p:bldP spid="12" grpId="0" autoUpdateAnimBg="0"/>
      <p:bldP spid="13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/>
      <p:bldP spid="24" grpId="0" build="p" autoUpdateAnimBg="0"/>
      <p:bldP spid="2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5DCC80-4745-8B87-B9B7-4F0922C8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AFD26D-5CFB-49D2-B0D7-CBBF54970D00}" type="slidenum">
              <a:rPr lang="en-US" smtClean="0"/>
              <a:pPr>
                <a:defRPr/>
              </a:pPr>
              <a:t>10</a:t>
            </a:fld>
            <a:endParaRPr lang="th-TH"/>
          </a:p>
        </p:txBody>
      </p:sp>
      <p:sp>
        <p:nvSpPr>
          <p:cNvPr id="65" name="Rectangle 2"/>
          <p:cNvSpPr txBox="1">
            <a:spLocks noChangeArrowheads="1"/>
          </p:cNvSpPr>
          <p:nvPr/>
        </p:nvSpPr>
        <p:spPr>
          <a:xfrm>
            <a:off x="381000" y="457200"/>
            <a:ext cx="8915400" cy="685800"/>
          </a:xfrm>
          <a:prstGeom prst="rect">
            <a:avLst/>
          </a:prstGeom>
        </p:spPr>
        <p:txBody>
          <a:bodyPr lIns="92075" tIns="46038" rIns="92075" bIns="46038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defRPr/>
            </a:pPr>
            <a:r>
              <a:rPr lang="th-TH" sz="4000" b="1" kern="0">
                <a:solidFill>
                  <a:srgbClr val="0000CC"/>
                </a:solidFill>
                <a:latin typeface="Angsana New" pitchFamily="18" charset="-34"/>
                <a:cs typeface="Angsana New" pitchFamily="18" charset="-34"/>
              </a:rPr>
              <a:t>ตัวสถิติทดสอบ </a:t>
            </a:r>
            <a:r>
              <a:rPr lang="en-US" sz="4000" b="1" kern="0">
                <a:solidFill>
                  <a:srgbClr val="0000CC"/>
                </a:solidFill>
                <a:latin typeface="Angsana New" pitchFamily="18" charset="-34"/>
                <a:cs typeface="Angsana New" pitchFamily="18" charset="-34"/>
              </a:rPr>
              <a:t>(Test Statistic)</a:t>
            </a:r>
            <a:r>
              <a:rPr lang="th-TH" sz="4000" kern="0">
                <a:latin typeface="Angsana New" pitchFamily="18" charset="-34"/>
                <a:cs typeface="Angsana New" pitchFamily="18" charset="-34"/>
              </a:rPr>
              <a:t> </a:t>
            </a:r>
            <a:endParaRPr lang="th-TH" sz="4000" kern="0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66" name="Rectangle 3" descr="Newsprint"/>
          <p:cNvSpPr txBox="1">
            <a:spLocks noChangeArrowheads="1"/>
          </p:cNvSpPr>
          <p:nvPr/>
        </p:nvSpPr>
        <p:spPr bwMode="auto">
          <a:xfrm>
            <a:off x="35442" y="1600200"/>
            <a:ext cx="9144000" cy="586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600" b="1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ngsana New" pitchFamily="18" charset="-34"/>
                <a:ea typeface="+mn-ea"/>
                <a:cs typeface="Angsana New" pitchFamily="18" charset="-34"/>
              </a:rPr>
              <a:t>คือ</a:t>
            </a:r>
            <a:r>
              <a:rPr kumimoji="0" lang="th-TH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ngsana New" pitchFamily="18" charset="-34"/>
                <a:ea typeface="+mn-ea"/>
                <a:cs typeface="Angsana New" pitchFamily="18" charset="-34"/>
              </a:rPr>
              <a:t> </a:t>
            </a:r>
            <a:r>
              <a:rPr kumimoji="0" lang="th-TH" sz="3600" b="1" i="0" u="none" strike="noStrike" kern="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Angsana New" pitchFamily="18" charset="-34"/>
                <a:ea typeface="+mn-ea"/>
                <a:cs typeface="Angsana New" pitchFamily="18" charset="-34"/>
              </a:rPr>
              <a:t>ฟังก์ชันของค่าสังเกตที่ใช้ในการตัดสินใจว่าจะ</a:t>
            </a:r>
            <a:r>
              <a:rPr kumimoji="0" lang="th-TH" sz="36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ngsana New" pitchFamily="18" charset="-34"/>
                <a:ea typeface="+mn-ea"/>
                <a:cs typeface="Angsana New" pitchFamily="18" charset="-34"/>
              </a:rPr>
              <a:t>ปฎิเสธ</a:t>
            </a:r>
            <a:r>
              <a:rPr kumimoji="0" lang="th-TH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ngsana New" pitchFamily="18" charset="-34"/>
                <a:ea typeface="+mn-ea"/>
                <a:cs typeface="Angsana New" pitchFamily="18" charset="-34"/>
              </a:rPr>
              <a:t> 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Angsana New" pitchFamily="18" charset="-34"/>
                <a:ea typeface="+mn-ea"/>
                <a:cs typeface="Angsana New" pitchFamily="18" charset="-34"/>
              </a:rPr>
              <a:t>/</a:t>
            </a:r>
            <a:r>
              <a:rPr kumimoji="0" lang="th-TH" sz="3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ngsana New" pitchFamily="18" charset="-34"/>
                <a:ea typeface="+mn-ea"/>
                <a:cs typeface="Angsana New" pitchFamily="18" charset="-34"/>
              </a:rPr>
              <a:t> </a:t>
            </a:r>
            <a:r>
              <a:rPr kumimoji="0" lang="th-TH" sz="36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ngsana New" pitchFamily="18" charset="-34"/>
                <a:ea typeface="+mn-ea"/>
                <a:cs typeface="Angsana New" pitchFamily="18" charset="-34"/>
              </a:rPr>
              <a:t>ไม่ปฏิเสธ</a:t>
            </a:r>
            <a:r>
              <a:rPr kumimoji="0" lang="th-TH" sz="36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ngsana New" pitchFamily="18" charset="-34"/>
                <a:ea typeface="+mn-ea"/>
                <a:cs typeface="Angsana New" pitchFamily="18" charset="-34"/>
              </a:rPr>
              <a:t> </a:t>
            </a:r>
            <a:r>
              <a:rPr kumimoji="0" lang="th-TH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ngsana New" pitchFamily="18" charset="-34"/>
                <a:ea typeface="+mn-ea"/>
                <a:cs typeface="Angsana New" pitchFamily="18" charset="-34"/>
              </a:rPr>
              <a:t> 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Angsana New" pitchFamily="18" charset="-34"/>
                <a:ea typeface="+mn-ea"/>
                <a:cs typeface="Angsana New" pitchFamily="18" charset="-34"/>
              </a:rPr>
              <a:t>H</a:t>
            </a:r>
            <a:r>
              <a:rPr kumimoji="0" lang="en-US" sz="3600" b="1" i="0" u="none" strike="noStrike" kern="0" cap="none" spc="0" normalizeH="0" baseline="-2500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Angsana New" pitchFamily="18" charset="-34"/>
                <a:ea typeface="+mn-ea"/>
                <a:cs typeface="Angsana New" pitchFamily="18" charset="-34"/>
              </a:rPr>
              <a:t>0</a:t>
            </a:r>
            <a:endParaRPr kumimoji="0" lang="th-TH" sz="3600" b="1" i="0" u="none" strike="noStrike" kern="0" cap="none" spc="0" normalizeH="0" baseline="-2500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Angsana New" pitchFamily="18" charset="-34"/>
              <a:ea typeface="+mn-ea"/>
              <a:cs typeface="Angsana New" pitchFamily="18" charset="-34"/>
            </a:endParaRPr>
          </a:p>
        </p:txBody>
      </p:sp>
      <p:sp>
        <p:nvSpPr>
          <p:cNvPr id="67" name="Text Box 7"/>
          <p:cNvSpPr txBox="1">
            <a:spLocks noChangeArrowheads="1"/>
          </p:cNvSpPr>
          <p:nvPr/>
        </p:nvSpPr>
        <p:spPr bwMode="auto">
          <a:xfrm>
            <a:off x="349767" y="2500251"/>
            <a:ext cx="8515350" cy="1343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09588" indent="-509588" eaLnBrk="0" hangingPunct="0">
              <a:lnSpc>
                <a:spcPts val="3200"/>
              </a:lnSpc>
              <a:spcBef>
                <a:spcPts val="0"/>
              </a:spcBef>
              <a:buClr>
                <a:srgbClr val="FF0000"/>
              </a:buClr>
              <a:defRPr/>
            </a:pPr>
            <a:r>
              <a:rPr lang="th-TH" b="1" dirty="0">
                <a:solidFill>
                  <a:srgbClr val="FF3300"/>
                </a:solidFill>
                <a:latin typeface="Angsana New" pitchFamily="18" charset="-34"/>
                <a:sym typeface="Wingdings"/>
              </a:rPr>
              <a:t></a:t>
            </a:r>
            <a:r>
              <a:rPr lang="en-US" sz="3200" b="1" dirty="0">
                <a:solidFill>
                  <a:srgbClr val="339933"/>
                </a:solidFill>
                <a:latin typeface="Angsana New" pitchFamily="18" charset="-34"/>
                <a:sym typeface="Wingdings"/>
              </a:rPr>
              <a:t> </a:t>
            </a:r>
            <a:r>
              <a:rPr lang="th-TH" sz="3200" b="1" dirty="0">
                <a:solidFill>
                  <a:srgbClr val="339933"/>
                </a:solidFill>
                <a:latin typeface="Angsana New" pitchFamily="18" charset="-34"/>
              </a:rPr>
              <a:t>ทราบ</a:t>
            </a:r>
            <a:r>
              <a:rPr lang="th-TH" sz="3200" b="1" dirty="0">
                <a:solidFill>
                  <a:srgbClr val="FF0066"/>
                </a:solidFill>
                <a:latin typeface="Angsana New" pitchFamily="18" charset="-34"/>
              </a:rPr>
              <a:t>การแจกแจง</a:t>
            </a:r>
            <a:r>
              <a:rPr lang="th-TH" sz="3200" b="1" dirty="0">
                <a:solidFill>
                  <a:srgbClr val="339933"/>
                </a:solidFill>
                <a:latin typeface="Angsana New" pitchFamily="18" charset="-34"/>
              </a:rPr>
              <a:t>ของตัวสถิติทดสอบ</a:t>
            </a:r>
          </a:p>
          <a:p>
            <a:pPr marL="509588" indent="-509588" eaLnBrk="0" hangingPunct="0">
              <a:lnSpc>
                <a:spcPts val="3200"/>
              </a:lnSpc>
              <a:spcBef>
                <a:spcPts val="0"/>
              </a:spcBef>
              <a:buClr>
                <a:srgbClr val="FF0000"/>
              </a:buClr>
              <a:defRPr/>
            </a:pPr>
            <a:r>
              <a:rPr lang="th-TH" b="1" dirty="0">
                <a:solidFill>
                  <a:srgbClr val="FF3300"/>
                </a:solidFill>
                <a:latin typeface="Angsana New" pitchFamily="18" charset="-34"/>
                <a:sym typeface="Wingdings"/>
              </a:rPr>
              <a:t></a:t>
            </a:r>
            <a:r>
              <a:rPr lang="en-US" sz="3200" b="1" dirty="0">
                <a:solidFill>
                  <a:srgbClr val="FF3300"/>
                </a:solidFill>
                <a:latin typeface="Angsana New" pitchFamily="18" charset="-34"/>
                <a:sym typeface="Wingdings"/>
              </a:rPr>
              <a:t> </a:t>
            </a:r>
            <a:r>
              <a:rPr lang="th-TH" sz="3200" b="1" dirty="0">
                <a:solidFill>
                  <a:srgbClr val="339933"/>
                </a:solidFill>
                <a:latin typeface="Angsana New" pitchFamily="18" charset="-34"/>
              </a:rPr>
              <a:t>เพื่อหา</a:t>
            </a:r>
            <a:r>
              <a:rPr lang="th-TH" sz="3200" b="1" dirty="0">
                <a:solidFill>
                  <a:srgbClr val="FF0066"/>
                </a:solidFill>
                <a:latin typeface="Angsana New" pitchFamily="18" charset="-34"/>
              </a:rPr>
              <a:t>ค่าวิกฤต</a:t>
            </a:r>
            <a:r>
              <a:rPr lang="th-TH" sz="3200" b="1" dirty="0">
                <a:solidFill>
                  <a:srgbClr val="996633"/>
                </a:solidFill>
                <a:latin typeface="Angsana New" pitchFamily="18" charset="-34"/>
              </a:rPr>
              <a:t> </a:t>
            </a:r>
            <a:r>
              <a:rPr lang="th-TH" sz="3200" b="1" dirty="0">
                <a:solidFill>
                  <a:srgbClr val="339933"/>
                </a:solidFill>
                <a:latin typeface="Angsana New" pitchFamily="18" charset="-34"/>
              </a:rPr>
              <a:t>ที่ทำให้</a:t>
            </a:r>
            <a:r>
              <a:rPr lang="th-TH" sz="3200" b="1" dirty="0">
                <a:latin typeface="Angsana New" pitchFamily="18" charset="-34"/>
              </a:rPr>
              <a:t> </a:t>
            </a:r>
            <a:r>
              <a:rPr lang="th-TH" sz="3200" b="1" dirty="0">
                <a:solidFill>
                  <a:srgbClr val="FF0066"/>
                </a:solidFill>
                <a:latin typeface="Angsana New" pitchFamily="18" charset="-34"/>
              </a:rPr>
              <a:t>ระดับนัยสำคัญ  </a:t>
            </a:r>
            <a:r>
              <a:rPr lang="th-TH" sz="3200" b="1" dirty="0">
                <a:solidFill>
                  <a:srgbClr val="339933"/>
                </a:solidFill>
                <a:latin typeface="Angsana New" pitchFamily="18" charset="-34"/>
              </a:rPr>
              <a:t>มีค่าตามที่กำหนด</a:t>
            </a:r>
          </a:p>
          <a:p>
            <a:pPr marL="509588" indent="-509588" eaLnBrk="0" hangingPunct="0">
              <a:lnSpc>
                <a:spcPts val="3200"/>
              </a:lnSpc>
              <a:spcBef>
                <a:spcPts val="0"/>
              </a:spcBef>
              <a:buClr>
                <a:srgbClr val="FF0000"/>
              </a:buClr>
              <a:defRPr/>
            </a:pPr>
            <a:r>
              <a:rPr lang="th-TH" b="1" dirty="0">
                <a:solidFill>
                  <a:srgbClr val="FF3300"/>
                </a:solidFill>
                <a:latin typeface="Angsana New" pitchFamily="18" charset="-34"/>
                <a:sym typeface="Wingdings"/>
              </a:rPr>
              <a:t></a:t>
            </a:r>
            <a:r>
              <a:rPr lang="en-US" sz="3200" b="1" dirty="0">
                <a:solidFill>
                  <a:srgbClr val="FF3300"/>
                </a:solidFill>
                <a:latin typeface="Angsana New" pitchFamily="18" charset="-34"/>
                <a:sym typeface="Wingdings"/>
              </a:rPr>
              <a:t> </a:t>
            </a:r>
            <a:r>
              <a:rPr lang="th-TH" sz="3200" b="1" dirty="0">
                <a:solidFill>
                  <a:srgbClr val="339933"/>
                </a:solidFill>
                <a:latin typeface="Angsana New" pitchFamily="18" charset="-34"/>
              </a:rPr>
              <a:t>เลือก</a:t>
            </a:r>
            <a:r>
              <a:rPr lang="th-TH" sz="3200" b="1" dirty="0">
                <a:solidFill>
                  <a:srgbClr val="3366FF"/>
                </a:solidFill>
                <a:latin typeface="Angsana New" pitchFamily="18" charset="-34"/>
              </a:rPr>
              <a:t>ตัวสถิติทดสอบ</a:t>
            </a:r>
            <a:r>
              <a:rPr lang="th-TH" sz="3200" b="1" dirty="0">
                <a:solidFill>
                  <a:srgbClr val="339933"/>
                </a:solidFill>
                <a:latin typeface="Angsana New" pitchFamily="18" charset="-34"/>
              </a:rPr>
              <a:t>ที่ทำให้ </a:t>
            </a:r>
            <a:r>
              <a:rPr lang="th-TH" sz="3200" b="1" dirty="0">
                <a:solidFill>
                  <a:srgbClr val="FF0066"/>
                </a:solidFill>
                <a:latin typeface="Angsana New" pitchFamily="18" charset="-34"/>
              </a:rPr>
              <a:t>กำลังการทดสอบ</a:t>
            </a:r>
            <a:r>
              <a:rPr lang="th-TH" sz="3200" b="1" dirty="0">
                <a:solidFill>
                  <a:srgbClr val="339933"/>
                </a:solidFill>
                <a:latin typeface="Angsana New" pitchFamily="18" charset="-34"/>
              </a:rPr>
              <a:t>มีค่าสูงที่สุด</a:t>
            </a:r>
            <a:endParaRPr lang="th-TH" sz="3200" dirty="0">
              <a:solidFill>
                <a:srgbClr val="339933"/>
              </a:solidFill>
              <a:latin typeface="Angsana New" pitchFamily="18" charset="-34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58479" y="4667692"/>
            <a:ext cx="830559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th-TH" sz="3200" b="1" dirty="0">
                <a:solidFill>
                  <a:srgbClr val="FF0066"/>
                </a:solidFill>
                <a:latin typeface="Angsana New" pitchFamily="18" charset="-34"/>
              </a:rPr>
              <a:t>ค่าวิกฤต </a:t>
            </a:r>
            <a:r>
              <a:rPr lang="en-US" sz="3200" b="1" dirty="0">
                <a:solidFill>
                  <a:srgbClr val="FF0066"/>
                </a:solidFill>
                <a:latin typeface="Angsana New" pitchFamily="18" charset="-34"/>
              </a:rPr>
              <a:t>(Critical Value)</a:t>
            </a:r>
            <a:r>
              <a:rPr lang="th-TH" sz="3200" b="1" dirty="0">
                <a:solidFill>
                  <a:srgbClr val="FF0066"/>
                </a:solidFill>
                <a:latin typeface="Angsana New" pitchFamily="18" charset="-34"/>
              </a:rPr>
              <a:t> </a:t>
            </a:r>
            <a:r>
              <a:rPr lang="th-TH" sz="3200" b="1" dirty="0">
                <a:solidFill>
                  <a:srgbClr val="502800"/>
                </a:solidFill>
                <a:latin typeface="Angsana New" pitchFamily="18" charset="-34"/>
              </a:rPr>
              <a:t>คือ ค่าที่แบ่งระหว่าง</a:t>
            </a:r>
            <a:r>
              <a:rPr lang="th-TH" sz="3200" b="1" dirty="0">
                <a:solidFill>
                  <a:srgbClr val="800080"/>
                </a:solidFill>
                <a:latin typeface="Angsana New" pitchFamily="18" charset="-34"/>
              </a:rPr>
              <a:t> </a:t>
            </a:r>
            <a:r>
              <a:rPr lang="th-TH" sz="3200" b="1" dirty="0">
                <a:solidFill>
                  <a:srgbClr val="0070C0"/>
                </a:solidFill>
                <a:latin typeface="Angsana New" pitchFamily="18" charset="-34"/>
              </a:rPr>
              <a:t>เขตวิกฤต</a:t>
            </a:r>
            <a:r>
              <a:rPr lang="th-TH" sz="3200" b="1" dirty="0">
                <a:solidFill>
                  <a:srgbClr val="502800"/>
                </a:solidFill>
                <a:latin typeface="Angsana New" pitchFamily="18" charset="-34"/>
              </a:rPr>
              <a:t>และ</a:t>
            </a:r>
            <a:r>
              <a:rPr lang="th-TH" sz="3200" b="1" dirty="0">
                <a:solidFill>
                  <a:srgbClr val="0070C0"/>
                </a:solidFill>
                <a:latin typeface="Angsana New" pitchFamily="18" charset="-34"/>
              </a:rPr>
              <a:t>นอกเขตวิกฤต</a:t>
            </a:r>
            <a:r>
              <a:rPr lang="en-US" sz="3200" b="1" dirty="0">
                <a:solidFill>
                  <a:srgbClr val="FF0066"/>
                </a:solidFill>
                <a:latin typeface="Angsana New" pitchFamily="18" charset="-34"/>
              </a:rPr>
              <a:t>              </a:t>
            </a:r>
            <a:endParaRPr lang="th-TH" sz="3200" b="1" dirty="0">
              <a:solidFill>
                <a:srgbClr val="FF0066"/>
              </a:solidFill>
              <a:latin typeface="Angsana New" pitchFamily="18" charset="-34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8479" y="5229430"/>
            <a:ext cx="8305595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h-TH" sz="3200" b="1" kern="0" dirty="0">
                <a:solidFill>
                  <a:srgbClr val="0066CC"/>
                </a:solidFill>
                <a:latin typeface="Angsana New" pitchFamily="18" charset="-34"/>
                <a:ea typeface="+mj-ea"/>
              </a:rPr>
              <a:t>เขต</a:t>
            </a:r>
            <a:r>
              <a:rPr kumimoji="0" lang="th-TH" sz="3200" b="1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วิกฤต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(Critical Region) </a:t>
            </a:r>
            <a:r>
              <a:rPr kumimoji="0" lang="th-TH" sz="3200" b="1" i="0" u="none" strike="noStrike" kern="0" cap="none" spc="0" normalizeH="0" baseline="0" noProof="0" dirty="0">
                <a:ln>
                  <a:noFill/>
                </a:ln>
                <a:solidFill>
                  <a:srgbClr val="502800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คือ ขอบเขตของ</a:t>
            </a:r>
            <a:r>
              <a:rPr kumimoji="0" lang="th-TH" sz="32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การปฏิเสธ</a:t>
            </a:r>
            <a:r>
              <a:rPr kumimoji="0" lang="th-TH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502800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H</a:t>
            </a:r>
            <a:r>
              <a:rPr kumimoji="0" lang="en-US" sz="4400" b="1" i="0" u="none" strike="noStrike" kern="0" cap="none" spc="0" normalizeH="0" baseline="-25000" noProof="0" dirty="0">
                <a:ln>
                  <a:noFill/>
                </a:ln>
                <a:solidFill>
                  <a:srgbClr val="502800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0</a:t>
            </a:r>
            <a:r>
              <a:rPr kumimoji="0" lang="th-TH" sz="3200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943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6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utoUpdateAnimBg="0"/>
      <p:bldP spid="66" grpId="0" autoUpdateAnimBg="0"/>
      <p:bldP spid="67" grpId="0" build="p" autoUpdateAnimBg="0" advAuto="0"/>
      <p:bldP spid="6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52400" y="1"/>
            <a:ext cx="8839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สัญลักษณ์ และความหมายต่าง ๆ 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916169" y="2392330"/>
            <a:ext cx="7772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r>
              <a:rPr lang="en-US" sz="3600" b="1" dirty="0" err="1">
                <a:solidFill>
                  <a:srgbClr val="00B050"/>
                </a:solidFill>
                <a:latin typeface="Angsana New" pitchFamily="18" charset="-34"/>
              </a:rPr>
              <a:t>การทดสอบสองด้าน</a:t>
            </a:r>
            <a:r>
              <a:rPr lang="en-US" sz="3600" b="1" dirty="0">
                <a:solidFill>
                  <a:srgbClr val="00B050"/>
                </a:solidFill>
                <a:latin typeface="Angsana New" pitchFamily="18" charset="-34"/>
              </a:rPr>
              <a:t>/</a:t>
            </a:r>
            <a:r>
              <a:rPr lang="en-US" sz="3600" b="1" dirty="0" err="1">
                <a:solidFill>
                  <a:srgbClr val="00B050"/>
                </a:solidFill>
                <a:latin typeface="Angsana New" pitchFamily="18" charset="-34"/>
              </a:rPr>
              <a:t>สองหาง</a:t>
            </a:r>
            <a:r>
              <a:rPr lang="en-US" sz="3600" b="1" dirty="0">
                <a:solidFill>
                  <a:srgbClr val="00B050"/>
                </a:solidFill>
                <a:latin typeface="Angsana New" pitchFamily="18" charset="-34"/>
              </a:rPr>
              <a:t> (Two-sided/Two-tailed Test)</a:t>
            </a:r>
            <a:endParaRPr lang="th-TH" sz="3600" b="1" dirty="0">
              <a:solidFill>
                <a:srgbClr val="00B050"/>
              </a:solidFill>
              <a:latin typeface="Angsana New" pitchFamily="18" charset="-34"/>
            </a:endParaRP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916169" y="522767"/>
            <a:ext cx="77724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buClr>
                <a:schemeClr val="accent2"/>
              </a:buClr>
              <a:buFont typeface="Monotype Sorts" pitchFamily="2" charset="2"/>
              <a:buNone/>
              <a:defRPr/>
            </a:pPr>
            <a:r>
              <a:rPr kumimoji="1" lang="th-TH" sz="3600" b="1" dirty="0">
                <a:solidFill>
                  <a:srgbClr val="00B050"/>
                </a:solidFill>
                <a:latin typeface="Angsana New" pitchFamily="18" charset="-34"/>
              </a:rPr>
              <a:t>กา</a:t>
            </a:r>
            <a:r>
              <a:rPr kumimoji="1" lang="en-US" sz="3600" b="1" dirty="0" err="1">
                <a:solidFill>
                  <a:srgbClr val="00B050"/>
                </a:solidFill>
                <a:latin typeface="Angsana New" pitchFamily="18" charset="-34"/>
              </a:rPr>
              <a:t>รทดสอบด้านเดียว</a:t>
            </a:r>
            <a:r>
              <a:rPr kumimoji="1" lang="en-US" sz="3600" b="1" dirty="0">
                <a:solidFill>
                  <a:srgbClr val="00B050"/>
                </a:solidFill>
                <a:latin typeface="Angsana New" pitchFamily="18" charset="-34"/>
              </a:rPr>
              <a:t>/</a:t>
            </a:r>
            <a:r>
              <a:rPr kumimoji="1" lang="en-US" sz="3600" b="1" dirty="0" err="1">
                <a:solidFill>
                  <a:srgbClr val="00B050"/>
                </a:solidFill>
                <a:latin typeface="Angsana New" pitchFamily="18" charset="-34"/>
              </a:rPr>
              <a:t>หางเดียว</a:t>
            </a:r>
            <a:r>
              <a:rPr kumimoji="1" lang="en-US" sz="3600" b="1" dirty="0">
                <a:solidFill>
                  <a:srgbClr val="00B050"/>
                </a:solidFill>
                <a:latin typeface="Angsana New" pitchFamily="18" charset="-34"/>
              </a:rPr>
              <a:t>  (One-sided/One-tailed Test)    </a:t>
            </a:r>
            <a:endParaRPr kumimoji="1" lang="th-TH" sz="3600" b="1" dirty="0">
              <a:solidFill>
                <a:srgbClr val="00B050"/>
              </a:solidFill>
              <a:latin typeface="Angsana New" pitchFamily="18" charset="-34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1371601" y="1488563"/>
            <a:ext cx="5486399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80000"/>
              </a:lnSpc>
              <a:buFont typeface="Monotype Sorts" pitchFamily="2" charset="2"/>
              <a:buNone/>
              <a:tabLst>
                <a:tab pos="1371600" algn="l"/>
              </a:tabLst>
              <a:defRPr/>
            </a:pPr>
            <a:r>
              <a:rPr lang="en-US" sz="3600" b="1" dirty="0">
                <a:solidFill>
                  <a:srgbClr val="0066FF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0066FF"/>
                </a:solidFill>
                <a:latin typeface="Angsana New" pitchFamily="18" charset="-34"/>
              </a:rPr>
              <a:t>0</a:t>
            </a:r>
            <a:r>
              <a:rPr lang="th-TH" sz="3600" b="1" dirty="0">
                <a:solidFill>
                  <a:srgbClr val="0066FF"/>
                </a:solidFill>
                <a:latin typeface="Angsana New" pitchFamily="18" charset="-34"/>
              </a:rPr>
              <a:t>: </a:t>
            </a:r>
            <a:r>
              <a:rPr lang="th-TH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</a:t>
            </a:r>
            <a:r>
              <a:rPr lang="en-US" sz="3600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  =  </a:t>
            </a:r>
            <a:r>
              <a:rPr lang="th-TH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</a:t>
            </a:r>
            <a:r>
              <a:rPr lang="en-US" sz="4800" b="1" baseline="-25000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0</a:t>
            </a:r>
            <a:r>
              <a:rPr lang="th-TH" sz="3600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 </a:t>
            </a:r>
            <a:r>
              <a:rPr lang="en-US" sz="3600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    </a:t>
            </a:r>
            <a:r>
              <a:rPr lang="en-US" sz="5400" b="1" dirty="0">
                <a:latin typeface="Angsana New" pitchFamily="18" charset="-34"/>
                <a:sym typeface="Symbol"/>
              </a:rPr>
              <a:t>VS</a:t>
            </a:r>
            <a:r>
              <a:rPr lang="en-US" sz="3600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     </a:t>
            </a:r>
            <a:r>
              <a:rPr lang="en-US" sz="3600" b="1" dirty="0">
                <a:solidFill>
                  <a:srgbClr val="CC6600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CC6600"/>
                </a:solidFill>
                <a:latin typeface="Angsana New" pitchFamily="18" charset="-34"/>
              </a:rPr>
              <a:t>1</a:t>
            </a:r>
            <a:r>
              <a:rPr lang="th-TH" sz="3600" b="1" dirty="0">
                <a:solidFill>
                  <a:srgbClr val="CC6600"/>
                </a:solidFill>
                <a:latin typeface="Angsana New" pitchFamily="18" charset="-34"/>
              </a:rPr>
              <a:t>: </a:t>
            </a:r>
            <a:r>
              <a:rPr lang="th-TH" b="1" dirty="0">
                <a:solidFill>
                  <a:srgbClr val="CC6600"/>
                </a:solidFill>
                <a:latin typeface="Angsana New" pitchFamily="18" charset="-34"/>
                <a:sym typeface="Symbol"/>
              </a:rPr>
              <a:t></a:t>
            </a:r>
            <a:r>
              <a:rPr lang="en-US" sz="3600" b="1" dirty="0">
                <a:solidFill>
                  <a:srgbClr val="CC6600"/>
                </a:solidFill>
                <a:latin typeface="Angsana New" pitchFamily="18" charset="-34"/>
                <a:sym typeface="Symbol"/>
              </a:rPr>
              <a:t>  &gt;  </a:t>
            </a:r>
            <a:r>
              <a:rPr lang="th-TH" b="1" dirty="0">
                <a:solidFill>
                  <a:srgbClr val="CC6600"/>
                </a:solidFill>
                <a:latin typeface="Angsana New" pitchFamily="18" charset="-34"/>
                <a:sym typeface="Symbol"/>
              </a:rPr>
              <a:t></a:t>
            </a:r>
            <a:r>
              <a:rPr lang="en-US" sz="4800" b="1" baseline="-25000" dirty="0">
                <a:solidFill>
                  <a:srgbClr val="CC6600"/>
                </a:solidFill>
                <a:latin typeface="Angsana New" pitchFamily="18" charset="-34"/>
                <a:sym typeface="Symbol"/>
              </a:rPr>
              <a:t>0</a:t>
            </a:r>
            <a:endParaRPr lang="th-TH" sz="4800" b="1" baseline="-25000" dirty="0">
              <a:solidFill>
                <a:srgbClr val="CC6600"/>
              </a:solidFill>
              <a:latin typeface="Angsana New" pitchFamily="18" charset="-34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1143000" y="1011866"/>
            <a:ext cx="786384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th-TH" sz="3600" b="1" dirty="0">
                <a:solidFill>
                  <a:srgbClr val="502800"/>
                </a:solidFill>
                <a:latin typeface="Angsana New" pitchFamily="18" charset="-34"/>
              </a:rPr>
              <a:t>การทดสอบที่เขตวิกฤตอยู่ด้านใดด้านหนึ่งเพียงด้านเดียว เช่น</a:t>
            </a:r>
            <a:r>
              <a:rPr lang="en-US" sz="3600" b="1" dirty="0">
                <a:solidFill>
                  <a:srgbClr val="FF0066"/>
                </a:solidFill>
                <a:latin typeface="Angsana New" pitchFamily="18" charset="-34"/>
              </a:rPr>
              <a:t>              </a:t>
            </a:r>
            <a:endParaRPr lang="th-TH" sz="3600" b="1" dirty="0">
              <a:solidFill>
                <a:srgbClr val="FF0066"/>
              </a:solidFill>
              <a:latin typeface="Angsana New" pitchFamily="18" charset="-34"/>
            </a:endParaRP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1143000" y="2848242"/>
            <a:ext cx="786384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th-TH" sz="3600" b="1" dirty="0">
                <a:solidFill>
                  <a:srgbClr val="502800"/>
                </a:solidFill>
                <a:latin typeface="Angsana New" pitchFamily="18" charset="-34"/>
              </a:rPr>
              <a:t>การทดสอบที่เขตวิกฤตอยู่ทั้งสองด้าน </a:t>
            </a:r>
            <a:r>
              <a:rPr lang="en-US" sz="3600" b="1" dirty="0">
                <a:solidFill>
                  <a:srgbClr val="FF0066"/>
                </a:solidFill>
                <a:latin typeface="Angsana New" pitchFamily="18" charset="-34"/>
              </a:rPr>
              <a:t>              </a:t>
            </a:r>
            <a:endParaRPr lang="th-TH" sz="3600" b="1" dirty="0">
              <a:solidFill>
                <a:srgbClr val="FF0066"/>
              </a:solidFill>
              <a:latin typeface="Angsana New" pitchFamily="18" charset="-34"/>
            </a:endParaRPr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1371600" y="3274831"/>
            <a:ext cx="5562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80000"/>
              </a:lnSpc>
              <a:buFont typeface="Monotype Sorts" pitchFamily="2" charset="2"/>
              <a:buNone/>
              <a:tabLst>
                <a:tab pos="1371600" algn="l"/>
              </a:tabLst>
              <a:defRPr/>
            </a:pPr>
            <a:r>
              <a:rPr lang="en-US" sz="3600" b="1" dirty="0">
                <a:solidFill>
                  <a:srgbClr val="0066FF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0066FF"/>
                </a:solidFill>
                <a:latin typeface="Angsana New" pitchFamily="18" charset="-34"/>
              </a:rPr>
              <a:t>0</a:t>
            </a:r>
            <a:r>
              <a:rPr lang="th-TH" sz="3600" b="1" dirty="0">
                <a:solidFill>
                  <a:srgbClr val="0066FF"/>
                </a:solidFill>
                <a:latin typeface="Angsana New" pitchFamily="18" charset="-34"/>
              </a:rPr>
              <a:t>: </a:t>
            </a:r>
            <a:r>
              <a:rPr lang="th-TH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</a:t>
            </a:r>
            <a:r>
              <a:rPr lang="en-US" sz="3600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  =  </a:t>
            </a:r>
            <a:r>
              <a:rPr lang="th-TH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</a:t>
            </a:r>
            <a:r>
              <a:rPr lang="en-US" sz="4800" b="1" baseline="-25000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0</a:t>
            </a:r>
            <a:r>
              <a:rPr lang="th-TH" sz="3600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 </a:t>
            </a:r>
            <a:r>
              <a:rPr lang="en-US" sz="3600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    </a:t>
            </a:r>
            <a:r>
              <a:rPr lang="en-US" sz="5400" b="1" dirty="0">
                <a:latin typeface="Angsana New" pitchFamily="18" charset="-34"/>
                <a:sym typeface="Symbol"/>
              </a:rPr>
              <a:t>VS</a:t>
            </a:r>
            <a:r>
              <a:rPr lang="en-US" sz="3600" b="1" dirty="0">
                <a:solidFill>
                  <a:srgbClr val="0066FF"/>
                </a:solidFill>
                <a:latin typeface="Angsana New" pitchFamily="18" charset="-34"/>
                <a:sym typeface="Symbol"/>
              </a:rPr>
              <a:t>     </a:t>
            </a:r>
            <a:r>
              <a:rPr lang="en-US" sz="3600" b="1" dirty="0">
                <a:solidFill>
                  <a:srgbClr val="CC6600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CC6600"/>
                </a:solidFill>
                <a:latin typeface="Angsana New" pitchFamily="18" charset="-34"/>
              </a:rPr>
              <a:t>1</a:t>
            </a:r>
            <a:r>
              <a:rPr lang="th-TH" sz="3600" b="1" dirty="0">
                <a:solidFill>
                  <a:srgbClr val="CC6600"/>
                </a:solidFill>
                <a:latin typeface="Angsana New" pitchFamily="18" charset="-34"/>
              </a:rPr>
              <a:t>: </a:t>
            </a:r>
            <a:r>
              <a:rPr lang="th-TH" b="1" dirty="0">
                <a:solidFill>
                  <a:srgbClr val="CC6600"/>
                </a:solidFill>
                <a:latin typeface="Angsana New" pitchFamily="18" charset="-34"/>
                <a:sym typeface="Symbol"/>
              </a:rPr>
              <a:t></a:t>
            </a:r>
            <a:r>
              <a:rPr lang="en-US" sz="3600" b="1" dirty="0">
                <a:solidFill>
                  <a:srgbClr val="CC6600"/>
                </a:solidFill>
                <a:latin typeface="Angsana New" pitchFamily="18" charset="-34"/>
                <a:sym typeface="Symbol"/>
              </a:rPr>
              <a:t>  </a:t>
            </a:r>
            <a:r>
              <a:rPr lang="en-US" b="1" dirty="0">
                <a:solidFill>
                  <a:srgbClr val="CC6600"/>
                </a:solidFill>
                <a:latin typeface="Angsana New" pitchFamily="18" charset="-34"/>
                <a:sym typeface="Symbol"/>
              </a:rPr>
              <a:t></a:t>
            </a:r>
            <a:r>
              <a:rPr lang="en-US" sz="3600" b="1" dirty="0">
                <a:solidFill>
                  <a:srgbClr val="CC6600"/>
                </a:solidFill>
                <a:latin typeface="Angsana New" pitchFamily="18" charset="-34"/>
                <a:sym typeface="Symbol"/>
              </a:rPr>
              <a:t>  </a:t>
            </a:r>
            <a:r>
              <a:rPr lang="th-TH" b="1" dirty="0">
                <a:solidFill>
                  <a:srgbClr val="CC6600"/>
                </a:solidFill>
                <a:latin typeface="Angsana New" pitchFamily="18" charset="-34"/>
                <a:sym typeface="Symbol"/>
              </a:rPr>
              <a:t></a:t>
            </a:r>
            <a:r>
              <a:rPr lang="en-US" sz="4800" b="1" baseline="-25000" dirty="0">
                <a:solidFill>
                  <a:srgbClr val="CC6600"/>
                </a:solidFill>
                <a:latin typeface="Angsana New" pitchFamily="18" charset="-34"/>
                <a:sym typeface="Symbol"/>
              </a:rPr>
              <a:t>0</a:t>
            </a:r>
            <a:endParaRPr lang="th-TH" sz="4800" b="1" baseline="-25000" dirty="0">
              <a:solidFill>
                <a:srgbClr val="CC6600"/>
              </a:solidFill>
              <a:latin typeface="Angsana New" pitchFamily="18" charset="-34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6629400" y="1621466"/>
            <a:ext cx="1737360" cy="597193"/>
            <a:chOff x="6400800" y="3450266"/>
            <a:chExt cx="1737360" cy="597193"/>
          </a:xfrm>
        </p:grpSpPr>
        <p:grpSp>
          <p:nvGrpSpPr>
            <p:cNvPr id="22" name="Group 21"/>
            <p:cNvGrpSpPr/>
            <p:nvPr/>
          </p:nvGrpSpPr>
          <p:grpSpPr>
            <a:xfrm>
              <a:off x="6517758" y="3455581"/>
              <a:ext cx="1483242" cy="591878"/>
              <a:chOff x="6517758" y="3455581"/>
              <a:chExt cx="1483242" cy="591878"/>
            </a:xfrm>
          </p:grpSpPr>
          <p:sp>
            <p:nvSpPr>
              <p:cNvPr id="19" name="Freeform 18"/>
              <p:cNvSpPr/>
              <p:nvPr/>
            </p:nvSpPr>
            <p:spPr bwMode="auto">
              <a:xfrm>
                <a:off x="6517758" y="3455581"/>
                <a:ext cx="1169582" cy="584791"/>
              </a:xfrm>
              <a:custGeom>
                <a:avLst/>
                <a:gdLst>
                  <a:gd name="connsiteX0" fmla="*/ 0 w 1169582"/>
                  <a:gd name="connsiteY0" fmla="*/ 563526 h 584791"/>
                  <a:gd name="connsiteX1" fmla="*/ 233916 w 1169582"/>
                  <a:gd name="connsiteY1" fmla="*/ 510363 h 584791"/>
                  <a:gd name="connsiteX2" fmla="*/ 563526 w 1169582"/>
                  <a:gd name="connsiteY2" fmla="*/ 116959 h 584791"/>
                  <a:gd name="connsiteX3" fmla="*/ 712382 w 1169582"/>
                  <a:gd name="connsiteY3" fmla="*/ 10633 h 584791"/>
                  <a:gd name="connsiteX4" fmla="*/ 829340 w 1169582"/>
                  <a:gd name="connsiteY4" fmla="*/ 53163 h 584791"/>
                  <a:gd name="connsiteX5" fmla="*/ 988828 w 1169582"/>
                  <a:gd name="connsiteY5" fmla="*/ 276447 h 584791"/>
                  <a:gd name="connsiteX6" fmla="*/ 1169582 w 1169582"/>
                  <a:gd name="connsiteY6" fmla="*/ 457200 h 58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69582" h="584791">
                    <a:moveTo>
                      <a:pt x="0" y="563526"/>
                    </a:moveTo>
                    <a:cubicBezTo>
                      <a:pt x="69997" y="574158"/>
                      <a:pt x="139995" y="584791"/>
                      <a:pt x="233916" y="510363"/>
                    </a:cubicBezTo>
                    <a:cubicBezTo>
                      <a:pt x="327837" y="435935"/>
                      <a:pt x="483782" y="200247"/>
                      <a:pt x="563526" y="116959"/>
                    </a:cubicBezTo>
                    <a:cubicBezTo>
                      <a:pt x="643270" y="33671"/>
                      <a:pt x="668080" y="21266"/>
                      <a:pt x="712382" y="10633"/>
                    </a:cubicBezTo>
                    <a:cubicBezTo>
                      <a:pt x="756684" y="0"/>
                      <a:pt x="783266" y="8861"/>
                      <a:pt x="829340" y="53163"/>
                    </a:cubicBezTo>
                    <a:cubicBezTo>
                      <a:pt x="875414" y="97465"/>
                      <a:pt x="932121" y="209108"/>
                      <a:pt x="988828" y="276447"/>
                    </a:cubicBezTo>
                    <a:cubicBezTo>
                      <a:pt x="1045535" y="343786"/>
                      <a:pt x="1107558" y="400493"/>
                      <a:pt x="1169582" y="457200"/>
                    </a:cubicBezTo>
                  </a:path>
                </a:pathLst>
              </a:custGeom>
              <a:solidFill>
                <a:srgbClr val="660066"/>
              </a:solidFill>
              <a:ln w="952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ngsana New" pitchFamily="18" charset="-34"/>
                </a:endParaRPr>
              </a:p>
            </p:txBody>
          </p:sp>
          <p:sp>
            <p:nvSpPr>
              <p:cNvPr id="20" name="Freeform 19"/>
              <p:cNvSpPr/>
              <p:nvPr/>
            </p:nvSpPr>
            <p:spPr bwMode="auto">
              <a:xfrm flipH="1">
                <a:off x="6831418" y="3462668"/>
                <a:ext cx="1169582" cy="584791"/>
              </a:xfrm>
              <a:custGeom>
                <a:avLst/>
                <a:gdLst>
                  <a:gd name="connsiteX0" fmla="*/ 0 w 1169582"/>
                  <a:gd name="connsiteY0" fmla="*/ 563526 h 584791"/>
                  <a:gd name="connsiteX1" fmla="*/ 233916 w 1169582"/>
                  <a:gd name="connsiteY1" fmla="*/ 510363 h 584791"/>
                  <a:gd name="connsiteX2" fmla="*/ 563526 w 1169582"/>
                  <a:gd name="connsiteY2" fmla="*/ 116959 h 584791"/>
                  <a:gd name="connsiteX3" fmla="*/ 712382 w 1169582"/>
                  <a:gd name="connsiteY3" fmla="*/ 10633 h 584791"/>
                  <a:gd name="connsiteX4" fmla="*/ 829340 w 1169582"/>
                  <a:gd name="connsiteY4" fmla="*/ 53163 h 584791"/>
                  <a:gd name="connsiteX5" fmla="*/ 988828 w 1169582"/>
                  <a:gd name="connsiteY5" fmla="*/ 276447 h 584791"/>
                  <a:gd name="connsiteX6" fmla="*/ 1169582 w 1169582"/>
                  <a:gd name="connsiteY6" fmla="*/ 457200 h 58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69582" h="584791">
                    <a:moveTo>
                      <a:pt x="0" y="563526"/>
                    </a:moveTo>
                    <a:cubicBezTo>
                      <a:pt x="69997" y="574158"/>
                      <a:pt x="139995" y="584791"/>
                      <a:pt x="233916" y="510363"/>
                    </a:cubicBezTo>
                    <a:cubicBezTo>
                      <a:pt x="327837" y="435935"/>
                      <a:pt x="483782" y="200247"/>
                      <a:pt x="563526" y="116959"/>
                    </a:cubicBezTo>
                    <a:cubicBezTo>
                      <a:pt x="643270" y="33671"/>
                      <a:pt x="668080" y="21266"/>
                      <a:pt x="712382" y="10633"/>
                    </a:cubicBezTo>
                    <a:cubicBezTo>
                      <a:pt x="756684" y="0"/>
                      <a:pt x="783266" y="8861"/>
                      <a:pt x="829340" y="53163"/>
                    </a:cubicBezTo>
                    <a:cubicBezTo>
                      <a:pt x="875414" y="97465"/>
                      <a:pt x="932121" y="209108"/>
                      <a:pt x="988828" y="276447"/>
                    </a:cubicBezTo>
                    <a:cubicBezTo>
                      <a:pt x="1045535" y="343786"/>
                      <a:pt x="1107558" y="400493"/>
                      <a:pt x="1169582" y="457200"/>
                    </a:cubicBezTo>
                  </a:path>
                </a:pathLst>
              </a:custGeom>
              <a:solidFill>
                <a:srgbClr val="660066"/>
              </a:solidFill>
              <a:ln w="952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ngsana New" pitchFamily="18" charset="-34"/>
                </a:endParaRPr>
              </a:p>
            </p:txBody>
          </p:sp>
          <p:sp>
            <p:nvSpPr>
              <p:cNvPr id="21" name="Isosceles Triangle 20"/>
              <p:cNvSpPr/>
              <p:nvPr/>
            </p:nvSpPr>
            <p:spPr bwMode="auto">
              <a:xfrm>
                <a:off x="6585099" y="3875567"/>
                <a:ext cx="1371600" cy="152399"/>
              </a:xfrm>
              <a:prstGeom prst="triangle">
                <a:avLst/>
              </a:prstGeom>
              <a:solidFill>
                <a:srgbClr val="660066"/>
              </a:solidFill>
              <a:ln w="952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ngsana New" pitchFamily="18" charset="-34"/>
                </a:endParaRPr>
              </a:p>
            </p:txBody>
          </p:sp>
        </p:grpSp>
        <p:sp>
          <p:nvSpPr>
            <p:cNvPr id="25" name="Right Triangle 24"/>
            <p:cNvSpPr/>
            <p:nvPr/>
          </p:nvSpPr>
          <p:spPr bwMode="auto">
            <a:xfrm>
              <a:off x="7650130" y="3855720"/>
              <a:ext cx="304800" cy="182880"/>
            </a:xfrm>
            <a:prstGeom prst="rtTriangl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ngsana New" pitchFamily="18" charset="-34"/>
              </a:endParaRPr>
            </a:p>
          </p:txBody>
        </p:sp>
        <p:sp>
          <p:nvSpPr>
            <p:cNvPr id="29" name="Freeform 28"/>
            <p:cNvSpPr/>
            <p:nvPr/>
          </p:nvSpPr>
          <p:spPr bwMode="auto">
            <a:xfrm flipH="1">
              <a:off x="6815468" y="3450266"/>
              <a:ext cx="1169582" cy="584791"/>
            </a:xfrm>
            <a:custGeom>
              <a:avLst/>
              <a:gdLst>
                <a:gd name="connsiteX0" fmla="*/ 0 w 1169582"/>
                <a:gd name="connsiteY0" fmla="*/ 563526 h 584791"/>
                <a:gd name="connsiteX1" fmla="*/ 233916 w 1169582"/>
                <a:gd name="connsiteY1" fmla="*/ 510363 h 584791"/>
                <a:gd name="connsiteX2" fmla="*/ 563526 w 1169582"/>
                <a:gd name="connsiteY2" fmla="*/ 116959 h 584791"/>
                <a:gd name="connsiteX3" fmla="*/ 712382 w 1169582"/>
                <a:gd name="connsiteY3" fmla="*/ 10633 h 584791"/>
                <a:gd name="connsiteX4" fmla="*/ 829340 w 1169582"/>
                <a:gd name="connsiteY4" fmla="*/ 53163 h 584791"/>
                <a:gd name="connsiteX5" fmla="*/ 988828 w 1169582"/>
                <a:gd name="connsiteY5" fmla="*/ 276447 h 584791"/>
                <a:gd name="connsiteX6" fmla="*/ 1169582 w 1169582"/>
                <a:gd name="connsiteY6" fmla="*/ 457200 h 58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9582" h="584791">
                  <a:moveTo>
                    <a:pt x="0" y="563526"/>
                  </a:moveTo>
                  <a:cubicBezTo>
                    <a:pt x="69997" y="574158"/>
                    <a:pt x="139995" y="584791"/>
                    <a:pt x="233916" y="510363"/>
                  </a:cubicBezTo>
                  <a:cubicBezTo>
                    <a:pt x="327837" y="435935"/>
                    <a:pt x="483782" y="200247"/>
                    <a:pt x="563526" y="116959"/>
                  </a:cubicBezTo>
                  <a:cubicBezTo>
                    <a:pt x="643270" y="33671"/>
                    <a:pt x="668080" y="21266"/>
                    <a:pt x="712382" y="10633"/>
                  </a:cubicBezTo>
                  <a:cubicBezTo>
                    <a:pt x="756684" y="0"/>
                    <a:pt x="783266" y="8861"/>
                    <a:pt x="829340" y="53163"/>
                  </a:cubicBezTo>
                  <a:cubicBezTo>
                    <a:pt x="875414" y="97465"/>
                    <a:pt x="932121" y="209108"/>
                    <a:pt x="988828" y="276447"/>
                  </a:cubicBezTo>
                  <a:cubicBezTo>
                    <a:pt x="1045535" y="343786"/>
                    <a:pt x="1107558" y="400493"/>
                    <a:pt x="1169582" y="457200"/>
                  </a:cubicBezTo>
                </a:path>
              </a:pathLst>
            </a:custGeom>
            <a:noFill/>
            <a:ln w="9525" cap="flat" cmpd="sng" algn="ctr">
              <a:solidFill>
                <a:srgbClr val="66006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ngsana New" pitchFamily="18" charset="-34"/>
              </a:endParaRPr>
            </a:p>
          </p:txBody>
        </p:sp>
        <p:cxnSp>
          <p:nvCxnSpPr>
            <p:cNvPr id="30" name="Straight Connector 29"/>
            <p:cNvCxnSpPr/>
            <p:nvPr/>
          </p:nvCxnSpPr>
          <p:spPr bwMode="auto">
            <a:xfrm>
              <a:off x="6400800" y="4027967"/>
              <a:ext cx="1737360" cy="158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66006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TextBox 32"/>
          <p:cNvSpPr txBox="1"/>
          <p:nvPr/>
        </p:nvSpPr>
        <p:spPr>
          <a:xfrm>
            <a:off x="7761767" y="2144233"/>
            <a:ext cx="1382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3300"/>
                </a:solidFill>
                <a:sym typeface="Symbol"/>
              </a:rPr>
              <a:t>|</a:t>
            </a:r>
            <a:r>
              <a:rPr lang="th-TH" sz="1400" b="1" dirty="0">
                <a:solidFill>
                  <a:srgbClr val="FF3300"/>
                </a:solidFill>
                <a:sym typeface="Symbol"/>
              </a:rPr>
              <a:t></a:t>
            </a:r>
            <a:r>
              <a:rPr lang="en-US" sz="1400" b="1" dirty="0">
                <a:solidFill>
                  <a:srgbClr val="FF3300"/>
                </a:solidFill>
                <a:sym typeface="Symbol"/>
              </a:rPr>
              <a:t> </a:t>
            </a:r>
            <a:r>
              <a:rPr lang="th-TH" sz="1800" b="1" dirty="0">
                <a:solidFill>
                  <a:srgbClr val="FF3300"/>
                </a:solidFill>
                <a:sym typeface="Symbol"/>
              </a:rPr>
              <a:t>เขต</a:t>
            </a:r>
            <a:r>
              <a:rPr lang="th-TH" sz="1800" b="1" dirty="0">
                <a:solidFill>
                  <a:srgbClr val="FF3300"/>
                </a:solidFill>
              </a:rPr>
              <a:t>วิกฤต</a:t>
            </a:r>
            <a:r>
              <a:rPr lang="th-TH" sz="1800" b="1" dirty="0">
                <a:solidFill>
                  <a:srgbClr val="FF3300"/>
                </a:solidFill>
                <a:sym typeface="Symbol"/>
              </a:rPr>
              <a:t> </a:t>
            </a:r>
            <a:r>
              <a:rPr lang="th-TH" sz="1400" b="1" dirty="0">
                <a:solidFill>
                  <a:srgbClr val="FF3300"/>
                </a:solidFill>
                <a:sym typeface="Symbol"/>
              </a:rPr>
              <a:t></a:t>
            </a:r>
            <a:endParaRPr lang="en-US" sz="1400" b="1" dirty="0">
              <a:solidFill>
                <a:srgbClr val="FF33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1767" y="4071534"/>
            <a:ext cx="1306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3300"/>
                </a:solidFill>
                <a:sym typeface="Symbol"/>
              </a:rPr>
              <a:t>|</a:t>
            </a:r>
            <a:r>
              <a:rPr lang="th-TH" sz="1400" b="1" dirty="0">
                <a:solidFill>
                  <a:srgbClr val="FF3300"/>
                </a:solidFill>
                <a:sym typeface="Symbol"/>
              </a:rPr>
              <a:t></a:t>
            </a:r>
            <a:r>
              <a:rPr lang="en-US" sz="1400" b="1" dirty="0">
                <a:solidFill>
                  <a:srgbClr val="FF3300"/>
                </a:solidFill>
                <a:sym typeface="Symbol"/>
              </a:rPr>
              <a:t> </a:t>
            </a:r>
            <a:r>
              <a:rPr lang="th-TH" sz="1800" b="1" dirty="0">
                <a:solidFill>
                  <a:srgbClr val="FF3300"/>
                </a:solidFill>
                <a:sym typeface="Symbol"/>
              </a:rPr>
              <a:t>เขต</a:t>
            </a:r>
            <a:r>
              <a:rPr lang="th-TH" sz="1800" b="1" dirty="0">
                <a:solidFill>
                  <a:srgbClr val="FF3300"/>
                </a:solidFill>
              </a:rPr>
              <a:t>วิกฤต</a:t>
            </a:r>
            <a:r>
              <a:rPr lang="th-TH" sz="1800" b="1" dirty="0">
                <a:solidFill>
                  <a:srgbClr val="FF3300"/>
                </a:solidFill>
                <a:sym typeface="Symbol"/>
              </a:rPr>
              <a:t> </a:t>
            </a:r>
            <a:r>
              <a:rPr lang="th-TH" sz="1400" b="1" dirty="0">
                <a:solidFill>
                  <a:srgbClr val="FF3300"/>
                </a:solidFill>
                <a:sym typeface="Symbol"/>
              </a:rPr>
              <a:t></a:t>
            </a:r>
            <a:endParaRPr lang="en-US" sz="1400" b="1" dirty="0">
              <a:solidFill>
                <a:srgbClr val="FF3300"/>
              </a:solidFill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6644640" y="3538134"/>
            <a:ext cx="1737360" cy="591141"/>
            <a:chOff x="6400800" y="5050466"/>
            <a:chExt cx="1737360" cy="591141"/>
          </a:xfrm>
        </p:grpSpPr>
        <p:sp>
          <p:nvSpPr>
            <p:cNvPr id="41" name="Freeform 40"/>
            <p:cNvSpPr/>
            <p:nvPr/>
          </p:nvSpPr>
          <p:spPr bwMode="auto">
            <a:xfrm flipH="1">
              <a:off x="6803066" y="5050466"/>
              <a:ext cx="1169582" cy="584791"/>
            </a:xfrm>
            <a:custGeom>
              <a:avLst/>
              <a:gdLst>
                <a:gd name="connsiteX0" fmla="*/ 0 w 1169582"/>
                <a:gd name="connsiteY0" fmla="*/ 563526 h 584791"/>
                <a:gd name="connsiteX1" fmla="*/ 233916 w 1169582"/>
                <a:gd name="connsiteY1" fmla="*/ 510363 h 584791"/>
                <a:gd name="connsiteX2" fmla="*/ 563526 w 1169582"/>
                <a:gd name="connsiteY2" fmla="*/ 116959 h 584791"/>
                <a:gd name="connsiteX3" fmla="*/ 712382 w 1169582"/>
                <a:gd name="connsiteY3" fmla="*/ 10633 h 584791"/>
                <a:gd name="connsiteX4" fmla="*/ 829340 w 1169582"/>
                <a:gd name="connsiteY4" fmla="*/ 53163 h 584791"/>
                <a:gd name="connsiteX5" fmla="*/ 988828 w 1169582"/>
                <a:gd name="connsiteY5" fmla="*/ 276447 h 584791"/>
                <a:gd name="connsiteX6" fmla="*/ 1169582 w 1169582"/>
                <a:gd name="connsiteY6" fmla="*/ 457200 h 58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9582" h="584791">
                  <a:moveTo>
                    <a:pt x="0" y="563526"/>
                  </a:moveTo>
                  <a:cubicBezTo>
                    <a:pt x="69997" y="574158"/>
                    <a:pt x="139995" y="584791"/>
                    <a:pt x="233916" y="510363"/>
                  </a:cubicBezTo>
                  <a:cubicBezTo>
                    <a:pt x="327837" y="435935"/>
                    <a:pt x="483782" y="200247"/>
                    <a:pt x="563526" y="116959"/>
                  </a:cubicBezTo>
                  <a:cubicBezTo>
                    <a:pt x="643270" y="33671"/>
                    <a:pt x="668080" y="21266"/>
                    <a:pt x="712382" y="10633"/>
                  </a:cubicBezTo>
                  <a:cubicBezTo>
                    <a:pt x="756684" y="0"/>
                    <a:pt x="783266" y="8861"/>
                    <a:pt x="829340" y="53163"/>
                  </a:cubicBezTo>
                  <a:cubicBezTo>
                    <a:pt x="875414" y="97465"/>
                    <a:pt x="932121" y="209108"/>
                    <a:pt x="988828" y="276447"/>
                  </a:cubicBezTo>
                  <a:cubicBezTo>
                    <a:pt x="1045535" y="343786"/>
                    <a:pt x="1107558" y="400493"/>
                    <a:pt x="1169582" y="457200"/>
                  </a:cubicBezTo>
                </a:path>
              </a:pathLst>
            </a:custGeom>
            <a:solidFill>
              <a:srgbClr val="660066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ngsana New" pitchFamily="18" charset="-34"/>
              </a:endParaRPr>
            </a:p>
          </p:txBody>
        </p:sp>
        <p:sp>
          <p:nvSpPr>
            <p:cNvPr id="40" name="Freeform 39"/>
            <p:cNvSpPr/>
            <p:nvPr/>
          </p:nvSpPr>
          <p:spPr bwMode="auto">
            <a:xfrm>
              <a:off x="6517758" y="5056816"/>
              <a:ext cx="1169582" cy="584791"/>
            </a:xfrm>
            <a:custGeom>
              <a:avLst/>
              <a:gdLst>
                <a:gd name="connsiteX0" fmla="*/ 0 w 1169582"/>
                <a:gd name="connsiteY0" fmla="*/ 563526 h 584791"/>
                <a:gd name="connsiteX1" fmla="*/ 233916 w 1169582"/>
                <a:gd name="connsiteY1" fmla="*/ 510363 h 584791"/>
                <a:gd name="connsiteX2" fmla="*/ 563526 w 1169582"/>
                <a:gd name="connsiteY2" fmla="*/ 116959 h 584791"/>
                <a:gd name="connsiteX3" fmla="*/ 712382 w 1169582"/>
                <a:gd name="connsiteY3" fmla="*/ 10633 h 584791"/>
                <a:gd name="connsiteX4" fmla="*/ 829340 w 1169582"/>
                <a:gd name="connsiteY4" fmla="*/ 53163 h 584791"/>
                <a:gd name="connsiteX5" fmla="*/ 988828 w 1169582"/>
                <a:gd name="connsiteY5" fmla="*/ 276447 h 584791"/>
                <a:gd name="connsiteX6" fmla="*/ 1169582 w 1169582"/>
                <a:gd name="connsiteY6" fmla="*/ 457200 h 58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9582" h="584791">
                  <a:moveTo>
                    <a:pt x="0" y="563526"/>
                  </a:moveTo>
                  <a:cubicBezTo>
                    <a:pt x="69997" y="574158"/>
                    <a:pt x="139995" y="584791"/>
                    <a:pt x="233916" y="510363"/>
                  </a:cubicBezTo>
                  <a:cubicBezTo>
                    <a:pt x="327837" y="435935"/>
                    <a:pt x="483782" y="200247"/>
                    <a:pt x="563526" y="116959"/>
                  </a:cubicBezTo>
                  <a:cubicBezTo>
                    <a:pt x="643270" y="33671"/>
                    <a:pt x="668080" y="21266"/>
                    <a:pt x="712382" y="10633"/>
                  </a:cubicBezTo>
                  <a:cubicBezTo>
                    <a:pt x="756684" y="0"/>
                    <a:pt x="783266" y="8861"/>
                    <a:pt x="829340" y="53163"/>
                  </a:cubicBezTo>
                  <a:cubicBezTo>
                    <a:pt x="875414" y="97465"/>
                    <a:pt x="932121" y="209108"/>
                    <a:pt x="988828" y="276447"/>
                  </a:cubicBezTo>
                  <a:cubicBezTo>
                    <a:pt x="1045535" y="343786"/>
                    <a:pt x="1107558" y="400493"/>
                    <a:pt x="1169582" y="457200"/>
                  </a:cubicBezTo>
                </a:path>
              </a:pathLst>
            </a:custGeom>
            <a:solidFill>
              <a:srgbClr val="660066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ngsana New" pitchFamily="18" charset="-34"/>
              </a:endParaRPr>
            </a:p>
          </p:txBody>
        </p:sp>
        <p:sp>
          <p:nvSpPr>
            <p:cNvPr id="42" name="Isosceles Triangle 41"/>
            <p:cNvSpPr/>
            <p:nvPr/>
          </p:nvSpPr>
          <p:spPr bwMode="auto">
            <a:xfrm>
              <a:off x="6585099" y="5476802"/>
              <a:ext cx="1371600" cy="152399"/>
            </a:xfrm>
            <a:prstGeom prst="triangle">
              <a:avLst/>
            </a:prstGeom>
            <a:solidFill>
              <a:srgbClr val="660066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ngsana New" pitchFamily="18" charset="-34"/>
              </a:endParaRPr>
            </a:p>
          </p:txBody>
        </p:sp>
        <p:cxnSp>
          <p:nvCxnSpPr>
            <p:cNvPr id="39" name="Straight Connector 38"/>
            <p:cNvCxnSpPr/>
            <p:nvPr/>
          </p:nvCxnSpPr>
          <p:spPr bwMode="auto">
            <a:xfrm>
              <a:off x="6400800" y="5629202"/>
              <a:ext cx="1737360" cy="158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66006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7" name="Right Triangle 36"/>
            <p:cNvSpPr/>
            <p:nvPr/>
          </p:nvSpPr>
          <p:spPr bwMode="auto">
            <a:xfrm>
              <a:off x="7618231" y="5435689"/>
              <a:ext cx="304800" cy="182880"/>
            </a:xfrm>
            <a:prstGeom prst="rtTriangl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ngsana New" pitchFamily="18" charset="-34"/>
              </a:endParaRPr>
            </a:p>
          </p:txBody>
        </p:sp>
        <p:sp>
          <p:nvSpPr>
            <p:cNvPr id="38" name="Freeform 37"/>
            <p:cNvSpPr/>
            <p:nvPr/>
          </p:nvSpPr>
          <p:spPr bwMode="auto">
            <a:xfrm flipH="1">
              <a:off x="6803066" y="5050466"/>
              <a:ext cx="1169582" cy="584791"/>
            </a:xfrm>
            <a:custGeom>
              <a:avLst/>
              <a:gdLst>
                <a:gd name="connsiteX0" fmla="*/ 0 w 1169582"/>
                <a:gd name="connsiteY0" fmla="*/ 563526 h 584791"/>
                <a:gd name="connsiteX1" fmla="*/ 233916 w 1169582"/>
                <a:gd name="connsiteY1" fmla="*/ 510363 h 584791"/>
                <a:gd name="connsiteX2" fmla="*/ 563526 w 1169582"/>
                <a:gd name="connsiteY2" fmla="*/ 116959 h 584791"/>
                <a:gd name="connsiteX3" fmla="*/ 712382 w 1169582"/>
                <a:gd name="connsiteY3" fmla="*/ 10633 h 584791"/>
                <a:gd name="connsiteX4" fmla="*/ 829340 w 1169582"/>
                <a:gd name="connsiteY4" fmla="*/ 53163 h 584791"/>
                <a:gd name="connsiteX5" fmla="*/ 988828 w 1169582"/>
                <a:gd name="connsiteY5" fmla="*/ 276447 h 584791"/>
                <a:gd name="connsiteX6" fmla="*/ 1169582 w 1169582"/>
                <a:gd name="connsiteY6" fmla="*/ 457200 h 58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9582" h="584791">
                  <a:moveTo>
                    <a:pt x="0" y="563526"/>
                  </a:moveTo>
                  <a:cubicBezTo>
                    <a:pt x="69997" y="574158"/>
                    <a:pt x="139995" y="584791"/>
                    <a:pt x="233916" y="510363"/>
                  </a:cubicBezTo>
                  <a:cubicBezTo>
                    <a:pt x="327837" y="435935"/>
                    <a:pt x="483782" y="200247"/>
                    <a:pt x="563526" y="116959"/>
                  </a:cubicBezTo>
                  <a:cubicBezTo>
                    <a:pt x="643270" y="33671"/>
                    <a:pt x="668080" y="21266"/>
                    <a:pt x="712382" y="10633"/>
                  </a:cubicBezTo>
                  <a:cubicBezTo>
                    <a:pt x="756684" y="0"/>
                    <a:pt x="783266" y="8861"/>
                    <a:pt x="829340" y="53163"/>
                  </a:cubicBezTo>
                  <a:cubicBezTo>
                    <a:pt x="875414" y="97465"/>
                    <a:pt x="932121" y="209108"/>
                    <a:pt x="988828" y="276447"/>
                  </a:cubicBezTo>
                  <a:cubicBezTo>
                    <a:pt x="1045535" y="343786"/>
                    <a:pt x="1107558" y="400493"/>
                    <a:pt x="1169582" y="457200"/>
                  </a:cubicBezTo>
                </a:path>
              </a:pathLst>
            </a:custGeom>
            <a:noFill/>
            <a:ln w="9525" cap="flat" cmpd="sng" algn="ctr">
              <a:solidFill>
                <a:srgbClr val="66006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ngsana New" pitchFamily="18" charset="-34"/>
              </a:endParaRPr>
            </a:p>
          </p:txBody>
        </p:sp>
        <p:sp>
          <p:nvSpPr>
            <p:cNvPr id="44" name="Right Triangle 43"/>
            <p:cNvSpPr/>
            <p:nvPr/>
          </p:nvSpPr>
          <p:spPr bwMode="auto">
            <a:xfrm flipH="1">
              <a:off x="6576235" y="5431466"/>
              <a:ext cx="304800" cy="182880"/>
            </a:xfrm>
            <a:prstGeom prst="rtTriangl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ngsana New" pitchFamily="18" charset="-34"/>
              </a:endParaRPr>
            </a:p>
          </p:txBody>
        </p:sp>
        <p:sp>
          <p:nvSpPr>
            <p:cNvPr id="50" name="Freeform 49"/>
            <p:cNvSpPr/>
            <p:nvPr/>
          </p:nvSpPr>
          <p:spPr bwMode="auto">
            <a:xfrm>
              <a:off x="6519532" y="5054009"/>
              <a:ext cx="1169582" cy="584791"/>
            </a:xfrm>
            <a:custGeom>
              <a:avLst/>
              <a:gdLst>
                <a:gd name="connsiteX0" fmla="*/ 0 w 1169582"/>
                <a:gd name="connsiteY0" fmla="*/ 563526 h 584791"/>
                <a:gd name="connsiteX1" fmla="*/ 233916 w 1169582"/>
                <a:gd name="connsiteY1" fmla="*/ 510363 h 584791"/>
                <a:gd name="connsiteX2" fmla="*/ 563526 w 1169582"/>
                <a:gd name="connsiteY2" fmla="*/ 116959 h 584791"/>
                <a:gd name="connsiteX3" fmla="*/ 712382 w 1169582"/>
                <a:gd name="connsiteY3" fmla="*/ 10633 h 584791"/>
                <a:gd name="connsiteX4" fmla="*/ 829340 w 1169582"/>
                <a:gd name="connsiteY4" fmla="*/ 53163 h 584791"/>
                <a:gd name="connsiteX5" fmla="*/ 988828 w 1169582"/>
                <a:gd name="connsiteY5" fmla="*/ 276447 h 584791"/>
                <a:gd name="connsiteX6" fmla="*/ 1169582 w 1169582"/>
                <a:gd name="connsiteY6" fmla="*/ 457200 h 58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9582" h="584791">
                  <a:moveTo>
                    <a:pt x="0" y="563526"/>
                  </a:moveTo>
                  <a:cubicBezTo>
                    <a:pt x="69997" y="574158"/>
                    <a:pt x="139995" y="584791"/>
                    <a:pt x="233916" y="510363"/>
                  </a:cubicBezTo>
                  <a:cubicBezTo>
                    <a:pt x="327837" y="435935"/>
                    <a:pt x="483782" y="200247"/>
                    <a:pt x="563526" y="116959"/>
                  </a:cubicBezTo>
                  <a:cubicBezTo>
                    <a:pt x="643270" y="33671"/>
                    <a:pt x="668080" y="21266"/>
                    <a:pt x="712382" y="10633"/>
                  </a:cubicBezTo>
                  <a:cubicBezTo>
                    <a:pt x="756684" y="0"/>
                    <a:pt x="783266" y="8861"/>
                    <a:pt x="829340" y="53163"/>
                  </a:cubicBezTo>
                  <a:cubicBezTo>
                    <a:pt x="875414" y="97465"/>
                    <a:pt x="932121" y="209108"/>
                    <a:pt x="988828" y="276447"/>
                  </a:cubicBezTo>
                  <a:cubicBezTo>
                    <a:pt x="1045535" y="343786"/>
                    <a:pt x="1107558" y="400493"/>
                    <a:pt x="1169582" y="457200"/>
                  </a:cubicBezTo>
                </a:path>
              </a:pathLst>
            </a:custGeom>
            <a:noFill/>
            <a:ln w="9525" cap="flat" cmpd="sng" algn="ctr">
              <a:solidFill>
                <a:srgbClr val="66006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ngsana New" pitchFamily="18" charset="-34"/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5964866" y="4069765"/>
            <a:ext cx="1306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b="1" dirty="0">
                <a:solidFill>
                  <a:srgbClr val="FF3300"/>
                </a:solidFill>
                <a:sym typeface="Symbol"/>
              </a:rPr>
              <a:t></a:t>
            </a:r>
            <a:r>
              <a:rPr lang="en-US" sz="1400" b="1" dirty="0">
                <a:solidFill>
                  <a:srgbClr val="FF3300"/>
                </a:solidFill>
                <a:sym typeface="Symbol"/>
              </a:rPr>
              <a:t> </a:t>
            </a:r>
            <a:r>
              <a:rPr lang="th-TH" sz="1800" b="1" dirty="0">
                <a:solidFill>
                  <a:srgbClr val="FF3300"/>
                </a:solidFill>
                <a:sym typeface="Symbol"/>
              </a:rPr>
              <a:t>เขต</a:t>
            </a:r>
            <a:r>
              <a:rPr lang="th-TH" sz="1800" b="1" dirty="0">
                <a:solidFill>
                  <a:srgbClr val="FF3300"/>
                </a:solidFill>
              </a:rPr>
              <a:t>วิกฤต</a:t>
            </a:r>
            <a:r>
              <a:rPr lang="th-TH" sz="1800" b="1" dirty="0">
                <a:solidFill>
                  <a:srgbClr val="FF3300"/>
                </a:solidFill>
                <a:sym typeface="Symbol"/>
              </a:rPr>
              <a:t> </a:t>
            </a:r>
            <a:r>
              <a:rPr lang="th-TH" sz="1400" b="1" dirty="0">
                <a:solidFill>
                  <a:srgbClr val="FF3300"/>
                </a:solidFill>
                <a:sym typeface="Symbol"/>
              </a:rPr>
              <a:t></a:t>
            </a:r>
            <a:r>
              <a:rPr lang="en-US" sz="1400" b="1" dirty="0">
                <a:solidFill>
                  <a:srgbClr val="FF3300"/>
                </a:solidFill>
                <a:sym typeface="Symbol"/>
              </a:rPr>
              <a:t>|</a:t>
            </a:r>
            <a:endParaRPr lang="en-US" sz="1400" b="1" dirty="0">
              <a:solidFill>
                <a:srgbClr val="FF3300"/>
              </a:solidFill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-10633" y="1888434"/>
            <a:ext cx="1371600" cy="1200329"/>
            <a:chOff x="2057400" y="5657671"/>
            <a:chExt cx="1371600" cy="1200329"/>
          </a:xfrm>
        </p:grpSpPr>
        <p:sp>
          <p:nvSpPr>
            <p:cNvPr id="53" name="TextBox 52"/>
            <p:cNvSpPr txBox="1"/>
            <p:nvPr/>
          </p:nvSpPr>
          <p:spPr>
            <a:xfrm>
              <a:off x="2057400" y="5657671"/>
              <a:ext cx="13716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200" dirty="0">
                  <a:sym typeface="Webdings"/>
                </a:rPr>
                <a:t></a:t>
              </a:r>
              <a:endParaRPr lang="en-US" sz="7200" dirty="0"/>
            </a:p>
          </p:txBody>
        </p:sp>
        <p:sp>
          <p:nvSpPr>
            <p:cNvPr id="61" name="Freeform 60"/>
            <p:cNvSpPr/>
            <p:nvPr/>
          </p:nvSpPr>
          <p:spPr bwMode="auto">
            <a:xfrm>
              <a:off x="2817628" y="6198824"/>
              <a:ext cx="265814" cy="106282"/>
            </a:xfrm>
            <a:custGeom>
              <a:avLst/>
              <a:gdLst>
                <a:gd name="connsiteX0" fmla="*/ 138224 w 265814"/>
                <a:gd name="connsiteY0" fmla="*/ 53119 h 106282"/>
                <a:gd name="connsiteX1" fmla="*/ 180754 w 265814"/>
                <a:gd name="connsiteY1" fmla="*/ 42487 h 106282"/>
                <a:gd name="connsiteX2" fmla="*/ 191386 w 265814"/>
                <a:gd name="connsiteY2" fmla="*/ 42487 h 106282"/>
                <a:gd name="connsiteX3" fmla="*/ 202019 w 265814"/>
                <a:gd name="connsiteY3" fmla="*/ 74384 h 106282"/>
                <a:gd name="connsiteX4" fmla="*/ 265814 w 265814"/>
                <a:gd name="connsiteY4" fmla="*/ 53119 h 106282"/>
                <a:gd name="connsiteX5" fmla="*/ 255182 w 265814"/>
                <a:gd name="connsiteY5" fmla="*/ 85017 h 106282"/>
                <a:gd name="connsiteX6" fmla="*/ 191386 w 265814"/>
                <a:gd name="connsiteY6" fmla="*/ 106282 h 106282"/>
                <a:gd name="connsiteX7" fmla="*/ 127591 w 265814"/>
                <a:gd name="connsiteY7" fmla="*/ 95650 h 106282"/>
                <a:gd name="connsiteX8" fmla="*/ 63796 w 265814"/>
                <a:gd name="connsiteY8" fmla="*/ 74384 h 106282"/>
                <a:gd name="connsiteX9" fmla="*/ 0 w 265814"/>
                <a:gd name="connsiteY9" fmla="*/ 21222 h 106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5814" h="106282">
                  <a:moveTo>
                    <a:pt x="138224" y="53119"/>
                  </a:moveTo>
                  <a:cubicBezTo>
                    <a:pt x="152401" y="49575"/>
                    <a:pt x="167071" y="47618"/>
                    <a:pt x="180754" y="42487"/>
                  </a:cubicBezTo>
                  <a:cubicBezTo>
                    <a:pt x="211587" y="30925"/>
                    <a:pt x="255118" y="0"/>
                    <a:pt x="191386" y="42487"/>
                  </a:cubicBezTo>
                  <a:cubicBezTo>
                    <a:pt x="194930" y="53119"/>
                    <a:pt x="190924" y="72799"/>
                    <a:pt x="202019" y="74384"/>
                  </a:cubicBezTo>
                  <a:cubicBezTo>
                    <a:pt x="224209" y="77554"/>
                    <a:pt x="265814" y="53119"/>
                    <a:pt x="265814" y="53119"/>
                  </a:cubicBezTo>
                  <a:cubicBezTo>
                    <a:pt x="262270" y="63752"/>
                    <a:pt x="264302" y="78503"/>
                    <a:pt x="255182" y="85017"/>
                  </a:cubicBezTo>
                  <a:cubicBezTo>
                    <a:pt x="236942" y="98046"/>
                    <a:pt x="191386" y="106282"/>
                    <a:pt x="191386" y="106282"/>
                  </a:cubicBezTo>
                  <a:cubicBezTo>
                    <a:pt x="170121" y="102738"/>
                    <a:pt x="148506" y="100879"/>
                    <a:pt x="127591" y="95650"/>
                  </a:cubicBezTo>
                  <a:cubicBezTo>
                    <a:pt x="105845" y="90213"/>
                    <a:pt x="63796" y="74384"/>
                    <a:pt x="63796" y="74384"/>
                  </a:cubicBezTo>
                  <a:cubicBezTo>
                    <a:pt x="15661" y="26250"/>
                    <a:pt x="39198" y="40820"/>
                    <a:pt x="0" y="21222"/>
                  </a:cubicBezTo>
                </a:path>
              </a:pathLst>
            </a:cu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ngsana New" pitchFamily="18" charset="-34"/>
              </a:endParaRP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0" y="21266"/>
            <a:ext cx="137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ym typeface="Webdings"/>
              </a:rPr>
              <a:t></a:t>
            </a:r>
            <a:endParaRPr lang="en-US" sz="7200" dirty="0"/>
          </a:p>
        </p:txBody>
      </p:sp>
      <p:sp>
        <p:nvSpPr>
          <p:cNvPr id="2" name="TextBox 1"/>
          <p:cNvSpPr txBox="1"/>
          <p:nvPr/>
        </p:nvSpPr>
        <p:spPr>
          <a:xfrm>
            <a:off x="6400800" y="13716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ngsana New" panose="02020603050405020304" pitchFamily="18" charset="-34"/>
              </a:rPr>
              <a:t>e.g.</a:t>
            </a:r>
            <a:endParaRPr lang="th-TH" b="1" dirty="0">
              <a:solidFill>
                <a:srgbClr val="7030A0"/>
              </a:solidFill>
              <a:latin typeface="Angsana New" panose="02020603050405020304" pitchFamily="18" charset="-3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00800" y="3331448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ngsana New" panose="02020603050405020304" pitchFamily="18" charset="-34"/>
              </a:rPr>
              <a:t>e.g.</a:t>
            </a:r>
            <a:endParaRPr lang="th-TH" b="1" dirty="0">
              <a:solidFill>
                <a:srgbClr val="7030A0"/>
              </a:solidFill>
              <a:latin typeface="Angsana New" panose="02020603050405020304" pitchFamily="18" charset="-3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F351BB-7BF4-470A-8374-5A5739E8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D2D0C-0E2E-4E6E-9CE9-48BBDAB56A5E}" type="slidenum">
              <a:rPr lang="en-US" smtClean="0"/>
              <a:pPr>
                <a:defRPr/>
              </a:pPr>
              <a:t>11</a:t>
            </a:fld>
            <a:endParaRPr lang="th-TH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4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1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33" grpId="0"/>
      <p:bldP spid="43" grpId="0"/>
      <p:bldP spid="52" grpId="0"/>
      <p:bldP spid="63" grpId="0"/>
      <p:bldP spid="2" grpId="0"/>
      <p:bldP spid="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392932" y="584796"/>
            <a:ext cx="3730225" cy="2573338"/>
            <a:chOff x="1241" y="1008"/>
            <a:chExt cx="2808" cy="1621"/>
          </a:xfrm>
        </p:grpSpPr>
        <p:sp>
          <p:nvSpPr>
            <p:cNvPr id="38942" name="Line 5"/>
            <p:cNvSpPr>
              <a:spLocks noChangeShapeType="1"/>
            </p:cNvSpPr>
            <p:nvPr/>
          </p:nvSpPr>
          <p:spPr bwMode="auto">
            <a:xfrm>
              <a:off x="1241" y="1008"/>
              <a:ext cx="2753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spcBef>
                  <a:spcPts val="0"/>
                </a:spcBef>
              </a:pPr>
              <a:endParaRPr lang="en-US" sz="3200">
                <a:latin typeface="Angsana New" pitchFamily="18" charset="-34"/>
              </a:endParaRPr>
            </a:p>
          </p:txBody>
        </p:sp>
        <p:sp>
          <p:nvSpPr>
            <p:cNvPr id="38943" name="Line 6"/>
            <p:cNvSpPr>
              <a:spLocks noChangeShapeType="1"/>
            </p:cNvSpPr>
            <p:nvPr/>
          </p:nvSpPr>
          <p:spPr bwMode="auto">
            <a:xfrm>
              <a:off x="1296" y="2629"/>
              <a:ext cx="2753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spcBef>
                  <a:spcPts val="0"/>
                </a:spcBef>
              </a:pPr>
              <a:endParaRPr lang="en-US" sz="3200">
                <a:latin typeface="Angsana New" pitchFamily="18" charset="-34"/>
              </a:endParaRPr>
            </a:p>
          </p:txBody>
        </p:sp>
        <p:sp>
          <p:nvSpPr>
            <p:cNvPr id="38944" name="Line 7"/>
            <p:cNvSpPr>
              <a:spLocks noChangeShapeType="1"/>
            </p:cNvSpPr>
            <p:nvPr/>
          </p:nvSpPr>
          <p:spPr bwMode="auto">
            <a:xfrm>
              <a:off x="2347" y="1337"/>
              <a:ext cx="165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spcBef>
                  <a:spcPts val="0"/>
                </a:spcBef>
              </a:pPr>
              <a:endParaRPr lang="en-US" sz="3200">
                <a:latin typeface="Angsana New" pitchFamily="18" charset="-34"/>
              </a:endParaRPr>
            </a:p>
          </p:txBody>
        </p:sp>
        <p:sp>
          <p:nvSpPr>
            <p:cNvPr id="38945" name="Line 8"/>
            <p:cNvSpPr>
              <a:spLocks noChangeShapeType="1"/>
            </p:cNvSpPr>
            <p:nvPr/>
          </p:nvSpPr>
          <p:spPr bwMode="auto">
            <a:xfrm>
              <a:off x="1241" y="1702"/>
              <a:ext cx="2753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spcBef>
                  <a:spcPts val="0"/>
                </a:spcBef>
              </a:pPr>
              <a:endParaRPr lang="en-US" sz="3200">
                <a:latin typeface="Angsana New" pitchFamily="18" charset="-34"/>
              </a:endParaRPr>
            </a:p>
          </p:txBody>
        </p:sp>
        <p:sp>
          <p:nvSpPr>
            <p:cNvPr id="38946" name="Line 9"/>
            <p:cNvSpPr>
              <a:spLocks noChangeShapeType="1"/>
            </p:cNvSpPr>
            <p:nvPr/>
          </p:nvSpPr>
          <p:spPr bwMode="auto">
            <a:xfrm>
              <a:off x="1284" y="2176"/>
              <a:ext cx="2753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>
                <a:spcBef>
                  <a:spcPts val="0"/>
                </a:spcBef>
              </a:pPr>
              <a:endParaRPr lang="en-US" sz="3200">
                <a:latin typeface="Angsana New" pitchFamily="18" charset="-34"/>
              </a:endParaRPr>
            </a:p>
          </p:txBody>
        </p:sp>
      </p:grpSp>
      <p:sp>
        <p:nvSpPr>
          <p:cNvPr id="148490" name="Rectangle 10"/>
          <p:cNvSpPr>
            <a:spLocks noGrp="1" noChangeArrowheads="1"/>
          </p:cNvSpPr>
          <p:nvPr>
            <p:ph type="title"/>
          </p:nvPr>
        </p:nvSpPr>
        <p:spPr>
          <a:xfrm>
            <a:off x="363272" y="44301"/>
            <a:ext cx="4419600" cy="590550"/>
          </a:xfrm>
        </p:spPr>
        <p:txBody>
          <a:bodyPr/>
          <a:lstStyle/>
          <a:p>
            <a:pPr eaLnBrk="1" hangingPunct="1">
              <a:spcBef>
                <a:spcPts val="0"/>
              </a:spcBef>
              <a:defRPr/>
            </a:pPr>
            <a:r>
              <a:rPr lang="th-TH" sz="3600" b="1" dirty="0">
                <a:solidFill>
                  <a:srgbClr val="006600"/>
                </a:solidFill>
                <a:latin typeface="Angsana New" pitchFamily="18" charset="-34"/>
                <a:cs typeface="Angsana New" pitchFamily="18" charset="-34"/>
              </a:rPr>
              <a:t>ความคลาดเคลื่อน </a:t>
            </a:r>
            <a:r>
              <a:rPr lang="en-US" sz="3600" b="1" dirty="0">
                <a:solidFill>
                  <a:srgbClr val="006600"/>
                </a:solidFill>
                <a:latin typeface="Angsana New" pitchFamily="18" charset="-34"/>
                <a:cs typeface="Angsana New" pitchFamily="18" charset="-34"/>
              </a:rPr>
              <a:t>(Error)</a:t>
            </a:r>
            <a:endParaRPr lang="th-TH" sz="3600" b="1" dirty="0">
              <a:solidFill>
                <a:srgbClr val="006600"/>
              </a:solidFill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148491" name="Rectangle 11"/>
          <p:cNvSpPr>
            <a:spLocks noChangeArrowheads="1"/>
          </p:cNvSpPr>
          <p:nvPr/>
        </p:nvSpPr>
        <p:spPr bwMode="auto">
          <a:xfrm>
            <a:off x="2177901" y="609600"/>
            <a:ext cx="103874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lang="th-TH" sz="3200" b="1" dirty="0">
                <a:solidFill>
                  <a:srgbClr val="FF00FF"/>
                </a:solidFill>
                <a:latin typeface="Angsana New" pitchFamily="18" charset="-34"/>
              </a:rPr>
              <a:t>ความจริง</a:t>
            </a:r>
            <a:endParaRPr lang="th-TH" sz="3200" dirty="0">
              <a:latin typeface="Angsana New" pitchFamily="18" charset="-34"/>
            </a:endParaRPr>
          </a:p>
        </p:txBody>
      </p:sp>
      <p:sp>
        <p:nvSpPr>
          <p:cNvPr id="148492" name="Rectangle 12"/>
          <p:cNvSpPr>
            <a:spLocks noChangeArrowheads="1"/>
          </p:cNvSpPr>
          <p:nvPr/>
        </p:nvSpPr>
        <p:spPr bwMode="auto">
          <a:xfrm>
            <a:off x="439472" y="838200"/>
            <a:ext cx="136896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lang="th-TH" sz="3200" b="1" dirty="0">
                <a:solidFill>
                  <a:srgbClr val="0000FF"/>
                </a:solidFill>
                <a:latin typeface="Angsana New" pitchFamily="18" charset="-34"/>
              </a:rPr>
              <a:t>การตัดสินใจ</a:t>
            </a:r>
            <a:endParaRPr lang="th-TH" sz="3200" dirty="0">
              <a:latin typeface="Angsana New" pitchFamily="18" charset="-34"/>
            </a:endParaRPr>
          </a:p>
        </p:txBody>
      </p:sp>
      <p:sp>
        <p:nvSpPr>
          <p:cNvPr id="148493" name="Rectangle 13"/>
          <p:cNvSpPr>
            <a:spLocks noChangeArrowheads="1"/>
          </p:cNvSpPr>
          <p:nvPr/>
        </p:nvSpPr>
        <p:spPr bwMode="auto">
          <a:xfrm>
            <a:off x="1600200" y="1174145"/>
            <a:ext cx="13716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3200" b="1" dirty="0">
                <a:solidFill>
                  <a:srgbClr val="FF00FF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FF00FF"/>
                </a:solidFill>
                <a:latin typeface="Angsana New" pitchFamily="18" charset="-34"/>
              </a:rPr>
              <a:t>0</a:t>
            </a:r>
            <a:r>
              <a:rPr lang="en-US" sz="3200" b="1" dirty="0">
                <a:solidFill>
                  <a:srgbClr val="FF00FF"/>
                </a:solidFill>
                <a:latin typeface="Angsana New" pitchFamily="18" charset="-34"/>
              </a:rPr>
              <a:t> </a:t>
            </a:r>
            <a:r>
              <a:rPr lang="th-TH" sz="3200" b="1" dirty="0">
                <a:solidFill>
                  <a:srgbClr val="FF00FF"/>
                </a:solidFill>
                <a:latin typeface="Angsana New" pitchFamily="18" charset="-34"/>
              </a:rPr>
              <a:t>จริง</a:t>
            </a:r>
            <a:endParaRPr lang="th-TH" sz="3200" dirty="0">
              <a:latin typeface="Angsana New" pitchFamily="18" charset="-34"/>
            </a:endParaRPr>
          </a:p>
        </p:txBody>
      </p:sp>
      <p:sp>
        <p:nvSpPr>
          <p:cNvPr id="148494" name="Rectangle 14"/>
          <p:cNvSpPr>
            <a:spLocks noChangeArrowheads="1"/>
          </p:cNvSpPr>
          <p:nvPr/>
        </p:nvSpPr>
        <p:spPr bwMode="auto">
          <a:xfrm>
            <a:off x="515672" y="1800439"/>
            <a:ext cx="159180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lang="th-TH" sz="3200" b="1" dirty="0">
                <a:solidFill>
                  <a:srgbClr val="0000FF"/>
                </a:solidFill>
                <a:latin typeface="Angsana New" pitchFamily="18" charset="-34"/>
              </a:rPr>
              <a:t>ปฏิเสธ </a:t>
            </a:r>
            <a:r>
              <a:rPr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0</a:t>
            </a:r>
            <a:endParaRPr lang="th-TH" sz="3200" b="1" baseline="-25000" dirty="0">
              <a:solidFill>
                <a:srgbClr val="0000FF"/>
              </a:solidFill>
              <a:latin typeface="Angsana New" pitchFamily="18" charset="-34"/>
            </a:endParaRP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1850066" y="1646272"/>
            <a:ext cx="981075" cy="814387"/>
            <a:chOff x="2466" y="2233"/>
            <a:chExt cx="618" cy="513"/>
          </a:xfrm>
        </p:grpSpPr>
        <p:sp>
          <p:nvSpPr>
            <p:cNvPr id="38940" name="Rectangle 16"/>
            <p:cNvSpPr>
              <a:spLocks noChangeArrowheads="1"/>
            </p:cNvSpPr>
            <p:nvPr/>
          </p:nvSpPr>
          <p:spPr bwMode="auto">
            <a:xfrm>
              <a:off x="2477" y="2233"/>
              <a:ext cx="60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th-TH" sz="3200" b="1" dirty="0" err="1">
                  <a:solidFill>
                    <a:srgbClr val="008000"/>
                  </a:solidFill>
                  <a:latin typeface="Angsana New" pitchFamily="18" charset="-34"/>
                </a:rPr>
                <a:t>TYPE</a:t>
              </a:r>
              <a:r>
                <a:rPr lang="th-TH" sz="3200" b="1" dirty="0">
                  <a:solidFill>
                    <a:srgbClr val="008000"/>
                  </a:solidFill>
                  <a:latin typeface="Angsana New" pitchFamily="18" charset="-34"/>
                </a:rPr>
                <a:t> I </a:t>
              </a:r>
              <a:endParaRPr lang="th-TH" sz="3200" dirty="0">
                <a:latin typeface="Angsana New" pitchFamily="18" charset="-34"/>
              </a:endParaRPr>
            </a:p>
          </p:txBody>
        </p:sp>
        <p:sp>
          <p:nvSpPr>
            <p:cNvPr id="38941" name="Rectangle 17"/>
            <p:cNvSpPr>
              <a:spLocks noChangeArrowheads="1"/>
            </p:cNvSpPr>
            <p:nvPr/>
          </p:nvSpPr>
          <p:spPr bwMode="auto">
            <a:xfrm>
              <a:off x="2466" y="2436"/>
              <a:ext cx="61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th-TH" sz="3200" b="1" dirty="0" err="1">
                  <a:solidFill>
                    <a:srgbClr val="008000"/>
                  </a:solidFill>
                  <a:latin typeface="Angsana New" pitchFamily="18" charset="-34"/>
                </a:rPr>
                <a:t>ERROR</a:t>
              </a:r>
              <a:endParaRPr lang="th-TH" sz="3200" dirty="0">
                <a:latin typeface="Angsana New" pitchFamily="18" charset="-34"/>
              </a:endParaRPr>
            </a:p>
          </p:txBody>
        </p:sp>
      </p:grpSp>
      <p:sp>
        <p:nvSpPr>
          <p:cNvPr id="148498" name="Rectangle 18"/>
          <p:cNvSpPr>
            <a:spLocks noChangeArrowheads="1"/>
          </p:cNvSpPr>
          <p:nvPr/>
        </p:nvSpPr>
        <p:spPr bwMode="auto">
          <a:xfrm>
            <a:off x="439472" y="2553575"/>
            <a:ext cx="161792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lang="th-TH" sz="3200" b="1" dirty="0">
                <a:solidFill>
                  <a:srgbClr val="0000FF"/>
                </a:solidFill>
                <a:latin typeface="Angsana New" pitchFamily="18" charset="-34"/>
              </a:rPr>
              <a:t>ไม่ปฏิเสธ </a:t>
            </a:r>
            <a:r>
              <a:rPr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0</a:t>
            </a:r>
            <a:endParaRPr lang="th-TH" sz="3200" b="1" baseline="-25000" dirty="0">
              <a:solidFill>
                <a:srgbClr val="0000FF"/>
              </a:solidFill>
              <a:latin typeface="Angsana New" pitchFamily="18" charset="-34"/>
            </a:endParaRPr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2927499" y="2379907"/>
            <a:ext cx="1069975" cy="820738"/>
            <a:chOff x="3865" y="2934"/>
            <a:chExt cx="674" cy="517"/>
          </a:xfrm>
        </p:grpSpPr>
        <p:sp>
          <p:nvSpPr>
            <p:cNvPr id="38938" name="Rectangle 20"/>
            <p:cNvSpPr>
              <a:spLocks noChangeArrowheads="1"/>
            </p:cNvSpPr>
            <p:nvPr/>
          </p:nvSpPr>
          <p:spPr bwMode="auto">
            <a:xfrm>
              <a:off x="3865" y="2934"/>
              <a:ext cx="67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th-TH" sz="3200" b="1" dirty="0" err="1">
                  <a:solidFill>
                    <a:srgbClr val="FF0000"/>
                  </a:solidFill>
                  <a:latin typeface="Angsana New" pitchFamily="18" charset="-34"/>
                </a:rPr>
                <a:t>TYPE</a:t>
              </a:r>
              <a:r>
                <a:rPr lang="th-TH" sz="3200" b="1" dirty="0">
                  <a:solidFill>
                    <a:srgbClr val="FF0000"/>
                  </a:solidFill>
                  <a:latin typeface="Angsana New" pitchFamily="18" charset="-34"/>
                </a:rPr>
                <a:t> </a:t>
              </a:r>
              <a:r>
                <a:rPr lang="th-TH" sz="3200" b="1" dirty="0" err="1">
                  <a:solidFill>
                    <a:srgbClr val="FF0000"/>
                  </a:solidFill>
                  <a:latin typeface="Angsana New" pitchFamily="18" charset="-34"/>
                </a:rPr>
                <a:t>II</a:t>
              </a:r>
              <a:r>
                <a:rPr lang="th-TH" sz="3200" b="1" dirty="0">
                  <a:solidFill>
                    <a:srgbClr val="FF0000"/>
                  </a:solidFill>
                  <a:latin typeface="Angsana New" pitchFamily="18" charset="-34"/>
                </a:rPr>
                <a:t> </a:t>
              </a:r>
              <a:endParaRPr lang="th-TH" sz="3200" dirty="0">
                <a:latin typeface="Angsana New" pitchFamily="18" charset="-34"/>
              </a:endParaRPr>
            </a:p>
          </p:txBody>
        </p:sp>
        <p:sp>
          <p:nvSpPr>
            <p:cNvPr id="38939" name="Rectangle 21"/>
            <p:cNvSpPr>
              <a:spLocks noChangeArrowheads="1"/>
            </p:cNvSpPr>
            <p:nvPr/>
          </p:nvSpPr>
          <p:spPr bwMode="auto">
            <a:xfrm>
              <a:off x="3876" y="3141"/>
              <a:ext cx="61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th-TH" sz="3200" b="1" dirty="0" err="1">
                  <a:solidFill>
                    <a:srgbClr val="FF0000"/>
                  </a:solidFill>
                  <a:latin typeface="Angsana New" pitchFamily="18" charset="-34"/>
                </a:rPr>
                <a:t>ERROR</a:t>
              </a:r>
              <a:endParaRPr lang="th-TH" sz="3200" dirty="0">
                <a:latin typeface="Angsana New" pitchFamily="18" charset="-34"/>
              </a:endParaRPr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3407734" y="1931692"/>
            <a:ext cx="400497" cy="217910"/>
            <a:chOff x="3897" y="2105"/>
            <a:chExt cx="517" cy="831"/>
          </a:xfrm>
        </p:grpSpPr>
        <p:sp>
          <p:nvSpPr>
            <p:cNvPr id="38936" name="Line 23"/>
            <p:cNvSpPr>
              <a:spLocks noChangeShapeType="1"/>
            </p:cNvSpPr>
            <p:nvPr/>
          </p:nvSpPr>
          <p:spPr bwMode="auto">
            <a:xfrm flipV="1">
              <a:off x="3937" y="2105"/>
              <a:ext cx="477" cy="813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US" sz="3200">
                <a:latin typeface="Angsana New" pitchFamily="18" charset="-34"/>
              </a:endParaRPr>
            </a:p>
          </p:txBody>
        </p:sp>
        <p:sp>
          <p:nvSpPr>
            <p:cNvPr id="38937" name="Line 24"/>
            <p:cNvSpPr>
              <a:spLocks noChangeShapeType="1"/>
            </p:cNvSpPr>
            <p:nvPr/>
          </p:nvSpPr>
          <p:spPr bwMode="auto">
            <a:xfrm flipH="1" flipV="1">
              <a:off x="3897" y="2665"/>
              <a:ext cx="72" cy="271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US" sz="3200">
                <a:latin typeface="Angsana New" pitchFamily="18" charset="-34"/>
              </a:endParaRPr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2057400" y="2674076"/>
            <a:ext cx="409838" cy="233380"/>
            <a:chOff x="2540" y="3157"/>
            <a:chExt cx="386" cy="174"/>
          </a:xfrm>
        </p:grpSpPr>
        <p:sp>
          <p:nvSpPr>
            <p:cNvPr id="38934" name="Line 26"/>
            <p:cNvSpPr>
              <a:spLocks noChangeShapeType="1"/>
            </p:cNvSpPr>
            <p:nvPr/>
          </p:nvSpPr>
          <p:spPr bwMode="auto">
            <a:xfrm flipV="1">
              <a:off x="2580" y="3157"/>
              <a:ext cx="346" cy="173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US" sz="3200">
                <a:latin typeface="Angsana New" pitchFamily="18" charset="-34"/>
              </a:endParaRPr>
            </a:p>
          </p:txBody>
        </p:sp>
        <p:sp>
          <p:nvSpPr>
            <p:cNvPr id="38935" name="Line 27"/>
            <p:cNvSpPr>
              <a:spLocks noChangeShapeType="1"/>
            </p:cNvSpPr>
            <p:nvPr/>
          </p:nvSpPr>
          <p:spPr bwMode="auto">
            <a:xfrm flipH="1" flipV="1">
              <a:off x="2540" y="3273"/>
              <a:ext cx="52" cy="5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Bef>
                  <a:spcPts val="0"/>
                </a:spcBef>
              </a:pPr>
              <a:endParaRPr lang="en-US" sz="3200">
                <a:latin typeface="Angsana New" pitchFamily="18" charset="-34"/>
              </a:endParaRPr>
            </a:p>
          </p:txBody>
        </p:sp>
      </p:grpSp>
      <p:sp>
        <p:nvSpPr>
          <p:cNvPr id="148508" name="Rectangle 28"/>
          <p:cNvSpPr>
            <a:spLocks noChangeArrowheads="1"/>
          </p:cNvSpPr>
          <p:nvPr/>
        </p:nvSpPr>
        <p:spPr bwMode="auto">
          <a:xfrm>
            <a:off x="2679421" y="1164266"/>
            <a:ext cx="150981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3200" b="1" dirty="0">
                <a:solidFill>
                  <a:srgbClr val="FF00FF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FF00FF"/>
                </a:solidFill>
                <a:latin typeface="Angsana New" pitchFamily="18" charset="-34"/>
              </a:rPr>
              <a:t>0</a:t>
            </a:r>
            <a:r>
              <a:rPr lang="en-US" sz="3200" b="1" dirty="0">
                <a:solidFill>
                  <a:srgbClr val="FF00FF"/>
                </a:solidFill>
                <a:latin typeface="Angsana New" pitchFamily="18" charset="-34"/>
              </a:rPr>
              <a:t> </a:t>
            </a:r>
            <a:r>
              <a:rPr lang="th-TH" sz="3200" b="1" dirty="0">
                <a:solidFill>
                  <a:srgbClr val="FF00FF"/>
                </a:solidFill>
                <a:latin typeface="Angsana New" pitchFamily="18" charset="-34"/>
              </a:rPr>
              <a:t>ไม่จริง</a:t>
            </a:r>
            <a:endParaRPr lang="th-TH" sz="3200" dirty="0">
              <a:latin typeface="Angsana New" pitchFamily="18" charset="-34"/>
            </a:endParaRPr>
          </a:p>
        </p:txBody>
      </p:sp>
      <p:sp>
        <p:nvSpPr>
          <p:cNvPr id="148511" name="Line 31"/>
          <p:cNvSpPr>
            <a:spLocks noChangeShapeType="1"/>
          </p:cNvSpPr>
          <p:nvPr/>
        </p:nvSpPr>
        <p:spPr bwMode="auto">
          <a:xfrm>
            <a:off x="52718" y="1128829"/>
            <a:ext cx="0" cy="1691640"/>
          </a:xfrm>
          <a:prstGeom prst="line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ts val="0"/>
              </a:spcBef>
            </a:pPr>
            <a:endParaRPr lang="en-US" sz="3200">
              <a:latin typeface="Angsana New" pitchFamily="18" charset="-34"/>
            </a:endParaRPr>
          </a:p>
        </p:txBody>
      </p:sp>
      <p:sp>
        <p:nvSpPr>
          <p:cNvPr id="148514" name="Line 34"/>
          <p:cNvSpPr>
            <a:spLocks noChangeShapeType="1"/>
          </p:cNvSpPr>
          <p:nvPr/>
        </p:nvSpPr>
        <p:spPr bwMode="auto">
          <a:xfrm>
            <a:off x="44301" y="1137246"/>
            <a:ext cx="320040" cy="0"/>
          </a:xfrm>
          <a:prstGeom prst="line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ts val="0"/>
              </a:spcBef>
            </a:pPr>
            <a:endParaRPr lang="en-US" sz="3200">
              <a:latin typeface="Angsana New" pitchFamily="18" charset="-34"/>
            </a:endParaRPr>
          </a:p>
        </p:txBody>
      </p:sp>
      <p:sp>
        <p:nvSpPr>
          <p:cNvPr id="148515" name="Line 35"/>
          <p:cNvSpPr>
            <a:spLocks noChangeShapeType="1"/>
          </p:cNvSpPr>
          <p:nvPr/>
        </p:nvSpPr>
        <p:spPr bwMode="auto">
          <a:xfrm>
            <a:off x="67336" y="2059169"/>
            <a:ext cx="365760" cy="0"/>
          </a:xfrm>
          <a:prstGeom prst="line">
            <a:avLst/>
          </a:prstGeom>
          <a:noFill/>
          <a:ln w="28575">
            <a:solidFill>
              <a:srgbClr val="0000FF"/>
            </a:solidFill>
            <a:miter lim="800000"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ts val="0"/>
              </a:spcBef>
            </a:pPr>
            <a:endParaRPr lang="en-US" sz="3200">
              <a:latin typeface="Angsana New" pitchFamily="18" charset="-34"/>
            </a:endParaRPr>
          </a:p>
        </p:txBody>
      </p:sp>
      <p:sp>
        <p:nvSpPr>
          <p:cNvPr id="148516" name="Line 36"/>
          <p:cNvSpPr>
            <a:spLocks noChangeShapeType="1"/>
          </p:cNvSpPr>
          <p:nvPr/>
        </p:nvSpPr>
        <p:spPr bwMode="auto">
          <a:xfrm>
            <a:off x="54934" y="2803441"/>
            <a:ext cx="365760" cy="0"/>
          </a:xfrm>
          <a:prstGeom prst="line">
            <a:avLst/>
          </a:prstGeom>
          <a:noFill/>
          <a:ln w="28575">
            <a:solidFill>
              <a:srgbClr val="0000FF"/>
            </a:solidFill>
            <a:miter lim="800000"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ts val="0"/>
              </a:spcBef>
            </a:pPr>
            <a:endParaRPr lang="en-US" sz="3200">
              <a:latin typeface="Angsana New" pitchFamily="18" charset="-34"/>
            </a:endParaRPr>
          </a:p>
        </p:txBody>
      </p:sp>
      <p:sp>
        <p:nvSpPr>
          <p:cNvPr id="148517" name="Line 37"/>
          <p:cNvSpPr>
            <a:spLocks noChangeShapeType="1"/>
          </p:cNvSpPr>
          <p:nvPr/>
        </p:nvSpPr>
        <p:spPr bwMode="auto">
          <a:xfrm>
            <a:off x="2144233" y="1111101"/>
            <a:ext cx="1051560" cy="0"/>
          </a:xfrm>
          <a:prstGeom prst="line">
            <a:avLst/>
          </a:prstGeom>
          <a:noFill/>
          <a:ln w="2857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ts val="0"/>
              </a:spcBef>
            </a:pPr>
            <a:endParaRPr lang="en-US" sz="3200">
              <a:latin typeface="Angsana New" pitchFamily="18" charset="-34"/>
            </a:endParaRPr>
          </a:p>
        </p:txBody>
      </p:sp>
      <p:sp>
        <p:nvSpPr>
          <p:cNvPr id="148520" name="Line 40"/>
          <p:cNvSpPr>
            <a:spLocks noChangeShapeType="1"/>
          </p:cNvSpPr>
          <p:nvPr/>
        </p:nvSpPr>
        <p:spPr bwMode="auto">
          <a:xfrm>
            <a:off x="2702437" y="1001233"/>
            <a:ext cx="0" cy="91440"/>
          </a:xfrm>
          <a:prstGeom prst="line">
            <a:avLst/>
          </a:prstGeom>
          <a:noFill/>
          <a:ln w="2857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ts val="0"/>
              </a:spcBef>
            </a:pPr>
            <a:endParaRPr lang="en-US" sz="3200">
              <a:latin typeface="Angsana New" pitchFamily="18" charset="-34"/>
            </a:endParaRPr>
          </a:p>
        </p:txBody>
      </p:sp>
      <p:sp>
        <p:nvSpPr>
          <p:cNvPr id="148522" name="Line 42"/>
          <p:cNvSpPr>
            <a:spLocks noChangeShapeType="1"/>
          </p:cNvSpPr>
          <p:nvPr/>
        </p:nvSpPr>
        <p:spPr bwMode="auto">
          <a:xfrm>
            <a:off x="2152631" y="1092051"/>
            <a:ext cx="0" cy="228600"/>
          </a:xfrm>
          <a:prstGeom prst="line">
            <a:avLst/>
          </a:prstGeom>
          <a:noFill/>
          <a:ln w="28575">
            <a:solidFill>
              <a:srgbClr val="FF00FF"/>
            </a:solidFill>
            <a:miter lim="800000"/>
            <a:headEnd/>
            <a:tailEnd type="arrow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ts val="0"/>
              </a:spcBef>
            </a:pPr>
            <a:endParaRPr lang="en-US" sz="3200">
              <a:latin typeface="Angsana New" pitchFamily="18" charset="-34"/>
            </a:endParaRPr>
          </a:p>
        </p:txBody>
      </p:sp>
      <p:sp>
        <p:nvSpPr>
          <p:cNvPr id="148523" name="Line 43"/>
          <p:cNvSpPr>
            <a:spLocks noChangeShapeType="1"/>
          </p:cNvSpPr>
          <p:nvPr/>
        </p:nvSpPr>
        <p:spPr bwMode="auto">
          <a:xfrm>
            <a:off x="3175577" y="1092051"/>
            <a:ext cx="0" cy="228600"/>
          </a:xfrm>
          <a:prstGeom prst="line">
            <a:avLst/>
          </a:prstGeom>
          <a:noFill/>
          <a:ln w="28575">
            <a:solidFill>
              <a:srgbClr val="FF00FF"/>
            </a:solidFill>
            <a:miter lim="800000"/>
            <a:headEnd/>
            <a:tailEnd type="arrow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ts val="0"/>
              </a:spcBef>
            </a:pPr>
            <a:endParaRPr lang="en-US" sz="3200">
              <a:latin typeface="Angsana New" pitchFamily="18" charset="-34"/>
            </a:endParaRPr>
          </a:p>
        </p:txBody>
      </p:sp>
      <p:sp>
        <p:nvSpPr>
          <p:cNvPr id="35" name="Text Box 10"/>
          <p:cNvSpPr txBox="1">
            <a:spLocks noChangeArrowheads="1"/>
          </p:cNvSpPr>
          <p:nvPr/>
        </p:nvSpPr>
        <p:spPr bwMode="auto">
          <a:xfrm>
            <a:off x="4070001" y="1349029"/>
            <a:ext cx="3724936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ts val="3000"/>
              </a:lnSpc>
              <a:spcBef>
                <a:spcPts val="0"/>
              </a:spcBef>
              <a:defRPr/>
            </a:pPr>
            <a:r>
              <a:rPr lang="th-TH" sz="2400" b="1" dirty="0">
                <a:solidFill>
                  <a:srgbClr val="00B200"/>
                </a:solidFill>
                <a:latin typeface="Angsana New" pitchFamily="18" charset="-34"/>
                <a:sym typeface="Symbol" pitchFamily="18" charset="2"/>
              </a:rPr>
              <a:t></a:t>
            </a:r>
            <a:r>
              <a:rPr lang="th-TH" sz="3200" b="1" dirty="0">
                <a:solidFill>
                  <a:srgbClr val="00B200"/>
                </a:solidFill>
                <a:latin typeface="Angsana New" pitchFamily="18" charset="-34"/>
                <a:sym typeface="Symbol" pitchFamily="18" charset="2"/>
              </a:rPr>
              <a:t> </a:t>
            </a:r>
            <a:r>
              <a:rPr lang="en-US" sz="3200" b="1" dirty="0">
                <a:solidFill>
                  <a:srgbClr val="00B200"/>
                </a:solidFill>
                <a:latin typeface="Angsana New" pitchFamily="18" charset="-34"/>
                <a:sym typeface="Symbol" pitchFamily="18" charset="2"/>
              </a:rPr>
              <a:t> </a:t>
            </a:r>
            <a:r>
              <a:rPr lang="th-TH" sz="3200" b="1" dirty="0">
                <a:solidFill>
                  <a:srgbClr val="00B200"/>
                </a:solidFill>
                <a:latin typeface="Angsana New" pitchFamily="18" charset="-34"/>
              </a:rPr>
              <a:t>= </a:t>
            </a:r>
            <a:r>
              <a:rPr lang="en-US" sz="3200" b="1" dirty="0">
                <a:solidFill>
                  <a:srgbClr val="00B200"/>
                </a:solidFill>
                <a:latin typeface="Angsana New" pitchFamily="18" charset="-34"/>
              </a:rPr>
              <a:t> </a:t>
            </a:r>
            <a:r>
              <a:rPr lang="th-TH" sz="3200" b="1" dirty="0">
                <a:solidFill>
                  <a:srgbClr val="00B200"/>
                </a:solidFill>
                <a:latin typeface="Angsana New" pitchFamily="18" charset="-34"/>
              </a:rPr>
              <a:t>P(ปฏิเสธ </a:t>
            </a:r>
            <a:r>
              <a:rPr lang="en-US" sz="3200" b="1" dirty="0">
                <a:solidFill>
                  <a:srgbClr val="00B200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00B200"/>
                </a:solidFill>
                <a:latin typeface="Angsana New" pitchFamily="18" charset="-34"/>
              </a:rPr>
              <a:t>0</a:t>
            </a:r>
            <a:r>
              <a:rPr lang="en-US" sz="3200" b="1" dirty="0">
                <a:solidFill>
                  <a:srgbClr val="00B200"/>
                </a:solidFill>
                <a:latin typeface="Angsana New" pitchFamily="18" charset="-34"/>
              </a:rPr>
              <a:t>|</a:t>
            </a:r>
            <a:r>
              <a:rPr lang="th-TH" sz="3200" b="1" dirty="0">
                <a:solidFill>
                  <a:srgbClr val="00B200"/>
                </a:solidFill>
                <a:latin typeface="Angsana New" pitchFamily="18" charset="-34"/>
              </a:rPr>
              <a:t> </a:t>
            </a:r>
            <a:r>
              <a:rPr lang="en-US" sz="3200" b="1" dirty="0">
                <a:solidFill>
                  <a:srgbClr val="00B200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00B200"/>
                </a:solidFill>
                <a:latin typeface="Angsana New" pitchFamily="18" charset="-34"/>
              </a:rPr>
              <a:t>0</a:t>
            </a:r>
            <a:r>
              <a:rPr lang="th-TH" sz="3200" b="1" dirty="0">
                <a:solidFill>
                  <a:srgbClr val="00B200"/>
                </a:solidFill>
                <a:latin typeface="Angsana New" pitchFamily="18" charset="-34"/>
              </a:rPr>
              <a:t> เป็นจริง)</a:t>
            </a:r>
            <a:endParaRPr lang="th-TH" sz="3200" dirty="0">
              <a:solidFill>
                <a:srgbClr val="00B200"/>
              </a:solidFill>
              <a:latin typeface="Angsana New" pitchFamily="18" charset="-34"/>
            </a:endParaRPr>
          </a:p>
        </p:txBody>
      </p:sp>
      <p:sp>
        <p:nvSpPr>
          <p:cNvPr id="36" name="Rectangle 30"/>
          <p:cNvSpPr>
            <a:spLocks noChangeArrowheads="1"/>
          </p:cNvSpPr>
          <p:nvPr/>
        </p:nvSpPr>
        <p:spPr bwMode="auto">
          <a:xfrm>
            <a:off x="4082901" y="838200"/>
            <a:ext cx="4873854" cy="478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ts val="3000"/>
              </a:lnSpc>
              <a:spcBef>
                <a:spcPts val="0"/>
              </a:spcBef>
              <a:tabLst>
                <a:tab pos="2743200" algn="l"/>
              </a:tabLst>
              <a:defRPr/>
            </a:pPr>
            <a:r>
              <a:rPr lang="th-TH" sz="2400" b="1" dirty="0">
                <a:solidFill>
                  <a:srgbClr val="006600"/>
                </a:solidFill>
                <a:latin typeface="Angsana New" pitchFamily="18" charset="-34"/>
                <a:sym typeface="Symbol" pitchFamily="18" charset="2"/>
              </a:rPr>
              <a:t></a:t>
            </a:r>
            <a:r>
              <a:rPr lang="th-TH" sz="3200" b="1" dirty="0">
                <a:solidFill>
                  <a:srgbClr val="006600"/>
                </a:solidFill>
                <a:latin typeface="Angsana New" pitchFamily="18" charset="-34"/>
              </a:rPr>
              <a:t> </a:t>
            </a:r>
            <a:r>
              <a:rPr lang="en-US" sz="3200" b="1" dirty="0">
                <a:solidFill>
                  <a:srgbClr val="006600"/>
                </a:solidFill>
                <a:latin typeface="Angsana New" pitchFamily="18" charset="-34"/>
              </a:rPr>
              <a:t> =</a:t>
            </a:r>
            <a:r>
              <a:rPr lang="th-TH" sz="3200" b="1" dirty="0">
                <a:solidFill>
                  <a:srgbClr val="006600"/>
                </a:solidFill>
                <a:latin typeface="Angsana New" pitchFamily="18" charset="-34"/>
              </a:rPr>
              <a:t> </a:t>
            </a:r>
            <a:r>
              <a:rPr lang="en-US" sz="3200" b="1" dirty="0">
                <a:solidFill>
                  <a:srgbClr val="006600"/>
                </a:solidFill>
                <a:latin typeface="Angsana New" pitchFamily="18" charset="-34"/>
              </a:rPr>
              <a:t> </a:t>
            </a:r>
            <a:r>
              <a:rPr lang="th-TH" sz="3200" b="1" dirty="0">
                <a:solidFill>
                  <a:srgbClr val="006600"/>
                </a:solidFill>
                <a:latin typeface="Angsana New" pitchFamily="18" charset="-34"/>
              </a:rPr>
              <a:t>ความน่าจะเป็นที่จะเกิด</a:t>
            </a:r>
            <a:r>
              <a:rPr lang="en-US" sz="3200" b="1" dirty="0">
                <a:solidFill>
                  <a:srgbClr val="006600"/>
                </a:solidFill>
                <a:latin typeface="Angsana New" pitchFamily="18" charset="-34"/>
              </a:rPr>
              <a:t> Type I Error</a:t>
            </a:r>
            <a:endParaRPr lang="th-TH" sz="3200" b="1" dirty="0">
              <a:solidFill>
                <a:srgbClr val="006600"/>
              </a:solidFill>
              <a:latin typeface="Angsana New" pitchFamily="18" charset="-34"/>
            </a:endParaRPr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313366" y="3359342"/>
            <a:ext cx="5029199" cy="4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ts val="3000"/>
              </a:lnSpc>
              <a:spcBef>
                <a:spcPts val="0"/>
              </a:spcBef>
              <a:tabLst>
                <a:tab pos="2743200" algn="l"/>
              </a:tabLst>
              <a:defRPr/>
            </a:pPr>
            <a:r>
              <a:rPr lang="th-TH" sz="2400" b="1" dirty="0">
                <a:solidFill>
                  <a:srgbClr val="C00000"/>
                </a:solidFill>
                <a:latin typeface="Angsana New" pitchFamily="18" charset="-34"/>
                <a:sym typeface="Symbol" pitchFamily="18" charset="2"/>
              </a:rPr>
              <a:t></a:t>
            </a:r>
            <a:r>
              <a:rPr lang="th-TH" sz="3200" b="1" dirty="0">
                <a:solidFill>
                  <a:srgbClr val="C00000"/>
                </a:solidFill>
                <a:latin typeface="Angsana New" pitchFamily="18" charset="-34"/>
              </a:rPr>
              <a:t> </a:t>
            </a:r>
            <a:r>
              <a:rPr lang="en-US" sz="3200" b="1" dirty="0">
                <a:solidFill>
                  <a:srgbClr val="C00000"/>
                </a:solidFill>
                <a:latin typeface="Angsana New" pitchFamily="18" charset="-34"/>
              </a:rPr>
              <a:t> =  </a:t>
            </a:r>
            <a:r>
              <a:rPr lang="th-TH" sz="3200" b="1" dirty="0">
                <a:solidFill>
                  <a:srgbClr val="C00000"/>
                </a:solidFill>
                <a:latin typeface="Angsana New" pitchFamily="18" charset="-34"/>
              </a:rPr>
              <a:t>ความน่าจะเป็นที่จะเกิด</a:t>
            </a:r>
            <a:r>
              <a:rPr lang="en-US" sz="3200" b="1" dirty="0">
                <a:solidFill>
                  <a:srgbClr val="C00000"/>
                </a:solidFill>
                <a:latin typeface="Angsana New" pitchFamily="18" charset="-34"/>
              </a:rPr>
              <a:t> Type II Error</a:t>
            </a:r>
            <a:endParaRPr lang="th-TH" sz="3200" b="1" dirty="0">
              <a:solidFill>
                <a:srgbClr val="C00000"/>
              </a:solidFill>
              <a:latin typeface="Angsana New" pitchFamily="18" charset="-34"/>
            </a:endParaRPr>
          </a:p>
        </p:txBody>
      </p:sp>
      <p:sp>
        <p:nvSpPr>
          <p:cNvPr id="38" name="Text Box 41"/>
          <p:cNvSpPr txBox="1">
            <a:spLocks noChangeArrowheads="1"/>
          </p:cNvSpPr>
          <p:nvPr/>
        </p:nvSpPr>
        <p:spPr bwMode="auto">
          <a:xfrm>
            <a:off x="355718" y="4128625"/>
            <a:ext cx="388443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ts val="3000"/>
              </a:lnSpc>
              <a:spcBef>
                <a:spcPts val="0"/>
              </a:spcBef>
              <a:defRPr/>
            </a:pPr>
            <a:r>
              <a:rPr lang="th-TH" sz="2400" b="1" dirty="0">
                <a:solidFill>
                  <a:srgbClr val="FF0000"/>
                </a:solidFill>
                <a:latin typeface="Angsana New" pitchFamily="18" charset="-34"/>
                <a:sym typeface="Symbol" pitchFamily="18" charset="2"/>
              </a:rPr>
              <a:t></a:t>
            </a:r>
            <a:r>
              <a:rPr lang="th-TH" sz="3200" b="1" dirty="0">
                <a:solidFill>
                  <a:srgbClr val="FF0000"/>
                </a:solidFill>
                <a:latin typeface="Angsana New" pitchFamily="18" charset="-34"/>
                <a:sym typeface="Symbol" pitchFamily="18" charset="2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Angsana New" pitchFamily="18" charset="-34"/>
                <a:sym typeface="Symbol" pitchFamily="18" charset="2"/>
              </a:rPr>
              <a:t> </a:t>
            </a:r>
            <a:r>
              <a:rPr lang="th-TH" sz="3200" b="1" dirty="0">
                <a:solidFill>
                  <a:srgbClr val="FF0000"/>
                </a:solidFill>
                <a:latin typeface="Angsana New" pitchFamily="18" charset="-34"/>
              </a:rPr>
              <a:t>= P(ไม่ปฏิเสธ </a:t>
            </a:r>
            <a:r>
              <a:rPr lang="en-US" sz="3200" b="1" dirty="0">
                <a:solidFill>
                  <a:srgbClr val="FF0000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FF0000"/>
                </a:solidFill>
                <a:latin typeface="Angsana New" pitchFamily="18" charset="-34"/>
              </a:rPr>
              <a:t>0</a:t>
            </a:r>
            <a:r>
              <a:rPr lang="en-US" sz="3200" b="1" dirty="0">
                <a:solidFill>
                  <a:srgbClr val="FF0000"/>
                </a:solidFill>
                <a:latin typeface="Angsana New" pitchFamily="18" charset="-34"/>
              </a:rPr>
              <a:t>|</a:t>
            </a:r>
            <a:r>
              <a:rPr lang="th-TH" sz="3200" b="1" dirty="0">
                <a:solidFill>
                  <a:srgbClr val="FF0000"/>
                </a:solidFill>
                <a:latin typeface="Angsana New" pitchFamily="18" charset="-34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FF0000"/>
                </a:solidFill>
                <a:latin typeface="Angsana New" pitchFamily="18" charset="-34"/>
              </a:rPr>
              <a:t>0</a:t>
            </a:r>
            <a:r>
              <a:rPr lang="th-TH" sz="3200" b="1" dirty="0">
                <a:solidFill>
                  <a:srgbClr val="FF0000"/>
                </a:solidFill>
                <a:latin typeface="Angsana New" pitchFamily="18" charset="-34"/>
              </a:rPr>
              <a:t> ไม่จริง)</a:t>
            </a:r>
            <a:endParaRPr lang="th-TH" sz="3200" dirty="0">
              <a:solidFill>
                <a:srgbClr val="FF0000"/>
              </a:solidFill>
              <a:latin typeface="Angsana New" pitchFamily="18" charset="-34"/>
            </a:endParaRPr>
          </a:p>
        </p:txBody>
      </p:sp>
      <p:sp>
        <p:nvSpPr>
          <p:cNvPr id="39" name="Rectangle 8"/>
          <p:cNvSpPr>
            <a:spLocks noChangeArrowheads="1"/>
          </p:cNvSpPr>
          <p:nvPr/>
        </p:nvSpPr>
        <p:spPr bwMode="auto">
          <a:xfrm>
            <a:off x="4061565" y="1986507"/>
            <a:ext cx="4986670" cy="567068"/>
          </a:xfrm>
          <a:prstGeom prst="rect">
            <a:avLst/>
          </a:prstGeom>
          <a:noFill/>
          <a:ln w="28575" cmpd="dbl">
            <a:solidFill>
              <a:srgbClr val="7415FF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tabLst>
                <a:tab pos="2743200" algn="l"/>
              </a:tabLst>
              <a:defRPr/>
            </a:pPr>
            <a:r>
              <a:rPr lang="th-TH" sz="2400" b="1" dirty="0">
                <a:solidFill>
                  <a:srgbClr val="7415FF"/>
                </a:solidFill>
                <a:latin typeface="Angsana New" pitchFamily="18" charset="-34"/>
                <a:sym typeface="Symbol" pitchFamily="18" charset="2"/>
              </a:rPr>
              <a:t></a:t>
            </a:r>
            <a:r>
              <a:rPr lang="th-TH" sz="3200" b="1" dirty="0">
                <a:solidFill>
                  <a:srgbClr val="7415FF"/>
                </a:solidFill>
                <a:latin typeface="Angsana New" pitchFamily="18" charset="-34"/>
              </a:rPr>
              <a:t> </a:t>
            </a:r>
            <a:r>
              <a:rPr lang="en-US" sz="3200" b="1" dirty="0">
                <a:solidFill>
                  <a:srgbClr val="7415FF"/>
                </a:solidFill>
                <a:latin typeface="Angsana New" pitchFamily="18" charset="-34"/>
              </a:rPr>
              <a:t> =</a:t>
            </a:r>
            <a:r>
              <a:rPr lang="th-TH" sz="3200" b="1" dirty="0">
                <a:solidFill>
                  <a:srgbClr val="7415FF"/>
                </a:solidFill>
                <a:latin typeface="Angsana New" pitchFamily="18" charset="-34"/>
              </a:rPr>
              <a:t> ระดับนัยสำคัญ</a:t>
            </a:r>
            <a:r>
              <a:rPr lang="en-US" sz="3200" b="1" dirty="0">
                <a:solidFill>
                  <a:srgbClr val="7415FF"/>
                </a:solidFill>
                <a:latin typeface="Angsana New" pitchFamily="18" charset="-34"/>
              </a:rPr>
              <a:t> (Level of significance)</a:t>
            </a:r>
            <a:endParaRPr lang="th-TH" sz="3200" b="1" dirty="0">
              <a:solidFill>
                <a:srgbClr val="7415FF"/>
              </a:solidFill>
              <a:latin typeface="Angsana New" pitchFamily="18" charset="-34"/>
            </a:endParaRPr>
          </a:p>
        </p:txBody>
      </p:sp>
      <p:sp>
        <p:nvSpPr>
          <p:cNvPr id="40" name="Rectangle 10"/>
          <p:cNvSpPr>
            <a:spLocks noChangeArrowheads="1"/>
          </p:cNvSpPr>
          <p:nvPr/>
        </p:nvSpPr>
        <p:spPr bwMode="auto">
          <a:xfrm>
            <a:off x="392932" y="5590658"/>
            <a:ext cx="8229601" cy="565299"/>
          </a:xfrm>
          <a:prstGeom prst="rect">
            <a:avLst/>
          </a:prstGeom>
          <a:noFill/>
          <a:ln w="28575" cmpd="dbl">
            <a:solidFill>
              <a:srgbClr val="7415FF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spcBef>
                <a:spcPts val="0"/>
              </a:spcBef>
              <a:tabLst>
                <a:tab pos="2743200" algn="l"/>
              </a:tabLst>
              <a:defRPr/>
            </a:pPr>
            <a:r>
              <a:rPr lang="th-TH" sz="3200" b="1" dirty="0">
                <a:solidFill>
                  <a:srgbClr val="7415FF"/>
                </a:solidFill>
                <a:latin typeface="Angsana New" pitchFamily="18" charset="-34"/>
              </a:rPr>
              <a:t>1 – </a:t>
            </a:r>
            <a:r>
              <a:rPr lang="th-TH" sz="2400" b="1" dirty="0">
                <a:solidFill>
                  <a:srgbClr val="7415FF"/>
                </a:solidFill>
                <a:latin typeface="Angsana New" pitchFamily="18" charset="-34"/>
                <a:sym typeface="Symbol" pitchFamily="18" charset="2"/>
              </a:rPr>
              <a:t></a:t>
            </a:r>
            <a:r>
              <a:rPr lang="th-TH" sz="3200" b="1" dirty="0">
                <a:solidFill>
                  <a:srgbClr val="7415FF"/>
                </a:solidFill>
                <a:latin typeface="Angsana New" pitchFamily="18" charset="-34"/>
              </a:rPr>
              <a:t> </a:t>
            </a:r>
            <a:r>
              <a:rPr lang="en-US" sz="3200" b="1" dirty="0">
                <a:solidFill>
                  <a:srgbClr val="7415FF"/>
                </a:solidFill>
                <a:latin typeface="Angsana New" pitchFamily="18" charset="-34"/>
              </a:rPr>
              <a:t>=</a:t>
            </a:r>
            <a:r>
              <a:rPr lang="th-TH" sz="3200" b="1" dirty="0">
                <a:solidFill>
                  <a:srgbClr val="7415FF"/>
                </a:solidFill>
                <a:latin typeface="Angsana New" pitchFamily="18" charset="-34"/>
              </a:rPr>
              <a:t> กำลังการทดสอบ</a:t>
            </a:r>
            <a:r>
              <a:rPr lang="en-US" sz="3200" b="1" dirty="0">
                <a:solidFill>
                  <a:srgbClr val="7415FF"/>
                </a:solidFill>
                <a:latin typeface="Angsana New" pitchFamily="18" charset="-34"/>
              </a:rPr>
              <a:t> (Power of the test)</a:t>
            </a:r>
            <a:r>
              <a:rPr lang="th-TH" sz="3200" b="1" dirty="0">
                <a:solidFill>
                  <a:srgbClr val="7415FF"/>
                </a:solidFill>
                <a:latin typeface="Angsana New" pitchFamily="18" charset="-34"/>
              </a:rPr>
              <a:t>                  </a:t>
            </a:r>
          </a:p>
        </p:txBody>
      </p: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67336" y="4763584"/>
            <a:ext cx="87417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th-TH" sz="3200" b="1" dirty="0">
                <a:solidFill>
                  <a:srgbClr val="FF3300"/>
                </a:solidFill>
                <a:latin typeface="Angsana New" pitchFamily="18" charset="-34"/>
                <a:sym typeface="Symbol" pitchFamily="18" charset="2"/>
              </a:rPr>
              <a:t>1 </a:t>
            </a:r>
            <a:r>
              <a:rPr lang="th-TH" sz="2400" b="1" dirty="0">
                <a:solidFill>
                  <a:srgbClr val="FF3300"/>
                </a:solidFill>
                <a:latin typeface="Times New Roman"/>
                <a:sym typeface="Symbol" pitchFamily="18" charset="2"/>
              </a:rPr>
              <a:t>–</a:t>
            </a:r>
            <a:r>
              <a:rPr lang="th-TH" sz="2400" b="1" dirty="0">
                <a:solidFill>
                  <a:srgbClr val="FF3300"/>
                </a:solidFill>
                <a:latin typeface="Angsana New" pitchFamily="18" charset="-34"/>
                <a:sym typeface="Symbol" pitchFamily="18" charset="2"/>
              </a:rPr>
              <a:t> </a:t>
            </a:r>
            <a:r>
              <a:rPr lang="th-TH" sz="3200" b="1" dirty="0">
                <a:solidFill>
                  <a:srgbClr val="FF3300"/>
                </a:solidFill>
                <a:latin typeface="Angsana New" pitchFamily="18" charset="-34"/>
                <a:sym typeface="Symbol" pitchFamily="18" charset="2"/>
              </a:rPr>
              <a:t>  </a:t>
            </a:r>
            <a:r>
              <a:rPr lang="th-TH" sz="3200" b="1" dirty="0">
                <a:solidFill>
                  <a:srgbClr val="FF3300"/>
                </a:solidFill>
                <a:latin typeface="Angsana New" pitchFamily="18" charset="-34"/>
              </a:rPr>
              <a:t>= </a:t>
            </a:r>
            <a:r>
              <a:rPr lang="th-TH" sz="3200" b="1" dirty="0">
                <a:solidFill>
                  <a:srgbClr val="FF3300"/>
                </a:solidFill>
                <a:latin typeface="Angsana New" pitchFamily="18" charset="-34"/>
                <a:sym typeface="Symbol" pitchFamily="18" charset="2"/>
              </a:rPr>
              <a:t>1 </a:t>
            </a:r>
            <a:r>
              <a:rPr lang="th-TH" sz="2400" b="1" dirty="0">
                <a:solidFill>
                  <a:srgbClr val="FF3300"/>
                </a:solidFill>
                <a:latin typeface="Times New Roman"/>
                <a:sym typeface="Symbol" pitchFamily="18" charset="2"/>
              </a:rPr>
              <a:t>–</a:t>
            </a:r>
            <a:r>
              <a:rPr lang="th-TH" sz="3200" b="1" dirty="0">
                <a:solidFill>
                  <a:srgbClr val="FF3300"/>
                </a:solidFill>
                <a:latin typeface="Angsana New" pitchFamily="18" charset="-34"/>
                <a:sym typeface="Symbol" pitchFamily="18" charset="2"/>
              </a:rPr>
              <a:t> </a:t>
            </a:r>
            <a:r>
              <a:rPr lang="th-TH" sz="3200" b="1" dirty="0">
                <a:solidFill>
                  <a:srgbClr val="FF3300"/>
                </a:solidFill>
                <a:latin typeface="Angsana New" pitchFamily="18" charset="-34"/>
              </a:rPr>
              <a:t>P(ไม่ปฏิเสธ  </a:t>
            </a:r>
            <a:r>
              <a:rPr lang="en-US" sz="3200" b="1" dirty="0">
                <a:solidFill>
                  <a:srgbClr val="FF3300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FF3300"/>
                </a:solidFill>
                <a:latin typeface="Angsana New" pitchFamily="18" charset="-34"/>
              </a:rPr>
              <a:t>0</a:t>
            </a:r>
            <a:r>
              <a:rPr lang="en-US" sz="3200" b="1" dirty="0">
                <a:solidFill>
                  <a:srgbClr val="FF3300"/>
                </a:solidFill>
                <a:latin typeface="Angsana New" pitchFamily="18" charset="-34"/>
              </a:rPr>
              <a:t>|</a:t>
            </a:r>
            <a:r>
              <a:rPr lang="th-TH" sz="3200" b="1" dirty="0">
                <a:solidFill>
                  <a:srgbClr val="FF3300"/>
                </a:solidFill>
                <a:latin typeface="Angsana New" pitchFamily="18" charset="-34"/>
              </a:rPr>
              <a:t> </a:t>
            </a:r>
            <a:r>
              <a:rPr lang="en-US" sz="3200" b="1" dirty="0">
                <a:solidFill>
                  <a:srgbClr val="FF3300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FF3300"/>
                </a:solidFill>
                <a:latin typeface="Angsana New" pitchFamily="18" charset="-34"/>
              </a:rPr>
              <a:t>0</a:t>
            </a:r>
            <a:r>
              <a:rPr lang="th-TH" sz="3200" b="1" dirty="0">
                <a:solidFill>
                  <a:srgbClr val="FF3300"/>
                </a:solidFill>
                <a:latin typeface="Angsana New" pitchFamily="18" charset="-34"/>
              </a:rPr>
              <a:t> ไม่จริง)  </a:t>
            </a:r>
            <a:r>
              <a:rPr lang="en-US" sz="3200" b="1" dirty="0">
                <a:solidFill>
                  <a:srgbClr val="FF3300"/>
                </a:solidFill>
                <a:latin typeface="Angsana New" pitchFamily="18" charset="-34"/>
              </a:rPr>
              <a:t>= </a:t>
            </a:r>
            <a:r>
              <a:rPr lang="th-TH" sz="3200" b="1" dirty="0">
                <a:solidFill>
                  <a:srgbClr val="FF3300"/>
                </a:solidFill>
                <a:latin typeface="Angsana New" pitchFamily="18" charset="-34"/>
              </a:rPr>
              <a:t>P(ปฏิเสธ  </a:t>
            </a:r>
            <a:r>
              <a:rPr lang="en-US" sz="3200" b="1" dirty="0">
                <a:solidFill>
                  <a:srgbClr val="FF3300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FF3300"/>
                </a:solidFill>
                <a:latin typeface="Angsana New" pitchFamily="18" charset="-34"/>
              </a:rPr>
              <a:t>0 </a:t>
            </a:r>
            <a:r>
              <a:rPr lang="en-US" sz="3200" b="1" dirty="0">
                <a:solidFill>
                  <a:srgbClr val="FF3300"/>
                </a:solidFill>
                <a:latin typeface="Angsana New" pitchFamily="18" charset="-34"/>
              </a:rPr>
              <a:t>|</a:t>
            </a:r>
            <a:r>
              <a:rPr lang="th-TH" sz="3200" b="1" dirty="0">
                <a:solidFill>
                  <a:srgbClr val="FF3300"/>
                </a:solidFill>
                <a:latin typeface="Angsana New" pitchFamily="18" charset="-34"/>
              </a:rPr>
              <a:t> </a:t>
            </a:r>
            <a:r>
              <a:rPr lang="en-US" sz="3200" b="1" dirty="0">
                <a:solidFill>
                  <a:srgbClr val="FF3300"/>
                </a:solidFill>
                <a:latin typeface="Angsana New" pitchFamily="18" charset="-34"/>
              </a:rPr>
              <a:t>H</a:t>
            </a:r>
            <a:r>
              <a:rPr lang="en-US" sz="4400" b="1" baseline="-25000" dirty="0">
                <a:solidFill>
                  <a:srgbClr val="FF3300"/>
                </a:solidFill>
                <a:latin typeface="Angsana New" pitchFamily="18" charset="-34"/>
              </a:rPr>
              <a:t>0</a:t>
            </a:r>
            <a:r>
              <a:rPr lang="th-TH" sz="3200" b="1" dirty="0">
                <a:solidFill>
                  <a:srgbClr val="FF3300"/>
                </a:solidFill>
                <a:latin typeface="Angsana New" pitchFamily="18" charset="-34"/>
              </a:rPr>
              <a:t> ไม่จริง)</a:t>
            </a:r>
            <a:endParaRPr lang="th-TH" sz="3200" dirty="0">
              <a:solidFill>
                <a:srgbClr val="FF3300"/>
              </a:solidFill>
              <a:latin typeface="Angsana New" pitchFamily="18" charset="-34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270FA-B3F5-424F-9E0D-B7FF2BE6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D2D0C-0E2E-4E6E-9CE9-48BBDAB56A5E}" type="slidenum">
              <a:rPr lang="en-US" smtClean="0"/>
              <a:pPr>
                <a:defRPr/>
              </a:pPr>
              <a:t>12</a:t>
            </a:fld>
            <a:endParaRPr lang="th-TH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8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4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8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48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48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4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1485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1485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1485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" dur="500"/>
                                        <p:tgtEl>
                                          <p:spTgt spid="148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8" dur="500"/>
                                        <p:tgtEl>
                                          <p:spTgt spid="1485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1485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4" dur="500"/>
                                        <p:tgtEl>
                                          <p:spTgt spid="1485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7" dur="500"/>
                                        <p:tgtEl>
                                          <p:spTgt spid="1485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90" grpId="0" autoUpdateAnimBg="0"/>
      <p:bldP spid="148491" grpId="0"/>
      <p:bldP spid="148492" grpId="0"/>
      <p:bldP spid="148493" grpId="0"/>
      <p:bldP spid="148494" grpId="0"/>
      <p:bldP spid="148498" grpId="0"/>
      <p:bldP spid="148508" grpId="0"/>
      <p:bldP spid="148511" grpId="0" animBg="1"/>
      <p:bldP spid="148511" grpId="1" animBg="1"/>
      <p:bldP spid="148514" grpId="0" animBg="1"/>
      <p:bldP spid="148514" grpId="1" animBg="1"/>
      <p:bldP spid="148515" grpId="0" animBg="1"/>
      <p:bldP spid="148515" grpId="1" animBg="1"/>
      <p:bldP spid="148516" grpId="0" animBg="1"/>
      <p:bldP spid="148516" grpId="1" animBg="1"/>
      <p:bldP spid="148517" grpId="0" animBg="1"/>
      <p:bldP spid="148517" grpId="1" animBg="1"/>
      <p:bldP spid="148520" grpId="0" animBg="1"/>
      <p:bldP spid="148520" grpId="1" animBg="1"/>
      <p:bldP spid="148522" grpId="0" animBg="1"/>
      <p:bldP spid="148522" grpId="1" animBg="1"/>
      <p:bldP spid="148523" grpId="0" animBg="1"/>
      <p:bldP spid="148523" grpId="1" animBg="1"/>
      <p:bldP spid="35" grpId="0"/>
      <p:bldP spid="36" grpId="0" build="p"/>
      <p:bldP spid="37" grpId="0" build="p"/>
      <p:bldP spid="38" grpId="0"/>
      <p:bldP spid="39" grpId="0" animBg="1"/>
      <p:bldP spid="40" grpId="0" animBg="1"/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 descr="Newsprint"/>
          <p:cNvSpPr>
            <a:spLocks noGrp="1" noChangeArrowheads="1"/>
          </p:cNvSpPr>
          <p:nvPr>
            <p:ph type="title"/>
          </p:nvPr>
        </p:nvSpPr>
        <p:spPr>
          <a:xfrm>
            <a:off x="42525" y="1188906"/>
            <a:ext cx="8782050" cy="571500"/>
          </a:xfrm>
        </p:spPr>
        <p:txBody>
          <a:bodyPr lIns="92075" tIns="46038" rIns="92075" bIns="46038"/>
          <a:lstStyle/>
          <a:p>
            <a:pPr algn="l" eaLnBrk="1" hangingPunct="1">
              <a:tabLst>
                <a:tab pos="2800350" algn="l"/>
              </a:tabLst>
              <a:defRPr/>
            </a:pPr>
            <a:r>
              <a:rPr lang="en-US" sz="3600" b="1" dirty="0">
                <a:solidFill>
                  <a:srgbClr val="6600FF"/>
                </a:solidFill>
                <a:latin typeface="Angsana New" pitchFamily="18" charset="-34"/>
                <a:cs typeface="Angsana New" pitchFamily="18" charset="-34"/>
              </a:rPr>
              <a:t>p</a:t>
            </a:r>
            <a:r>
              <a:rPr lang="th-TH" sz="3600" b="1" dirty="0">
                <a:solidFill>
                  <a:srgbClr val="6600FF"/>
                </a:solidFill>
                <a:latin typeface="Angsana New" pitchFamily="18" charset="-34"/>
                <a:cs typeface="Angsana New" pitchFamily="18" charset="-34"/>
              </a:rPr>
              <a:t> – value</a:t>
            </a:r>
            <a:r>
              <a:rPr lang="th-TH" sz="3600" dirty="0">
                <a:latin typeface="Angsana New" pitchFamily="18" charset="-34"/>
                <a:cs typeface="Angsana New" pitchFamily="18" charset="-34"/>
              </a:rPr>
              <a:t>  </a:t>
            </a:r>
            <a:r>
              <a:rPr lang="th-TH" sz="3600" b="1" dirty="0">
                <a:solidFill>
                  <a:srgbClr val="00CC66"/>
                </a:solidFill>
                <a:latin typeface="Angsana New" pitchFamily="18" charset="-34"/>
                <a:cs typeface="Angsana New" pitchFamily="18" charset="-34"/>
              </a:rPr>
              <a:t>คือ </a:t>
            </a:r>
            <a:r>
              <a:rPr lang="th-TH" sz="3600" b="1" dirty="0">
                <a:solidFill>
                  <a:srgbClr val="660066"/>
                </a:solidFill>
                <a:latin typeface="Angsana New" pitchFamily="18" charset="-34"/>
                <a:cs typeface="Angsana New" pitchFamily="18" charset="-34"/>
              </a:rPr>
              <a:t>ความน่าจะเป็นที่แสดงความเสี่ยงที่จะปฏิเสธ </a:t>
            </a:r>
            <a:r>
              <a:rPr lang="en-US" sz="3600" b="1" dirty="0">
                <a:solidFill>
                  <a:srgbClr val="660066"/>
                </a:solidFill>
                <a:latin typeface="Angsana New" pitchFamily="18" charset="-34"/>
                <a:cs typeface="Angsana New" pitchFamily="18" charset="-34"/>
              </a:rPr>
              <a:t>H</a:t>
            </a:r>
            <a:r>
              <a:rPr lang="en-US" sz="3600" b="1" baseline="-25000" dirty="0">
                <a:solidFill>
                  <a:srgbClr val="660066"/>
                </a:solidFill>
                <a:latin typeface="Angsana New" pitchFamily="18" charset="-34"/>
                <a:cs typeface="Angsana New" pitchFamily="18" charset="-34"/>
              </a:rPr>
              <a:t>0</a:t>
            </a:r>
            <a:r>
              <a:rPr lang="th-TH" sz="3600" b="1" baseline="-25000" dirty="0">
                <a:solidFill>
                  <a:srgbClr val="660066"/>
                </a:solidFill>
                <a:latin typeface="Angsana New" pitchFamily="18" charset="-34"/>
                <a:cs typeface="Angsana New" pitchFamily="18" charset="-34"/>
              </a:rPr>
              <a:t>  </a:t>
            </a:r>
            <a:br>
              <a:rPr lang="th-TH" sz="3600" b="1" baseline="-25000" dirty="0">
                <a:solidFill>
                  <a:srgbClr val="660066"/>
                </a:solidFill>
                <a:latin typeface="Angsana New" pitchFamily="18" charset="-34"/>
                <a:cs typeface="Angsana New" pitchFamily="18" charset="-34"/>
              </a:rPr>
            </a:br>
            <a:r>
              <a:rPr lang="th-TH" sz="3600" b="1" baseline="-25000" dirty="0">
                <a:solidFill>
                  <a:srgbClr val="660066"/>
                </a:solidFill>
                <a:latin typeface="Angsana New" pitchFamily="18" charset="-34"/>
                <a:cs typeface="Angsana New" pitchFamily="18" charset="-34"/>
              </a:rPr>
              <a:t>                                  </a:t>
            </a:r>
            <a:r>
              <a:rPr lang="th-TH" sz="3600" b="1" dirty="0">
                <a:solidFill>
                  <a:srgbClr val="660066"/>
                </a:solidFill>
                <a:latin typeface="Angsana New" pitchFamily="18" charset="-34"/>
                <a:cs typeface="Angsana New" pitchFamily="18" charset="-34"/>
              </a:rPr>
              <a:t>เมื่อ </a:t>
            </a:r>
            <a:r>
              <a:rPr lang="en-US" sz="3600" b="1" dirty="0">
                <a:solidFill>
                  <a:srgbClr val="660066"/>
                </a:solidFill>
                <a:latin typeface="Angsana New" pitchFamily="18" charset="-34"/>
                <a:cs typeface="Angsana New" pitchFamily="18" charset="-34"/>
              </a:rPr>
              <a:t>H</a:t>
            </a:r>
            <a:r>
              <a:rPr lang="en-US" sz="4800" b="1" baseline="-25000" dirty="0">
                <a:solidFill>
                  <a:srgbClr val="660066"/>
                </a:solidFill>
                <a:latin typeface="Angsana New" pitchFamily="18" charset="-34"/>
                <a:cs typeface="Angsana New" pitchFamily="18" charset="-34"/>
              </a:rPr>
              <a:t>0</a:t>
            </a:r>
            <a:r>
              <a:rPr lang="en-US" sz="3600" b="1" dirty="0">
                <a:solidFill>
                  <a:srgbClr val="660066"/>
                </a:solidFill>
                <a:latin typeface="Angsana New" pitchFamily="18" charset="-34"/>
                <a:cs typeface="Angsana New" pitchFamily="18" charset="-34"/>
              </a:rPr>
              <a:t>  </a:t>
            </a:r>
            <a:r>
              <a:rPr lang="th-TH" sz="3600" b="1" dirty="0">
                <a:solidFill>
                  <a:srgbClr val="660066"/>
                </a:solidFill>
                <a:latin typeface="Angsana New" pitchFamily="18" charset="-34"/>
                <a:cs typeface="Angsana New" pitchFamily="18" charset="-34"/>
              </a:rPr>
              <a:t>เป็นจริง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62" y="2329520"/>
            <a:ext cx="8961475" cy="1219200"/>
          </a:xfrm>
          <a:ln w="57150" cmpd="thinThick">
            <a:solidFill>
              <a:srgbClr val="FF0066"/>
            </a:solidFill>
          </a:ln>
        </p:spPr>
        <p:txBody>
          <a:bodyPr lIns="92075" tIns="46038" rIns="92075" bIns="46038"/>
          <a:lstStyle/>
          <a:p>
            <a:pPr marL="0" indent="0" eaLnBrk="1" hangingPunct="1">
              <a:spcBef>
                <a:spcPct val="0"/>
              </a:spcBef>
              <a:buFontTx/>
              <a:buNone/>
              <a:tabLst>
                <a:tab pos="457200" algn="l"/>
                <a:tab pos="2976563" algn="l"/>
                <a:tab pos="3657600" algn="l"/>
                <a:tab pos="5603875" algn="l"/>
                <a:tab pos="6400800" algn="l"/>
              </a:tabLst>
              <a:defRPr/>
            </a:pPr>
            <a:r>
              <a:rPr lang="th-TH" sz="3600" b="1" dirty="0">
                <a:solidFill>
                  <a:srgbClr val="FF0000"/>
                </a:solidFill>
                <a:latin typeface="Angsana New" pitchFamily="18" charset="-34"/>
                <a:cs typeface="Angsana New" pitchFamily="18" charset="-34"/>
              </a:rPr>
              <a:t> 	</a:t>
            </a:r>
            <a:r>
              <a:rPr lang="en-US" sz="3600" b="1" dirty="0">
                <a:solidFill>
                  <a:srgbClr val="6600FF"/>
                </a:solidFill>
                <a:latin typeface="Angsana New" pitchFamily="18" charset="-34"/>
                <a:cs typeface="Angsana New" pitchFamily="18" charset="-34"/>
              </a:rPr>
              <a:t>p – value</a:t>
            </a:r>
            <a:r>
              <a:rPr lang="en-US" sz="3600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sz="3600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มีค่ามาก</a:t>
            </a:r>
            <a:r>
              <a:rPr lang="th-TH" sz="3600" b="1" dirty="0">
                <a:solidFill>
                  <a:srgbClr val="996633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en-US" sz="3600" b="1" dirty="0">
                <a:solidFill>
                  <a:srgbClr val="996633"/>
                </a:solidFill>
                <a:latin typeface="Angsana New" pitchFamily="18" charset="-34"/>
                <a:cs typeface="Angsana New" pitchFamily="18" charset="-34"/>
              </a:rPr>
              <a:t>	</a:t>
            </a:r>
            <a:r>
              <a:rPr lang="en-US" sz="3600" b="1" dirty="0">
                <a:solidFill>
                  <a:srgbClr val="663300"/>
                </a:solidFill>
                <a:latin typeface="Angsana New" pitchFamily="18" charset="-34"/>
                <a:cs typeface="Angsana New" pitchFamily="18" charset="-34"/>
              </a:rPr>
              <a:t>=&gt;</a:t>
            </a:r>
            <a:r>
              <a:rPr lang="th-TH" sz="3600" b="1" dirty="0">
                <a:solidFill>
                  <a:srgbClr val="996633"/>
                </a:solidFill>
                <a:latin typeface="Angsana New" pitchFamily="18" charset="-34"/>
                <a:cs typeface="Angsana New" pitchFamily="18" charset="-34"/>
                <a:sym typeface="Symbol" pitchFamily="18" charset="2"/>
              </a:rPr>
              <a:t> 	</a:t>
            </a:r>
            <a:r>
              <a:rPr lang="th-TH" sz="3600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  <a:sym typeface="Symbol" pitchFamily="18" charset="2"/>
              </a:rPr>
              <a:t>ไม่ปฏิเสธ </a:t>
            </a:r>
            <a:r>
              <a:rPr lang="en-US" sz="3600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H</a:t>
            </a:r>
            <a:r>
              <a:rPr lang="en-US" sz="3600" b="1" baseline="-25000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0</a:t>
            </a:r>
            <a:r>
              <a:rPr lang="th-TH" sz="3600" b="1" baseline="-25000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 	</a:t>
            </a:r>
            <a:r>
              <a:rPr lang="en-US" sz="3600" b="1" dirty="0">
                <a:solidFill>
                  <a:srgbClr val="663300"/>
                </a:solidFill>
                <a:latin typeface="Angsana New" pitchFamily="18" charset="-34"/>
                <a:cs typeface="Angsana New" pitchFamily="18" charset="-34"/>
              </a:rPr>
              <a:t>&lt;=</a:t>
            </a:r>
            <a:r>
              <a:rPr lang="en-US" sz="3600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	</a:t>
            </a:r>
            <a:r>
              <a:rPr lang="en-US" sz="3600" b="1" dirty="0">
                <a:solidFill>
                  <a:srgbClr val="6600FF"/>
                </a:solidFill>
                <a:latin typeface="Angsana New" pitchFamily="18" charset="-34"/>
                <a:cs typeface="Angsana New" pitchFamily="18" charset="-34"/>
              </a:rPr>
              <a:t>p – value</a:t>
            </a:r>
            <a:r>
              <a:rPr lang="en-US" sz="3600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  &gt;  </a:t>
            </a:r>
            <a:r>
              <a:rPr lang="en-US" sz="2800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  <a:sym typeface="Symbol"/>
              </a:rPr>
              <a:t></a:t>
            </a:r>
            <a:endParaRPr lang="th-TH" sz="2800" b="1" baseline="-25000" dirty="0">
              <a:solidFill>
                <a:srgbClr val="FF0066"/>
              </a:solidFill>
              <a:latin typeface="Angsana New" pitchFamily="18" charset="-34"/>
              <a:cs typeface="Angsana New" pitchFamily="18" charset="-34"/>
            </a:endParaRPr>
          </a:p>
          <a:p>
            <a:pPr marL="0" indent="0" eaLnBrk="1" hangingPunct="1">
              <a:spcBef>
                <a:spcPct val="0"/>
              </a:spcBef>
              <a:buFontTx/>
              <a:buNone/>
              <a:tabLst>
                <a:tab pos="457200" algn="l"/>
                <a:tab pos="2976563" algn="l"/>
                <a:tab pos="3657600" algn="l"/>
                <a:tab pos="5603875" algn="l"/>
                <a:tab pos="6400800" algn="l"/>
              </a:tabLst>
              <a:defRPr/>
            </a:pPr>
            <a:r>
              <a:rPr lang="th-TH" sz="3600" b="1" dirty="0">
                <a:solidFill>
                  <a:srgbClr val="FF0000"/>
                </a:solidFill>
                <a:latin typeface="Angsana New" pitchFamily="18" charset="-34"/>
                <a:cs typeface="Angsana New" pitchFamily="18" charset="-34"/>
              </a:rPr>
              <a:t> 	</a:t>
            </a:r>
            <a:r>
              <a:rPr lang="en-US" sz="3600" b="1" dirty="0">
                <a:solidFill>
                  <a:srgbClr val="6600FF"/>
                </a:solidFill>
                <a:latin typeface="Angsana New" pitchFamily="18" charset="-34"/>
                <a:cs typeface="Angsana New" pitchFamily="18" charset="-34"/>
              </a:rPr>
              <a:t>p – value</a:t>
            </a:r>
            <a:r>
              <a:rPr lang="en-US" sz="3600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sz="3600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มีค่าน้อย</a:t>
            </a:r>
            <a:r>
              <a:rPr lang="th-TH" sz="3600" b="1" dirty="0">
                <a:solidFill>
                  <a:srgbClr val="996633"/>
                </a:solidFill>
                <a:latin typeface="Angsana New" pitchFamily="18" charset="-34"/>
                <a:cs typeface="Angsana New" pitchFamily="18" charset="-34"/>
              </a:rPr>
              <a:t>	</a:t>
            </a:r>
            <a:r>
              <a:rPr lang="en-US" sz="3600" b="1" dirty="0">
                <a:solidFill>
                  <a:srgbClr val="663300"/>
                </a:solidFill>
                <a:latin typeface="Angsana New" pitchFamily="18" charset="-34"/>
                <a:cs typeface="Angsana New" pitchFamily="18" charset="-34"/>
              </a:rPr>
              <a:t>=&gt;</a:t>
            </a:r>
            <a:r>
              <a:rPr lang="th-TH" sz="3600" b="1" dirty="0">
                <a:solidFill>
                  <a:srgbClr val="996633"/>
                </a:solidFill>
                <a:latin typeface="Angsana New" pitchFamily="18" charset="-34"/>
                <a:cs typeface="Angsana New" pitchFamily="18" charset="-34"/>
                <a:sym typeface="Symbol" pitchFamily="18" charset="2"/>
              </a:rPr>
              <a:t> 	</a:t>
            </a:r>
            <a:r>
              <a:rPr lang="th-TH" sz="3600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  <a:sym typeface="Symbol" pitchFamily="18" charset="2"/>
              </a:rPr>
              <a:t>ปฏิเสธ </a:t>
            </a:r>
            <a:r>
              <a:rPr lang="en-US" sz="3600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H</a:t>
            </a:r>
            <a:r>
              <a:rPr lang="en-US" sz="3600" b="1" baseline="-25000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0	</a:t>
            </a:r>
            <a:r>
              <a:rPr lang="en-US" sz="3600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 </a:t>
            </a:r>
            <a:r>
              <a:rPr lang="en-US" sz="3600" b="1" dirty="0">
                <a:solidFill>
                  <a:srgbClr val="663300"/>
                </a:solidFill>
                <a:latin typeface="Angsana New" pitchFamily="18" charset="-34"/>
                <a:cs typeface="Angsana New" pitchFamily="18" charset="-34"/>
              </a:rPr>
              <a:t>&lt;=</a:t>
            </a:r>
            <a:r>
              <a:rPr lang="en-US" sz="3600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 	</a:t>
            </a:r>
            <a:r>
              <a:rPr lang="en-US" sz="3600" b="1" dirty="0">
                <a:solidFill>
                  <a:srgbClr val="6600FF"/>
                </a:solidFill>
                <a:latin typeface="Angsana New" pitchFamily="18" charset="-34"/>
                <a:cs typeface="Angsana New" pitchFamily="18" charset="-34"/>
              </a:rPr>
              <a:t>p – value</a:t>
            </a:r>
            <a:r>
              <a:rPr lang="en-US" sz="3600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  </a:t>
            </a:r>
            <a:r>
              <a:rPr lang="en-US" sz="3600" b="1" u="sng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&lt;</a:t>
            </a:r>
            <a:r>
              <a:rPr lang="en-US" sz="3600" b="1" dirty="0">
                <a:solidFill>
                  <a:srgbClr val="FF0066"/>
                </a:solidFill>
                <a:latin typeface="Angsana New" pitchFamily="18" charset="-34"/>
                <a:cs typeface="Angsana New" pitchFamily="18" charset="-34"/>
              </a:rPr>
              <a:t>  </a:t>
            </a:r>
            <a:r>
              <a:rPr lang="en-US" sz="2800" b="1" dirty="0">
                <a:solidFill>
                  <a:srgbClr val="FF0066"/>
                </a:solidFill>
                <a:latin typeface="Angsana New" pitchFamily="18" charset="-34"/>
                <a:sym typeface="Symbol"/>
              </a:rPr>
              <a:t></a:t>
            </a:r>
            <a:r>
              <a:rPr lang="en-US" sz="3600" b="1" dirty="0">
                <a:solidFill>
                  <a:srgbClr val="FF0066"/>
                </a:solidFill>
                <a:latin typeface="Angsana New" pitchFamily="18" charset="-34"/>
                <a:sym typeface="Symbol"/>
              </a:rPr>
              <a:t> </a:t>
            </a:r>
            <a:endParaRPr lang="th-TH" sz="3600" b="1" baseline="-25000" dirty="0">
              <a:solidFill>
                <a:srgbClr val="FF0066"/>
              </a:solidFill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7" name="Text Box 1028" descr="Newsprint"/>
          <p:cNvSpPr txBox="1">
            <a:spLocks noChangeArrowheads="1"/>
          </p:cNvSpPr>
          <p:nvPr/>
        </p:nvSpPr>
        <p:spPr bwMode="auto">
          <a:xfrm>
            <a:off x="173666" y="3669539"/>
            <a:ext cx="8970334" cy="604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n-US" sz="3600" b="1" dirty="0">
                <a:solidFill>
                  <a:srgbClr val="6600CC"/>
                </a:solidFill>
                <a:latin typeface="Angsana New" pitchFamily="18" charset="-34"/>
              </a:rPr>
              <a:t>p – value </a:t>
            </a:r>
            <a:r>
              <a:rPr lang="en-US" sz="3600" b="1" dirty="0">
                <a:latin typeface="Angsana New" pitchFamily="18" charset="-34"/>
              </a:rPr>
              <a:t>: </a:t>
            </a:r>
            <a:r>
              <a:rPr lang="th-TH" sz="3600" b="1" dirty="0">
                <a:solidFill>
                  <a:srgbClr val="660066"/>
                </a:solidFill>
                <a:latin typeface="Angsana New" pitchFamily="18" charset="-34"/>
              </a:rPr>
              <a:t>ใน </a:t>
            </a:r>
            <a:r>
              <a:rPr lang="en-US" sz="3600" b="1" dirty="0">
                <a:solidFill>
                  <a:srgbClr val="660066"/>
                </a:solidFill>
                <a:latin typeface="Angsana New" pitchFamily="18" charset="-34"/>
              </a:rPr>
              <a:t>SPSS </a:t>
            </a:r>
            <a:r>
              <a:rPr lang="th-TH" sz="3600" b="1" dirty="0">
                <a:solidFill>
                  <a:srgbClr val="660066"/>
                </a:solidFill>
                <a:latin typeface="Angsana New" pitchFamily="18" charset="-34"/>
              </a:rPr>
              <a:t>ใช้คำว่า</a:t>
            </a:r>
            <a:r>
              <a:rPr lang="en-US" sz="3600" b="1" dirty="0">
                <a:solidFill>
                  <a:srgbClr val="660066"/>
                </a:solidFill>
                <a:latin typeface="Angsana New" pitchFamily="18" charset="-34"/>
              </a:rPr>
              <a:t> </a:t>
            </a:r>
            <a:r>
              <a:rPr lang="en-US" sz="3600" b="1" dirty="0">
                <a:solidFill>
                  <a:srgbClr val="CC3399"/>
                </a:solidFill>
                <a:latin typeface="Angsana New" pitchFamily="18" charset="-34"/>
              </a:rPr>
              <a:t>Sig. </a:t>
            </a:r>
            <a:r>
              <a:rPr lang="th-TH" sz="3600" b="1" dirty="0">
                <a:solidFill>
                  <a:srgbClr val="660066"/>
                </a:solidFill>
                <a:latin typeface="Angsana New" pitchFamily="18" charset="-34"/>
              </a:rPr>
              <a:t>หรือ</a:t>
            </a:r>
            <a:r>
              <a:rPr lang="en-US" sz="3600" b="1" dirty="0">
                <a:solidFill>
                  <a:srgbClr val="CC3399"/>
                </a:solidFill>
                <a:latin typeface="Angsana New" pitchFamily="18" charset="-34"/>
              </a:rPr>
              <a:t>  Significance</a:t>
            </a:r>
            <a:r>
              <a:rPr lang="th-TH" sz="3600" b="1" dirty="0">
                <a:solidFill>
                  <a:srgbClr val="CC3399"/>
                </a:solidFill>
                <a:latin typeface="Angsana New" pitchFamily="18" charset="-34"/>
              </a:rPr>
              <a:t> </a:t>
            </a:r>
            <a:r>
              <a:rPr lang="en-US" sz="3600" b="1" dirty="0">
                <a:solidFill>
                  <a:srgbClr val="CC3399"/>
                </a:solidFill>
                <a:latin typeface="Angsana New" pitchFamily="18" charset="-34"/>
              </a:rPr>
              <a:t> </a:t>
            </a:r>
            <a:r>
              <a:rPr lang="th-TH" sz="3600" b="1" dirty="0">
                <a:solidFill>
                  <a:srgbClr val="660066"/>
                </a:solidFill>
                <a:latin typeface="Angsana New" pitchFamily="18" charset="-34"/>
              </a:rPr>
              <a:t>หรือ</a:t>
            </a:r>
            <a:r>
              <a:rPr lang="en-US" sz="3600" b="1" dirty="0">
                <a:solidFill>
                  <a:srgbClr val="660066"/>
                </a:solidFill>
                <a:latin typeface="Angsana New" pitchFamily="18" charset="-34"/>
              </a:rPr>
              <a:t>  </a:t>
            </a:r>
            <a:r>
              <a:rPr lang="en-US" sz="3600" b="1" dirty="0">
                <a:solidFill>
                  <a:srgbClr val="CC3399"/>
                </a:solidFill>
                <a:latin typeface="Angsana New" pitchFamily="18" charset="-34"/>
              </a:rPr>
              <a:t>Probability</a:t>
            </a:r>
            <a:endParaRPr lang="th-TH" sz="3600" dirty="0">
              <a:solidFill>
                <a:srgbClr val="CC3399"/>
              </a:solidFill>
              <a:latin typeface="Angsana New" pitchFamily="18" charset="-34"/>
            </a:endParaRPr>
          </a:p>
        </p:txBody>
      </p:sp>
      <p:sp>
        <p:nvSpPr>
          <p:cNvPr id="8" name="Text Box 1029"/>
          <p:cNvSpPr txBox="1">
            <a:spLocks noChangeArrowheads="1"/>
          </p:cNvSpPr>
          <p:nvPr/>
        </p:nvSpPr>
        <p:spPr bwMode="auto">
          <a:xfrm>
            <a:off x="0" y="4369475"/>
            <a:ext cx="8839200" cy="1990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75000"/>
              </a:lnSpc>
              <a:defRPr/>
            </a:pPr>
            <a:r>
              <a:rPr kumimoji="1" lang="th-TH" sz="3600" b="1" dirty="0">
                <a:solidFill>
                  <a:srgbClr val="660066"/>
                </a:solidFill>
                <a:latin typeface="Angsana New" pitchFamily="18" charset="-34"/>
              </a:rPr>
              <a:t>ในการทดสอบเป็นแบบด้านเดียว</a:t>
            </a:r>
            <a:r>
              <a:rPr kumimoji="1" lang="en-US" sz="3600" b="1" dirty="0">
                <a:solidFill>
                  <a:srgbClr val="660066"/>
                </a:solidFill>
                <a:latin typeface="Angsana New" pitchFamily="18" charset="-34"/>
              </a:rPr>
              <a:t> (</a:t>
            </a:r>
            <a:r>
              <a:rPr kumimoji="1" lang="th-TH" sz="3600" b="1" dirty="0">
                <a:solidFill>
                  <a:srgbClr val="660066"/>
                </a:solidFill>
                <a:latin typeface="Angsana New" pitchFamily="18" charset="-34"/>
              </a:rPr>
              <a:t>ด้านมาก</a:t>
            </a:r>
            <a:r>
              <a:rPr kumimoji="1" lang="en-US" sz="3600" b="1" dirty="0">
                <a:solidFill>
                  <a:srgbClr val="660066"/>
                </a:solidFill>
                <a:latin typeface="Angsana New" pitchFamily="18" charset="-34"/>
              </a:rPr>
              <a:t>)</a:t>
            </a:r>
            <a:endParaRPr kumimoji="1" lang="th-TH" sz="3600" b="1" dirty="0">
              <a:solidFill>
                <a:srgbClr val="660066"/>
              </a:solidFill>
              <a:latin typeface="Angsana New" pitchFamily="18" charset="-34"/>
            </a:endParaRPr>
          </a:p>
          <a:p>
            <a:pPr eaLnBrk="0" hangingPunct="0">
              <a:lnSpc>
                <a:spcPct val="75000"/>
              </a:lnSpc>
              <a:defRPr/>
            </a:pPr>
            <a:r>
              <a:rPr kumimoji="1" lang="en-US" sz="3000" b="1" dirty="0">
                <a:solidFill>
                  <a:srgbClr val="6600FF"/>
                </a:solidFill>
                <a:latin typeface="Angsana New" pitchFamily="18" charset="-34"/>
              </a:rPr>
              <a:t>p – value</a:t>
            </a:r>
            <a:r>
              <a:rPr kumimoji="1" lang="en-US" sz="3000" b="1" dirty="0">
                <a:latin typeface="Angsana New" pitchFamily="18" charset="-34"/>
              </a:rPr>
              <a:t>  =</a:t>
            </a:r>
            <a:r>
              <a:rPr kumimoji="1" lang="th-TH" sz="3000" b="1" dirty="0">
                <a:latin typeface="Angsana New" pitchFamily="18" charset="-34"/>
              </a:rPr>
              <a:t>   </a:t>
            </a:r>
            <a:r>
              <a:rPr kumimoji="1" lang="en-US" sz="3000" b="1" dirty="0">
                <a:latin typeface="Angsana New" pitchFamily="18" charset="-34"/>
              </a:rPr>
              <a:t>P(</a:t>
            </a:r>
            <a:r>
              <a:rPr kumimoji="1" lang="th-TH" sz="3000" b="1" dirty="0">
                <a:solidFill>
                  <a:srgbClr val="008000"/>
                </a:solidFill>
                <a:latin typeface="Angsana New" pitchFamily="18" charset="-34"/>
              </a:rPr>
              <a:t>ตัวสถิติทดสอบ</a:t>
            </a:r>
            <a:r>
              <a:rPr kumimoji="1" lang="th-TH" sz="3000" b="1" dirty="0">
                <a:latin typeface="Angsana New" pitchFamily="18" charset="-34"/>
              </a:rPr>
              <a:t> </a:t>
            </a:r>
            <a:r>
              <a:rPr kumimoji="1" lang="en-US" sz="3000" b="1" dirty="0">
                <a:latin typeface="Angsana New" pitchFamily="18" charset="-34"/>
              </a:rPr>
              <a:t>&gt; = </a:t>
            </a:r>
            <a:r>
              <a:rPr kumimoji="1" lang="th-TH" sz="3000" b="1" dirty="0">
                <a:solidFill>
                  <a:srgbClr val="0000FF"/>
                </a:solidFill>
                <a:latin typeface="Angsana New" pitchFamily="18" charset="-34"/>
              </a:rPr>
              <a:t>ค่าตัวสถิติทดสอบที่คำนวณได้</a:t>
            </a:r>
            <a:r>
              <a:rPr kumimoji="1" lang="en-US" sz="3000" b="1" dirty="0">
                <a:solidFill>
                  <a:srgbClr val="0000FF"/>
                </a:solidFill>
                <a:latin typeface="Angsana New" pitchFamily="18" charset="-34"/>
              </a:rPr>
              <a:t> </a:t>
            </a:r>
            <a:r>
              <a:rPr kumimoji="1" lang="th-TH" sz="3000" b="1" dirty="0">
                <a:latin typeface="Angsana New" pitchFamily="18" charset="-34"/>
              </a:rPr>
              <a:t>เมื่อ </a:t>
            </a:r>
            <a:r>
              <a:rPr kumimoji="1" lang="en-US" sz="3000" b="1" dirty="0">
                <a:solidFill>
                  <a:srgbClr val="996633"/>
                </a:solidFill>
                <a:latin typeface="Angsana New" pitchFamily="18" charset="-34"/>
              </a:rPr>
              <a:t>H</a:t>
            </a:r>
            <a:r>
              <a:rPr kumimoji="1" lang="en-US" sz="3000" b="1" baseline="-25000" dirty="0">
                <a:solidFill>
                  <a:srgbClr val="996633"/>
                </a:solidFill>
                <a:latin typeface="Angsana New" pitchFamily="18" charset="-34"/>
              </a:rPr>
              <a:t>0</a:t>
            </a:r>
            <a:r>
              <a:rPr kumimoji="1" lang="en-US" sz="3000" b="1" dirty="0">
                <a:solidFill>
                  <a:srgbClr val="996633"/>
                </a:solidFill>
                <a:latin typeface="Angsana New" pitchFamily="18" charset="-34"/>
              </a:rPr>
              <a:t> </a:t>
            </a:r>
            <a:r>
              <a:rPr kumimoji="1" lang="th-TH" sz="3000" b="1" dirty="0">
                <a:solidFill>
                  <a:srgbClr val="996633"/>
                </a:solidFill>
                <a:latin typeface="Angsana New" pitchFamily="18" charset="-34"/>
              </a:rPr>
              <a:t>เป็นจริง</a:t>
            </a:r>
            <a:r>
              <a:rPr kumimoji="1" lang="th-TH" sz="3000" b="1" dirty="0">
                <a:latin typeface="Angsana New" pitchFamily="18" charset="-34"/>
              </a:rPr>
              <a:t>)</a:t>
            </a:r>
          </a:p>
          <a:p>
            <a:pPr eaLnBrk="0" hangingPunct="0">
              <a:lnSpc>
                <a:spcPct val="75000"/>
              </a:lnSpc>
              <a:defRPr/>
            </a:pPr>
            <a:endParaRPr kumimoji="1" lang="th-TH" sz="3000" b="1" dirty="0">
              <a:latin typeface="Angsana New" pitchFamily="18" charset="-34"/>
            </a:endParaRPr>
          </a:p>
          <a:p>
            <a:pPr eaLnBrk="0" hangingPunct="0">
              <a:lnSpc>
                <a:spcPct val="75000"/>
              </a:lnSpc>
              <a:defRPr/>
            </a:pPr>
            <a:r>
              <a:rPr kumimoji="1" lang="th-TH" sz="3600" b="1" dirty="0">
                <a:solidFill>
                  <a:srgbClr val="660066"/>
                </a:solidFill>
                <a:latin typeface="Angsana New" pitchFamily="18" charset="-34"/>
              </a:rPr>
              <a:t>ในการทดสอบเป็นแบบสองด้าน</a:t>
            </a:r>
          </a:p>
          <a:p>
            <a:pPr eaLnBrk="0" hangingPunct="0">
              <a:lnSpc>
                <a:spcPct val="75000"/>
              </a:lnSpc>
              <a:defRPr/>
            </a:pPr>
            <a:r>
              <a:rPr kumimoji="1" lang="en-US" sz="3000" b="1" dirty="0">
                <a:solidFill>
                  <a:srgbClr val="6600FF"/>
                </a:solidFill>
                <a:latin typeface="Angsana New" pitchFamily="18" charset="-34"/>
              </a:rPr>
              <a:t> </a:t>
            </a:r>
            <a:r>
              <a:rPr kumimoji="1" lang="en-US" b="1" dirty="0">
                <a:solidFill>
                  <a:srgbClr val="6600FF"/>
                </a:solidFill>
                <a:latin typeface="Angsana New" pitchFamily="18" charset="-34"/>
              </a:rPr>
              <a:t>p – value</a:t>
            </a:r>
            <a:r>
              <a:rPr kumimoji="1" lang="en-US" b="1" dirty="0">
                <a:latin typeface="Angsana New" pitchFamily="18" charset="-34"/>
              </a:rPr>
              <a:t>  =</a:t>
            </a:r>
            <a:r>
              <a:rPr kumimoji="1" lang="th-TH" b="1" dirty="0">
                <a:latin typeface="Angsana New" pitchFamily="18" charset="-34"/>
              </a:rPr>
              <a:t>   </a:t>
            </a:r>
            <a:r>
              <a:rPr kumimoji="1" lang="en-US" b="1" dirty="0">
                <a:solidFill>
                  <a:srgbClr val="FF0000"/>
                </a:solidFill>
                <a:latin typeface="Angsana New" pitchFamily="18" charset="-34"/>
              </a:rPr>
              <a:t>2 </a:t>
            </a:r>
            <a:r>
              <a:rPr kumimoji="1" lang="en-US" b="1" dirty="0">
                <a:solidFill>
                  <a:srgbClr val="FF0000"/>
                </a:solidFill>
                <a:latin typeface="Angsana New" pitchFamily="18" charset="-34"/>
                <a:sym typeface="Symbol"/>
              </a:rPr>
              <a:t></a:t>
            </a:r>
            <a:r>
              <a:rPr kumimoji="1" lang="en-US" b="1" dirty="0">
                <a:latin typeface="Angsana New" pitchFamily="18" charset="-34"/>
                <a:sym typeface="Symbol"/>
              </a:rPr>
              <a:t> </a:t>
            </a:r>
            <a:r>
              <a:rPr kumimoji="1" lang="en-US" b="1" dirty="0">
                <a:latin typeface="Angsana New" pitchFamily="18" charset="-34"/>
              </a:rPr>
              <a:t>P(</a:t>
            </a:r>
            <a:r>
              <a:rPr kumimoji="1" lang="th-TH" b="1" dirty="0">
                <a:solidFill>
                  <a:srgbClr val="008000"/>
                </a:solidFill>
                <a:latin typeface="Angsana New" pitchFamily="18" charset="-34"/>
              </a:rPr>
              <a:t>ตัวสถิติทดสอบ</a:t>
            </a:r>
            <a:r>
              <a:rPr kumimoji="1" lang="th-TH" b="1" dirty="0">
                <a:latin typeface="Angsana New" pitchFamily="18" charset="-34"/>
              </a:rPr>
              <a:t> </a:t>
            </a:r>
            <a:r>
              <a:rPr kumimoji="1" lang="en-US" b="1" dirty="0">
                <a:latin typeface="Angsana New" pitchFamily="18" charset="-34"/>
              </a:rPr>
              <a:t>&gt;= | </a:t>
            </a:r>
            <a:r>
              <a:rPr kumimoji="1" lang="th-TH" b="1" dirty="0">
                <a:solidFill>
                  <a:srgbClr val="0000FF"/>
                </a:solidFill>
                <a:latin typeface="Angsana New" pitchFamily="18" charset="-34"/>
              </a:rPr>
              <a:t>ค่าตัวสถิติทดสอบที่คำนวณได้</a:t>
            </a:r>
            <a:r>
              <a:rPr kumimoji="1" lang="en-US" b="1" dirty="0">
                <a:solidFill>
                  <a:srgbClr val="0000FF"/>
                </a:solidFill>
                <a:latin typeface="Angsana New" pitchFamily="18" charset="-34"/>
              </a:rPr>
              <a:t> </a:t>
            </a:r>
            <a:r>
              <a:rPr kumimoji="1" lang="th-TH" b="1" dirty="0">
                <a:latin typeface="Angsana New" pitchFamily="18" charset="-34"/>
              </a:rPr>
              <a:t>|</a:t>
            </a:r>
            <a:r>
              <a:rPr kumimoji="1" lang="en-US" b="1" dirty="0">
                <a:latin typeface="Angsana New" pitchFamily="18" charset="-34"/>
              </a:rPr>
              <a:t> </a:t>
            </a:r>
            <a:r>
              <a:rPr kumimoji="1" lang="th-TH" b="1" dirty="0">
                <a:latin typeface="Angsana New" pitchFamily="18" charset="-34"/>
              </a:rPr>
              <a:t>เมื่อ </a:t>
            </a:r>
            <a:r>
              <a:rPr kumimoji="1" lang="en-US" b="1" dirty="0">
                <a:solidFill>
                  <a:srgbClr val="996633"/>
                </a:solidFill>
                <a:latin typeface="Angsana New" pitchFamily="18" charset="-34"/>
              </a:rPr>
              <a:t>H</a:t>
            </a:r>
            <a:r>
              <a:rPr kumimoji="1" lang="en-US" b="1" baseline="-25000" dirty="0">
                <a:solidFill>
                  <a:srgbClr val="996633"/>
                </a:solidFill>
                <a:latin typeface="Angsana New" pitchFamily="18" charset="-34"/>
              </a:rPr>
              <a:t>0</a:t>
            </a:r>
            <a:r>
              <a:rPr kumimoji="1" lang="en-US" b="1" dirty="0">
                <a:solidFill>
                  <a:srgbClr val="996633"/>
                </a:solidFill>
                <a:latin typeface="Angsana New" pitchFamily="18" charset="-34"/>
              </a:rPr>
              <a:t> </a:t>
            </a:r>
            <a:r>
              <a:rPr kumimoji="1" lang="th-TH" b="1" dirty="0">
                <a:solidFill>
                  <a:srgbClr val="996633"/>
                </a:solidFill>
                <a:latin typeface="Angsana New" pitchFamily="18" charset="-34"/>
              </a:rPr>
              <a:t>เป็นจริง</a:t>
            </a:r>
            <a:r>
              <a:rPr kumimoji="1" lang="th-TH" b="1" dirty="0">
                <a:latin typeface="Angsana New" pitchFamily="18" charset="-34"/>
              </a:rPr>
              <a:t>)   </a:t>
            </a:r>
            <a:endParaRPr lang="th-TH" b="1" dirty="0">
              <a:latin typeface="Angsana New" pitchFamily="18" charset="-34"/>
            </a:endParaRPr>
          </a:p>
        </p:txBody>
      </p:sp>
      <p:sp>
        <p:nvSpPr>
          <p:cNvPr id="11" name="Rectangle 2" descr="Newsprint"/>
          <p:cNvSpPr txBox="1">
            <a:spLocks noChangeArrowheads="1"/>
          </p:cNvSpPr>
          <p:nvPr/>
        </p:nvSpPr>
        <p:spPr bwMode="auto">
          <a:xfrm>
            <a:off x="-5316" y="275219"/>
            <a:ext cx="87820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800350" algn="l"/>
              </a:tabLst>
              <a:defRPr/>
            </a:pPr>
            <a:r>
              <a:rPr kumimoji="0" lang="th-TH" sz="4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ค่าพี 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(p</a:t>
            </a:r>
            <a:r>
              <a:rPr kumimoji="0" lang="th-TH" sz="4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 – </a:t>
            </a:r>
            <a:r>
              <a:rPr kumimoji="0" lang="th-TH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value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)</a:t>
            </a:r>
            <a:r>
              <a:rPr kumimoji="0" lang="th-TH" sz="4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  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=</a:t>
            </a:r>
            <a:r>
              <a:rPr kumimoji="0" lang="en-US" sz="4800" b="1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ngsana New" pitchFamily="18" charset="-34"/>
                <a:ea typeface="+mj-ea"/>
                <a:cs typeface="Angsana New" pitchFamily="18" charset="-34"/>
              </a:rPr>
              <a:t>  Probability Value</a:t>
            </a:r>
            <a:endParaRPr kumimoji="0" lang="th-TH" sz="4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ngsana New" pitchFamily="18" charset="-34"/>
              <a:ea typeface="+mj-ea"/>
              <a:cs typeface="Angsana New" pitchFamily="18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312D8E-91B3-43A4-878D-A19F9087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1D2D0C-0E2E-4E6E-9CE9-48BBDAB56A5E}" type="slidenum">
              <a:rPr lang="en-US" smtClean="0"/>
              <a:pPr>
                <a:defRPr/>
              </a:pPr>
              <a:t>13</a:t>
            </a:fld>
            <a:endParaRPr lang="th-TH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08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autoUpdateAnimBg="0"/>
      <p:bldP spid="46083" grpId="0" uiExpand="1" animBg="1" autoUpdateAnimBg="0"/>
      <p:bldP spid="7" grpId="0" build="p"/>
      <p:bldP spid="8" grpId="0" uiExpand="1" build="p" autoUpdateAnimBg="0"/>
      <p:bldP spid="1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52" descr="Newsprint"/>
          <p:cNvSpPr>
            <a:spLocks noChangeArrowheads="1"/>
          </p:cNvSpPr>
          <p:nvPr/>
        </p:nvSpPr>
        <p:spPr bwMode="auto">
          <a:xfrm>
            <a:off x="4222532" y="838199"/>
            <a:ext cx="914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th-TH" sz="3200">
              <a:latin typeface="Angsana New" panose="02020603050405020304" pitchFamily="18" charset="-34"/>
            </a:endParaRP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9841" y="447019"/>
            <a:ext cx="4746625" cy="731838"/>
          </a:xfrm>
        </p:spPr>
        <p:txBody>
          <a:bodyPr/>
          <a:lstStyle/>
          <a:p>
            <a:pPr algn="l" eaLnBrk="1" hangingPunct="1">
              <a:defRPr/>
            </a:pPr>
            <a:r>
              <a:rPr lang="th-TH" sz="3600" b="1" dirty="0">
                <a:solidFill>
                  <a:srgbClr val="00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การทดสอบค่าเฉลี่ยของประชากร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488732" y="1287650"/>
            <a:ext cx="274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75000"/>
              </a:lnSpc>
              <a:defRPr/>
            </a:pPr>
            <a:r>
              <a:rPr lang="th-TH" sz="3200" b="1" dirty="0">
                <a:solidFill>
                  <a:srgbClr val="7030A0"/>
                </a:solidFill>
                <a:latin typeface="Angsana New" panose="02020603050405020304" pitchFamily="18" charset="-34"/>
              </a:rPr>
              <a:t>1.  หนึ่งประชากร</a:t>
            </a:r>
          </a:p>
        </p:txBody>
      </p:sp>
      <p:sp>
        <p:nvSpPr>
          <p:cNvPr id="21647" name="Rectangle 143" descr="Newsprint"/>
          <p:cNvSpPr>
            <a:spLocks noChangeArrowheads="1"/>
          </p:cNvSpPr>
          <p:nvPr/>
        </p:nvSpPr>
        <p:spPr bwMode="auto">
          <a:xfrm>
            <a:off x="488732" y="1838979"/>
            <a:ext cx="822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75000"/>
              </a:lnSpc>
              <a:defRPr/>
            </a:pPr>
            <a:r>
              <a:rPr lang="th-TH" sz="3200" b="1" dirty="0">
                <a:solidFill>
                  <a:srgbClr val="7030A0"/>
                </a:solidFill>
                <a:latin typeface="Angsana New" panose="02020603050405020304" pitchFamily="18" charset="-34"/>
              </a:rPr>
              <a:t>2.  สองประชากร </a:t>
            </a:r>
            <a:r>
              <a:rPr lang="th-TH" sz="3200" b="1" dirty="0">
                <a:solidFill>
                  <a:srgbClr val="00B050"/>
                </a:solidFill>
                <a:latin typeface="Angsana New" panose="02020603050405020304" pitchFamily="18" charset="-34"/>
              </a:rPr>
              <a:t>(เ</a:t>
            </a:r>
            <a:r>
              <a:rPr lang="th-TH" sz="3200" b="1" dirty="0">
                <a:solidFill>
                  <a:srgbClr val="00CC66"/>
                </a:solidFill>
                <a:latin typeface="Angsana New" panose="02020603050405020304" pitchFamily="18" charset="-34"/>
              </a:rPr>
              <a:t>ป็นอิสระกัน </a:t>
            </a:r>
            <a:r>
              <a:rPr lang="en-US" sz="3600" b="1" dirty="0">
                <a:solidFill>
                  <a:srgbClr val="FF0000"/>
                </a:solidFill>
                <a:latin typeface="Angsana New" panose="02020603050405020304" pitchFamily="18" charset="-34"/>
              </a:rPr>
              <a:t>VS</a:t>
            </a:r>
            <a:r>
              <a:rPr lang="th-TH" sz="3200" b="1" dirty="0">
                <a:solidFill>
                  <a:srgbClr val="00CC66"/>
                </a:solidFill>
                <a:latin typeface="Angsana New" panose="02020603050405020304" pitchFamily="18" charset="-34"/>
              </a:rPr>
              <a:t> ไม่เป็นอิสระกัน</a:t>
            </a:r>
            <a:r>
              <a:rPr lang="th-TH" sz="3200" b="1" dirty="0">
                <a:solidFill>
                  <a:srgbClr val="00B050"/>
                </a:solidFill>
                <a:latin typeface="Angsana New" panose="02020603050405020304" pitchFamily="18" charset="-34"/>
              </a:rPr>
              <a:t>) </a:t>
            </a:r>
          </a:p>
        </p:txBody>
      </p:sp>
      <p:sp>
        <p:nvSpPr>
          <p:cNvPr id="21648" name="Rectangle 144"/>
          <p:cNvSpPr>
            <a:spLocks noChangeArrowheads="1"/>
          </p:cNvSpPr>
          <p:nvPr/>
        </p:nvSpPr>
        <p:spPr bwMode="auto">
          <a:xfrm>
            <a:off x="545439" y="2484438"/>
            <a:ext cx="655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75000"/>
              </a:lnSpc>
              <a:defRPr/>
            </a:pPr>
            <a:r>
              <a:rPr lang="th-TH" sz="3200" b="1" dirty="0">
                <a:solidFill>
                  <a:srgbClr val="7030A0"/>
                </a:solidFill>
                <a:latin typeface="Angsana New" panose="02020603050405020304" pitchFamily="18" charset="-34"/>
              </a:rPr>
              <a:t>3. หลายประชากร </a:t>
            </a:r>
            <a:r>
              <a:rPr lang="th-TH" sz="3200" b="1" dirty="0">
                <a:solidFill>
                  <a:srgbClr val="00B050"/>
                </a:solidFill>
                <a:latin typeface="Angsana New" panose="02020603050405020304" pitchFamily="18" charset="-34"/>
              </a:rPr>
              <a:t> </a:t>
            </a:r>
            <a:r>
              <a:rPr lang="th-TH" sz="3200" b="1" dirty="0">
                <a:solidFill>
                  <a:srgbClr val="7030A0"/>
                </a:solidFill>
                <a:latin typeface="Angsana New" panose="02020603050405020304" pitchFamily="18" charset="-34"/>
              </a:rPr>
              <a:t> </a:t>
            </a:r>
          </a:p>
        </p:txBody>
      </p:sp>
      <p:sp>
        <p:nvSpPr>
          <p:cNvPr id="25" name="Rectangle 2"/>
          <p:cNvSpPr txBox="1">
            <a:spLocks noChangeArrowheads="1"/>
          </p:cNvSpPr>
          <p:nvPr/>
        </p:nvSpPr>
        <p:spPr bwMode="auto">
          <a:xfrm>
            <a:off x="0" y="3657600"/>
            <a:ext cx="8763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90000"/>
              </a:lnSpc>
              <a:defRPr/>
            </a:pPr>
            <a:r>
              <a:rPr lang="th-TH" sz="3600" b="1" kern="0" dirty="0">
                <a:solidFill>
                  <a:srgbClr val="FF0066"/>
                </a:solidFill>
                <a:latin typeface="Angsana New" pitchFamily="18" charset="-34"/>
                <a:cs typeface="Angsana New" panose="02020603050405020304" pitchFamily="18" charset="-34"/>
              </a:rPr>
              <a:t>ข้อสมมุติ </a:t>
            </a:r>
            <a:r>
              <a:rPr lang="en-US" sz="3600" b="1" kern="0" dirty="0">
                <a:solidFill>
                  <a:srgbClr val="FF0066"/>
                </a:solidFill>
                <a:latin typeface="Angsana New" pitchFamily="18" charset="-34"/>
                <a:cs typeface="Angsana New" panose="02020603050405020304" pitchFamily="18" charset="-34"/>
              </a:rPr>
              <a:t>(Assumptions) </a:t>
            </a:r>
            <a:r>
              <a:rPr lang="th-TH" sz="3600" b="1" kern="0" dirty="0">
                <a:solidFill>
                  <a:srgbClr val="008000"/>
                </a:solidFill>
                <a:latin typeface="Angsana New" pitchFamily="18" charset="-34"/>
                <a:cs typeface="Angsana New" panose="02020603050405020304" pitchFamily="18" charset="-34"/>
              </a:rPr>
              <a:t>สำหรับการทดสอบค่าเฉลี่ยของประชากร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537835" y="4048780"/>
            <a:ext cx="857726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100000"/>
              </a:spcBef>
              <a:defRPr/>
            </a:pPr>
            <a:r>
              <a:rPr kumimoji="1" lang="th-TH" sz="3200" b="1" dirty="0">
                <a:solidFill>
                  <a:srgbClr val="0000FF"/>
                </a:solidFill>
                <a:latin typeface="Angsana New" pitchFamily="18" charset="-34"/>
              </a:rPr>
              <a:t>1.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X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 , … , </a:t>
            </a:r>
            <a:r>
              <a:rPr kumimoji="1" lang="en-US" sz="3200" b="1" dirty="0" err="1">
                <a:solidFill>
                  <a:srgbClr val="0000FF"/>
                </a:solidFill>
                <a:latin typeface="Angsana New" pitchFamily="18" charset="-34"/>
              </a:rPr>
              <a:t>X</a:t>
            </a:r>
            <a:r>
              <a:rPr kumimoji="1" lang="en-US" sz="3200" b="1" baseline="-25000" dirty="0" err="1">
                <a:solidFill>
                  <a:srgbClr val="0000FF"/>
                </a:solidFill>
                <a:latin typeface="Angsana New" pitchFamily="18" charset="-34"/>
              </a:rPr>
              <a:t>n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  </a:t>
            </a:r>
            <a:r>
              <a:rPr kumimoji="1" lang="th-TH" sz="3200" b="1" dirty="0">
                <a:solidFill>
                  <a:srgbClr val="0000FF"/>
                </a:solidFill>
                <a:latin typeface="Angsana New" pitchFamily="18" charset="-34"/>
              </a:rPr>
              <a:t>เป็นตัวอย่างสุ่มขนาด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n </a:t>
            </a:r>
          </a:p>
        </p:txBody>
      </p: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533400" y="4572000"/>
            <a:ext cx="561293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2. </a:t>
            </a:r>
            <a:r>
              <a:rPr kumimoji="1" lang="th-TH" sz="3200" b="1" dirty="0">
                <a:solidFill>
                  <a:srgbClr val="0000FF"/>
                </a:solidFill>
                <a:latin typeface="Angsana New" pitchFamily="18" charset="-34"/>
              </a:rPr>
              <a:t>สุ่มจากประชากร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N(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,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</a:t>
            </a:r>
            <a:r>
              <a:rPr kumimoji="1" lang="th-TH" sz="3200" b="1" baseline="30000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2</a:t>
            </a:r>
            <a:r>
              <a:rPr kumimoji="1" lang="th-TH" sz="3200" b="1" dirty="0">
                <a:solidFill>
                  <a:srgbClr val="0000FF"/>
                </a:solidFill>
                <a:latin typeface="Angsana New" pitchFamily="18" charset="-34"/>
              </a:rPr>
              <a:t>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)</a:t>
            </a:r>
            <a:endParaRPr kumimoji="1" lang="th-TH" sz="3200" b="1" dirty="0">
              <a:solidFill>
                <a:srgbClr val="0000FF"/>
              </a:solidFill>
              <a:latin typeface="Angsana New" pitchFamily="18" charset="-34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609600" y="5146714"/>
            <a:ext cx="8610600" cy="678647"/>
            <a:chOff x="609600" y="5146714"/>
            <a:chExt cx="8610600" cy="678647"/>
          </a:xfrm>
        </p:grpSpPr>
        <p:sp>
          <p:nvSpPr>
            <p:cNvPr id="38" name="Text Box 25"/>
            <p:cNvSpPr txBox="1">
              <a:spLocks noChangeArrowheads="1"/>
            </p:cNvSpPr>
            <p:nvPr/>
          </p:nvSpPr>
          <p:spPr bwMode="auto">
            <a:xfrm>
              <a:off x="609600" y="5146714"/>
              <a:ext cx="8610600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3200" b="1" dirty="0">
                  <a:solidFill>
                    <a:srgbClr val="0000FF"/>
                  </a:solidFill>
                  <a:latin typeface="Angsana New" pitchFamily="18" charset="-34"/>
                </a:rPr>
                <a:t>3. </a:t>
              </a:r>
              <a:r>
                <a:rPr lang="th-TH" sz="3200" b="1" dirty="0">
                  <a:solidFill>
                    <a:srgbClr val="663300"/>
                  </a:solidFill>
                  <a:latin typeface="Angsana New" pitchFamily="18" charset="-34"/>
                </a:rPr>
                <a:t>ถ้ามีตัวอย่างมากกว่า 1 ตัวอย่าง </a:t>
              </a:r>
              <a:r>
                <a:rPr lang="th-TH" sz="3200" b="1" dirty="0">
                  <a:solidFill>
                    <a:srgbClr val="FF0000"/>
                  </a:solidFill>
                  <a:latin typeface="Angsana New" pitchFamily="18" charset="-34"/>
                </a:rPr>
                <a:t>ทุกตัวอย่าง </a:t>
              </a:r>
              <a:r>
                <a:rPr lang="th-TH" sz="3200" b="1" dirty="0">
                  <a:solidFill>
                    <a:srgbClr val="0000FF"/>
                  </a:solidFill>
                  <a:latin typeface="Angsana New" pitchFamily="18" charset="-34"/>
                </a:rPr>
                <a:t>เป็นตัวอย่างสุ่ม</a:t>
              </a:r>
              <a:r>
                <a:rPr kumimoji="1" lang="th-TH" sz="3200" b="1" dirty="0">
                  <a:solidFill>
                    <a:srgbClr val="0000FF"/>
                  </a:solidFill>
                  <a:latin typeface="Angsana New" pitchFamily="18" charset="-34"/>
                </a:rPr>
                <a:t>จาก </a:t>
              </a:r>
              <a:r>
                <a:rPr kumimoji="1" lang="en-US" sz="3200" b="1" dirty="0">
                  <a:solidFill>
                    <a:srgbClr val="0000FF"/>
                  </a:solidFill>
                  <a:latin typeface="Angsana New" pitchFamily="18" charset="-34"/>
                </a:rPr>
                <a:t>N(</a:t>
              </a:r>
              <a:r>
                <a:rPr kumimoji="1" lang="th-TH" sz="2600" b="1" dirty="0">
                  <a:solidFill>
                    <a:srgbClr val="0000FF"/>
                  </a:solidFill>
                  <a:latin typeface="Angsana New" pitchFamily="18" charset="-34"/>
                  <a:sym typeface="Symbol"/>
                </a:rPr>
                <a:t></a:t>
              </a:r>
              <a:r>
                <a:rPr kumimoji="1" lang="en-US" sz="3600" b="1" baseline="-25000" dirty="0" err="1">
                  <a:solidFill>
                    <a:srgbClr val="0000FF"/>
                  </a:solidFill>
                  <a:latin typeface="Angsana New" pitchFamily="18" charset="-34"/>
                  <a:sym typeface="Symbol"/>
                </a:rPr>
                <a:t>i</a:t>
              </a:r>
              <a:r>
                <a:rPr kumimoji="1" lang="en-US" sz="3600" b="1" baseline="-25000" dirty="0">
                  <a:solidFill>
                    <a:srgbClr val="0000FF"/>
                  </a:solidFill>
                  <a:latin typeface="Angsana New" pitchFamily="18" charset="-34"/>
                  <a:sym typeface="Symbol"/>
                </a:rPr>
                <a:t> </a:t>
              </a:r>
              <a:r>
                <a:rPr kumimoji="1" lang="en-US" sz="3200" b="1" dirty="0">
                  <a:solidFill>
                    <a:srgbClr val="0000FF"/>
                  </a:solidFill>
                  <a:latin typeface="Angsana New" pitchFamily="18" charset="-34"/>
                </a:rPr>
                <a:t>, </a:t>
              </a:r>
              <a:r>
                <a:rPr kumimoji="1" lang="th-TH" sz="2600" b="1" dirty="0">
                  <a:solidFill>
                    <a:srgbClr val="0000FF"/>
                  </a:solidFill>
                  <a:latin typeface="Angsana New" pitchFamily="18" charset="-34"/>
                  <a:sym typeface="Symbol"/>
                </a:rPr>
                <a:t></a:t>
              </a:r>
              <a:r>
                <a:rPr kumimoji="1" lang="th-TH" sz="3200" b="1" baseline="30000" dirty="0">
                  <a:solidFill>
                    <a:srgbClr val="0000FF"/>
                  </a:solidFill>
                  <a:latin typeface="Angsana New" pitchFamily="18" charset="-34"/>
                  <a:sym typeface="Symbol"/>
                </a:rPr>
                <a:t>2</a:t>
              </a:r>
              <a:r>
                <a:rPr kumimoji="1" lang="th-TH" sz="3200" b="1" dirty="0">
                  <a:solidFill>
                    <a:srgbClr val="0000FF"/>
                  </a:solidFill>
                  <a:latin typeface="Angsana New" pitchFamily="18" charset="-34"/>
                </a:rPr>
                <a:t> </a:t>
              </a:r>
              <a:r>
                <a:rPr kumimoji="1" lang="en-US" sz="3200" b="1" dirty="0">
                  <a:solidFill>
                    <a:srgbClr val="0000FF"/>
                  </a:solidFill>
                  <a:latin typeface="Angsana New" pitchFamily="18" charset="-34"/>
                </a:rPr>
                <a:t>)</a:t>
              </a:r>
              <a:endParaRPr kumimoji="1" lang="th-TH" sz="3200" b="1" dirty="0">
                <a:solidFill>
                  <a:srgbClr val="0000FF"/>
                </a:solidFill>
                <a:latin typeface="Angsana New" pitchFamily="18" charset="-34"/>
              </a:endParaRPr>
            </a:p>
          </p:txBody>
        </p:sp>
        <p:sp>
          <p:nvSpPr>
            <p:cNvPr id="39" name="Rectangle 4"/>
            <p:cNvSpPr>
              <a:spLocks noChangeArrowheads="1"/>
            </p:cNvSpPr>
            <p:nvPr/>
          </p:nvSpPr>
          <p:spPr bwMode="auto">
            <a:xfrm>
              <a:off x="8694029" y="5368161"/>
              <a:ext cx="333702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en-US" sz="2600" b="1" dirty="0" err="1">
                  <a:solidFill>
                    <a:srgbClr val="0000FF"/>
                  </a:solidFill>
                  <a:latin typeface="Angsana New" panose="02020603050405020304" pitchFamily="18" charset="-34"/>
                </a:rPr>
                <a:t>i</a:t>
              </a:r>
              <a:endParaRPr lang="th-TH" sz="2600" b="1" dirty="0">
                <a:solidFill>
                  <a:srgbClr val="0000FF"/>
                </a:solidFill>
                <a:latin typeface="Angsana New" panose="02020603050405020304" pitchFamily="18" charset="-34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0256BE-344B-4525-A1E5-96CD10348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3616EF-75E5-4690-856B-E2DE7F57532B}" type="slidenum">
              <a:rPr lang="en-US" smtClean="0"/>
              <a:pPr>
                <a:defRPr/>
              </a:pPr>
              <a:t>14</a:t>
            </a:fld>
            <a:endParaRPr lang="th-TH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utoUpdateAnimBg="0"/>
      <p:bldP spid="21508" grpId="0" autoUpdateAnimBg="0"/>
      <p:bldP spid="21647" grpId="0"/>
      <p:bldP spid="21648" grpId="0" autoUpdateAnimBg="0"/>
      <p:bldP spid="25" grpId="0"/>
      <p:bldP spid="26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731838"/>
          </a:xfrm>
        </p:spPr>
        <p:txBody>
          <a:bodyPr/>
          <a:lstStyle/>
          <a:p>
            <a:pPr algn="l" eaLnBrk="1" hangingPunct="1">
              <a:lnSpc>
                <a:spcPct val="70000"/>
              </a:lnSpc>
              <a:defRPr/>
            </a:pPr>
            <a:r>
              <a:rPr lang="th-TH" sz="3200" b="1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 การทดสอบค่าเฉลี่ย 1 ประชากร เมื่อไม่ทราบค่าความแปรปรวนประชากร </a:t>
            </a:r>
            <a:r>
              <a:rPr lang="th-TH" sz="2600" b="1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/>
              </a:rPr>
              <a:t></a:t>
            </a:r>
            <a:r>
              <a:rPr lang="th-TH" sz="3200" b="1" baseline="3000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/>
              </a:rPr>
              <a:t>2</a:t>
            </a:r>
            <a:endParaRPr lang="th-TH" sz="3200" b="1" baseline="30000" dirty="0">
              <a:solidFill>
                <a:srgbClr val="6633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152400" y="1981200"/>
            <a:ext cx="2438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75000"/>
              </a:lnSpc>
              <a:defRPr/>
            </a:pPr>
            <a:r>
              <a:rPr lang="th-TH" sz="3200" b="1" dirty="0">
                <a:solidFill>
                  <a:srgbClr val="CC3399"/>
                </a:solidFill>
                <a:latin typeface="Angsana New" panose="02020603050405020304" pitchFamily="18" charset="-34"/>
              </a:rPr>
              <a:t>เขตวิกฤต :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52400" y="1058910"/>
            <a:ext cx="4876800" cy="1001109"/>
            <a:chOff x="168166" y="1392623"/>
            <a:chExt cx="4876800" cy="1001109"/>
          </a:xfrm>
        </p:grpSpPr>
        <p:sp>
          <p:nvSpPr>
            <p:cNvPr id="35843" name="Rectangle 3"/>
            <p:cNvSpPr>
              <a:spLocks noChangeArrowheads="1"/>
            </p:cNvSpPr>
            <p:nvPr/>
          </p:nvSpPr>
          <p:spPr bwMode="auto">
            <a:xfrm>
              <a:off x="168166" y="1604240"/>
              <a:ext cx="48768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rgbClr val="CC3399"/>
                  </a:solidFill>
                  <a:latin typeface="Angsana New" panose="02020603050405020304" pitchFamily="18" charset="-34"/>
                </a:rPr>
                <a:t>สถิติสำหรับการทดสอบ :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3034862" y="1392623"/>
              <a:ext cx="1721070" cy="1001109"/>
              <a:chOff x="526832" y="2286000"/>
              <a:chExt cx="1721070" cy="1001109"/>
            </a:xfrm>
          </p:grpSpPr>
          <p:sp>
            <p:nvSpPr>
              <p:cNvPr id="78" name="Rectangle 3"/>
              <p:cNvSpPr>
                <a:spLocks noChangeArrowheads="1"/>
              </p:cNvSpPr>
              <p:nvPr/>
            </p:nvSpPr>
            <p:spPr bwMode="auto">
              <a:xfrm>
                <a:off x="526832" y="2485222"/>
                <a:ext cx="800100" cy="609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5000"/>
                  </a:lnSpc>
                  <a:defRPr/>
                </a:pPr>
                <a:r>
                  <a:rPr lang="th-TH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 </a:t>
                </a: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t  =  </a:t>
                </a:r>
                <a:endParaRPr lang="th-TH" sz="3200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</a:endParaRPr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1143000" y="2286000"/>
                <a:ext cx="1104902" cy="1001109"/>
                <a:chOff x="2628899" y="2590800"/>
                <a:chExt cx="1104902" cy="1001109"/>
              </a:xfrm>
            </p:grpSpPr>
            <p:sp>
              <p:nvSpPr>
                <p:cNvPr id="79" name="Rectangle 3"/>
                <p:cNvSpPr>
                  <a:spLocks noChangeArrowheads="1"/>
                </p:cNvSpPr>
                <p:nvPr/>
              </p:nvSpPr>
              <p:spPr bwMode="auto">
                <a:xfrm>
                  <a:off x="2628899" y="2590800"/>
                  <a:ext cx="1104902" cy="6096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eaLnBrk="0" hangingPunct="0">
                    <a:lnSpc>
                      <a:spcPct val="75000"/>
                    </a:lnSpc>
                    <a:defRPr/>
                  </a:pPr>
                  <a:r>
                    <a:rPr lang="en-US" sz="32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rPr>
                    <a:t>X – </a:t>
                  </a:r>
                  <a:r>
                    <a:rPr lang="en-US" sz="26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  <a:sym typeface="Symbol"/>
                    </a:rPr>
                    <a:t></a:t>
                  </a:r>
                  <a:r>
                    <a:rPr lang="en-US" sz="32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  <a:sym typeface="Symbol"/>
                    </a:rPr>
                    <a:t>0</a:t>
                  </a:r>
                  <a:r>
                    <a:rPr lang="en-US" sz="32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rPr>
                    <a:t>  </a:t>
                  </a:r>
                  <a:endParaRPr lang="th-TH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endParaRPr>
                </a:p>
              </p:txBody>
            </p:sp>
            <p:cxnSp>
              <p:nvCxnSpPr>
                <p:cNvPr id="84" name="Straight Connector 83"/>
                <p:cNvCxnSpPr/>
                <p:nvPr/>
              </p:nvCxnSpPr>
              <p:spPr bwMode="auto">
                <a:xfrm flipH="1">
                  <a:off x="2685066" y="3090038"/>
                  <a:ext cx="822960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lumMod val="5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grpSp>
              <p:nvGrpSpPr>
                <p:cNvPr id="8" name="Group 7"/>
                <p:cNvGrpSpPr/>
                <p:nvPr/>
              </p:nvGrpSpPr>
              <p:grpSpPr>
                <a:xfrm>
                  <a:off x="2708275" y="2982309"/>
                  <a:ext cx="808038" cy="609600"/>
                  <a:chOff x="4144962" y="2128345"/>
                  <a:chExt cx="808038" cy="609600"/>
                </a:xfrm>
              </p:grpSpPr>
              <p:sp>
                <p:nvSpPr>
                  <p:cNvPr id="80" name="Rectangle 3"/>
                  <p:cNvSpPr>
                    <a:spLocks noChangeArrowheads="1"/>
                  </p:cNvSpPr>
                  <p:nvPr/>
                </p:nvSpPr>
                <p:spPr bwMode="auto">
                  <a:xfrm>
                    <a:off x="4144962" y="2128345"/>
                    <a:ext cx="808038" cy="6096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/>
                  <a:lstStyle/>
                  <a:p>
                    <a:pPr eaLnBrk="0" hangingPunct="0">
                      <a:lnSpc>
                        <a:spcPct val="75000"/>
                      </a:lnSpc>
                      <a:defRPr/>
                    </a:pPr>
                    <a:r>
                      <a:rPr lang="en-US" sz="3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S/  n  </a:t>
                    </a:r>
                    <a:endParaRPr lang="th-TH" sz="32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endParaRPr>
                  </a:p>
                </p:txBody>
              </p:sp>
              <p:cxnSp>
                <p:nvCxnSpPr>
                  <p:cNvPr id="4" name="Straight Connector 3"/>
                  <p:cNvCxnSpPr/>
                  <p:nvPr/>
                </p:nvCxnSpPr>
                <p:spPr bwMode="auto">
                  <a:xfrm flipH="1">
                    <a:off x="4524702" y="2301771"/>
                    <a:ext cx="91440" cy="22860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chemeClr val="accent1">
                        <a:lumMod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83" name="Straight Connector 82"/>
                  <p:cNvCxnSpPr/>
                  <p:nvPr/>
                </p:nvCxnSpPr>
                <p:spPr bwMode="auto">
                  <a:xfrm flipH="1">
                    <a:off x="4614038" y="2301766"/>
                    <a:ext cx="18288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chemeClr val="accent1">
                        <a:lumMod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87" name="Straight Connector 86"/>
                  <p:cNvCxnSpPr/>
                  <p:nvPr/>
                </p:nvCxnSpPr>
                <p:spPr bwMode="auto">
                  <a:xfrm>
                    <a:off x="4466898" y="2469932"/>
                    <a:ext cx="76200" cy="6400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chemeClr val="accent1">
                        <a:lumMod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</p:grpSp>
          </p:grpSp>
          <p:cxnSp>
            <p:nvCxnSpPr>
              <p:cNvPr id="92" name="Straight Connector 91"/>
              <p:cNvCxnSpPr/>
              <p:nvPr/>
            </p:nvCxnSpPr>
            <p:spPr bwMode="auto">
              <a:xfrm flipH="1">
                <a:off x="1250732" y="2406868"/>
                <a:ext cx="182880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96" name="Text Box 25"/>
          <p:cNvSpPr txBox="1">
            <a:spLocks noChangeArrowheads="1"/>
          </p:cNvSpPr>
          <p:nvPr/>
        </p:nvSpPr>
        <p:spPr bwMode="auto">
          <a:xfrm>
            <a:off x="1655326" y="1885157"/>
            <a:ext cx="16795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&lt; </a:t>
            </a:r>
            <a:r>
              <a:rPr kumimoji="1" lang="th-TH" sz="3200" b="1" dirty="0">
                <a:solidFill>
                  <a:srgbClr val="0000FF"/>
                </a:solidFill>
                <a:latin typeface="Angsana New" pitchFamily="18" charset="-34"/>
              </a:rPr>
              <a:t>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162749" y="2481212"/>
            <a:ext cx="2506290" cy="903120"/>
            <a:chOff x="1162749" y="2481212"/>
            <a:chExt cx="2506290" cy="903120"/>
          </a:xfrm>
        </p:grpSpPr>
        <p:grpSp>
          <p:nvGrpSpPr>
            <p:cNvPr id="6200" name="Group 9"/>
            <p:cNvGrpSpPr>
              <a:grpSpLocks/>
            </p:cNvGrpSpPr>
            <p:nvPr/>
          </p:nvGrpSpPr>
          <p:grpSpPr bwMode="auto">
            <a:xfrm>
              <a:off x="1278264" y="2492157"/>
              <a:ext cx="2390775" cy="892175"/>
              <a:chOff x="288" y="3518"/>
              <a:chExt cx="1506" cy="562"/>
            </a:xfrm>
          </p:grpSpPr>
          <p:grpSp>
            <p:nvGrpSpPr>
              <p:cNvPr id="6201" name="Group 10"/>
              <p:cNvGrpSpPr>
                <a:grpSpLocks/>
              </p:cNvGrpSpPr>
              <p:nvPr/>
            </p:nvGrpSpPr>
            <p:grpSpPr bwMode="auto">
              <a:xfrm>
                <a:off x="288" y="3518"/>
                <a:ext cx="1506" cy="562"/>
                <a:chOff x="288" y="3614"/>
                <a:chExt cx="1506" cy="562"/>
              </a:xfrm>
            </p:grpSpPr>
            <p:grpSp>
              <p:nvGrpSpPr>
                <p:cNvPr id="6203" name="Group 11"/>
                <p:cNvGrpSpPr>
                  <a:grpSpLocks/>
                </p:cNvGrpSpPr>
                <p:nvPr/>
              </p:nvGrpSpPr>
              <p:grpSpPr bwMode="auto">
                <a:xfrm>
                  <a:off x="288" y="3614"/>
                  <a:ext cx="1506" cy="562"/>
                  <a:chOff x="288" y="3614"/>
                  <a:chExt cx="1506" cy="562"/>
                </a:xfrm>
              </p:grpSpPr>
              <p:grpSp>
                <p:nvGrpSpPr>
                  <p:cNvPr id="6205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88" y="3614"/>
                    <a:ext cx="1506" cy="562"/>
                    <a:chOff x="288" y="3614"/>
                    <a:chExt cx="1506" cy="562"/>
                  </a:xfrm>
                </p:grpSpPr>
                <p:grpSp>
                  <p:nvGrpSpPr>
                    <p:cNvPr id="6207" name="Group 1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8" y="3614"/>
                      <a:ext cx="1506" cy="562"/>
                      <a:chOff x="288" y="3619"/>
                      <a:chExt cx="1506" cy="562"/>
                    </a:xfrm>
                  </p:grpSpPr>
                  <p:sp>
                    <p:nvSpPr>
                      <p:cNvPr id="6211" name="Line 1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" y="4176"/>
                        <a:ext cx="1488" cy="0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2" name="Freeform 1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5" y="3619"/>
                        <a:ext cx="1499" cy="525"/>
                      </a:xfrm>
                      <a:custGeom>
                        <a:avLst/>
                        <a:gdLst>
                          <a:gd name="T0" fmla="*/ 0 w 1499"/>
                          <a:gd name="T1" fmla="*/ 525 h 525"/>
                          <a:gd name="T2" fmla="*/ 269 w 1499"/>
                          <a:gd name="T3" fmla="*/ 483 h 525"/>
                          <a:gd name="T4" fmla="*/ 513 w 1499"/>
                          <a:gd name="T5" fmla="*/ 314 h 525"/>
                          <a:gd name="T6" fmla="*/ 665 w 1499"/>
                          <a:gd name="T7" fmla="*/ 70 h 525"/>
                          <a:gd name="T8" fmla="*/ 808 w 1499"/>
                          <a:gd name="T9" fmla="*/ 3 h 525"/>
                          <a:gd name="T10" fmla="*/ 943 w 1499"/>
                          <a:gd name="T11" fmla="*/ 87 h 525"/>
                          <a:gd name="T12" fmla="*/ 1069 w 1499"/>
                          <a:gd name="T13" fmla="*/ 348 h 525"/>
                          <a:gd name="T14" fmla="*/ 1196 w 1499"/>
                          <a:gd name="T15" fmla="*/ 457 h 525"/>
                          <a:gd name="T16" fmla="*/ 1339 w 1499"/>
                          <a:gd name="T17" fmla="*/ 491 h 525"/>
                          <a:gd name="T18" fmla="*/ 1499 w 1499"/>
                          <a:gd name="T19" fmla="*/ 516 h 525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  <a:gd name="T27" fmla="*/ 0 60000 65536"/>
                          <a:gd name="T28" fmla="*/ 0 60000 65536"/>
                          <a:gd name="T29" fmla="*/ 0 60000 65536"/>
                          <a:gd name="T30" fmla="*/ 0 w 1499"/>
                          <a:gd name="T31" fmla="*/ 0 h 525"/>
                          <a:gd name="T32" fmla="*/ 1499 w 1499"/>
                          <a:gd name="T33" fmla="*/ 525 h 525"/>
                        </a:gdLst>
                        <a:ahLst/>
                        <a:cxnLst>
                          <a:cxn ang="T20">
                            <a:pos x="T0" y="T1"/>
                          </a:cxn>
                          <a:cxn ang="T21">
                            <a:pos x="T2" y="T3"/>
                          </a:cxn>
                          <a:cxn ang="T22">
                            <a:pos x="T4" y="T5"/>
                          </a:cxn>
                          <a:cxn ang="T23">
                            <a:pos x="T6" y="T7"/>
                          </a:cxn>
                          <a:cxn ang="T24">
                            <a:pos x="T8" y="T9"/>
                          </a:cxn>
                          <a:cxn ang="T25">
                            <a:pos x="T10" y="T11"/>
                          </a:cxn>
                          <a:cxn ang="T26">
                            <a:pos x="T12" y="T13"/>
                          </a:cxn>
                          <a:cxn ang="T27">
                            <a:pos x="T14" y="T15"/>
                          </a:cxn>
                          <a:cxn ang="T28">
                            <a:pos x="T16" y="T17"/>
                          </a:cxn>
                          <a:cxn ang="T29">
                            <a:pos x="T18" y="T19"/>
                          </a:cxn>
                        </a:cxnLst>
                        <a:rect l="T30" t="T31" r="T32" b="T33"/>
                        <a:pathLst>
                          <a:path w="1499" h="525">
                            <a:moveTo>
                              <a:pt x="0" y="525"/>
                            </a:moveTo>
                            <a:cubicBezTo>
                              <a:pt x="43" y="518"/>
                              <a:pt x="184" y="518"/>
                              <a:pt x="269" y="483"/>
                            </a:cubicBezTo>
                            <a:cubicBezTo>
                              <a:pt x="354" y="448"/>
                              <a:pt x="447" y="383"/>
                              <a:pt x="513" y="314"/>
                            </a:cubicBezTo>
                            <a:cubicBezTo>
                              <a:pt x="579" y="245"/>
                              <a:pt x="616" y="122"/>
                              <a:pt x="665" y="70"/>
                            </a:cubicBezTo>
                            <a:cubicBezTo>
                              <a:pt x="714" y="18"/>
                              <a:pt x="762" y="0"/>
                              <a:pt x="808" y="3"/>
                            </a:cubicBezTo>
                            <a:cubicBezTo>
                              <a:pt x="854" y="6"/>
                              <a:pt x="899" y="29"/>
                              <a:pt x="943" y="87"/>
                            </a:cubicBezTo>
                            <a:cubicBezTo>
                              <a:pt x="987" y="145"/>
                              <a:pt x="1027" y="286"/>
                              <a:pt x="1069" y="348"/>
                            </a:cubicBezTo>
                            <a:cubicBezTo>
                              <a:pt x="1111" y="410"/>
                              <a:pt x="1151" y="433"/>
                              <a:pt x="1196" y="457"/>
                            </a:cubicBezTo>
                            <a:cubicBezTo>
                              <a:pt x="1241" y="481"/>
                              <a:pt x="1289" y="481"/>
                              <a:pt x="1339" y="491"/>
                            </a:cubicBezTo>
                            <a:cubicBezTo>
                              <a:pt x="1389" y="501"/>
                              <a:pt x="1466" y="511"/>
                              <a:pt x="1499" y="516"/>
                            </a:cubicBezTo>
                          </a:path>
                        </a:pathLst>
                      </a:cu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th-TH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3" name="Line 16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72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4" name="Line 17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24" y="4085"/>
                        <a:ext cx="96" cy="96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5" name="Line 18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576" y="4037"/>
                        <a:ext cx="144" cy="144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6" name="Line 19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80" y="4128"/>
                        <a:ext cx="56" cy="53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7" name="Line 2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432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8" name="Line 21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36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9" name="Line 22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84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grpSp>
                  <p:nvGrpSpPr>
                    <p:cNvPr id="6208" name="Group 2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28" y="4032"/>
                      <a:ext cx="192" cy="144"/>
                      <a:chOff x="528" y="4032"/>
                      <a:chExt cx="192" cy="144"/>
                    </a:xfrm>
                  </p:grpSpPr>
                  <p:sp>
                    <p:nvSpPr>
                      <p:cNvPr id="6209" name="Line 2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20" y="4032"/>
                        <a:ext cx="0" cy="144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0" name="Line 25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28" y="4076"/>
                        <a:ext cx="95" cy="100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</p:grpSp>
              <p:sp>
                <p:nvSpPr>
                  <p:cNvPr id="6206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28" y="4032"/>
                    <a:ext cx="192" cy="9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6204" name="Line 27"/>
                <p:cNvSpPr>
                  <a:spLocks noChangeShapeType="1"/>
                </p:cNvSpPr>
                <p:nvPr/>
              </p:nvSpPr>
              <p:spPr bwMode="auto">
                <a:xfrm>
                  <a:off x="384" y="3840"/>
                  <a:ext cx="139" cy="240"/>
                </a:xfrm>
                <a:prstGeom prst="line">
                  <a:avLst/>
                </a:prstGeom>
                <a:noFill/>
                <a:ln w="28575">
                  <a:solidFill>
                    <a:srgbClr val="CC3399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</p:grpSp>
          <p:sp>
            <p:nvSpPr>
              <p:cNvPr id="6202" name="Line 29"/>
              <p:cNvSpPr>
                <a:spLocks noChangeShapeType="1"/>
              </p:cNvSpPr>
              <p:nvPr/>
            </p:nvSpPr>
            <p:spPr bwMode="auto">
              <a:xfrm flipH="1">
                <a:off x="448" y="4000"/>
                <a:ext cx="192" cy="4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</p:grpSp>
        <p:sp>
          <p:nvSpPr>
            <p:cNvPr id="99" name="Text Box 25"/>
            <p:cNvSpPr txBox="1">
              <a:spLocks noChangeArrowheads="1"/>
            </p:cNvSpPr>
            <p:nvPr/>
          </p:nvSpPr>
          <p:spPr bwMode="auto">
            <a:xfrm>
              <a:off x="1162749" y="2481212"/>
              <a:ext cx="530677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sp>
        <p:nvSpPr>
          <p:cNvPr id="98" name="Text Box 25"/>
          <p:cNvSpPr txBox="1">
            <a:spLocks noChangeArrowheads="1"/>
          </p:cNvSpPr>
          <p:nvPr/>
        </p:nvSpPr>
        <p:spPr bwMode="auto">
          <a:xfrm>
            <a:off x="4462011" y="1885157"/>
            <a:ext cx="16795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</a:t>
            </a:r>
            <a:r>
              <a:rPr kumimoji="1" lang="en-US" sz="2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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 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3784659" y="2377966"/>
            <a:ext cx="2645976" cy="974834"/>
            <a:chOff x="3784659" y="2377966"/>
            <a:chExt cx="2645976" cy="974834"/>
          </a:xfrm>
        </p:grpSpPr>
        <p:grpSp>
          <p:nvGrpSpPr>
            <p:cNvPr id="6161" name="Group 51"/>
            <p:cNvGrpSpPr>
              <a:grpSpLocks/>
            </p:cNvGrpSpPr>
            <p:nvPr/>
          </p:nvGrpSpPr>
          <p:grpSpPr bwMode="auto">
            <a:xfrm>
              <a:off x="3928625" y="2438400"/>
              <a:ext cx="2393950" cy="914400"/>
              <a:chOff x="2206" y="3504"/>
              <a:chExt cx="1508" cy="576"/>
            </a:xfrm>
          </p:grpSpPr>
          <p:grpSp>
            <p:nvGrpSpPr>
              <p:cNvPr id="6162" name="Group 52"/>
              <p:cNvGrpSpPr>
                <a:grpSpLocks/>
              </p:cNvGrpSpPr>
              <p:nvPr/>
            </p:nvGrpSpPr>
            <p:grpSpPr bwMode="auto">
              <a:xfrm>
                <a:off x="2208" y="3504"/>
                <a:ext cx="1506" cy="576"/>
                <a:chOff x="2256" y="3506"/>
                <a:chExt cx="1506" cy="576"/>
              </a:xfrm>
            </p:grpSpPr>
            <p:grpSp>
              <p:nvGrpSpPr>
                <p:cNvPr id="6164" name="Group 53"/>
                <p:cNvGrpSpPr>
                  <a:grpSpLocks/>
                </p:cNvGrpSpPr>
                <p:nvPr/>
              </p:nvGrpSpPr>
              <p:grpSpPr bwMode="auto">
                <a:xfrm>
                  <a:off x="2256" y="3506"/>
                  <a:ext cx="1506" cy="576"/>
                  <a:chOff x="2256" y="3506"/>
                  <a:chExt cx="1506" cy="576"/>
                </a:xfrm>
              </p:grpSpPr>
              <p:grpSp>
                <p:nvGrpSpPr>
                  <p:cNvPr id="6166" name="Group 54"/>
                  <p:cNvGrpSpPr>
                    <a:grpSpLocks/>
                  </p:cNvGrpSpPr>
                  <p:nvPr/>
                </p:nvGrpSpPr>
                <p:grpSpPr bwMode="auto">
                  <a:xfrm>
                    <a:off x="2256" y="3506"/>
                    <a:ext cx="1506" cy="576"/>
                    <a:chOff x="2256" y="3506"/>
                    <a:chExt cx="1506" cy="576"/>
                  </a:xfrm>
                </p:grpSpPr>
                <p:grpSp>
                  <p:nvGrpSpPr>
                    <p:cNvPr id="6168" name="Group 5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63" y="3506"/>
                      <a:ext cx="1499" cy="576"/>
                      <a:chOff x="2263" y="3506"/>
                      <a:chExt cx="1499" cy="576"/>
                    </a:xfrm>
                  </p:grpSpPr>
                  <p:grpSp>
                    <p:nvGrpSpPr>
                      <p:cNvPr id="6171" name="Group 5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63" y="3506"/>
                        <a:ext cx="1499" cy="576"/>
                        <a:chOff x="2263" y="3506"/>
                        <a:chExt cx="1499" cy="576"/>
                      </a:xfrm>
                    </p:grpSpPr>
                    <p:grpSp>
                      <p:nvGrpSpPr>
                        <p:cNvPr id="6173" name="Group 57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263" y="3506"/>
                          <a:ext cx="1499" cy="576"/>
                          <a:chOff x="2263" y="3504"/>
                          <a:chExt cx="1499" cy="576"/>
                        </a:xfrm>
                      </p:grpSpPr>
                      <p:grpSp>
                        <p:nvGrpSpPr>
                          <p:cNvPr id="6175" name="Group 58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263" y="3504"/>
                            <a:ext cx="1499" cy="576"/>
                            <a:chOff x="2263" y="3504"/>
                            <a:chExt cx="1499" cy="576"/>
                          </a:xfrm>
                        </p:grpSpPr>
                        <p:sp>
                          <p:nvSpPr>
                            <p:cNvPr id="6179" name="Line 59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2263" y="4080"/>
                              <a:ext cx="1488" cy="0"/>
                            </a:xfrm>
                            <a:prstGeom prst="line">
                              <a:avLst/>
                            </a:pr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6180" name="Freeform 60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263" y="3504"/>
                              <a:ext cx="1499" cy="525"/>
                            </a:xfrm>
                            <a:custGeom>
                              <a:avLst/>
                              <a:gdLst>
                                <a:gd name="T0" fmla="*/ 0 w 1499"/>
                                <a:gd name="T1" fmla="*/ 525 h 525"/>
                                <a:gd name="T2" fmla="*/ 269 w 1499"/>
                                <a:gd name="T3" fmla="*/ 483 h 525"/>
                                <a:gd name="T4" fmla="*/ 513 w 1499"/>
                                <a:gd name="T5" fmla="*/ 314 h 525"/>
                                <a:gd name="T6" fmla="*/ 665 w 1499"/>
                                <a:gd name="T7" fmla="*/ 70 h 525"/>
                                <a:gd name="T8" fmla="*/ 808 w 1499"/>
                                <a:gd name="T9" fmla="*/ 3 h 525"/>
                                <a:gd name="T10" fmla="*/ 943 w 1499"/>
                                <a:gd name="T11" fmla="*/ 87 h 525"/>
                                <a:gd name="T12" fmla="*/ 1069 w 1499"/>
                                <a:gd name="T13" fmla="*/ 348 h 525"/>
                                <a:gd name="T14" fmla="*/ 1196 w 1499"/>
                                <a:gd name="T15" fmla="*/ 457 h 525"/>
                                <a:gd name="T16" fmla="*/ 1339 w 1499"/>
                                <a:gd name="T17" fmla="*/ 491 h 525"/>
                                <a:gd name="T18" fmla="*/ 1499 w 1499"/>
                                <a:gd name="T19" fmla="*/ 516 h 525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  <a:gd name="T24" fmla="*/ 0 60000 65536"/>
                                <a:gd name="T25" fmla="*/ 0 60000 65536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w 1499"/>
                                <a:gd name="T31" fmla="*/ 0 h 525"/>
                                <a:gd name="T32" fmla="*/ 1499 w 1499"/>
                                <a:gd name="T33" fmla="*/ 525 h 525"/>
                              </a:gdLst>
                              <a:ahLst/>
                              <a:cxnLst>
                                <a:cxn ang="T20">
                                  <a:pos x="T0" y="T1"/>
                                </a:cxn>
                                <a:cxn ang="T21">
                                  <a:pos x="T2" y="T3"/>
                                </a:cxn>
                                <a:cxn ang="T22">
                                  <a:pos x="T4" y="T5"/>
                                </a:cxn>
                                <a:cxn ang="T23">
                                  <a:pos x="T6" y="T7"/>
                                </a:cxn>
                                <a:cxn ang="T24">
                                  <a:pos x="T8" y="T9"/>
                                </a:cxn>
                                <a:cxn ang="T25">
                                  <a:pos x="T10" y="T11"/>
                                </a:cxn>
                                <a:cxn ang="T26">
                                  <a:pos x="T12" y="T13"/>
                                </a:cxn>
                                <a:cxn ang="T27">
                                  <a:pos x="T14" y="T15"/>
                                </a:cxn>
                                <a:cxn ang="T28">
                                  <a:pos x="T16" y="T17"/>
                                </a:cxn>
                                <a:cxn ang="T29">
                                  <a:pos x="T18" y="T19"/>
                                </a:cxn>
                              </a:cxnLst>
                              <a:rect l="T30" t="T31" r="T32" b="T33"/>
                              <a:pathLst>
                                <a:path w="1499" h="525">
                                  <a:moveTo>
                                    <a:pt x="0" y="525"/>
                                  </a:moveTo>
                                  <a:cubicBezTo>
                                    <a:pt x="43" y="518"/>
                                    <a:pt x="184" y="518"/>
                                    <a:pt x="269" y="483"/>
                                  </a:cubicBezTo>
                                  <a:cubicBezTo>
                                    <a:pt x="354" y="448"/>
                                    <a:pt x="447" y="383"/>
                                    <a:pt x="513" y="314"/>
                                  </a:cubicBezTo>
                                  <a:cubicBezTo>
                                    <a:pt x="579" y="245"/>
                                    <a:pt x="616" y="122"/>
                                    <a:pt x="665" y="70"/>
                                  </a:cubicBezTo>
                                  <a:cubicBezTo>
                                    <a:pt x="714" y="18"/>
                                    <a:pt x="762" y="0"/>
                                    <a:pt x="808" y="3"/>
                                  </a:cubicBezTo>
                                  <a:cubicBezTo>
                                    <a:pt x="854" y="6"/>
                                    <a:pt x="899" y="29"/>
                                    <a:pt x="943" y="87"/>
                                  </a:cubicBezTo>
                                  <a:cubicBezTo>
                                    <a:pt x="987" y="145"/>
                                    <a:pt x="1027" y="286"/>
                                    <a:pt x="1069" y="348"/>
                                  </a:cubicBezTo>
                                  <a:cubicBezTo>
                                    <a:pt x="1111" y="410"/>
                                    <a:pt x="1151" y="433"/>
                                    <a:pt x="1196" y="457"/>
                                  </a:cubicBezTo>
                                  <a:cubicBezTo>
                                    <a:pt x="1241" y="481"/>
                                    <a:pt x="1289" y="481"/>
                                    <a:pt x="1339" y="491"/>
                                  </a:cubicBezTo>
                                  <a:cubicBezTo>
                                    <a:pt x="1389" y="501"/>
                                    <a:pt x="1466" y="511"/>
                                    <a:pt x="1499" y="516"/>
                                  </a:cubicBezTo>
                                </a:path>
                              </a:pathLst>
                            </a:cu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th-TH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6181" name="Line 62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360" y="4032"/>
                              <a:ext cx="240" cy="0"/>
                            </a:xfrm>
                            <a:prstGeom prst="line">
                              <a:avLst/>
                            </a:prstGeom>
                            <a:noFill/>
                            <a:ln w="7620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6182" name="Line 63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360" y="3936"/>
                              <a:ext cx="336" cy="96"/>
                            </a:xfrm>
                            <a:prstGeom prst="line">
                              <a:avLst/>
                            </a:pr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6183" name="Line 64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3523" y="3744"/>
                              <a:ext cx="102" cy="241"/>
                            </a:xfrm>
                            <a:prstGeom prst="line">
                              <a:avLst/>
                            </a:prstGeom>
                            <a:noFill/>
                            <a:ln w="28575">
                              <a:solidFill>
                                <a:srgbClr val="CC3399"/>
                              </a:solidFill>
                              <a:round/>
                              <a:headEnd/>
                              <a:tailEnd type="triangle" w="med" len="med"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6176" name="Line 6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504" y="3984"/>
                            <a:ext cx="192" cy="48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6177" name="Line 6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360" y="4049"/>
                            <a:ext cx="358" cy="19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6178" name="Line 6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360" y="3984"/>
                            <a:ext cx="144" cy="0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</p:grpSp>
                    <p:sp>
                      <p:nvSpPr>
                        <p:cNvPr id="6174" name="Line 6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360" y="3888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</p:grpSp>
                  <p:sp>
                    <p:nvSpPr>
                      <p:cNvPr id="6172" name="Line 7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83" y="3746"/>
                        <a:ext cx="142" cy="241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CC3399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sp>
                  <p:nvSpPr>
                    <p:cNvPr id="6169" name="Line 7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4080"/>
                      <a:ext cx="384" cy="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  <p:sp>
                  <p:nvSpPr>
                    <p:cNvPr id="6170" name="Line 72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636" y="3959"/>
                      <a:ext cx="4" cy="121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</p:grpSp>
              <p:sp>
                <p:nvSpPr>
                  <p:cNvPr id="6167" name="Line 7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411" y="4032"/>
                    <a:ext cx="229" cy="8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6165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2544" y="3969"/>
                  <a:ext cx="96" cy="4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</p:grpSp>
          <p:sp>
            <p:nvSpPr>
              <p:cNvPr id="6163" name="Line 75"/>
              <p:cNvSpPr>
                <a:spLocks noChangeShapeType="1"/>
              </p:cNvSpPr>
              <p:nvPr/>
            </p:nvSpPr>
            <p:spPr bwMode="auto">
              <a:xfrm>
                <a:off x="2206" y="4047"/>
                <a:ext cx="146" cy="1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</p:grpSp>
        <p:sp>
          <p:nvSpPr>
            <p:cNvPr id="101" name="Text Box 25"/>
            <p:cNvSpPr txBox="1">
              <a:spLocks noChangeArrowheads="1"/>
            </p:cNvSpPr>
            <p:nvPr/>
          </p:nvSpPr>
          <p:spPr bwMode="auto">
            <a:xfrm>
              <a:off x="3784659" y="2384395"/>
              <a:ext cx="685801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r>
                <a:rPr kumimoji="1" lang="en-US" sz="32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/2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  <p:sp>
          <p:nvSpPr>
            <p:cNvPr id="102" name="Text Box 25"/>
            <p:cNvSpPr txBox="1">
              <a:spLocks noChangeArrowheads="1"/>
            </p:cNvSpPr>
            <p:nvPr/>
          </p:nvSpPr>
          <p:spPr bwMode="auto">
            <a:xfrm>
              <a:off x="5744834" y="2377966"/>
              <a:ext cx="685801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r>
                <a:rPr kumimoji="1" lang="en-US" sz="32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/2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sp>
        <p:nvSpPr>
          <p:cNvPr id="97" name="Text Box 25"/>
          <p:cNvSpPr txBox="1">
            <a:spLocks noChangeArrowheads="1"/>
          </p:cNvSpPr>
          <p:nvPr/>
        </p:nvSpPr>
        <p:spPr bwMode="auto">
          <a:xfrm>
            <a:off x="7018650" y="1894216"/>
            <a:ext cx="16795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&gt; 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6564639" y="2377966"/>
            <a:ext cx="2379663" cy="974834"/>
            <a:chOff x="6564639" y="2377966"/>
            <a:chExt cx="2379663" cy="974834"/>
          </a:xfrm>
        </p:grpSpPr>
        <p:grpSp>
          <p:nvGrpSpPr>
            <p:cNvPr id="6184" name="Group 32"/>
            <p:cNvGrpSpPr>
              <a:grpSpLocks/>
            </p:cNvGrpSpPr>
            <p:nvPr/>
          </p:nvGrpSpPr>
          <p:grpSpPr bwMode="auto">
            <a:xfrm>
              <a:off x="6564639" y="2438400"/>
              <a:ext cx="2379663" cy="914400"/>
              <a:chOff x="4128" y="3552"/>
              <a:chExt cx="1499" cy="576"/>
            </a:xfrm>
          </p:grpSpPr>
          <p:sp>
            <p:nvSpPr>
              <p:cNvPr id="6185" name="Line 33"/>
              <p:cNvSpPr>
                <a:spLocks noChangeShapeType="1"/>
              </p:cNvSpPr>
              <p:nvPr/>
            </p:nvSpPr>
            <p:spPr bwMode="auto">
              <a:xfrm>
                <a:off x="5369" y="4032"/>
                <a:ext cx="192" cy="4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  <p:grpSp>
            <p:nvGrpSpPr>
              <p:cNvPr id="6186" name="Group 34"/>
              <p:cNvGrpSpPr>
                <a:grpSpLocks/>
              </p:cNvGrpSpPr>
              <p:nvPr/>
            </p:nvGrpSpPr>
            <p:grpSpPr bwMode="auto">
              <a:xfrm>
                <a:off x="4128" y="3552"/>
                <a:ext cx="1499" cy="576"/>
                <a:chOff x="4128" y="3456"/>
                <a:chExt cx="1499" cy="576"/>
              </a:xfrm>
            </p:grpSpPr>
            <p:sp>
              <p:nvSpPr>
                <p:cNvPr id="6187" name="Line 35"/>
                <p:cNvSpPr>
                  <a:spLocks noChangeShapeType="1"/>
                </p:cNvSpPr>
                <p:nvPr/>
              </p:nvSpPr>
              <p:spPr bwMode="auto">
                <a:xfrm>
                  <a:off x="4128" y="4032"/>
                  <a:ext cx="1488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  <p:grpSp>
              <p:nvGrpSpPr>
                <p:cNvPr id="6188" name="Group 36"/>
                <p:cNvGrpSpPr>
                  <a:grpSpLocks/>
                </p:cNvGrpSpPr>
                <p:nvPr/>
              </p:nvGrpSpPr>
              <p:grpSpPr bwMode="auto">
                <a:xfrm>
                  <a:off x="4128" y="3456"/>
                  <a:ext cx="1499" cy="576"/>
                  <a:chOff x="4128" y="3456"/>
                  <a:chExt cx="1499" cy="576"/>
                </a:xfrm>
              </p:grpSpPr>
              <p:grpSp>
                <p:nvGrpSpPr>
                  <p:cNvPr id="6189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4128" y="3456"/>
                    <a:ext cx="1499" cy="576"/>
                    <a:chOff x="4135" y="3456"/>
                    <a:chExt cx="1499" cy="576"/>
                  </a:xfrm>
                </p:grpSpPr>
                <p:grpSp>
                  <p:nvGrpSpPr>
                    <p:cNvPr id="6191" name="Group 3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35" y="3456"/>
                      <a:ext cx="1499" cy="576"/>
                      <a:chOff x="4135" y="3456"/>
                      <a:chExt cx="1499" cy="576"/>
                    </a:xfrm>
                  </p:grpSpPr>
                  <p:grpSp>
                    <p:nvGrpSpPr>
                      <p:cNvPr id="6193" name="Group 3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135" y="3456"/>
                        <a:ext cx="1499" cy="576"/>
                        <a:chOff x="4135" y="3456"/>
                        <a:chExt cx="1499" cy="576"/>
                      </a:xfrm>
                    </p:grpSpPr>
                    <p:grpSp>
                      <p:nvGrpSpPr>
                        <p:cNvPr id="6195" name="Group 40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135" y="3456"/>
                          <a:ext cx="1499" cy="576"/>
                          <a:chOff x="4135" y="3456"/>
                          <a:chExt cx="1499" cy="576"/>
                        </a:xfrm>
                      </p:grpSpPr>
                      <p:sp>
                        <p:nvSpPr>
                          <p:cNvPr id="6198" name="Freeform 4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135" y="3456"/>
                            <a:ext cx="1499" cy="525"/>
                          </a:xfrm>
                          <a:custGeom>
                            <a:avLst/>
                            <a:gdLst>
                              <a:gd name="T0" fmla="*/ 0 w 1499"/>
                              <a:gd name="T1" fmla="*/ 525 h 525"/>
                              <a:gd name="T2" fmla="*/ 269 w 1499"/>
                              <a:gd name="T3" fmla="*/ 483 h 525"/>
                              <a:gd name="T4" fmla="*/ 513 w 1499"/>
                              <a:gd name="T5" fmla="*/ 314 h 525"/>
                              <a:gd name="T6" fmla="*/ 665 w 1499"/>
                              <a:gd name="T7" fmla="*/ 70 h 525"/>
                              <a:gd name="T8" fmla="*/ 808 w 1499"/>
                              <a:gd name="T9" fmla="*/ 3 h 525"/>
                              <a:gd name="T10" fmla="*/ 943 w 1499"/>
                              <a:gd name="T11" fmla="*/ 87 h 525"/>
                              <a:gd name="T12" fmla="*/ 1069 w 1499"/>
                              <a:gd name="T13" fmla="*/ 348 h 525"/>
                              <a:gd name="T14" fmla="*/ 1196 w 1499"/>
                              <a:gd name="T15" fmla="*/ 457 h 525"/>
                              <a:gd name="T16" fmla="*/ 1339 w 1499"/>
                              <a:gd name="T17" fmla="*/ 491 h 525"/>
                              <a:gd name="T18" fmla="*/ 1499 w 1499"/>
                              <a:gd name="T19" fmla="*/ 516 h 525"/>
                              <a:gd name="T20" fmla="*/ 0 60000 65536"/>
                              <a:gd name="T21" fmla="*/ 0 60000 65536"/>
                              <a:gd name="T22" fmla="*/ 0 60000 65536"/>
                              <a:gd name="T23" fmla="*/ 0 60000 65536"/>
                              <a:gd name="T24" fmla="*/ 0 60000 65536"/>
                              <a:gd name="T25" fmla="*/ 0 60000 65536"/>
                              <a:gd name="T26" fmla="*/ 0 60000 65536"/>
                              <a:gd name="T27" fmla="*/ 0 60000 65536"/>
                              <a:gd name="T28" fmla="*/ 0 60000 65536"/>
                              <a:gd name="T29" fmla="*/ 0 60000 65536"/>
                              <a:gd name="T30" fmla="*/ 0 w 1499"/>
                              <a:gd name="T31" fmla="*/ 0 h 525"/>
                              <a:gd name="T32" fmla="*/ 1499 w 1499"/>
                              <a:gd name="T33" fmla="*/ 525 h 525"/>
                            </a:gdLst>
                            <a:ahLst/>
                            <a:cxnLst>
                              <a:cxn ang="T20">
                                <a:pos x="T0" y="T1"/>
                              </a:cxn>
                              <a:cxn ang="T21">
                                <a:pos x="T2" y="T3"/>
                              </a:cxn>
                              <a:cxn ang="T22">
                                <a:pos x="T4" y="T5"/>
                              </a:cxn>
                              <a:cxn ang="T23">
                                <a:pos x="T6" y="T7"/>
                              </a:cxn>
                              <a:cxn ang="T24">
                                <a:pos x="T8" y="T9"/>
                              </a:cxn>
                              <a:cxn ang="T25">
                                <a:pos x="T10" y="T11"/>
                              </a:cxn>
                              <a:cxn ang="T26">
                                <a:pos x="T12" y="T13"/>
                              </a:cxn>
                              <a:cxn ang="T27">
                                <a:pos x="T14" y="T15"/>
                              </a:cxn>
                              <a:cxn ang="T28">
                                <a:pos x="T16" y="T17"/>
                              </a:cxn>
                              <a:cxn ang="T29">
                                <a:pos x="T18" y="T19"/>
                              </a:cxn>
                            </a:cxnLst>
                            <a:rect l="T30" t="T31" r="T32" b="T33"/>
                            <a:pathLst>
                              <a:path w="1499" h="525">
                                <a:moveTo>
                                  <a:pt x="0" y="525"/>
                                </a:moveTo>
                                <a:cubicBezTo>
                                  <a:pt x="43" y="518"/>
                                  <a:pt x="184" y="518"/>
                                  <a:pt x="269" y="483"/>
                                </a:cubicBezTo>
                                <a:cubicBezTo>
                                  <a:pt x="354" y="448"/>
                                  <a:pt x="447" y="383"/>
                                  <a:pt x="513" y="314"/>
                                </a:cubicBezTo>
                                <a:cubicBezTo>
                                  <a:pt x="579" y="245"/>
                                  <a:pt x="616" y="122"/>
                                  <a:pt x="665" y="70"/>
                                </a:cubicBezTo>
                                <a:cubicBezTo>
                                  <a:pt x="714" y="18"/>
                                  <a:pt x="762" y="0"/>
                                  <a:pt x="808" y="3"/>
                                </a:cubicBezTo>
                                <a:cubicBezTo>
                                  <a:pt x="854" y="6"/>
                                  <a:pt x="899" y="29"/>
                                  <a:pt x="943" y="87"/>
                                </a:cubicBezTo>
                                <a:cubicBezTo>
                                  <a:pt x="987" y="145"/>
                                  <a:pt x="1027" y="286"/>
                                  <a:pt x="1069" y="348"/>
                                </a:cubicBezTo>
                                <a:cubicBezTo>
                                  <a:pt x="1111" y="410"/>
                                  <a:pt x="1151" y="433"/>
                                  <a:pt x="1196" y="457"/>
                                </a:cubicBezTo>
                                <a:cubicBezTo>
                                  <a:pt x="1241" y="481"/>
                                  <a:pt x="1289" y="481"/>
                                  <a:pt x="1339" y="491"/>
                                </a:cubicBezTo>
                                <a:cubicBezTo>
                                  <a:pt x="1389" y="501"/>
                                  <a:pt x="1466" y="511"/>
                                  <a:pt x="1499" y="516"/>
                                </a:cubicBezTo>
                              </a:path>
                            </a:pathLst>
                          </a:custGeom>
                          <a:noFill/>
                          <a:ln w="5715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th-TH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6199" name="Line 4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232" y="3840"/>
                            <a:ext cx="0" cy="192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</p:grpSp>
                    <p:sp>
                      <p:nvSpPr>
                        <p:cNvPr id="6196" name="Line 4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32" y="4001"/>
                          <a:ext cx="358" cy="19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  <p:sp>
                      <p:nvSpPr>
                        <p:cNvPr id="6197" name="Line 4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32" y="3984"/>
                          <a:ext cx="240" cy="0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</p:grpSp>
                  <p:sp>
                    <p:nvSpPr>
                      <p:cNvPr id="6194" name="Line 4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232" y="3936"/>
                        <a:ext cx="144" cy="0"/>
                      </a:xfrm>
                      <a:prstGeom prst="line">
                        <a:avLst/>
                      </a:prstGeom>
                      <a:noFill/>
                      <a:ln w="762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sp>
                  <p:nvSpPr>
                    <p:cNvPr id="6192" name="Line 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232" y="3888"/>
                      <a:ext cx="336" cy="96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</p:grpSp>
              <p:sp>
                <p:nvSpPr>
                  <p:cNvPr id="6190" name="Line 4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321" y="3668"/>
                    <a:ext cx="96" cy="240"/>
                  </a:xfrm>
                  <a:prstGeom prst="line">
                    <a:avLst/>
                  </a:prstGeom>
                  <a:noFill/>
                  <a:ln w="28575">
                    <a:solidFill>
                      <a:srgbClr val="CC3399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</p:grpSp>
        </p:grpSp>
        <p:sp>
          <p:nvSpPr>
            <p:cNvPr id="103" name="Text Box 25"/>
            <p:cNvSpPr txBox="1">
              <a:spLocks noChangeArrowheads="1"/>
            </p:cNvSpPr>
            <p:nvPr/>
          </p:nvSpPr>
          <p:spPr bwMode="auto">
            <a:xfrm>
              <a:off x="8396068" y="2377966"/>
              <a:ext cx="474991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52400" y="3949264"/>
            <a:ext cx="7706044" cy="933901"/>
            <a:chOff x="152400" y="486102"/>
            <a:chExt cx="7706044" cy="933901"/>
          </a:xfrm>
        </p:grpSpPr>
        <p:grpSp>
          <p:nvGrpSpPr>
            <p:cNvPr id="14" name="Group 13"/>
            <p:cNvGrpSpPr/>
            <p:nvPr/>
          </p:nvGrpSpPr>
          <p:grpSpPr>
            <a:xfrm>
              <a:off x="3862478" y="486102"/>
              <a:ext cx="3995966" cy="933901"/>
              <a:chOff x="533400" y="672664"/>
              <a:chExt cx="3995966" cy="933901"/>
            </a:xfrm>
          </p:grpSpPr>
          <p:sp>
            <p:nvSpPr>
              <p:cNvPr id="76" name="Text Box 25"/>
              <p:cNvSpPr txBox="1">
                <a:spLocks noChangeArrowheads="1"/>
              </p:cNvSpPr>
              <p:nvPr/>
            </p:nvSpPr>
            <p:spPr bwMode="auto">
              <a:xfrm>
                <a:off x="533400" y="672664"/>
                <a:ext cx="3995966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H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0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: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  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=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2</a:t>
                </a:r>
                <a:r>
                  <a:rPr kumimoji="1" lang="th-TH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 </a:t>
                </a:r>
                <a:r>
                  <a:rPr kumimoji="1" lang="th-TH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r>
                  <a:rPr kumimoji="1" lang="en-US" sz="4000" b="1" dirty="0">
                    <a:solidFill>
                      <a:srgbClr val="FF0000"/>
                    </a:solidFill>
                    <a:latin typeface="Angsana New" pitchFamily="18" charset="-34"/>
                  </a:rPr>
                  <a:t>VS 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H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: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40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</a:t>
                </a:r>
                <a:r>
                  <a:rPr kumimoji="1" lang="en-US" sz="40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 </a:t>
                </a:r>
                <a:r>
                  <a:rPr kumimoji="1" lang="th-TH" sz="40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   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2</a:t>
                </a:r>
                <a:r>
                  <a:rPr kumimoji="1" lang="th-TH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endParaRPr kumimoji="1" lang="th-TH" sz="32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77" name="Text Box 25"/>
              <p:cNvSpPr txBox="1">
                <a:spLocks noChangeArrowheads="1"/>
              </p:cNvSpPr>
              <p:nvPr/>
            </p:nvSpPr>
            <p:spPr bwMode="auto">
              <a:xfrm>
                <a:off x="3455351" y="685800"/>
                <a:ext cx="457201" cy="9207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ts val="2000"/>
                  </a:lnSpc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&lt;</a:t>
                </a:r>
              </a:p>
              <a:p>
                <a:pPr eaLnBrk="0" hangingPunct="0">
                  <a:lnSpc>
                    <a:spcPts val="2000"/>
                  </a:lnSpc>
                  <a:spcBef>
                    <a:spcPts val="0"/>
                  </a:spcBef>
                  <a:defRPr/>
                </a:pPr>
                <a:r>
                  <a:rPr kumimoji="1" lang="en-US" sz="2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</a:t>
                </a:r>
                <a:r>
                  <a:rPr kumimoji="1" lang="en-US" sz="40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endParaRPr kumimoji="1" lang="th-TH" sz="4000" b="1" dirty="0">
                  <a:solidFill>
                    <a:srgbClr val="0000FF"/>
                  </a:solidFill>
                  <a:latin typeface="Angsana New" pitchFamily="18" charset="-34"/>
                </a:endParaRPr>
              </a:p>
              <a:p>
                <a:pPr eaLnBrk="0" hangingPunct="0">
                  <a:lnSpc>
                    <a:spcPts val="2000"/>
                  </a:lnSpc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&gt;</a:t>
                </a:r>
                <a:endParaRPr kumimoji="1" lang="th-TH" sz="32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</p:grpSp>
        <p:sp>
          <p:nvSpPr>
            <p:cNvPr id="106" name="Rectangle 3"/>
            <p:cNvSpPr>
              <a:spLocks noChangeArrowheads="1"/>
            </p:cNvSpPr>
            <p:nvPr/>
          </p:nvSpPr>
          <p:spPr bwMode="auto">
            <a:xfrm>
              <a:off x="152400" y="580698"/>
              <a:ext cx="48768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rgbClr val="CC3399"/>
                  </a:solidFill>
                  <a:latin typeface="Angsana New" panose="02020603050405020304" pitchFamily="18" charset="-34"/>
                </a:rPr>
                <a:t>สมมุติฐานสำหรับการทดสอบ :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2400" y="488732"/>
            <a:ext cx="7467600" cy="933901"/>
            <a:chOff x="152400" y="488732"/>
            <a:chExt cx="7467600" cy="933901"/>
          </a:xfrm>
        </p:grpSpPr>
        <p:grpSp>
          <p:nvGrpSpPr>
            <p:cNvPr id="108" name="Group 107"/>
            <p:cNvGrpSpPr/>
            <p:nvPr/>
          </p:nvGrpSpPr>
          <p:grpSpPr>
            <a:xfrm>
              <a:off x="3862478" y="488732"/>
              <a:ext cx="3757522" cy="933901"/>
              <a:chOff x="533400" y="672664"/>
              <a:chExt cx="3757522" cy="933901"/>
            </a:xfrm>
          </p:grpSpPr>
          <p:sp>
            <p:nvSpPr>
              <p:cNvPr id="109" name="Text Box 25"/>
              <p:cNvSpPr txBox="1">
                <a:spLocks noChangeArrowheads="1"/>
              </p:cNvSpPr>
              <p:nvPr/>
            </p:nvSpPr>
            <p:spPr bwMode="auto">
              <a:xfrm>
                <a:off x="533400" y="672664"/>
                <a:ext cx="3757522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H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0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: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  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=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0</a:t>
                </a:r>
                <a:r>
                  <a:rPr kumimoji="1" lang="th-TH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 </a:t>
                </a:r>
                <a:r>
                  <a:rPr kumimoji="1" lang="th-TH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r>
                  <a:rPr kumimoji="1" lang="en-US" sz="4000" b="1" dirty="0">
                    <a:solidFill>
                      <a:srgbClr val="FF0000"/>
                    </a:solidFill>
                    <a:latin typeface="Angsana New" pitchFamily="18" charset="-34"/>
                  </a:rPr>
                  <a:t>VS 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H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: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40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 </a:t>
                </a:r>
                <a:r>
                  <a:rPr kumimoji="1" lang="th-TH" sz="40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  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0</a:t>
                </a:r>
                <a:r>
                  <a:rPr kumimoji="1" lang="th-TH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endParaRPr kumimoji="1" lang="th-TH" sz="32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110" name="Text Box 25"/>
              <p:cNvSpPr txBox="1">
                <a:spLocks noChangeArrowheads="1"/>
              </p:cNvSpPr>
              <p:nvPr/>
            </p:nvSpPr>
            <p:spPr bwMode="auto">
              <a:xfrm>
                <a:off x="3184633" y="685800"/>
                <a:ext cx="457201" cy="9207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ts val="2000"/>
                  </a:lnSpc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&lt;</a:t>
                </a:r>
              </a:p>
              <a:p>
                <a:pPr eaLnBrk="0" hangingPunct="0">
                  <a:lnSpc>
                    <a:spcPts val="2000"/>
                  </a:lnSpc>
                  <a:spcBef>
                    <a:spcPts val="0"/>
                  </a:spcBef>
                  <a:defRPr/>
                </a:pPr>
                <a:r>
                  <a:rPr kumimoji="1" lang="en-US" sz="2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</a:t>
                </a:r>
                <a:r>
                  <a:rPr kumimoji="1" lang="en-US" sz="40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endParaRPr kumimoji="1" lang="th-TH" sz="4000" b="1" dirty="0">
                  <a:solidFill>
                    <a:srgbClr val="0000FF"/>
                  </a:solidFill>
                  <a:latin typeface="Angsana New" pitchFamily="18" charset="-34"/>
                </a:endParaRPr>
              </a:p>
              <a:p>
                <a:pPr eaLnBrk="0" hangingPunct="0">
                  <a:lnSpc>
                    <a:spcPts val="2000"/>
                  </a:lnSpc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&gt;</a:t>
                </a:r>
                <a:endParaRPr kumimoji="1" lang="th-TH" sz="32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</p:grpSp>
        <p:sp>
          <p:nvSpPr>
            <p:cNvPr id="193" name="Rectangle 3"/>
            <p:cNvSpPr>
              <a:spLocks noChangeArrowheads="1"/>
            </p:cNvSpPr>
            <p:nvPr/>
          </p:nvSpPr>
          <p:spPr bwMode="auto">
            <a:xfrm>
              <a:off x="152400" y="583328"/>
              <a:ext cx="48768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rgbClr val="CC3399"/>
                  </a:solidFill>
                  <a:latin typeface="Angsana New" panose="02020603050405020304" pitchFamily="18" charset="-34"/>
                </a:rPr>
                <a:t>สมมุติฐานสำหรับการทดสอบ :</a:t>
              </a:r>
            </a:p>
          </p:txBody>
        </p:sp>
      </p:grpSp>
      <p:sp>
        <p:nvSpPr>
          <p:cNvPr id="194" name="Rectangle 2"/>
          <p:cNvSpPr txBox="1">
            <a:spLocks noChangeArrowheads="1"/>
          </p:cNvSpPr>
          <p:nvPr/>
        </p:nvSpPr>
        <p:spPr bwMode="auto">
          <a:xfrm>
            <a:off x="0" y="3473668"/>
            <a:ext cx="91440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70000"/>
              </a:lnSpc>
              <a:defRPr/>
            </a:pP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 การทดสอบค่าเฉลี่ยของ 2 ประชากร เมื่อไม่ทราบค่าความแปรปรวนประชากร</a:t>
            </a:r>
            <a:endParaRPr lang="th-TH" sz="3200" b="1" kern="0" baseline="30000" dirty="0">
              <a:solidFill>
                <a:srgbClr val="6633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95" name="Rectangle 2"/>
          <p:cNvSpPr txBox="1">
            <a:spLocks noChangeArrowheads="1"/>
          </p:cNvSpPr>
          <p:nvPr/>
        </p:nvSpPr>
        <p:spPr bwMode="auto">
          <a:xfrm>
            <a:off x="47298" y="5180230"/>
            <a:ext cx="3691431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70000"/>
              </a:lnSpc>
              <a:defRPr/>
            </a:pPr>
            <a:r>
              <a:rPr lang="th-TH" sz="3200" b="1" kern="0" dirty="0">
                <a:solidFill>
                  <a:srgbClr val="CC3399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พิจารณาในกรณีต่าง ๆ ได้ดังนี้</a:t>
            </a:r>
            <a:endParaRPr lang="th-TH" sz="3200" b="1" kern="0" baseline="30000" dirty="0">
              <a:solidFill>
                <a:srgbClr val="CC3399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3307198" y="4600902"/>
            <a:ext cx="5532328" cy="920765"/>
            <a:chOff x="3307198" y="4800600"/>
            <a:chExt cx="5532328" cy="920765"/>
          </a:xfrm>
        </p:grpSpPr>
        <p:grpSp>
          <p:nvGrpSpPr>
            <p:cNvPr id="24" name="Group 23"/>
            <p:cNvGrpSpPr/>
            <p:nvPr/>
          </p:nvGrpSpPr>
          <p:grpSpPr>
            <a:xfrm>
              <a:off x="3870433" y="4800600"/>
              <a:ext cx="4969093" cy="920765"/>
              <a:chOff x="3870433" y="4854669"/>
              <a:chExt cx="4969093" cy="920765"/>
            </a:xfrm>
          </p:grpSpPr>
          <p:sp>
            <p:nvSpPr>
              <p:cNvPr id="201" name="Text Box 25"/>
              <p:cNvSpPr txBox="1">
                <a:spLocks noChangeArrowheads="1"/>
              </p:cNvSpPr>
              <p:nvPr/>
            </p:nvSpPr>
            <p:spPr bwMode="auto">
              <a:xfrm>
                <a:off x="3870433" y="4857299"/>
                <a:ext cx="4969093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H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0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: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 –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2 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=  0</a:t>
                </a:r>
                <a:r>
                  <a:rPr kumimoji="1" lang="th-TH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 </a:t>
                </a:r>
                <a:r>
                  <a:rPr kumimoji="1" lang="th-TH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r>
                  <a:rPr kumimoji="1" lang="en-US" sz="4000" b="1" dirty="0">
                    <a:solidFill>
                      <a:srgbClr val="FF0000"/>
                    </a:solidFill>
                    <a:latin typeface="Angsana New" pitchFamily="18" charset="-34"/>
                  </a:rPr>
                  <a:t>VS 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H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: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40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 </a:t>
                </a:r>
                <a:r>
                  <a:rPr kumimoji="1" lang="th-TH" sz="40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–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2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       0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 </a:t>
                </a:r>
                <a:r>
                  <a:rPr kumimoji="1" lang="th-TH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endParaRPr kumimoji="1" lang="th-TH" sz="32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202" name="Text Box 25"/>
              <p:cNvSpPr txBox="1">
                <a:spLocks noChangeArrowheads="1"/>
              </p:cNvSpPr>
              <p:nvPr/>
            </p:nvSpPr>
            <p:spPr bwMode="auto">
              <a:xfrm>
                <a:off x="7740867" y="4854669"/>
                <a:ext cx="457201" cy="9207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ts val="2000"/>
                  </a:lnSpc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&lt;</a:t>
                </a:r>
              </a:p>
              <a:p>
                <a:pPr eaLnBrk="0" hangingPunct="0">
                  <a:lnSpc>
                    <a:spcPts val="2000"/>
                  </a:lnSpc>
                  <a:spcBef>
                    <a:spcPts val="0"/>
                  </a:spcBef>
                  <a:defRPr/>
                </a:pPr>
                <a:r>
                  <a:rPr kumimoji="1" lang="en-US" sz="2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</a:t>
                </a:r>
                <a:r>
                  <a:rPr kumimoji="1" lang="en-US" sz="40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endParaRPr kumimoji="1" lang="th-TH" sz="4000" b="1" dirty="0">
                  <a:solidFill>
                    <a:srgbClr val="0000FF"/>
                  </a:solidFill>
                  <a:latin typeface="Angsana New" pitchFamily="18" charset="-34"/>
                </a:endParaRPr>
              </a:p>
              <a:p>
                <a:pPr eaLnBrk="0" hangingPunct="0">
                  <a:lnSpc>
                    <a:spcPts val="2000"/>
                  </a:lnSpc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&gt;</a:t>
                </a:r>
                <a:endParaRPr kumimoji="1" lang="th-TH" sz="32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</p:grpSp>
        <p:sp>
          <p:nvSpPr>
            <p:cNvPr id="203" name="Text Box 25"/>
            <p:cNvSpPr txBox="1">
              <a:spLocks noChangeArrowheads="1"/>
            </p:cNvSpPr>
            <p:nvPr/>
          </p:nvSpPr>
          <p:spPr bwMode="auto">
            <a:xfrm>
              <a:off x="3307198" y="4921468"/>
              <a:ext cx="994164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3200" b="1" dirty="0">
                  <a:solidFill>
                    <a:srgbClr val="CC3399"/>
                  </a:solidFill>
                  <a:latin typeface="Angsana New" pitchFamily="18" charset="-34"/>
                  <a:sym typeface="Wingdings" panose="05000000000000000000" pitchFamily="2" charset="2"/>
                </a:rPr>
                <a:t> </a:t>
              </a:r>
              <a:endParaRPr kumimoji="1" lang="en-US" sz="3200" b="1" dirty="0">
                <a:solidFill>
                  <a:srgbClr val="CC3399"/>
                </a:solidFill>
                <a:latin typeface="Angsana New" pitchFamily="18" charset="-34"/>
                <a:sym typeface="Symbol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439510" y="5178970"/>
            <a:ext cx="5323490" cy="840830"/>
            <a:chOff x="3389909" y="5362902"/>
            <a:chExt cx="5323490" cy="840830"/>
          </a:xfrm>
        </p:grpSpPr>
        <p:sp>
          <p:nvSpPr>
            <p:cNvPr id="206" name="Rectangle 2"/>
            <p:cNvSpPr txBox="1">
              <a:spLocks noChangeArrowheads="1"/>
            </p:cNvSpPr>
            <p:nvPr/>
          </p:nvSpPr>
          <p:spPr bwMode="auto">
            <a:xfrm>
              <a:off x="3389909" y="5362902"/>
              <a:ext cx="5323490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th-TH" sz="3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2.1 ตัวอย่างเป็นอิสระกัน และ </a:t>
              </a:r>
              <a:r>
                <a:rPr lang="th-TH" sz="26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</a:t>
              </a:r>
              <a:r>
                <a:rPr lang="th-TH" sz="3200" b="1" kern="0" baseline="3000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2</a:t>
              </a:r>
              <a:r>
                <a:rPr lang="th-TH" sz="3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 </a:t>
              </a:r>
              <a:r>
                <a:rPr lang="en-US" sz="3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 </a:t>
              </a:r>
              <a:r>
                <a:rPr lang="en-US" sz="2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</a:t>
              </a:r>
              <a:r>
                <a:rPr lang="en-US" sz="3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  </a:t>
              </a:r>
              <a:r>
                <a:rPr lang="th-TH" sz="26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</a:t>
              </a:r>
              <a:r>
                <a:rPr lang="th-TH" sz="3200" b="1" kern="0" baseline="3000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2</a:t>
              </a:r>
              <a:endParaRPr lang="th-TH" sz="3200" b="1" kern="0" baseline="3000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207" name="Rectangle 2"/>
            <p:cNvSpPr txBox="1">
              <a:spLocks noChangeArrowheads="1"/>
            </p:cNvSpPr>
            <p:nvPr/>
          </p:nvSpPr>
          <p:spPr bwMode="auto">
            <a:xfrm>
              <a:off x="6855975" y="5471894"/>
              <a:ext cx="474991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th-TH" sz="2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endParaRPr lang="th-TH" sz="2200" b="1" kern="0" baseline="3000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208" name="Rectangle 2"/>
            <p:cNvSpPr txBox="1">
              <a:spLocks noChangeArrowheads="1"/>
            </p:cNvSpPr>
            <p:nvPr/>
          </p:nvSpPr>
          <p:spPr bwMode="auto">
            <a:xfrm>
              <a:off x="7570677" y="5470634"/>
              <a:ext cx="474991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th-TH" sz="2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</a:t>
              </a:r>
              <a:endParaRPr lang="th-TH" sz="2200" b="1" kern="0" baseline="3000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210" name="Group 209"/>
          <p:cNvGrpSpPr/>
          <p:nvPr/>
        </p:nvGrpSpPr>
        <p:grpSpPr>
          <a:xfrm>
            <a:off x="3444766" y="5667702"/>
            <a:ext cx="5323490" cy="840830"/>
            <a:chOff x="3410935" y="5362902"/>
            <a:chExt cx="5323490" cy="840830"/>
          </a:xfrm>
        </p:grpSpPr>
        <p:sp>
          <p:nvSpPr>
            <p:cNvPr id="211" name="Rectangle 2"/>
            <p:cNvSpPr txBox="1">
              <a:spLocks noChangeArrowheads="1"/>
            </p:cNvSpPr>
            <p:nvPr/>
          </p:nvSpPr>
          <p:spPr bwMode="auto">
            <a:xfrm>
              <a:off x="3410935" y="5362902"/>
              <a:ext cx="5323490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th-TH" sz="3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2.2 ตัวอย่างเป็นอิสระกัน และ </a:t>
              </a:r>
              <a:r>
                <a:rPr lang="th-TH" sz="26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</a:t>
              </a:r>
              <a:r>
                <a:rPr lang="th-TH" sz="3200" b="1" kern="0" baseline="3000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2</a:t>
              </a:r>
              <a:r>
                <a:rPr lang="th-TH" sz="3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 </a:t>
              </a:r>
              <a:r>
                <a:rPr lang="en-US" sz="3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 =  </a:t>
              </a:r>
              <a:r>
                <a:rPr lang="th-TH" sz="26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</a:t>
              </a:r>
              <a:r>
                <a:rPr lang="th-TH" sz="3200" b="1" kern="0" baseline="3000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2</a:t>
              </a:r>
              <a:endParaRPr lang="th-TH" sz="3200" b="1" kern="0" baseline="3000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212" name="Rectangle 2"/>
            <p:cNvSpPr txBox="1">
              <a:spLocks noChangeArrowheads="1"/>
            </p:cNvSpPr>
            <p:nvPr/>
          </p:nvSpPr>
          <p:spPr bwMode="auto">
            <a:xfrm>
              <a:off x="6855975" y="5471894"/>
              <a:ext cx="474991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th-TH" sz="2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endParaRPr lang="th-TH" sz="2200" b="1" kern="0" baseline="3000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213" name="Rectangle 2"/>
            <p:cNvSpPr txBox="1">
              <a:spLocks noChangeArrowheads="1"/>
            </p:cNvSpPr>
            <p:nvPr/>
          </p:nvSpPr>
          <p:spPr bwMode="auto">
            <a:xfrm>
              <a:off x="7570677" y="5470634"/>
              <a:ext cx="474991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th-TH" sz="2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</a:t>
              </a:r>
              <a:endParaRPr lang="th-TH" sz="2200" b="1" kern="0" baseline="3000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215" name="Rectangle 2"/>
          <p:cNvSpPr txBox="1">
            <a:spLocks noChangeArrowheads="1"/>
          </p:cNvSpPr>
          <p:nvPr/>
        </p:nvSpPr>
        <p:spPr bwMode="auto">
          <a:xfrm>
            <a:off x="3444766" y="6186596"/>
            <a:ext cx="532349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70000"/>
              </a:lnSpc>
              <a:defRPr/>
            </a:pP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2.3 ตัวอย่าง</a:t>
            </a:r>
            <a:r>
              <a:rPr lang="th-TH" sz="3200" b="1" u="sng" kern="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ไม่</a:t>
            </a: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เป็นอิสระกัน</a:t>
            </a:r>
            <a:endParaRPr lang="th-TH" sz="3200" b="1" kern="0" baseline="30000" dirty="0">
              <a:solidFill>
                <a:srgbClr val="6633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18" name="Rectangle 3"/>
          <p:cNvSpPr>
            <a:spLocks noChangeArrowheads="1"/>
          </p:cNvSpPr>
          <p:nvPr/>
        </p:nvSpPr>
        <p:spPr bwMode="auto">
          <a:xfrm>
            <a:off x="4571067" y="1269114"/>
            <a:ext cx="178243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lnSpc>
                <a:spcPct val="75000"/>
              </a:lnSpc>
              <a:defRPr/>
            </a:pPr>
            <a:r>
              <a:rPr lang="th-TH" sz="2600" b="1" dirty="0">
                <a:solidFill>
                  <a:srgbClr val="FF0000"/>
                </a:solidFill>
                <a:latin typeface="Angsana New" pitchFamily="18" charset="-34"/>
              </a:rPr>
              <a:t> </a:t>
            </a:r>
            <a:r>
              <a:rPr lang="th-TH" sz="2600" b="1" dirty="0">
                <a:solidFill>
                  <a:srgbClr val="FF0000"/>
                </a:solidFill>
                <a:latin typeface="Angsana New" pitchFamily="18" charset="-34"/>
                <a:sym typeface="Symbol"/>
              </a:rPr>
              <a:t></a:t>
            </a:r>
            <a:r>
              <a:rPr lang="en-US" sz="2600" b="1" dirty="0">
                <a:solidFill>
                  <a:srgbClr val="FF0000"/>
                </a:solidFill>
                <a:latin typeface="Angsana New" pitchFamily="18" charset="-34"/>
                <a:sym typeface="Symbol"/>
              </a:rPr>
              <a:t>  </a:t>
            </a:r>
            <a:r>
              <a:rPr lang="en-US" sz="3200" b="1" dirty="0">
                <a:solidFill>
                  <a:srgbClr val="FF0000"/>
                </a:solidFill>
                <a:latin typeface="Angsana New" pitchFamily="18" charset="-34"/>
              </a:rPr>
              <a:t>t(n – 1)</a:t>
            </a:r>
            <a:endParaRPr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E9D15F-10F5-439E-8E24-AD5785396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3616EF-75E5-4690-856B-E2DE7F57532B}" type="slidenum">
              <a:rPr lang="en-US" smtClean="0"/>
              <a:pPr>
                <a:defRPr/>
              </a:pPr>
              <a:t>15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710440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utoUpdateAnimBg="0"/>
      <p:bldP spid="35846" grpId="0" autoUpdateAnimBg="0"/>
      <p:bldP spid="96" grpId="0"/>
      <p:bldP spid="98" grpId="0"/>
      <p:bldP spid="97" grpId="0"/>
      <p:bldP spid="194" grpId="0" autoUpdateAnimBg="0"/>
      <p:bldP spid="195" grpId="0" autoUpdateAnimBg="0"/>
      <p:bldP spid="215" grpId="0"/>
      <p:bldP spid="2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152400" y="5049043"/>
            <a:ext cx="2438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75000"/>
              </a:lnSpc>
              <a:defRPr/>
            </a:pPr>
            <a:r>
              <a:rPr lang="th-TH" sz="3200" b="1" dirty="0">
                <a:solidFill>
                  <a:srgbClr val="CC3399"/>
                </a:solidFill>
                <a:latin typeface="Angsana New" panose="02020603050405020304" pitchFamily="18" charset="-34"/>
              </a:rPr>
              <a:t>เขตวิกฤต :</a:t>
            </a:r>
          </a:p>
        </p:txBody>
      </p:sp>
      <p:sp>
        <p:nvSpPr>
          <p:cNvPr id="96" name="Text Box 25"/>
          <p:cNvSpPr txBox="1">
            <a:spLocks noChangeArrowheads="1"/>
          </p:cNvSpPr>
          <p:nvPr/>
        </p:nvSpPr>
        <p:spPr bwMode="auto">
          <a:xfrm>
            <a:off x="1600200" y="4953000"/>
            <a:ext cx="21844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– 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2 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&lt;  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162749" y="5549055"/>
            <a:ext cx="2506290" cy="903120"/>
            <a:chOff x="1162749" y="2481212"/>
            <a:chExt cx="2506290" cy="903120"/>
          </a:xfrm>
        </p:grpSpPr>
        <p:grpSp>
          <p:nvGrpSpPr>
            <p:cNvPr id="6200" name="Group 9"/>
            <p:cNvGrpSpPr>
              <a:grpSpLocks/>
            </p:cNvGrpSpPr>
            <p:nvPr/>
          </p:nvGrpSpPr>
          <p:grpSpPr bwMode="auto">
            <a:xfrm>
              <a:off x="1278264" y="2492157"/>
              <a:ext cx="2390775" cy="892175"/>
              <a:chOff x="288" y="3518"/>
              <a:chExt cx="1506" cy="562"/>
            </a:xfrm>
          </p:grpSpPr>
          <p:grpSp>
            <p:nvGrpSpPr>
              <p:cNvPr id="6201" name="Group 10"/>
              <p:cNvGrpSpPr>
                <a:grpSpLocks/>
              </p:cNvGrpSpPr>
              <p:nvPr/>
            </p:nvGrpSpPr>
            <p:grpSpPr bwMode="auto">
              <a:xfrm>
                <a:off x="288" y="3518"/>
                <a:ext cx="1506" cy="562"/>
                <a:chOff x="288" y="3614"/>
                <a:chExt cx="1506" cy="562"/>
              </a:xfrm>
            </p:grpSpPr>
            <p:grpSp>
              <p:nvGrpSpPr>
                <p:cNvPr id="6203" name="Group 11"/>
                <p:cNvGrpSpPr>
                  <a:grpSpLocks/>
                </p:cNvGrpSpPr>
                <p:nvPr/>
              </p:nvGrpSpPr>
              <p:grpSpPr bwMode="auto">
                <a:xfrm>
                  <a:off x="288" y="3614"/>
                  <a:ext cx="1506" cy="562"/>
                  <a:chOff x="288" y="3614"/>
                  <a:chExt cx="1506" cy="562"/>
                </a:xfrm>
              </p:grpSpPr>
              <p:grpSp>
                <p:nvGrpSpPr>
                  <p:cNvPr id="6205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88" y="3614"/>
                    <a:ext cx="1506" cy="562"/>
                    <a:chOff x="288" y="3614"/>
                    <a:chExt cx="1506" cy="562"/>
                  </a:xfrm>
                </p:grpSpPr>
                <p:grpSp>
                  <p:nvGrpSpPr>
                    <p:cNvPr id="6207" name="Group 1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8" y="3614"/>
                      <a:ext cx="1506" cy="562"/>
                      <a:chOff x="288" y="3619"/>
                      <a:chExt cx="1506" cy="562"/>
                    </a:xfrm>
                  </p:grpSpPr>
                  <p:sp>
                    <p:nvSpPr>
                      <p:cNvPr id="6211" name="Line 1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" y="4176"/>
                        <a:ext cx="1488" cy="0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2" name="Freeform 1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5" y="3619"/>
                        <a:ext cx="1499" cy="525"/>
                      </a:xfrm>
                      <a:custGeom>
                        <a:avLst/>
                        <a:gdLst>
                          <a:gd name="T0" fmla="*/ 0 w 1499"/>
                          <a:gd name="T1" fmla="*/ 525 h 525"/>
                          <a:gd name="T2" fmla="*/ 269 w 1499"/>
                          <a:gd name="T3" fmla="*/ 483 h 525"/>
                          <a:gd name="T4" fmla="*/ 513 w 1499"/>
                          <a:gd name="T5" fmla="*/ 314 h 525"/>
                          <a:gd name="T6" fmla="*/ 665 w 1499"/>
                          <a:gd name="T7" fmla="*/ 70 h 525"/>
                          <a:gd name="T8" fmla="*/ 808 w 1499"/>
                          <a:gd name="T9" fmla="*/ 3 h 525"/>
                          <a:gd name="T10" fmla="*/ 943 w 1499"/>
                          <a:gd name="T11" fmla="*/ 87 h 525"/>
                          <a:gd name="T12" fmla="*/ 1069 w 1499"/>
                          <a:gd name="T13" fmla="*/ 348 h 525"/>
                          <a:gd name="T14" fmla="*/ 1196 w 1499"/>
                          <a:gd name="T15" fmla="*/ 457 h 525"/>
                          <a:gd name="T16" fmla="*/ 1339 w 1499"/>
                          <a:gd name="T17" fmla="*/ 491 h 525"/>
                          <a:gd name="T18" fmla="*/ 1499 w 1499"/>
                          <a:gd name="T19" fmla="*/ 516 h 525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  <a:gd name="T27" fmla="*/ 0 60000 65536"/>
                          <a:gd name="T28" fmla="*/ 0 60000 65536"/>
                          <a:gd name="T29" fmla="*/ 0 60000 65536"/>
                          <a:gd name="T30" fmla="*/ 0 w 1499"/>
                          <a:gd name="T31" fmla="*/ 0 h 525"/>
                          <a:gd name="T32" fmla="*/ 1499 w 1499"/>
                          <a:gd name="T33" fmla="*/ 525 h 525"/>
                        </a:gdLst>
                        <a:ahLst/>
                        <a:cxnLst>
                          <a:cxn ang="T20">
                            <a:pos x="T0" y="T1"/>
                          </a:cxn>
                          <a:cxn ang="T21">
                            <a:pos x="T2" y="T3"/>
                          </a:cxn>
                          <a:cxn ang="T22">
                            <a:pos x="T4" y="T5"/>
                          </a:cxn>
                          <a:cxn ang="T23">
                            <a:pos x="T6" y="T7"/>
                          </a:cxn>
                          <a:cxn ang="T24">
                            <a:pos x="T8" y="T9"/>
                          </a:cxn>
                          <a:cxn ang="T25">
                            <a:pos x="T10" y="T11"/>
                          </a:cxn>
                          <a:cxn ang="T26">
                            <a:pos x="T12" y="T13"/>
                          </a:cxn>
                          <a:cxn ang="T27">
                            <a:pos x="T14" y="T15"/>
                          </a:cxn>
                          <a:cxn ang="T28">
                            <a:pos x="T16" y="T17"/>
                          </a:cxn>
                          <a:cxn ang="T29">
                            <a:pos x="T18" y="T19"/>
                          </a:cxn>
                        </a:cxnLst>
                        <a:rect l="T30" t="T31" r="T32" b="T33"/>
                        <a:pathLst>
                          <a:path w="1499" h="525">
                            <a:moveTo>
                              <a:pt x="0" y="525"/>
                            </a:moveTo>
                            <a:cubicBezTo>
                              <a:pt x="43" y="518"/>
                              <a:pt x="184" y="518"/>
                              <a:pt x="269" y="483"/>
                            </a:cubicBezTo>
                            <a:cubicBezTo>
                              <a:pt x="354" y="448"/>
                              <a:pt x="447" y="383"/>
                              <a:pt x="513" y="314"/>
                            </a:cubicBezTo>
                            <a:cubicBezTo>
                              <a:pt x="579" y="245"/>
                              <a:pt x="616" y="122"/>
                              <a:pt x="665" y="70"/>
                            </a:cubicBezTo>
                            <a:cubicBezTo>
                              <a:pt x="714" y="18"/>
                              <a:pt x="762" y="0"/>
                              <a:pt x="808" y="3"/>
                            </a:cubicBezTo>
                            <a:cubicBezTo>
                              <a:pt x="854" y="6"/>
                              <a:pt x="899" y="29"/>
                              <a:pt x="943" y="87"/>
                            </a:cubicBezTo>
                            <a:cubicBezTo>
                              <a:pt x="987" y="145"/>
                              <a:pt x="1027" y="286"/>
                              <a:pt x="1069" y="348"/>
                            </a:cubicBezTo>
                            <a:cubicBezTo>
                              <a:pt x="1111" y="410"/>
                              <a:pt x="1151" y="433"/>
                              <a:pt x="1196" y="457"/>
                            </a:cubicBezTo>
                            <a:cubicBezTo>
                              <a:pt x="1241" y="481"/>
                              <a:pt x="1289" y="481"/>
                              <a:pt x="1339" y="491"/>
                            </a:cubicBezTo>
                            <a:cubicBezTo>
                              <a:pt x="1389" y="501"/>
                              <a:pt x="1466" y="511"/>
                              <a:pt x="1499" y="516"/>
                            </a:cubicBezTo>
                          </a:path>
                        </a:pathLst>
                      </a:cu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th-TH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3" name="Line 16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72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4" name="Line 17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24" y="4085"/>
                        <a:ext cx="96" cy="96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5" name="Line 18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576" y="4037"/>
                        <a:ext cx="144" cy="144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6" name="Line 19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80" y="4128"/>
                        <a:ext cx="56" cy="53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7" name="Line 2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432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8" name="Line 21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36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9" name="Line 22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84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grpSp>
                  <p:nvGrpSpPr>
                    <p:cNvPr id="6208" name="Group 2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28" y="4032"/>
                      <a:ext cx="192" cy="144"/>
                      <a:chOff x="528" y="4032"/>
                      <a:chExt cx="192" cy="144"/>
                    </a:xfrm>
                  </p:grpSpPr>
                  <p:sp>
                    <p:nvSpPr>
                      <p:cNvPr id="6209" name="Line 2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20" y="4032"/>
                        <a:ext cx="0" cy="144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6210" name="Line 25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28" y="4076"/>
                        <a:ext cx="95" cy="100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</p:grpSp>
              <p:sp>
                <p:nvSpPr>
                  <p:cNvPr id="6206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28" y="4032"/>
                    <a:ext cx="192" cy="9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6204" name="Line 27"/>
                <p:cNvSpPr>
                  <a:spLocks noChangeShapeType="1"/>
                </p:cNvSpPr>
                <p:nvPr/>
              </p:nvSpPr>
              <p:spPr bwMode="auto">
                <a:xfrm>
                  <a:off x="384" y="3840"/>
                  <a:ext cx="139" cy="240"/>
                </a:xfrm>
                <a:prstGeom prst="line">
                  <a:avLst/>
                </a:prstGeom>
                <a:noFill/>
                <a:ln w="28575">
                  <a:solidFill>
                    <a:srgbClr val="CC3399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</p:grpSp>
          <p:sp>
            <p:nvSpPr>
              <p:cNvPr id="6202" name="Line 29"/>
              <p:cNvSpPr>
                <a:spLocks noChangeShapeType="1"/>
              </p:cNvSpPr>
              <p:nvPr/>
            </p:nvSpPr>
            <p:spPr bwMode="auto">
              <a:xfrm flipH="1">
                <a:off x="448" y="4000"/>
                <a:ext cx="192" cy="4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</p:grpSp>
        <p:sp>
          <p:nvSpPr>
            <p:cNvPr id="99" name="Text Box 25"/>
            <p:cNvSpPr txBox="1">
              <a:spLocks noChangeArrowheads="1"/>
            </p:cNvSpPr>
            <p:nvPr/>
          </p:nvSpPr>
          <p:spPr bwMode="auto">
            <a:xfrm>
              <a:off x="1162749" y="2481212"/>
              <a:ext cx="530677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sp>
        <p:nvSpPr>
          <p:cNvPr id="98" name="Text Box 25"/>
          <p:cNvSpPr txBox="1">
            <a:spLocks noChangeArrowheads="1"/>
          </p:cNvSpPr>
          <p:nvPr/>
        </p:nvSpPr>
        <p:spPr bwMode="auto">
          <a:xfrm>
            <a:off x="4267200" y="4953000"/>
            <a:ext cx="20596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</a:t>
            </a:r>
            <a:r>
              <a:rPr kumimoji="1" lang="th-TH" sz="24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–  </a:t>
            </a:r>
            <a:r>
              <a:rPr kumimoji="1" lang="th-TH" sz="24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2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</a:t>
            </a:r>
            <a:r>
              <a:rPr kumimoji="1" lang="en-US" sz="2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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  </a:t>
            </a:r>
            <a:r>
              <a:rPr kumimoji="1" lang="th-TH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3784659" y="5445809"/>
            <a:ext cx="2645976" cy="974834"/>
            <a:chOff x="3784659" y="2377966"/>
            <a:chExt cx="2645976" cy="974834"/>
          </a:xfrm>
        </p:grpSpPr>
        <p:grpSp>
          <p:nvGrpSpPr>
            <p:cNvPr id="6161" name="Group 51"/>
            <p:cNvGrpSpPr>
              <a:grpSpLocks/>
            </p:cNvGrpSpPr>
            <p:nvPr/>
          </p:nvGrpSpPr>
          <p:grpSpPr bwMode="auto">
            <a:xfrm>
              <a:off x="3928625" y="2438400"/>
              <a:ext cx="2393950" cy="914400"/>
              <a:chOff x="2206" y="3504"/>
              <a:chExt cx="1508" cy="576"/>
            </a:xfrm>
          </p:grpSpPr>
          <p:grpSp>
            <p:nvGrpSpPr>
              <p:cNvPr id="6162" name="Group 52"/>
              <p:cNvGrpSpPr>
                <a:grpSpLocks/>
              </p:cNvGrpSpPr>
              <p:nvPr/>
            </p:nvGrpSpPr>
            <p:grpSpPr bwMode="auto">
              <a:xfrm>
                <a:off x="2208" y="3504"/>
                <a:ext cx="1506" cy="576"/>
                <a:chOff x="2256" y="3506"/>
                <a:chExt cx="1506" cy="576"/>
              </a:xfrm>
            </p:grpSpPr>
            <p:grpSp>
              <p:nvGrpSpPr>
                <p:cNvPr id="6164" name="Group 53"/>
                <p:cNvGrpSpPr>
                  <a:grpSpLocks/>
                </p:cNvGrpSpPr>
                <p:nvPr/>
              </p:nvGrpSpPr>
              <p:grpSpPr bwMode="auto">
                <a:xfrm>
                  <a:off x="2256" y="3506"/>
                  <a:ext cx="1506" cy="576"/>
                  <a:chOff x="2256" y="3506"/>
                  <a:chExt cx="1506" cy="576"/>
                </a:xfrm>
              </p:grpSpPr>
              <p:grpSp>
                <p:nvGrpSpPr>
                  <p:cNvPr id="6166" name="Group 54"/>
                  <p:cNvGrpSpPr>
                    <a:grpSpLocks/>
                  </p:cNvGrpSpPr>
                  <p:nvPr/>
                </p:nvGrpSpPr>
                <p:grpSpPr bwMode="auto">
                  <a:xfrm>
                    <a:off x="2256" y="3506"/>
                    <a:ext cx="1506" cy="576"/>
                    <a:chOff x="2256" y="3506"/>
                    <a:chExt cx="1506" cy="576"/>
                  </a:xfrm>
                </p:grpSpPr>
                <p:grpSp>
                  <p:nvGrpSpPr>
                    <p:cNvPr id="6168" name="Group 5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63" y="3506"/>
                      <a:ext cx="1499" cy="576"/>
                      <a:chOff x="2263" y="3506"/>
                      <a:chExt cx="1499" cy="576"/>
                    </a:xfrm>
                  </p:grpSpPr>
                  <p:grpSp>
                    <p:nvGrpSpPr>
                      <p:cNvPr id="6171" name="Group 5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63" y="3506"/>
                        <a:ext cx="1499" cy="576"/>
                        <a:chOff x="2263" y="3506"/>
                        <a:chExt cx="1499" cy="576"/>
                      </a:xfrm>
                    </p:grpSpPr>
                    <p:grpSp>
                      <p:nvGrpSpPr>
                        <p:cNvPr id="6173" name="Group 57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263" y="3506"/>
                          <a:ext cx="1499" cy="576"/>
                          <a:chOff x="2263" y="3504"/>
                          <a:chExt cx="1499" cy="576"/>
                        </a:xfrm>
                      </p:grpSpPr>
                      <p:grpSp>
                        <p:nvGrpSpPr>
                          <p:cNvPr id="6175" name="Group 58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263" y="3504"/>
                            <a:ext cx="1499" cy="576"/>
                            <a:chOff x="2263" y="3504"/>
                            <a:chExt cx="1499" cy="576"/>
                          </a:xfrm>
                        </p:grpSpPr>
                        <p:sp>
                          <p:nvSpPr>
                            <p:cNvPr id="6179" name="Line 59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2263" y="4080"/>
                              <a:ext cx="1488" cy="0"/>
                            </a:xfrm>
                            <a:prstGeom prst="line">
                              <a:avLst/>
                            </a:pr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6180" name="Freeform 60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263" y="3504"/>
                              <a:ext cx="1499" cy="525"/>
                            </a:xfrm>
                            <a:custGeom>
                              <a:avLst/>
                              <a:gdLst>
                                <a:gd name="T0" fmla="*/ 0 w 1499"/>
                                <a:gd name="T1" fmla="*/ 525 h 525"/>
                                <a:gd name="T2" fmla="*/ 269 w 1499"/>
                                <a:gd name="T3" fmla="*/ 483 h 525"/>
                                <a:gd name="T4" fmla="*/ 513 w 1499"/>
                                <a:gd name="T5" fmla="*/ 314 h 525"/>
                                <a:gd name="T6" fmla="*/ 665 w 1499"/>
                                <a:gd name="T7" fmla="*/ 70 h 525"/>
                                <a:gd name="T8" fmla="*/ 808 w 1499"/>
                                <a:gd name="T9" fmla="*/ 3 h 525"/>
                                <a:gd name="T10" fmla="*/ 943 w 1499"/>
                                <a:gd name="T11" fmla="*/ 87 h 525"/>
                                <a:gd name="T12" fmla="*/ 1069 w 1499"/>
                                <a:gd name="T13" fmla="*/ 348 h 525"/>
                                <a:gd name="T14" fmla="*/ 1196 w 1499"/>
                                <a:gd name="T15" fmla="*/ 457 h 525"/>
                                <a:gd name="T16" fmla="*/ 1339 w 1499"/>
                                <a:gd name="T17" fmla="*/ 491 h 525"/>
                                <a:gd name="T18" fmla="*/ 1499 w 1499"/>
                                <a:gd name="T19" fmla="*/ 516 h 525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  <a:gd name="T24" fmla="*/ 0 60000 65536"/>
                                <a:gd name="T25" fmla="*/ 0 60000 65536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w 1499"/>
                                <a:gd name="T31" fmla="*/ 0 h 525"/>
                                <a:gd name="T32" fmla="*/ 1499 w 1499"/>
                                <a:gd name="T33" fmla="*/ 525 h 525"/>
                              </a:gdLst>
                              <a:ahLst/>
                              <a:cxnLst>
                                <a:cxn ang="T20">
                                  <a:pos x="T0" y="T1"/>
                                </a:cxn>
                                <a:cxn ang="T21">
                                  <a:pos x="T2" y="T3"/>
                                </a:cxn>
                                <a:cxn ang="T22">
                                  <a:pos x="T4" y="T5"/>
                                </a:cxn>
                                <a:cxn ang="T23">
                                  <a:pos x="T6" y="T7"/>
                                </a:cxn>
                                <a:cxn ang="T24">
                                  <a:pos x="T8" y="T9"/>
                                </a:cxn>
                                <a:cxn ang="T25">
                                  <a:pos x="T10" y="T11"/>
                                </a:cxn>
                                <a:cxn ang="T26">
                                  <a:pos x="T12" y="T13"/>
                                </a:cxn>
                                <a:cxn ang="T27">
                                  <a:pos x="T14" y="T15"/>
                                </a:cxn>
                                <a:cxn ang="T28">
                                  <a:pos x="T16" y="T17"/>
                                </a:cxn>
                                <a:cxn ang="T29">
                                  <a:pos x="T18" y="T19"/>
                                </a:cxn>
                              </a:cxnLst>
                              <a:rect l="T30" t="T31" r="T32" b="T33"/>
                              <a:pathLst>
                                <a:path w="1499" h="525">
                                  <a:moveTo>
                                    <a:pt x="0" y="525"/>
                                  </a:moveTo>
                                  <a:cubicBezTo>
                                    <a:pt x="43" y="518"/>
                                    <a:pt x="184" y="518"/>
                                    <a:pt x="269" y="483"/>
                                  </a:cubicBezTo>
                                  <a:cubicBezTo>
                                    <a:pt x="354" y="448"/>
                                    <a:pt x="447" y="383"/>
                                    <a:pt x="513" y="314"/>
                                  </a:cubicBezTo>
                                  <a:cubicBezTo>
                                    <a:pt x="579" y="245"/>
                                    <a:pt x="616" y="122"/>
                                    <a:pt x="665" y="70"/>
                                  </a:cubicBezTo>
                                  <a:cubicBezTo>
                                    <a:pt x="714" y="18"/>
                                    <a:pt x="762" y="0"/>
                                    <a:pt x="808" y="3"/>
                                  </a:cubicBezTo>
                                  <a:cubicBezTo>
                                    <a:pt x="854" y="6"/>
                                    <a:pt x="899" y="29"/>
                                    <a:pt x="943" y="87"/>
                                  </a:cubicBezTo>
                                  <a:cubicBezTo>
                                    <a:pt x="987" y="145"/>
                                    <a:pt x="1027" y="286"/>
                                    <a:pt x="1069" y="348"/>
                                  </a:cubicBezTo>
                                  <a:cubicBezTo>
                                    <a:pt x="1111" y="410"/>
                                    <a:pt x="1151" y="433"/>
                                    <a:pt x="1196" y="457"/>
                                  </a:cubicBezTo>
                                  <a:cubicBezTo>
                                    <a:pt x="1241" y="481"/>
                                    <a:pt x="1289" y="481"/>
                                    <a:pt x="1339" y="491"/>
                                  </a:cubicBezTo>
                                  <a:cubicBezTo>
                                    <a:pt x="1389" y="501"/>
                                    <a:pt x="1466" y="511"/>
                                    <a:pt x="1499" y="516"/>
                                  </a:cubicBezTo>
                                </a:path>
                              </a:pathLst>
                            </a:cu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th-TH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6181" name="Line 62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360" y="4032"/>
                              <a:ext cx="240" cy="0"/>
                            </a:xfrm>
                            <a:prstGeom prst="line">
                              <a:avLst/>
                            </a:prstGeom>
                            <a:noFill/>
                            <a:ln w="7620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6182" name="Line 63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360" y="3936"/>
                              <a:ext cx="336" cy="96"/>
                            </a:xfrm>
                            <a:prstGeom prst="line">
                              <a:avLst/>
                            </a:pr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6183" name="Line 64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3523" y="3744"/>
                              <a:ext cx="102" cy="241"/>
                            </a:xfrm>
                            <a:prstGeom prst="line">
                              <a:avLst/>
                            </a:prstGeom>
                            <a:noFill/>
                            <a:ln w="28575">
                              <a:solidFill>
                                <a:srgbClr val="CC3399"/>
                              </a:solidFill>
                              <a:round/>
                              <a:headEnd/>
                              <a:tailEnd type="triangle" w="med" len="med"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6176" name="Line 6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504" y="3984"/>
                            <a:ext cx="192" cy="48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6177" name="Line 6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360" y="4049"/>
                            <a:ext cx="358" cy="19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6178" name="Line 6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360" y="3984"/>
                            <a:ext cx="144" cy="0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</p:grpSp>
                    <p:sp>
                      <p:nvSpPr>
                        <p:cNvPr id="6174" name="Line 6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360" y="3888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</p:grpSp>
                  <p:sp>
                    <p:nvSpPr>
                      <p:cNvPr id="6172" name="Line 7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83" y="3746"/>
                        <a:ext cx="142" cy="241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CC3399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sp>
                  <p:nvSpPr>
                    <p:cNvPr id="6169" name="Line 7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4080"/>
                      <a:ext cx="384" cy="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  <p:sp>
                  <p:nvSpPr>
                    <p:cNvPr id="6170" name="Line 72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636" y="3959"/>
                      <a:ext cx="4" cy="121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</p:grpSp>
              <p:sp>
                <p:nvSpPr>
                  <p:cNvPr id="6167" name="Line 7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411" y="4032"/>
                    <a:ext cx="229" cy="8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6165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2544" y="3969"/>
                  <a:ext cx="96" cy="4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</p:grpSp>
          <p:sp>
            <p:nvSpPr>
              <p:cNvPr id="6163" name="Line 75"/>
              <p:cNvSpPr>
                <a:spLocks noChangeShapeType="1"/>
              </p:cNvSpPr>
              <p:nvPr/>
            </p:nvSpPr>
            <p:spPr bwMode="auto">
              <a:xfrm>
                <a:off x="2206" y="4047"/>
                <a:ext cx="146" cy="1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</p:grpSp>
        <p:sp>
          <p:nvSpPr>
            <p:cNvPr id="101" name="Text Box 25"/>
            <p:cNvSpPr txBox="1">
              <a:spLocks noChangeArrowheads="1"/>
            </p:cNvSpPr>
            <p:nvPr/>
          </p:nvSpPr>
          <p:spPr bwMode="auto">
            <a:xfrm>
              <a:off x="3784659" y="2384395"/>
              <a:ext cx="685801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r>
                <a:rPr kumimoji="1" lang="en-US" sz="32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/2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  <p:sp>
          <p:nvSpPr>
            <p:cNvPr id="102" name="Text Box 25"/>
            <p:cNvSpPr txBox="1">
              <a:spLocks noChangeArrowheads="1"/>
            </p:cNvSpPr>
            <p:nvPr/>
          </p:nvSpPr>
          <p:spPr bwMode="auto">
            <a:xfrm>
              <a:off x="5744834" y="2377966"/>
              <a:ext cx="685801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r>
                <a:rPr kumimoji="1" lang="en-US" sz="32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/2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sp>
        <p:nvSpPr>
          <p:cNvPr id="97" name="Text Box 25"/>
          <p:cNvSpPr txBox="1">
            <a:spLocks noChangeArrowheads="1"/>
          </p:cNvSpPr>
          <p:nvPr/>
        </p:nvSpPr>
        <p:spPr bwMode="auto">
          <a:xfrm>
            <a:off x="6858000" y="4962059"/>
            <a:ext cx="21253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– 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2 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&gt;  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6564639" y="5445809"/>
            <a:ext cx="2379663" cy="974834"/>
            <a:chOff x="6564639" y="2377966"/>
            <a:chExt cx="2379663" cy="974834"/>
          </a:xfrm>
        </p:grpSpPr>
        <p:grpSp>
          <p:nvGrpSpPr>
            <p:cNvPr id="6184" name="Group 32"/>
            <p:cNvGrpSpPr>
              <a:grpSpLocks/>
            </p:cNvGrpSpPr>
            <p:nvPr/>
          </p:nvGrpSpPr>
          <p:grpSpPr bwMode="auto">
            <a:xfrm>
              <a:off x="6564639" y="2438400"/>
              <a:ext cx="2379663" cy="914400"/>
              <a:chOff x="4128" y="3552"/>
              <a:chExt cx="1499" cy="576"/>
            </a:xfrm>
          </p:grpSpPr>
          <p:sp>
            <p:nvSpPr>
              <p:cNvPr id="6185" name="Line 33"/>
              <p:cNvSpPr>
                <a:spLocks noChangeShapeType="1"/>
              </p:cNvSpPr>
              <p:nvPr/>
            </p:nvSpPr>
            <p:spPr bwMode="auto">
              <a:xfrm>
                <a:off x="5369" y="4032"/>
                <a:ext cx="192" cy="4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  <p:grpSp>
            <p:nvGrpSpPr>
              <p:cNvPr id="6186" name="Group 34"/>
              <p:cNvGrpSpPr>
                <a:grpSpLocks/>
              </p:cNvGrpSpPr>
              <p:nvPr/>
            </p:nvGrpSpPr>
            <p:grpSpPr bwMode="auto">
              <a:xfrm>
                <a:off x="4128" y="3552"/>
                <a:ext cx="1499" cy="576"/>
                <a:chOff x="4128" y="3456"/>
                <a:chExt cx="1499" cy="576"/>
              </a:xfrm>
            </p:grpSpPr>
            <p:sp>
              <p:nvSpPr>
                <p:cNvPr id="6187" name="Line 35"/>
                <p:cNvSpPr>
                  <a:spLocks noChangeShapeType="1"/>
                </p:cNvSpPr>
                <p:nvPr/>
              </p:nvSpPr>
              <p:spPr bwMode="auto">
                <a:xfrm>
                  <a:off x="4128" y="4032"/>
                  <a:ext cx="1488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  <p:grpSp>
              <p:nvGrpSpPr>
                <p:cNvPr id="6188" name="Group 36"/>
                <p:cNvGrpSpPr>
                  <a:grpSpLocks/>
                </p:cNvGrpSpPr>
                <p:nvPr/>
              </p:nvGrpSpPr>
              <p:grpSpPr bwMode="auto">
                <a:xfrm>
                  <a:off x="4128" y="3456"/>
                  <a:ext cx="1499" cy="576"/>
                  <a:chOff x="4128" y="3456"/>
                  <a:chExt cx="1499" cy="576"/>
                </a:xfrm>
              </p:grpSpPr>
              <p:grpSp>
                <p:nvGrpSpPr>
                  <p:cNvPr id="6189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4128" y="3456"/>
                    <a:ext cx="1499" cy="576"/>
                    <a:chOff x="4135" y="3456"/>
                    <a:chExt cx="1499" cy="576"/>
                  </a:xfrm>
                </p:grpSpPr>
                <p:grpSp>
                  <p:nvGrpSpPr>
                    <p:cNvPr id="6191" name="Group 3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35" y="3456"/>
                      <a:ext cx="1499" cy="576"/>
                      <a:chOff x="4135" y="3456"/>
                      <a:chExt cx="1499" cy="576"/>
                    </a:xfrm>
                  </p:grpSpPr>
                  <p:grpSp>
                    <p:nvGrpSpPr>
                      <p:cNvPr id="6193" name="Group 3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135" y="3456"/>
                        <a:ext cx="1499" cy="576"/>
                        <a:chOff x="4135" y="3456"/>
                        <a:chExt cx="1499" cy="576"/>
                      </a:xfrm>
                    </p:grpSpPr>
                    <p:grpSp>
                      <p:nvGrpSpPr>
                        <p:cNvPr id="6195" name="Group 40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135" y="3456"/>
                          <a:ext cx="1499" cy="576"/>
                          <a:chOff x="4135" y="3456"/>
                          <a:chExt cx="1499" cy="576"/>
                        </a:xfrm>
                      </p:grpSpPr>
                      <p:sp>
                        <p:nvSpPr>
                          <p:cNvPr id="6198" name="Freeform 4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135" y="3456"/>
                            <a:ext cx="1499" cy="525"/>
                          </a:xfrm>
                          <a:custGeom>
                            <a:avLst/>
                            <a:gdLst>
                              <a:gd name="T0" fmla="*/ 0 w 1499"/>
                              <a:gd name="T1" fmla="*/ 525 h 525"/>
                              <a:gd name="T2" fmla="*/ 269 w 1499"/>
                              <a:gd name="T3" fmla="*/ 483 h 525"/>
                              <a:gd name="T4" fmla="*/ 513 w 1499"/>
                              <a:gd name="T5" fmla="*/ 314 h 525"/>
                              <a:gd name="T6" fmla="*/ 665 w 1499"/>
                              <a:gd name="T7" fmla="*/ 70 h 525"/>
                              <a:gd name="T8" fmla="*/ 808 w 1499"/>
                              <a:gd name="T9" fmla="*/ 3 h 525"/>
                              <a:gd name="T10" fmla="*/ 943 w 1499"/>
                              <a:gd name="T11" fmla="*/ 87 h 525"/>
                              <a:gd name="T12" fmla="*/ 1069 w 1499"/>
                              <a:gd name="T13" fmla="*/ 348 h 525"/>
                              <a:gd name="T14" fmla="*/ 1196 w 1499"/>
                              <a:gd name="T15" fmla="*/ 457 h 525"/>
                              <a:gd name="T16" fmla="*/ 1339 w 1499"/>
                              <a:gd name="T17" fmla="*/ 491 h 525"/>
                              <a:gd name="T18" fmla="*/ 1499 w 1499"/>
                              <a:gd name="T19" fmla="*/ 516 h 525"/>
                              <a:gd name="T20" fmla="*/ 0 60000 65536"/>
                              <a:gd name="T21" fmla="*/ 0 60000 65536"/>
                              <a:gd name="T22" fmla="*/ 0 60000 65536"/>
                              <a:gd name="T23" fmla="*/ 0 60000 65536"/>
                              <a:gd name="T24" fmla="*/ 0 60000 65536"/>
                              <a:gd name="T25" fmla="*/ 0 60000 65536"/>
                              <a:gd name="T26" fmla="*/ 0 60000 65536"/>
                              <a:gd name="T27" fmla="*/ 0 60000 65536"/>
                              <a:gd name="T28" fmla="*/ 0 60000 65536"/>
                              <a:gd name="T29" fmla="*/ 0 60000 65536"/>
                              <a:gd name="T30" fmla="*/ 0 w 1499"/>
                              <a:gd name="T31" fmla="*/ 0 h 525"/>
                              <a:gd name="T32" fmla="*/ 1499 w 1499"/>
                              <a:gd name="T33" fmla="*/ 525 h 525"/>
                            </a:gdLst>
                            <a:ahLst/>
                            <a:cxnLst>
                              <a:cxn ang="T20">
                                <a:pos x="T0" y="T1"/>
                              </a:cxn>
                              <a:cxn ang="T21">
                                <a:pos x="T2" y="T3"/>
                              </a:cxn>
                              <a:cxn ang="T22">
                                <a:pos x="T4" y="T5"/>
                              </a:cxn>
                              <a:cxn ang="T23">
                                <a:pos x="T6" y="T7"/>
                              </a:cxn>
                              <a:cxn ang="T24">
                                <a:pos x="T8" y="T9"/>
                              </a:cxn>
                              <a:cxn ang="T25">
                                <a:pos x="T10" y="T11"/>
                              </a:cxn>
                              <a:cxn ang="T26">
                                <a:pos x="T12" y="T13"/>
                              </a:cxn>
                              <a:cxn ang="T27">
                                <a:pos x="T14" y="T15"/>
                              </a:cxn>
                              <a:cxn ang="T28">
                                <a:pos x="T16" y="T17"/>
                              </a:cxn>
                              <a:cxn ang="T29">
                                <a:pos x="T18" y="T19"/>
                              </a:cxn>
                            </a:cxnLst>
                            <a:rect l="T30" t="T31" r="T32" b="T33"/>
                            <a:pathLst>
                              <a:path w="1499" h="525">
                                <a:moveTo>
                                  <a:pt x="0" y="525"/>
                                </a:moveTo>
                                <a:cubicBezTo>
                                  <a:pt x="43" y="518"/>
                                  <a:pt x="184" y="518"/>
                                  <a:pt x="269" y="483"/>
                                </a:cubicBezTo>
                                <a:cubicBezTo>
                                  <a:pt x="354" y="448"/>
                                  <a:pt x="447" y="383"/>
                                  <a:pt x="513" y="314"/>
                                </a:cubicBezTo>
                                <a:cubicBezTo>
                                  <a:pt x="579" y="245"/>
                                  <a:pt x="616" y="122"/>
                                  <a:pt x="665" y="70"/>
                                </a:cubicBezTo>
                                <a:cubicBezTo>
                                  <a:pt x="714" y="18"/>
                                  <a:pt x="762" y="0"/>
                                  <a:pt x="808" y="3"/>
                                </a:cubicBezTo>
                                <a:cubicBezTo>
                                  <a:pt x="854" y="6"/>
                                  <a:pt x="899" y="29"/>
                                  <a:pt x="943" y="87"/>
                                </a:cubicBezTo>
                                <a:cubicBezTo>
                                  <a:pt x="987" y="145"/>
                                  <a:pt x="1027" y="286"/>
                                  <a:pt x="1069" y="348"/>
                                </a:cubicBezTo>
                                <a:cubicBezTo>
                                  <a:pt x="1111" y="410"/>
                                  <a:pt x="1151" y="433"/>
                                  <a:pt x="1196" y="457"/>
                                </a:cubicBezTo>
                                <a:cubicBezTo>
                                  <a:pt x="1241" y="481"/>
                                  <a:pt x="1289" y="481"/>
                                  <a:pt x="1339" y="491"/>
                                </a:cubicBezTo>
                                <a:cubicBezTo>
                                  <a:pt x="1389" y="501"/>
                                  <a:pt x="1466" y="511"/>
                                  <a:pt x="1499" y="516"/>
                                </a:cubicBezTo>
                              </a:path>
                            </a:pathLst>
                          </a:custGeom>
                          <a:noFill/>
                          <a:ln w="5715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th-TH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6199" name="Line 4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232" y="3840"/>
                            <a:ext cx="0" cy="192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</p:grpSp>
                    <p:sp>
                      <p:nvSpPr>
                        <p:cNvPr id="6196" name="Line 4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32" y="4001"/>
                          <a:ext cx="358" cy="19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  <p:sp>
                      <p:nvSpPr>
                        <p:cNvPr id="6197" name="Line 4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32" y="3984"/>
                          <a:ext cx="240" cy="0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</p:grpSp>
                  <p:sp>
                    <p:nvSpPr>
                      <p:cNvPr id="6194" name="Line 4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232" y="3936"/>
                        <a:ext cx="144" cy="0"/>
                      </a:xfrm>
                      <a:prstGeom prst="line">
                        <a:avLst/>
                      </a:prstGeom>
                      <a:noFill/>
                      <a:ln w="762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sp>
                  <p:nvSpPr>
                    <p:cNvPr id="6192" name="Line 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232" y="3888"/>
                      <a:ext cx="336" cy="96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</p:grpSp>
              <p:sp>
                <p:nvSpPr>
                  <p:cNvPr id="6190" name="Line 4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321" y="3668"/>
                    <a:ext cx="96" cy="240"/>
                  </a:xfrm>
                  <a:prstGeom prst="line">
                    <a:avLst/>
                  </a:prstGeom>
                  <a:noFill/>
                  <a:ln w="28575">
                    <a:solidFill>
                      <a:srgbClr val="CC3399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</p:grpSp>
        </p:grpSp>
        <p:sp>
          <p:nvSpPr>
            <p:cNvPr id="103" name="Text Box 25"/>
            <p:cNvSpPr txBox="1">
              <a:spLocks noChangeArrowheads="1"/>
            </p:cNvSpPr>
            <p:nvPr/>
          </p:nvSpPr>
          <p:spPr bwMode="auto">
            <a:xfrm>
              <a:off x="8396068" y="2377966"/>
              <a:ext cx="474991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sp>
        <p:nvSpPr>
          <p:cNvPr id="19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70000"/>
              </a:lnSpc>
              <a:defRPr/>
            </a:pP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 การทดสอบค่าเฉลี่ยของ 2 ประชากร เมื่อไม่ทราบค่าความแปรปรวนประชากร</a:t>
            </a:r>
            <a:endParaRPr lang="th-TH" sz="3200" b="1" kern="0" baseline="30000" dirty="0">
              <a:solidFill>
                <a:srgbClr val="6633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17332" y="869732"/>
            <a:ext cx="8226970" cy="882868"/>
            <a:chOff x="152400" y="1298030"/>
            <a:chExt cx="8226970" cy="882868"/>
          </a:xfrm>
        </p:grpSpPr>
        <p:sp>
          <p:nvSpPr>
            <p:cNvPr id="193" name="Rectangle 3"/>
            <p:cNvSpPr>
              <a:spLocks noChangeArrowheads="1"/>
            </p:cNvSpPr>
            <p:nvPr/>
          </p:nvSpPr>
          <p:spPr bwMode="auto">
            <a:xfrm>
              <a:off x="152400" y="1389996"/>
              <a:ext cx="3855961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rgbClr val="CC3399"/>
                  </a:solidFill>
                  <a:latin typeface="Angsana New" panose="02020603050405020304" pitchFamily="18" charset="-34"/>
                </a:rPr>
                <a:t>สมมุติฐานสำหรับการทดสอบ :</a:t>
              </a: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3717707" y="1298030"/>
              <a:ext cx="4661663" cy="882868"/>
              <a:chOff x="3870433" y="4857299"/>
              <a:chExt cx="4661663" cy="882868"/>
            </a:xfrm>
          </p:grpSpPr>
          <p:sp>
            <p:nvSpPr>
              <p:cNvPr id="201" name="Text Box 25"/>
              <p:cNvSpPr txBox="1">
                <a:spLocks noChangeArrowheads="1"/>
              </p:cNvSpPr>
              <p:nvPr/>
            </p:nvSpPr>
            <p:spPr bwMode="auto">
              <a:xfrm>
                <a:off x="3870433" y="4857299"/>
                <a:ext cx="4661663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H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0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: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 –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2 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=  0</a:t>
                </a:r>
                <a:r>
                  <a:rPr kumimoji="1" lang="th-TH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 </a:t>
                </a:r>
                <a:r>
                  <a:rPr kumimoji="1" lang="th-TH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r>
                  <a:rPr kumimoji="1" lang="en-US" sz="4000" b="1" dirty="0">
                    <a:solidFill>
                      <a:srgbClr val="FF0000"/>
                    </a:solidFill>
                    <a:latin typeface="Angsana New" pitchFamily="18" charset="-34"/>
                  </a:rPr>
                  <a:t>VS 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H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: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40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 </a:t>
                </a:r>
                <a:r>
                  <a:rPr kumimoji="1" lang="th-TH" sz="40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–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2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       0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 </a:t>
                </a:r>
                <a:r>
                  <a:rPr kumimoji="1" lang="th-TH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endParaRPr kumimoji="1" lang="th-TH" sz="32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202" name="Text Box 25"/>
              <p:cNvSpPr txBox="1">
                <a:spLocks noChangeArrowheads="1"/>
              </p:cNvSpPr>
              <p:nvPr/>
            </p:nvSpPr>
            <p:spPr bwMode="auto">
              <a:xfrm>
                <a:off x="7740867" y="4960466"/>
                <a:ext cx="457201" cy="7797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ts val="1600"/>
                  </a:lnSpc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&lt;</a:t>
                </a:r>
              </a:p>
              <a:p>
                <a:pPr eaLnBrk="0" hangingPunct="0">
                  <a:lnSpc>
                    <a:spcPts val="1600"/>
                  </a:lnSpc>
                  <a:spcBef>
                    <a:spcPts val="0"/>
                  </a:spcBef>
                  <a:defRPr/>
                </a:pPr>
                <a:r>
                  <a:rPr kumimoji="1" lang="en-US" sz="2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</a:t>
                </a:r>
                <a:r>
                  <a:rPr kumimoji="1" lang="en-US" sz="40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endParaRPr kumimoji="1" lang="th-TH" sz="4000" b="1" dirty="0">
                  <a:solidFill>
                    <a:srgbClr val="0000FF"/>
                  </a:solidFill>
                  <a:latin typeface="Angsana New" pitchFamily="18" charset="-34"/>
                </a:endParaRPr>
              </a:p>
              <a:p>
                <a:pPr eaLnBrk="0" hangingPunct="0">
                  <a:lnSpc>
                    <a:spcPts val="1600"/>
                  </a:lnSpc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&gt;</a:t>
                </a:r>
                <a:endParaRPr kumimoji="1" lang="th-TH" sz="32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</p:grpSp>
      </p:grpSp>
      <p:grpSp>
        <p:nvGrpSpPr>
          <p:cNvPr id="113" name="Group 112"/>
          <p:cNvGrpSpPr/>
          <p:nvPr/>
        </p:nvGrpSpPr>
        <p:grpSpPr>
          <a:xfrm>
            <a:off x="304800" y="457200"/>
            <a:ext cx="5323490" cy="840830"/>
            <a:chOff x="3389909" y="5362902"/>
            <a:chExt cx="5323490" cy="840830"/>
          </a:xfrm>
        </p:grpSpPr>
        <p:sp>
          <p:nvSpPr>
            <p:cNvPr id="114" name="Rectangle 2"/>
            <p:cNvSpPr txBox="1">
              <a:spLocks noChangeArrowheads="1"/>
            </p:cNvSpPr>
            <p:nvPr/>
          </p:nvSpPr>
          <p:spPr bwMode="auto">
            <a:xfrm>
              <a:off x="3389909" y="5362902"/>
              <a:ext cx="5323490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th-TH" sz="3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2.1 ตัวอย่างเป็นอิสระกัน และ </a:t>
              </a:r>
              <a:r>
                <a:rPr lang="th-TH" sz="26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</a:t>
              </a:r>
              <a:r>
                <a:rPr lang="th-TH" sz="3200" b="1" kern="0" baseline="3000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2</a:t>
              </a:r>
              <a:r>
                <a:rPr lang="th-TH" sz="3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 </a:t>
              </a:r>
              <a:r>
                <a:rPr lang="en-US" sz="3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 </a:t>
              </a:r>
              <a:r>
                <a:rPr lang="en-US" sz="2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</a:t>
              </a:r>
              <a:r>
                <a:rPr lang="en-US" sz="3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  </a:t>
              </a:r>
              <a:r>
                <a:rPr lang="th-TH" sz="26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</a:t>
              </a:r>
              <a:r>
                <a:rPr lang="th-TH" sz="3200" b="1" kern="0" baseline="3000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2</a:t>
              </a:r>
              <a:endParaRPr lang="th-TH" sz="3200" b="1" kern="0" baseline="3000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15" name="Rectangle 2"/>
            <p:cNvSpPr txBox="1">
              <a:spLocks noChangeArrowheads="1"/>
            </p:cNvSpPr>
            <p:nvPr/>
          </p:nvSpPr>
          <p:spPr bwMode="auto">
            <a:xfrm>
              <a:off x="6855975" y="5471894"/>
              <a:ext cx="474991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th-TH" sz="2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endParaRPr lang="th-TH" sz="2200" b="1" kern="0" baseline="3000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16" name="Rectangle 2"/>
            <p:cNvSpPr txBox="1">
              <a:spLocks noChangeArrowheads="1"/>
            </p:cNvSpPr>
            <p:nvPr/>
          </p:nvSpPr>
          <p:spPr bwMode="auto">
            <a:xfrm>
              <a:off x="7570677" y="5470634"/>
              <a:ext cx="474991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th-TH" sz="2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</a:t>
              </a:r>
              <a:endParaRPr lang="th-TH" sz="2200" b="1" kern="0" baseline="3000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46234" y="1524000"/>
            <a:ext cx="6177820" cy="1334811"/>
            <a:chOff x="746234" y="2123091"/>
            <a:chExt cx="6177820" cy="1334811"/>
          </a:xfrm>
        </p:grpSpPr>
        <p:sp>
          <p:nvSpPr>
            <p:cNvPr id="35843" name="Rectangle 3"/>
            <p:cNvSpPr>
              <a:spLocks noChangeArrowheads="1"/>
            </p:cNvSpPr>
            <p:nvPr/>
          </p:nvSpPr>
          <p:spPr bwMode="auto">
            <a:xfrm>
              <a:off x="746234" y="2303176"/>
              <a:ext cx="48768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rgbClr val="CC3399"/>
                  </a:solidFill>
                  <a:latin typeface="Angsana New" panose="02020603050405020304" pitchFamily="18" charset="-34"/>
                </a:rPr>
                <a:t>สถิติสำหรับการทดสอบ :</a:t>
              </a: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3505200" y="2123091"/>
              <a:ext cx="3418854" cy="1334811"/>
              <a:chOff x="3505200" y="2123091"/>
              <a:chExt cx="3418854" cy="1334811"/>
            </a:xfrm>
          </p:grpSpPr>
          <p:sp>
            <p:nvSpPr>
              <p:cNvPr id="78" name="Rectangle 3"/>
              <p:cNvSpPr>
                <a:spLocks noChangeArrowheads="1"/>
              </p:cNvSpPr>
              <p:nvPr/>
            </p:nvSpPr>
            <p:spPr bwMode="auto">
              <a:xfrm>
                <a:off x="3505200" y="2322313"/>
                <a:ext cx="800100" cy="609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5000"/>
                  </a:lnSpc>
                  <a:defRPr/>
                </a:pPr>
                <a:r>
                  <a:rPr lang="th-TH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 </a:t>
                </a: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t  =  </a:t>
                </a:r>
                <a:endParaRPr lang="th-TH" sz="3200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79" name="Rectangle 3"/>
              <p:cNvSpPr>
                <a:spLocks noChangeArrowheads="1"/>
              </p:cNvSpPr>
              <p:nvPr/>
            </p:nvSpPr>
            <p:spPr bwMode="auto">
              <a:xfrm>
                <a:off x="4150268" y="2123091"/>
                <a:ext cx="2773786" cy="609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5000"/>
                  </a:lnSpc>
                  <a:defRPr/>
                </a:pP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(X</a:t>
                </a:r>
                <a:r>
                  <a:rPr lang="en-US" sz="32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1</a:t>
                </a: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 – X</a:t>
                </a:r>
                <a:r>
                  <a:rPr lang="en-US" sz="32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2</a:t>
                </a: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) – (</a:t>
                </a:r>
                <a:r>
                  <a:rPr lang="en-US" sz="26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lang="en-US" sz="32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  <a:sym typeface="Symbol"/>
                  </a:rPr>
                  <a:t>1 </a:t>
                </a: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– </a:t>
                </a:r>
                <a:r>
                  <a:rPr lang="en-US" sz="26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lang="en-US" sz="32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2</a:t>
                </a: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)</a:t>
                </a:r>
                <a:r>
                  <a:rPr lang="en-US" sz="32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  <a:sym typeface="Symbol"/>
                  </a:rPr>
                  <a:t> </a:t>
                </a: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  </a:t>
                </a:r>
                <a:endParaRPr lang="th-TH" sz="3200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</a:endParaRPr>
              </a:p>
            </p:txBody>
          </p:sp>
          <p:cxnSp>
            <p:nvCxnSpPr>
              <p:cNvPr id="84" name="Straight Connector 83"/>
              <p:cNvCxnSpPr/>
              <p:nvPr/>
            </p:nvCxnSpPr>
            <p:spPr bwMode="auto">
              <a:xfrm flipH="1">
                <a:off x="4206435" y="2622329"/>
                <a:ext cx="2377440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8" name="Group 7"/>
              <p:cNvGrpSpPr/>
              <p:nvPr/>
            </p:nvGrpSpPr>
            <p:grpSpPr>
              <a:xfrm>
                <a:off x="4614644" y="2672260"/>
                <a:ext cx="1367392" cy="768406"/>
                <a:chOff x="4435366" y="2286005"/>
                <a:chExt cx="1367392" cy="768406"/>
              </a:xfrm>
            </p:grpSpPr>
            <p:cxnSp>
              <p:nvCxnSpPr>
                <p:cNvPr id="4" name="Straight Connector 3"/>
                <p:cNvCxnSpPr/>
                <p:nvPr/>
              </p:nvCxnSpPr>
              <p:spPr bwMode="auto">
                <a:xfrm flipH="1">
                  <a:off x="4524702" y="2286005"/>
                  <a:ext cx="91440" cy="73152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lumMod val="5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3" name="Straight Connector 82"/>
                <p:cNvCxnSpPr/>
                <p:nvPr/>
              </p:nvCxnSpPr>
              <p:spPr bwMode="auto">
                <a:xfrm flipH="1">
                  <a:off x="4614038" y="2301766"/>
                  <a:ext cx="1188720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lumMod val="5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7" name="Straight Connector 86"/>
                <p:cNvCxnSpPr/>
                <p:nvPr/>
              </p:nvCxnSpPr>
              <p:spPr bwMode="auto">
                <a:xfrm>
                  <a:off x="4435366" y="2962971"/>
                  <a:ext cx="76200" cy="9144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lumMod val="5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92" name="Straight Connector 91"/>
              <p:cNvCxnSpPr/>
              <p:nvPr/>
            </p:nvCxnSpPr>
            <p:spPr bwMode="auto">
              <a:xfrm flipH="1">
                <a:off x="4343400" y="2259725"/>
                <a:ext cx="182880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8" name="Straight Connector 117"/>
              <p:cNvCxnSpPr/>
              <p:nvPr/>
            </p:nvCxnSpPr>
            <p:spPr bwMode="auto">
              <a:xfrm flipH="1">
                <a:off x="4910694" y="2257098"/>
                <a:ext cx="182880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9" name="Group 8"/>
              <p:cNvGrpSpPr/>
              <p:nvPr/>
            </p:nvGrpSpPr>
            <p:grpSpPr>
              <a:xfrm>
                <a:off x="4812672" y="2598680"/>
                <a:ext cx="1206030" cy="859222"/>
                <a:chOff x="7480770" y="2254468"/>
                <a:chExt cx="1206030" cy="859222"/>
              </a:xfrm>
            </p:grpSpPr>
            <p:grpSp>
              <p:nvGrpSpPr>
                <p:cNvPr id="6" name="Group 5"/>
                <p:cNvGrpSpPr/>
                <p:nvPr/>
              </p:nvGrpSpPr>
              <p:grpSpPr>
                <a:xfrm>
                  <a:off x="7480770" y="2254468"/>
                  <a:ext cx="563019" cy="859222"/>
                  <a:chOff x="7480770" y="2254468"/>
                  <a:chExt cx="563019" cy="859222"/>
                </a:xfrm>
              </p:grpSpPr>
              <p:grpSp>
                <p:nvGrpSpPr>
                  <p:cNvPr id="5" name="Group 4"/>
                  <p:cNvGrpSpPr/>
                  <p:nvPr/>
                </p:nvGrpSpPr>
                <p:grpSpPr>
                  <a:xfrm>
                    <a:off x="7480770" y="2504090"/>
                    <a:ext cx="547400" cy="609600"/>
                    <a:chOff x="2526877" y="1437289"/>
                    <a:chExt cx="547400" cy="609600"/>
                  </a:xfrm>
                </p:grpSpPr>
                <p:sp>
                  <p:nvSpPr>
                    <p:cNvPr id="119" name="Rectangle 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26877" y="1437289"/>
                      <a:ext cx="547400" cy="6096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anchor="ctr"/>
                    <a:lstStyle/>
                    <a:p>
                      <a:pPr eaLnBrk="0" hangingPunct="0">
                        <a:lnSpc>
                          <a:spcPts val="2600"/>
                        </a:lnSpc>
                        <a:defRPr/>
                      </a:pPr>
                      <a:r>
                        <a:rPr lang="en-US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S</a:t>
                      </a:r>
                      <a:r>
                        <a:rPr lang="en-US" sz="3200" b="1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1</a:t>
                      </a:r>
                    </a:p>
                    <a:p>
                      <a:pPr eaLnBrk="0" hangingPunct="0">
                        <a:lnSpc>
                          <a:spcPts val="2600"/>
                        </a:lnSpc>
                        <a:defRPr/>
                      </a:pPr>
                      <a:r>
                        <a:rPr lang="en-US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n</a:t>
                      </a:r>
                      <a:r>
                        <a:rPr lang="en-US" sz="3200" b="1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1</a:t>
                      </a:r>
                      <a:r>
                        <a:rPr lang="en-US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  </a:t>
                      </a:r>
                      <a:endParaRPr lang="th-TH" sz="3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endParaRPr>
                    </a:p>
                  </p:txBody>
                </p:sp>
                <p:cxnSp>
                  <p:nvCxnSpPr>
                    <p:cNvPr id="120" name="Straight Connector 119"/>
                    <p:cNvCxnSpPr/>
                    <p:nvPr/>
                  </p:nvCxnSpPr>
                  <p:spPr bwMode="auto">
                    <a:xfrm flipH="1">
                      <a:off x="2563671" y="1774730"/>
                      <a:ext cx="365760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sp>
                <p:nvSpPr>
                  <p:cNvPr id="122" name="Rectangle 3"/>
                  <p:cNvSpPr>
                    <a:spLocks noChangeArrowheads="1"/>
                  </p:cNvSpPr>
                  <p:nvPr/>
                </p:nvSpPr>
                <p:spPr bwMode="auto">
                  <a:xfrm>
                    <a:off x="7651532" y="2254468"/>
                    <a:ext cx="392257" cy="48873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/>
                  <a:lstStyle/>
                  <a:p>
                    <a:pPr eaLnBrk="0" hangingPunct="0">
                      <a:lnSpc>
                        <a:spcPct val="70000"/>
                      </a:lnSpc>
                      <a:defRPr/>
                    </a:pPr>
                    <a:r>
                      <a:rPr lang="en-US" sz="2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2</a:t>
                    </a:r>
                    <a:endParaRPr lang="th-TH" sz="24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endParaRPr>
                  </a:p>
                </p:txBody>
              </p:sp>
            </p:grpSp>
            <p:grpSp>
              <p:nvGrpSpPr>
                <p:cNvPr id="124" name="Group 123"/>
                <p:cNvGrpSpPr/>
                <p:nvPr/>
              </p:nvGrpSpPr>
              <p:grpSpPr>
                <a:xfrm>
                  <a:off x="8123781" y="2254468"/>
                  <a:ext cx="563019" cy="859222"/>
                  <a:chOff x="7480770" y="2254468"/>
                  <a:chExt cx="563019" cy="859222"/>
                </a:xfrm>
              </p:grpSpPr>
              <p:grpSp>
                <p:nvGrpSpPr>
                  <p:cNvPr id="125" name="Group 124"/>
                  <p:cNvGrpSpPr/>
                  <p:nvPr/>
                </p:nvGrpSpPr>
                <p:grpSpPr>
                  <a:xfrm>
                    <a:off x="7480770" y="2504090"/>
                    <a:ext cx="547400" cy="609600"/>
                    <a:chOff x="2526877" y="1437289"/>
                    <a:chExt cx="547400" cy="609600"/>
                  </a:xfrm>
                </p:grpSpPr>
                <p:sp>
                  <p:nvSpPr>
                    <p:cNvPr id="127" name="Rectangle 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26877" y="1437289"/>
                      <a:ext cx="547400" cy="6096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anchor="ctr"/>
                    <a:lstStyle/>
                    <a:p>
                      <a:pPr eaLnBrk="0" hangingPunct="0">
                        <a:lnSpc>
                          <a:spcPts val="2600"/>
                        </a:lnSpc>
                        <a:defRPr/>
                      </a:pPr>
                      <a:r>
                        <a:rPr lang="en-US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S</a:t>
                      </a:r>
                      <a:r>
                        <a:rPr lang="en-US" sz="3200" b="1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2</a:t>
                      </a:r>
                    </a:p>
                    <a:p>
                      <a:pPr eaLnBrk="0" hangingPunct="0">
                        <a:lnSpc>
                          <a:spcPts val="2600"/>
                        </a:lnSpc>
                        <a:defRPr/>
                      </a:pPr>
                      <a:r>
                        <a:rPr lang="en-US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n</a:t>
                      </a:r>
                      <a:r>
                        <a:rPr lang="en-US" sz="3200" b="1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2</a:t>
                      </a:r>
                      <a:r>
                        <a:rPr lang="en-US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  </a:t>
                      </a:r>
                      <a:endParaRPr lang="th-TH" sz="3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endParaRPr>
                    </a:p>
                  </p:txBody>
                </p:sp>
                <p:cxnSp>
                  <p:nvCxnSpPr>
                    <p:cNvPr id="128" name="Straight Connector 127"/>
                    <p:cNvCxnSpPr/>
                    <p:nvPr/>
                  </p:nvCxnSpPr>
                  <p:spPr bwMode="auto">
                    <a:xfrm flipH="1">
                      <a:off x="2563671" y="1774730"/>
                      <a:ext cx="365760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sp>
                <p:nvSpPr>
                  <p:cNvPr id="126" name="Rectangle 3"/>
                  <p:cNvSpPr>
                    <a:spLocks noChangeArrowheads="1"/>
                  </p:cNvSpPr>
                  <p:nvPr/>
                </p:nvSpPr>
                <p:spPr bwMode="auto">
                  <a:xfrm>
                    <a:off x="7651532" y="2254468"/>
                    <a:ext cx="392257" cy="48873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/>
                  <a:lstStyle/>
                  <a:p>
                    <a:pPr eaLnBrk="0" hangingPunct="0">
                      <a:lnSpc>
                        <a:spcPct val="70000"/>
                      </a:lnSpc>
                      <a:defRPr/>
                    </a:pPr>
                    <a:r>
                      <a:rPr lang="en-US" sz="24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2</a:t>
                    </a:r>
                    <a:endParaRPr lang="th-TH" sz="24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endParaRPr>
                  </a:p>
                </p:txBody>
              </p:sp>
            </p:grpSp>
            <p:sp>
              <p:nvSpPr>
                <p:cNvPr id="7" name="TextBox 6"/>
                <p:cNvSpPr txBox="1"/>
                <p:nvPr/>
              </p:nvSpPr>
              <p:spPr>
                <a:xfrm>
                  <a:off x="7848600" y="2523659"/>
                  <a:ext cx="643011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anose="02020603050405020304" pitchFamily="18" charset="-34"/>
                    </a:rPr>
                    <a:t>+ </a:t>
                  </a:r>
                  <a:endParaRPr lang="th-TH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</p:grpSp>
      </p:grpSp>
      <p:grpSp>
        <p:nvGrpSpPr>
          <p:cNvPr id="29" name="Group 28"/>
          <p:cNvGrpSpPr/>
          <p:nvPr/>
        </p:nvGrpSpPr>
        <p:grpSpPr>
          <a:xfrm>
            <a:off x="5533539" y="1371600"/>
            <a:ext cx="1369292" cy="580691"/>
            <a:chOff x="5533539" y="1371600"/>
            <a:chExt cx="1369292" cy="580691"/>
          </a:xfrm>
        </p:grpSpPr>
        <p:cxnSp>
          <p:nvCxnSpPr>
            <p:cNvPr id="17" name="Straight Arrow Connector 16"/>
            <p:cNvCxnSpPr/>
            <p:nvPr/>
          </p:nvCxnSpPr>
          <p:spPr bwMode="auto">
            <a:xfrm flipV="1">
              <a:off x="5533539" y="1660634"/>
              <a:ext cx="1031100" cy="29165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sp>
          <p:nvSpPr>
            <p:cNvPr id="27" name="TextBox 26"/>
            <p:cNvSpPr txBox="1"/>
            <p:nvPr/>
          </p:nvSpPr>
          <p:spPr>
            <a:xfrm>
              <a:off x="6521668" y="1371600"/>
              <a:ext cx="3811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Angsana New" panose="02020603050405020304" pitchFamily="18" charset="-34"/>
                </a:rPr>
                <a:t>0</a:t>
              </a:r>
              <a:endParaRPr lang="th-TH" b="1" dirty="0">
                <a:solidFill>
                  <a:srgbClr val="FF0000"/>
                </a:solidFill>
                <a:latin typeface="Angsana New" panose="02020603050405020304" pitchFamily="18" charset="-34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858000" y="1692166"/>
            <a:ext cx="1782435" cy="638502"/>
            <a:chOff x="6858000" y="1692166"/>
            <a:chExt cx="1782435" cy="638502"/>
          </a:xfrm>
        </p:grpSpPr>
        <p:sp>
          <p:nvSpPr>
            <p:cNvPr id="137" name="Rectangle 3"/>
            <p:cNvSpPr>
              <a:spLocks noChangeArrowheads="1"/>
            </p:cNvSpPr>
            <p:nvPr/>
          </p:nvSpPr>
          <p:spPr bwMode="auto">
            <a:xfrm>
              <a:off x="6858000" y="1721068"/>
              <a:ext cx="1782435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2600" b="1" dirty="0">
                  <a:solidFill>
                    <a:srgbClr val="FF0000"/>
                  </a:solidFill>
                  <a:latin typeface="Angsana New" pitchFamily="18" charset="-34"/>
                </a:rPr>
                <a:t> </a:t>
              </a:r>
              <a:r>
                <a:rPr lang="th-TH" sz="2600" b="1" dirty="0">
                  <a:solidFill>
                    <a:srgbClr val="FF0000"/>
                  </a:solidFill>
                  <a:latin typeface="Angsana New" pitchFamily="18" charset="-34"/>
                  <a:sym typeface="Symbol"/>
                </a:rPr>
                <a:t></a:t>
              </a:r>
              <a:r>
                <a:rPr lang="en-US" sz="2600" b="1" dirty="0">
                  <a:solidFill>
                    <a:srgbClr val="FF0000"/>
                  </a:solidFill>
                  <a:latin typeface="Angsana New" pitchFamily="18" charset="-34"/>
                  <a:sym typeface="Symbol"/>
                </a:rPr>
                <a:t>  </a:t>
              </a:r>
              <a:r>
                <a:rPr lang="en-US" sz="3200" b="1" dirty="0">
                  <a:solidFill>
                    <a:srgbClr val="FF0000"/>
                  </a:solidFill>
                  <a:latin typeface="Angsana New" pitchFamily="18" charset="-34"/>
                  <a:sym typeface="Symbol"/>
                </a:rPr>
                <a:t>t(</a:t>
              </a:r>
              <a:r>
                <a:rPr lang="en-US" sz="3200" b="1" dirty="0">
                  <a:solidFill>
                    <a:srgbClr val="FF0000"/>
                  </a:solidFill>
                  <a:latin typeface="Angsana New" pitchFamily="18" charset="-34"/>
                </a:rPr>
                <a:t>d)</a:t>
              </a:r>
              <a:endParaRPr lang="th-TH" sz="3200" b="1" dirty="0">
                <a:solidFill>
                  <a:srgbClr val="FF0000"/>
                </a:solidFill>
                <a:latin typeface="Angsana New" pitchFamily="18" charset="-34"/>
              </a:endParaRPr>
            </a:p>
          </p:txBody>
        </p:sp>
        <p:sp>
          <p:nvSpPr>
            <p:cNvPr id="138" name="Rectangle 3"/>
            <p:cNvSpPr>
              <a:spLocks noChangeArrowheads="1"/>
            </p:cNvSpPr>
            <p:nvPr/>
          </p:nvSpPr>
          <p:spPr bwMode="auto">
            <a:xfrm>
              <a:off x="6889532" y="1692166"/>
              <a:ext cx="4572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rgbClr val="FF0000"/>
                  </a:solidFill>
                  <a:latin typeface="Angsana New" pitchFamily="18" charset="-34"/>
                </a:rPr>
                <a:t> </a:t>
              </a:r>
              <a:r>
                <a:rPr lang="en-US" sz="3200" b="1" dirty="0">
                  <a:solidFill>
                    <a:srgbClr val="FF0000"/>
                  </a:solidFill>
                  <a:latin typeface="Angsana New" pitchFamily="18" charset="-34"/>
                  <a:sym typeface="Symbol"/>
                </a:rPr>
                <a:t>:</a:t>
              </a:r>
              <a:endParaRPr lang="th-TH" sz="3200" b="1" dirty="0">
                <a:solidFill>
                  <a:srgbClr val="FF0000"/>
                </a:solidFill>
                <a:latin typeface="Angsana New" pitchFamily="18" charset="-34"/>
              </a:endParaRPr>
            </a:p>
          </p:txBody>
        </p:sp>
      </p:grpSp>
      <p:grpSp>
        <p:nvGrpSpPr>
          <p:cNvPr id="35849" name="Group 35848"/>
          <p:cNvGrpSpPr/>
          <p:nvPr/>
        </p:nvGrpSpPr>
        <p:grpSpPr>
          <a:xfrm>
            <a:off x="5836725" y="2527736"/>
            <a:ext cx="3078675" cy="2272864"/>
            <a:chOff x="5016100" y="2406868"/>
            <a:chExt cx="3078675" cy="2272864"/>
          </a:xfrm>
        </p:grpSpPr>
        <p:sp>
          <p:nvSpPr>
            <p:cNvPr id="144" name="Rectangle 3"/>
            <p:cNvSpPr>
              <a:spLocks noChangeArrowheads="1"/>
            </p:cNvSpPr>
            <p:nvPr/>
          </p:nvSpPr>
          <p:spPr bwMode="auto">
            <a:xfrm>
              <a:off x="5016100" y="3082789"/>
              <a:ext cx="8001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rgbClr val="FF0000"/>
                  </a:solidFill>
                  <a:latin typeface="Angsana New" pitchFamily="18" charset="-34"/>
                </a:rPr>
                <a:t> </a:t>
              </a:r>
              <a:r>
                <a:rPr lang="en-US" sz="3200" b="1" dirty="0">
                  <a:solidFill>
                    <a:srgbClr val="FF0000"/>
                  </a:solidFill>
                  <a:latin typeface="Angsana New" pitchFamily="18" charset="-34"/>
                </a:rPr>
                <a:t>d  =  </a:t>
              </a:r>
              <a:endParaRPr lang="th-TH" sz="3200" b="1" dirty="0">
                <a:solidFill>
                  <a:srgbClr val="FF0000"/>
                </a:solidFill>
                <a:latin typeface="Angsana New" pitchFamily="18" charset="-34"/>
              </a:endParaRPr>
            </a:p>
          </p:txBody>
        </p:sp>
        <p:cxnSp>
          <p:nvCxnSpPr>
            <p:cNvPr id="146" name="Straight Connector 145"/>
            <p:cNvCxnSpPr/>
            <p:nvPr/>
          </p:nvCxnSpPr>
          <p:spPr bwMode="auto">
            <a:xfrm flipH="1">
              <a:off x="5717335" y="3382805"/>
              <a:ext cx="237744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grpSp>
          <p:nvGrpSpPr>
            <p:cNvPr id="35841" name="Group 35840"/>
            <p:cNvGrpSpPr/>
            <p:nvPr/>
          </p:nvGrpSpPr>
          <p:grpSpPr>
            <a:xfrm>
              <a:off x="6244087" y="2406868"/>
              <a:ext cx="1528313" cy="882526"/>
              <a:chOff x="6244087" y="2406868"/>
              <a:chExt cx="1528313" cy="882526"/>
            </a:xfrm>
          </p:grpSpPr>
          <p:grpSp>
            <p:nvGrpSpPr>
              <p:cNvPr id="35840" name="Group 35839"/>
              <p:cNvGrpSpPr/>
              <p:nvPr/>
            </p:nvGrpSpPr>
            <p:grpSpPr>
              <a:xfrm>
                <a:off x="6244087" y="2454166"/>
                <a:ext cx="1237709" cy="835228"/>
                <a:chOff x="6244087" y="2454166"/>
                <a:chExt cx="1237709" cy="835228"/>
              </a:xfrm>
            </p:grpSpPr>
            <p:sp>
              <p:nvSpPr>
                <p:cNvPr id="159" name="Rectangle 3"/>
                <p:cNvSpPr>
                  <a:spLocks noChangeArrowheads="1"/>
                </p:cNvSpPr>
                <p:nvPr/>
              </p:nvSpPr>
              <p:spPr bwMode="auto">
                <a:xfrm>
                  <a:off x="6431270" y="2454166"/>
                  <a:ext cx="392257" cy="4887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eaLnBrk="0" hangingPunct="0">
                    <a:lnSpc>
                      <a:spcPct val="70000"/>
                    </a:lnSpc>
                    <a:defRPr/>
                  </a:pPr>
                  <a:r>
                    <a:rPr lang="en-US" sz="2400" b="1" dirty="0">
                      <a:solidFill>
                        <a:srgbClr val="FF0000"/>
                      </a:solidFill>
                      <a:latin typeface="Angsana New" pitchFamily="18" charset="-34"/>
                    </a:rPr>
                    <a:t>2</a:t>
                  </a:r>
                  <a:endParaRPr lang="th-TH" sz="2400" b="1" dirty="0">
                    <a:solidFill>
                      <a:srgbClr val="FF0000"/>
                    </a:solidFill>
                    <a:latin typeface="Angsana New" pitchFamily="18" charset="-34"/>
                  </a:endParaRPr>
                </a:p>
              </p:txBody>
            </p:sp>
            <p:sp>
              <p:nvSpPr>
                <p:cNvPr id="155" name="Rectangle 3"/>
                <p:cNvSpPr>
                  <a:spLocks noChangeArrowheads="1"/>
                </p:cNvSpPr>
                <p:nvPr/>
              </p:nvSpPr>
              <p:spPr bwMode="auto">
                <a:xfrm>
                  <a:off x="7074281" y="2454166"/>
                  <a:ext cx="392257" cy="4887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eaLnBrk="0" hangingPunct="0">
                    <a:lnSpc>
                      <a:spcPct val="70000"/>
                    </a:lnSpc>
                    <a:defRPr/>
                  </a:pPr>
                  <a:r>
                    <a:rPr lang="en-US" sz="2400" b="1" dirty="0">
                      <a:solidFill>
                        <a:srgbClr val="FF0000"/>
                      </a:solidFill>
                      <a:latin typeface="Angsana New" pitchFamily="18" charset="-34"/>
                    </a:rPr>
                    <a:t>2</a:t>
                  </a:r>
                  <a:endParaRPr lang="th-TH" sz="2400" b="1" dirty="0">
                    <a:solidFill>
                      <a:srgbClr val="FF0000"/>
                    </a:solidFill>
                    <a:latin typeface="Angsana New" pitchFamily="18" charset="-34"/>
                  </a:endParaRPr>
                </a:p>
              </p:txBody>
            </p:sp>
            <p:grpSp>
              <p:nvGrpSpPr>
                <p:cNvPr id="30" name="Group 29"/>
                <p:cNvGrpSpPr/>
                <p:nvPr/>
              </p:nvGrpSpPr>
              <p:grpSpPr>
                <a:xfrm>
                  <a:off x="6291385" y="2679794"/>
                  <a:ext cx="1190411" cy="609600"/>
                  <a:chOff x="6323572" y="3608778"/>
                  <a:chExt cx="1190411" cy="609600"/>
                </a:xfrm>
              </p:grpSpPr>
              <p:grpSp>
                <p:nvGrpSpPr>
                  <p:cNvPr id="158" name="Group 157"/>
                  <p:cNvGrpSpPr/>
                  <p:nvPr/>
                </p:nvGrpSpPr>
                <p:grpSpPr>
                  <a:xfrm>
                    <a:off x="6323572" y="3608778"/>
                    <a:ext cx="547400" cy="609600"/>
                    <a:chOff x="2526877" y="1437289"/>
                    <a:chExt cx="547400" cy="609600"/>
                  </a:xfrm>
                </p:grpSpPr>
                <p:sp>
                  <p:nvSpPr>
                    <p:cNvPr id="160" name="Rectangle 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26877" y="1437289"/>
                      <a:ext cx="547400" cy="6096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anchor="ctr"/>
                    <a:lstStyle/>
                    <a:p>
                      <a:pPr eaLnBrk="0" hangingPunct="0">
                        <a:lnSpc>
                          <a:spcPts val="260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0000"/>
                          </a:solidFill>
                          <a:latin typeface="Angsana New" pitchFamily="18" charset="-34"/>
                        </a:rPr>
                        <a:t>S</a:t>
                      </a:r>
                      <a:r>
                        <a:rPr lang="en-US" sz="3200" b="1" baseline="-25000" dirty="0">
                          <a:solidFill>
                            <a:srgbClr val="FF0000"/>
                          </a:solidFill>
                          <a:latin typeface="Angsana New" pitchFamily="18" charset="-34"/>
                        </a:rPr>
                        <a:t>1</a:t>
                      </a:r>
                    </a:p>
                    <a:p>
                      <a:pPr eaLnBrk="0" hangingPunct="0">
                        <a:lnSpc>
                          <a:spcPts val="260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0000"/>
                          </a:solidFill>
                          <a:latin typeface="Angsana New" pitchFamily="18" charset="-34"/>
                        </a:rPr>
                        <a:t>n</a:t>
                      </a:r>
                      <a:r>
                        <a:rPr lang="en-US" sz="3200" b="1" baseline="-25000" dirty="0">
                          <a:solidFill>
                            <a:srgbClr val="FF0000"/>
                          </a:solidFill>
                          <a:latin typeface="Angsana New" pitchFamily="18" charset="-34"/>
                        </a:rPr>
                        <a:t>1</a:t>
                      </a:r>
                      <a:r>
                        <a:rPr lang="en-US" sz="3200" b="1" dirty="0">
                          <a:solidFill>
                            <a:srgbClr val="FF0000"/>
                          </a:solidFill>
                          <a:latin typeface="Angsana New" pitchFamily="18" charset="-34"/>
                        </a:rPr>
                        <a:t>  </a:t>
                      </a:r>
                      <a:endParaRPr lang="th-TH" sz="3200" b="1" dirty="0">
                        <a:solidFill>
                          <a:srgbClr val="FF0000"/>
                        </a:solidFill>
                        <a:latin typeface="Angsana New" pitchFamily="18" charset="-34"/>
                      </a:endParaRPr>
                    </a:p>
                  </p:txBody>
                </p:sp>
                <p:cxnSp>
                  <p:nvCxnSpPr>
                    <p:cNvPr id="161" name="Straight Connector 160"/>
                    <p:cNvCxnSpPr/>
                    <p:nvPr/>
                  </p:nvCxnSpPr>
                  <p:spPr bwMode="auto">
                    <a:xfrm flipH="1">
                      <a:off x="2563671" y="1774730"/>
                      <a:ext cx="365760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6966583" y="3608778"/>
                    <a:ext cx="547400" cy="609600"/>
                    <a:chOff x="2526877" y="1437289"/>
                    <a:chExt cx="547400" cy="609600"/>
                  </a:xfrm>
                </p:grpSpPr>
                <p:sp>
                  <p:nvSpPr>
                    <p:cNvPr id="156" name="Rectangle 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26877" y="1437289"/>
                      <a:ext cx="547400" cy="6096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anchor="ctr"/>
                    <a:lstStyle/>
                    <a:p>
                      <a:pPr eaLnBrk="0" hangingPunct="0">
                        <a:lnSpc>
                          <a:spcPts val="260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0000"/>
                          </a:solidFill>
                          <a:latin typeface="Angsana New" pitchFamily="18" charset="-34"/>
                        </a:rPr>
                        <a:t>S</a:t>
                      </a:r>
                      <a:r>
                        <a:rPr lang="en-US" sz="3200" b="1" baseline="-25000" dirty="0">
                          <a:solidFill>
                            <a:srgbClr val="FF0000"/>
                          </a:solidFill>
                          <a:latin typeface="Angsana New" pitchFamily="18" charset="-34"/>
                        </a:rPr>
                        <a:t>2</a:t>
                      </a:r>
                    </a:p>
                    <a:p>
                      <a:pPr eaLnBrk="0" hangingPunct="0">
                        <a:lnSpc>
                          <a:spcPts val="2600"/>
                        </a:lnSpc>
                        <a:defRPr/>
                      </a:pPr>
                      <a:r>
                        <a:rPr lang="en-US" sz="3200" b="1" dirty="0">
                          <a:solidFill>
                            <a:srgbClr val="FF0000"/>
                          </a:solidFill>
                          <a:latin typeface="Angsana New" pitchFamily="18" charset="-34"/>
                        </a:rPr>
                        <a:t>n</a:t>
                      </a:r>
                      <a:r>
                        <a:rPr lang="en-US" sz="3200" b="1" baseline="-25000" dirty="0">
                          <a:solidFill>
                            <a:srgbClr val="FF0000"/>
                          </a:solidFill>
                          <a:latin typeface="Angsana New" pitchFamily="18" charset="-34"/>
                        </a:rPr>
                        <a:t>2</a:t>
                      </a:r>
                      <a:r>
                        <a:rPr lang="en-US" sz="3200" b="1" dirty="0">
                          <a:solidFill>
                            <a:srgbClr val="FF0000"/>
                          </a:solidFill>
                          <a:latin typeface="Angsana New" pitchFamily="18" charset="-34"/>
                        </a:rPr>
                        <a:t>  </a:t>
                      </a:r>
                      <a:endParaRPr lang="th-TH" sz="3200" b="1" dirty="0">
                        <a:solidFill>
                          <a:srgbClr val="FF0000"/>
                        </a:solidFill>
                        <a:latin typeface="Angsana New" pitchFamily="18" charset="-34"/>
                      </a:endParaRPr>
                    </a:p>
                  </p:txBody>
                </p:sp>
                <p:cxnSp>
                  <p:nvCxnSpPr>
                    <p:cNvPr id="157" name="Straight Connector 156"/>
                    <p:cNvCxnSpPr/>
                    <p:nvPr/>
                  </p:nvCxnSpPr>
                  <p:spPr bwMode="auto">
                    <a:xfrm flipH="1">
                      <a:off x="2563671" y="1774730"/>
                      <a:ext cx="365760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sp>
                <p:nvSpPr>
                  <p:cNvPr id="153" name="TextBox 152"/>
                  <p:cNvSpPr txBox="1"/>
                  <p:nvPr/>
                </p:nvSpPr>
                <p:spPr>
                  <a:xfrm>
                    <a:off x="6691402" y="3628347"/>
                    <a:ext cx="458917" cy="5847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2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</a:rPr>
                      <a:t>+ </a:t>
                    </a:r>
                    <a:endParaRPr lang="th-TH" sz="3200" b="1" dirty="0">
                      <a:solidFill>
                        <a:srgbClr val="FF0000"/>
                      </a:solidFill>
                      <a:latin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31" name="Double Bracket 30"/>
                <p:cNvSpPr/>
                <p:nvPr/>
              </p:nvSpPr>
              <p:spPr bwMode="auto">
                <a:xfrm>
                  <a:off x="6244087" y="2664028"/>
                  <a:ext cx="1190411" cy="604344"/>
                </a:xfrm>
                <a:prstGeom prst="bracketPair">
                  <a:avLst>
                    <a:gd name="adj" fmla="val 8841"/>
                  </a:avLst>
                </a:prstGeom>
                <a:noFill/>
                <a:ln w="28575" cap="flat" cmpd="sng" algn="ctr">
                  <a:solidFill>
                    <a:srgbClr val="FF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th-TH" sz="2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ngsana New" pitchFamily="18" charset="-34"/>
                  </a:endParaRPr>
                </a:p>
              </p:txBody>
            </p:sp>
          </p:grpSp>
          <p:sp>
            <p:nvSpPr>
              <p:cNvPr id="169" name="Rectangle 3"/>
              <p:cNvSpPr>
                <a:spLocks noChangeArrowheads="1"/>
              </p:cNvSpPr>
              <p:nvPr/>
            </p:nvSpPr>
            <p:spPr bwMode="auto">
              <a:xfrm>
                <a:off x="7380143" y="2406868"/>
                <a:ext cx="392257" cy="4887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0000"/>
                  </a:lnSpc>
                  <a:defRPr/>
                </a:pPr>
                <a:r>
                  <a:rPr lang="en-US" sz="2400" b="1" dirty="0">
                    <a:solidFill>
                      <a:srgbClr val="FF0000"/>
                    </a:solidFill>
                    <a:latin typeface="Angsana New" pitchFamily="18" charset="-34"/>
                  </a:rPr>
                  <a:t>2</a:t>
                </a:r>
                <a:endParaRPr lang="th-TH" sz="24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</p:grpSp>
        <p:sp>
          <p:nvSpPr>
            <p:cNvPr id="180" name="TextBox 179"/>
            <p:cNvSpPr txBox="1"/>
            <p:nvPr/>
          </p:nvSpPr>
          <p:spPr>
            <a:xfrm>
              <a:off x="6722279" y="3911025"/>
              <a:ext cx="458917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FF0000"/>
                  </a:solidFill>
                  <a:latin typeface="Angsana New" panose="02020603050405020304" pitchFamily="18" charset="-34"/>
                </a:rPr>
                <a:t>+ </a:t>
              </a:r>
              <a:endParaRPr lang="th-TH" sz="3200" b="1" dirty="0">
                <a:solidFill>
                  <a:srgbClr val="FF0000"/>
                </a:solidFill>
                <a:latin typeface="Angsana New" panose="02020603050405020304" pitchFamily="18" charset="-34"/>
              </a:endParaRPr>
            </a:p>
          </p:txBody>
        </p:sp>
        <p:grpSp>
          <p:nvGrpSpPr>
            <p:cNvPr id="35847" name="Group 35846"/>
            <p:cNvGrpSpPr/>
            <p:nvPr/>
          </p:nvGrpSpPr>
          <p:grpSpPr>
            <a:xfrm>
              <a:off x="5973274" y="3276600"/>
              <a:ext cx="884726" cy="866760"/>
              <a:chOff x="5755931" y="3562666"/>
              <a:chExt cx="884726" cy="866760"/>
            </a:xfrm>
          </p:grpSpPr>
          <p:grpSp>
            <p:nvGrpSpPr>
              <p:cNvPr id="35845" name="Group 35844"/>
              <p:cNvGrpSpPr/>
              <p:nvPr/>
            </p:nvGrpSpPr>
            <p:grpSpPr>
              <a:xfrm>
                <a:off x="5755931" y="3594198"/>
                <a:ext cx="610971" cy="835228"/>
                <a:chOff x="5755931" y="3594198"/>
                <a:chExt cx="610971" cy="835228"/>
              </a:xfrm>
            </p:grpSpPr>
            <p:sp>
              <p:nvSpPr>
                <p:cNvPr id="174" name="Rectangle 3"/>
                <p:cNvSpPr>
                  <a:spLocks noChangeArrowheads="1"/>
                </p:cNvSpPr>
                <p:nvPr/>
              </p:nvSpPr>
              <p:spPr bwMode="auto">
                <a:xfrm>
                  <a:off x="5974645" y="3594198"/>
                  <a:ext cx="392257" cy="4887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eaLnBrk="0" hangingPunct="0">
                    <a:lnSpc>
                      <a:spcPct val="70000"/>
                    </a:lnSpc>
                    <a:defRPr/>
                  </a:pPr>
                  <a:r>
                    <a:rPr lang="en-US" sz="2400" b="1" dirty="0">
                      <a:solidFill>
                        <a:srgbClr val="FF0000"/>
                      </a:solidFill>
                      <a:latin typeface="Angsana New" pitchFamily="18" charset="-34"/>
                    </a:rPr>
                    <a:t>2</a:t>
                  </a:r>
                  <a:endParaRPr lang="th-TH" sz="2400" b="1" dirty="0">
                    <a:solidFill>
                      <a:srgbClr val="FF0000"/>
                    </a:solidFill>
                    <a:latin typeface="Angsana New" pitchFamily="18" charset="-34"/>
                  </a:endParaRPr>
                </a:p>
              </p:txBody>
            </p:sp>
            <p:grpSp>
              <p:nvGrpSpPr>
                <p:cNvPr id="178" name="Group 177"/>
                <p:cNvGrpSpPr/>
                <p:nvPr/>
              </p:nvGrpSpPr>
              <p:grpSpPr>
                <a:xfrm>
                  <a:off x="5818994" y="3819826"/>
                  <a:ext cx="547400" cy="609600"/>
                  <a:chOff x="2526877" y="1437289"/>
                  <a:chExt cx="547400" cy="609600"/>
                </a:xfrm>
              </p:grpSpPr>
              <p:sp>
                <p:nvSpPr>
                  <p:cNvPr id="183" name="Rectangle 3"/>
                  <p:cNvSpPr>
                    <a:spLocks noChangeArrowheads="1"/>
                  </p:cNvSpPr>
                  <p:nvPr/>
                </p:nvSpPr>
                <p:spPr bwMode="auto">
                  <a:xfrm>
                    <a:off x="2526877" y="1437289"/>
                    <a:ext cx="547400" cy="6096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/>
                  <a:lstStyle/>
                  <a:p>
                    <a:pPr eaLnBrk="0" hangingPunct="0">
                      <a:lnSpc>
                        <a:spcPts val="2600"/>
                      </a:lnSpc>
                      <a:defRPr/>
                    </a:pPr>
                    <a:r>
                      <a:rPr lang="en-US" sz="3200" b="1" dirty="0">
                        <a:solidFill>
                          <a:srgbClr val="FF0000"/>
                        </a:solidFill>
                        <a:latin typeface="Angsana New" pitchFamily="18" charset="-34"/>
                      </a:rPr>
                      <a:t>S</a:t>
                    </a:r>
                    <a:r>
                      <a:rPr lang="en-US" sz="3200" b="1" baseline="-25000" dirty="0">
                        <a:solidFill>
                          <a:srgbClr val="FF0000"/>
                        </a:solidFill>
                        <a:latin typeface="Angsana New" pitchFamily="18" charset="-34"/>
                      </a:rPr>
                      <a:t>1</a:t>
                    </a:r>
                  </a:p>
                  <a:p>
                    <a:pPr eaLnBrk="0" hangingPunct="0">
                      <a:lnSpc>
                        <a:spcPts val="2600"/>
                      </a:lnSpc>
                      <a:defRPr/>
                    </a:pPr>
                    <a:r>
                      <a:rPr lang="en-US" sz="3200" b="1" dirty="0">
                        <a:solidFill>
                          <a:srgbClr val="FF0000"/>
                        </a:solidFill>
                        <a:latin typeface="Angsana New" pitchFamily="18" charset="-34"/>
                      </a:rPr>
                      <a:t>n</a:t>
                    </a:r>
                    <a:r>
                      <a:rPr lang="en-US" sz="3200" b="1" baseline="-25000" dirty="0">
                        <a:solidFill>
                          <a:srgbClr val="FF0000"/>
                        </a:solidFill>
                        <a:latin typeface="Angsana New" pitchFamily="18" charset="-34"/>
                      </a:rPr>
                      <a:t>1</a:t>
                    </a:r>
                    <a:r>
                      <a:rPr lang="en-US" sz="3200" b="1" dirty="0">
                        <a:solidFill>
                          <a:srgbClr val="FF0000"/>
                        </a:solidFill>
                        <a:latin typeface="Angsana New" pitchFamily="18" charset="-34"/>
                      </a:rPr>
                      <a:t>  </a:t>
                    </a:r>
                    <a:endParaRPr lang="th-TH" sz="3200" b="1" dirty="0">
                      <a:solidFill>
                        <a:srgbClr val="FF0000"/>
                      </a:solidFill>
                      <a:latin typeface="Angsana New" pitchFamily="18" charset="-34"/>
                    </a:endParaRPr>
                  </a:p>
                </p:txBody>
              </p:sp>
              <p:cxnSp>
                <p:nvCxnSpPr>
                  <p:cNvPr id="184" name="Straight Connector 183"/>
                  <p:cNvCxnSpPr/>
                  <p:nvPr/>
                </p:nvCxnSpPr>
                <p:spPr bwMode="auto">
                  <a:xfrm flipH="1">
                    <a:off x="2563671" y="1774730"/>
                    <a:ext cx="36576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77" name="Double Bracket 176"/>
                <p:cNvSpPr/>
                <p:nvPr/>
              </p:nvSpPr>
              <p:spPr bwMode="auto">
                <a:xfrm>
                  <a:off x="5755931" y="3804060"/>
                  <a:ext cx="550880" cy="604344"/>
                </a:xfrm>
                <a:prstGeom prst="bracketPair">
                  <a:avLst>
                    <a:gd name="adj" fmla="val 8841"/>
                  </a:avLst>
                </a:prstGeom>
                <a:noFill/>
                <a:ln w="28575" cap="flat" cmpd="sng" algn="ctr">
                  <a:solidFill>
                    <a:srgbClr val="FF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th-TH" sz="2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ngsana New" pitchFamily="18" charset="-34"/>
                  </a:endParaRPr>
                </a:p>
              </p:txBody>
            </p:sp>
          </p:grpSp>
          <p:sp>
            <p:nvSpPr>
              <p:cNvPr id="173" name="Rectangle 3"/>
              <p:cNvSpPr>
                <a:spLocks noChangeArrowheads="1"/>
              </p:cNvSpPr>
              <p:nvPr/>
            </p:nvSpPr>
            <p:spPr bwMode="auto">
              <a:xfrm>
                <a:off x="6248400" y="3562666"/>
                <a:ext cx="392257" cy="4887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0000"/>
                  </a:lnSpc>
                  <a:defRPr/>
                </a:pPr>
                <a:r>
                  <a:rPr lang="en-US" sz="2400" b="1" dirty="0">
                    <a:solidFill>
                      <a:srgbClr val="FF0000"/>
                    </a:solidFill>
                    <a:latin typeface="Angsana New" pitchFamily="18" charset="-34"/>
                  </a:rPr>
                  <a:t>2</a:t>
                </a:r>
                <a:endParaRPr lang="th-TH" sz="24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</p:grpSp>
        <p:grpSp>
          <p:nvGrpSpPr>
            <p:cNvPr id="35848" name="Group 35847"/>
            <p:cNvGrpSpPr/>
            <p:nvPr/>
          </p:nvGrpSpPr>
          <p:grpSpPr>
            <a:xfrm>
              <a:off x="7179067" y="3273541"/>
              <a:ext cx="884997" cy="870161"/>
              <a:chOff x="8335203" y="3439506"/>
              <a:chExt cx="884997" cy="870161"/>
            </a:xfrm>
          </p:grpSpPr>
          <p:grpSp>
            <p:nvGrpSpPr>
              <p:cNvPr id="187" name="Group 186"/>
              <p:cNvGrpSpPr/>
              <p:nvPr/>
            </p:nvGrpSpPr>
            <p:grpSpPr>
              <a:xfrm>
                <a:off x="8335203" y="3474439"/>
                <a:ext cx="626737" cy="835228"/>
                <a:chOff x="5755931" y="3594198"/>
                <a:chExt cx="626737" cy="835228"/>
              </a:xfrm>
            </p:grpSpPr>
            <p:sp>
              <p:nvSpPr>
                <p:cNvPr id="188" name="Rectangle 3"/>
                <p:cNvSpPr>
                  <a:spLocks noChangeArrowheads="1"/>
                </p:cNvSpPr>
                <p:nvPr/>
              </p:nvSpPr>
              <p:spPr bwMode="auto">
                <a:xfrm>
                  <a:off x="5990411" y="3594198"/>
                  <a:ext cx="392257" cy="4887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eaLnBrk="0" hangingPunct="0">
                    <a:lnSpc>
                      <a:spcPct val="70000"/>
                    </a:lnSpc>
                    <a:defRPr/>
                  </a:pPr>
                  <a:r>
                    <a:rPr lang="en-US" sz="2400" b="1" dirty="0">
                      <a:solidFill>
                        <a:srgbClr val="FF0000"/>
                      </a:solidFill>
                      <a:latin typeface="Angsana New" pitchFamily="18" charset="-34"/>
                    </a:rPr>
                    <a:t>2</a:t>
                  </a:r>
                  <a:endParaRPr lang="th-TH" sz="2400" b="1" dirty="0">
                    <a:solidFill>
                      <a:srgbClr val="FF0000"/>
                    </a:solidFill>
                    <a:latin typeface="Angsana New" pitchFamily="18" charset="-34"/>
                  </a:endParaRPr>
                </a:p>
              </p:txBody>
            </p:sp>
            <p:grpSp>
              <p:nvGrpSpPr>
                <p:cNvPr id="189" name="Group 188"/>
                <p:cNvGrpSpPr/>
                <p:nvPr/>
              </p:nvGrpSpPr>
              <p:grpSpPr>
                <a:xfrm>
                  <a:off x="5818994" y="3819826"/>
                  <a:ext cx="547400" cy="609600"/>
                  <a:chOff x="2526877" y="1437289"/>
                  <a:chExt cx="547400" cy="609600"/>
                </a:xfrm>
              </p:grpSpPr>
              <p:sp>
                <p:nvSpPr>
                  <p:cNvPr id="191" name="Rectangle 3"/>
                  <p:cNvSpPr>
                    <a:spLocks noChangeArrowheads="1"/>
                  </p:cNvSpPr>
                  <p:nvPr/>
                </p:nvSpPr>
                <p:spPr bwMode="auto">
                  <a:xfrm>
                    <a:off x="2526877" y="1437289"/>
                    <a:ext cx="547400" cy="6096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/>
                  <a:lstStyle/>
                  <a:p>
                    <a:pPr eaLnBrk="0" hangingPunct="0">
                      <a:lnSpc>
                        <a:spcPts val="2600"/>
                      </a:lnSpc>
                      <a:defRPr/>
                    </a:pPr>
                    <a:r>
                      <a:rPr lang="en-US" sz="3200" b="1" dirty="0">
                        <a:solidFill>
                          <a:srgbClr val="FF0000"/>
                        </a:solidFill>
                        <a:latin typeface="Angsana New" pitchFamily="18" charset="-34"/>
                      </a:rPr>
                      <a:t>S</a:t>
                    </a:r>
                    <a:r>
                      <a:rPr lang="en-US" sz="3200" b="1" baseline="-25000" dirty="0">
                        <a:solidFill>
                          <a:srgbClr val="FF0000"/>
                        </a:solidFill>
                        <a:latin typeface="Angsana New" pitchFamily="18" charset="-34"/>
                      </a:rPr>
                      <a:t>2</a:t>
                    </a:r>
                  </a:p>
                  <a:p>
                    <a:pPr eaLnBrk="0" hangingPunct="0">
                      <a:lnSpc>
                        <a:spcPts val="2600"/>
                      </a:lnSpc>
                      <a:defRPr/>
                    </a:pPr>
                    <a:r>
                      <a:rPr lang="en-US" sz="3200" b="1" dirty="0">
                        <a:solidFill>
                          <a:srgbClr val="FF0000"/>
                        </a:solidFill>
                        <a:latin typeface="Angsana New" pitchFamily="18" charset="-34"/>
                      </a:rPr>
                      <a:t>n</a:t>
                    </a:r>
                    <a:r>
                      <a:rPr lang="en-US" sz="3200" b="1" baseline="-25000" dirty="0">
                        <a:solidFill>
                          <a:srgbClr val="FF0000"/>
                        </a:solidFill>
                        <a:latin typeface="Angsana New" pitchFamily="18" charset="-34"/>
                      </a:rPr>
                      <a:t>2</a:t>
                    </a:r>
                    <a:r>
                      <a:rPr lang="en-US" sz="3200" b="1" dirty="0">
                        <a:solidFill>
                          <a:srgbClr val="FF0000"/>
                        </a:solidFill>
                        <a:latin typeface="Angsana New" pitchFamily="18" charset="-34"/>
                      </a:rPr>
                      <a:t>  </a:t>
                    </a:r>
                    <a:endParaRPr lang="th-TH" sz="3200" b="1" dirty="0">
                      <a:solidFill>
                        <a:srgbClr val="FF0000"/>
                      </a:solidFill>
                      <a:latin typeface="Angsana New" pitchFamily="18" charset="-34"/>
                    </a:endParaRPr>
                  </a:p>
                </p:txBody>
              </p:sp>
              <p:cxnSp>
                <p:nvCxnSpPr>
                  <p:cNvPr id="192" name="Straight Connector 191"/>
                  <p:cNvCxnSpPr/>
                  <p:nvPr/>
                </p:nvCxnSpPr>
                <p:spPr bwMode="auto">
                  <a:xfrm flipH="1">
                    <a:off x="2563671" y="1774730"/>
                    <a:ext cx="36576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90" name="Double Bracket 189"/>
                <p:cNvSpPr/>
                <p:nvPr/>
              </p:nvSpPr>
              <p:spPr bwMode="auto">
                <a:xfrm>
                  <a:off x="5755931" y="3804060"/>
                  <a:ext cx="550880" cy="604344"/>
                </a:xfrm>
                <a:prstGeom prst="bracketPair">
                  <a:avLst>
                    <a:gd name="adj" fmla="val 8841"/>
                  </a:avLst>
                </a:prstGeom>
                <a:noFill/>
                <a:ln w="28575" cap="flat" cmpd="sng" algn="ctr">
                  <a:solidFill>
                    <a:srgbClr val="FF000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th-TH" sz="2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ngsana New" pitchFamily="18" charset="-34"/>
                  </a:endParaRPr>
                </a:p>
              </p:txBody>
            </p:sp>
          </p:grpSp>
          <p:sp>
            <p:nvSpPr>
              <p:cNvPr id="196" name="Rectangle 3"/>
              <p:cNvSpPr>
                <a:spLocks noChangeArrowheads="1"/>
              </p:cNvSpPr>
              <p:nvPr/>
            </p:nvSpPr>
            <p:spPr bwMode="auto">
              <a:xfrm>
                <a:off x="8827943" y="3439506"/>
                <a:ext cx="392257" cy="4887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0000"/>
                  </a:lnSpc>
                  <a:defRPr/>
                </a:pPr>
                <a:r>
                  <a:rPr lang="en-US" sz="2400" b="1" dirty="0">
                    <a:solidFill>
                      <a:srgbClr val="FF0000"/>
                    </a:solidFill>
                    <a:latin typeface="Angsana New" pitchFamily="18" charset="-34"/>
                  </a:rPr>
                  <a:t>2</a:t>
                </a:r>
                <a:endParaRPr lang="th-TH" sz="24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</p:grpSp>
        <p:cxnSp>
          <p:nvCxnSpPr>
            <p:cNvPr id="197" name="Straight Connector 196"/>
            <p:cNvCxnSpPr/>
            <p:nvPr/>
          </p:nvCxnSpPr>
          <p:spPr bwMode="auto">
            <a:xfrm flipH="1">
              <a:off x="5898932" y="4222532"/>
              <a:ext cx="73152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98" name="Straight Connector 197"/>
            <p:cNvCxnSpPr/>
            <p:nvPr/>
          </p:nvCxnSpPr>
          <p:spPr bwMode="auto">
            <a:xfrm flipH="1">
              <a:off x="7117080" y="4219902"/>
              <a:ext cx="73152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199" name="Rectangle 3"/>
            <p:cNvSpPr>
              <a:spLocks noChangeArrowheads="1"/>
            </p:cNvSpPr>
            <p:nvPr/>
          </p:nvSpPr>
          <p:spPr bwMode="auto">
            <a:xfrm>
              <a:off x="5904006" y="4069438"/>
              <a:ext cx="875126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en-US" sz="3200" b="1" dirty="0">
                  <a:solidFill>
                    <a:srgbClr val="FF0000"/>
                  </a:solidFill>
                  <a:latin typeface="Angsana New" pitchFamily="18" charset="-34"/>
                </a:rPr>
                <a:t>n</a:t>
              </a:r>
              <a:r>
                <a:rPr lang="en-US" sz="3200" b="1" baseline="-25000" dirty="0">
                  <a:solidFill>
                    <a:srgbClr val="FF0000"/>
                  </a:solidFill>
                  <a:latin typeface="Angsana New" pitchFamily="18" charset="-34"/>
                </a:rPr>
                <a:t>1</a:t>
              </a:r>
              <a:r>
                <a:rPr lang="en-US" sz="3200" b="1" dirty="0">
                  <a:solidFill>
                    <a:srgbClr val="FF0000"/>
                  </a:solidFill>
                  <a:latin typeface="Angsana New" pitchFamily="18" charset="-34"/>
                </a:rPr>
                <a:t> – 1  </a:t>
              </a:r>
              <a:endParaRPr lang="th-TH" sz="3200" b="1" dirty="0">
                <a:solidFill>
                  <a:srgbClr val="FF0000"/>
                </a:solidFill>
                <a:latin typeface="Angsana New" pitchFamily="18" charset="-34"/>
              </a:endParaRPr>
            </a:p>
          </p:txBody>
        </p:sp>
        <p:sp>
          <p:nvSpPr>
            <p:cNvPr id="200" name="Rectangle 3"/>
            <p:cNvSpPr>
              <a:spLocks noChangeArrowheads="1"/>
            </p:cNvSpPr>
            <p:nvPr/>
          </p:nvSpPr>
          <p:spPr bwMode="auto">
            <a:xfrm>
              <a:off x="7086600" y="4070132"/>
              <a:ext cx="875126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en-US" sz="3200" b="1" dirty="0">
                  <a:solidFill>
                    <a:srgbClr val="FF0000"/>
                  </a:solidFill>
                  <a:latin typeface="Angsana New" pitchFamily="18" charset="-34"/>
                </a:rPr>
                <a:t>n</a:t>
              </a:r>
              <a:r>
                <a:rPr lang="en-US" sz="3200" b="1" baseline="-25000" dirty="0">
                  <a:solidFill>
                    <a:srgbClr val="FF0000"/>
                  </a:solidFill>
                  <a:latin typeface="Angsana New" pitchFamily="18" charset="-34"/>
                </a:rPr>
                <a:t>2</a:t>
              </a:r>
              <a:r>
                <a:rPr lang="en-US" sz="3200" b="1" dirty="0">
                  <a:solidFill>
                    <a:srgbClr val="FF0000"/>
                  </a:solidFill>
                  <a:latin typeface="Angsana New" pitchFamily="18" charset="-34"/>
                </a:rPr>
                <a:t> – 1  </a:t>
              </a:r>
              <a:endParaRPr lang="th-TH" sz="3200" b="1" dirty="0">
                <a:solidFill>
                  <a:srgbClr val="FF0000"/>
                </a:solidFill>
                <a:latin typeface="Angsana New" pitchFamily="18" charset="-34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5D8A67-3923-454F-B6F9-2BDB9C50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3616EF-75E5-4690-856B-E2DE7F57532B}" type="slidenum">
              <a:rPr lang="en-US" smtClean="0"/>
              <a:pPr>
                <a:defRPr/>
              </a:pPr>
              <a:t>16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507793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/>
      <p:bldP spid="96" grpId="0"/>
      <p:bldP spid="98" grpId="0"/>
      <p:bldP spid="97" grpId="0"/>
      <p:bldP spid="19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70000"/>
              </a:lnSpc>
              <a:defRPr/>
            </a:pP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 การทดสอบค่าเฉลี่ยของ 2 ประชากร เมื่อไม่ทราบค่าความแปรปรวนประชากร</a:t>
            </a:r>
            <a:endParaRPr lang="th-TH" sz="3200" b="1" kern="0" baseline="30000" dirty="0">
              <a:solidFill>
                <a:srgbClr val="6633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17332" y="869732"/>
            <a:ext cx="8226970" cy="882868"/>
            <a:chOff x="152400" y="1298030"/>
            <a:chExt cx="8226970" cy="882868"/>
          </a:xfrm>
        </p:grpSpPr>
        <p:sp>
          <p:nvSpPr>
            <p:cNvPr id="193" name="Rectangle 3"/>
            <p:cNvSpPr>
              <a:spLocks noChangeArrowheads="1"/>
            </p:cNvSpPr>
            <p:nvPr/>
          </p:nvSpPr>
          <p:spPr bwMode="auto">
            <a:xfrm>
              <a:off x="152400" y="1389996"/>
              <a:ext cx="3855961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rgbClr val="CC3399"/>
                  </a:solidFill>
                  <a:latin typeface="Angsana New" panose="02020603050405020304" pitchFamily="18" charset="-34"/>
                </a:rPr>
                <a:t>สมมุติฐานสำหรับการทดสอบ :</a:t>
              </a: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3717707" y="1298030"/>
              <a:ext cx="4661663" cy="882868"/>
              <a:chOff x="3870433" y="4857299"/>
              <a:chExt cx="4661663" cy="882868"/>
            </a:xfrm>
          </p:grpSpPr>
          <p:sp>
            <p:nvSpPr>
              <p:cNvPr id="201" name="Text Box 25"/>
              <p:cNvSpPr txBox="1">
                <a:spLocks noChangeArrowheads="1"/>
              </p:cNvSpPr>
              <p:nvPr/>
            </p:nvSpPr>
            <p:spPr bwMode="auto">
              <a:xfrm>
                <a:off x="3870433" y="4857299"/>
                <a:ext cx="4661663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H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0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: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 –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2 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=  0</a:t>
                </a:r>
                <a:r>
                  <a:rPr kumimoji="1" lang="th-TH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 </a:t>
                </a:r>
                <a:r>
                  <a:rPr kumimoji="1" lang="th-TH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r>
                  <a:rPr kumimoji="1" lang="en-US" sz="4000" b="1" dirty="0">
                    <a:solidFill>
                      <a:srgbClr val="FF0000"/>
                    </a:solidFill>
                    <a:latin typeface="Angsana New" pitchFamily="18" charset="-34"/>
                  </a:rPr>
                  <a:t>VS 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H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: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40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 </a:t>
                </a:r>
                <a:r>
                  <a:rPr kumimoji="1" lang="th-TH" sz="40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–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2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       0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 </a:t>
                </a:r>
                <a:r>
                  <a:rPr kumimoji="1" lang="th-TH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endParaRPr kumimoji="1" lang="th-TH" sz="32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202" name="Text Box 25"/>
              <p:cNvSpPr txBox="1">
                <a:spLocks noChangeArrowheads="1"/>
              </p:cNvSpPr>
              <p:nvPr/>
            </p:nvSpPr>
            <p:spPr bwMode="auto">
              <a:xfrm>
                <a:off x="7740867" y="4960466"/>
                <a:ext cx="457201" cy="7797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ts val="1600"/>
                  </a:lnSpc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&lt;</a:t>
                </a:r>
              </a:p>
              <a:p>
                <a:pPr eaLnBrk="0" hangingPunct="0">
                  <a:lnSpc>
                    <a:spcPts val="1600"/>
                  </a:lnSpc>
                  <a:spcBef>
                    <a:spcPts val="0"/>
                  </a:spcBef>
                  <a:defRPr/>
                </a:pPr>
                <a:r>
                  <a:rPr kumimoji="1" lang="en-US" sz="2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</a:t>
                </a:r>
                <a:r>
                  <a:rPr kumimoji="1" lang="en-US" sz="40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endParaRPr kumimoji="1" lang="th-TH" sz="4000" b="1" dirty="0">
                  <a:solidFill>
                    <a:srgbClr val="0000FF"/>
                  </a:solidFill>
                  <a:latin typeface="Angsana New" pitchFamily="18" charset="-34"/>
                </a:endParaRPr>
              </a:p>
              <a:p>
                <a:pPr eaLnBrk="0" hangingPunct="0">
                  <a:lnSpc>
                    <a:spcPts val="1600"/>
                  </a:lnSpc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&gt;</a:t>
                </a:r>
                <a:endParaRPr kumimoji="1" lang="th-TH" sz="32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</p:grpSp>
      </p:grpSp>
      <p:grpSp>
        <p:nvGrpSpPr>
          <p:cNvPr id="113" name="Group 112"/>
          <p:cNvGrpSpPr/>
          <p:nvPr/>
        </p:nvGrpSpPr>
        <p:grpSpPr>
          <a:xfrm>
            <a:off x="304800" y="457200"/>
            <a:ext cx="4910426" cy="840830"/>
            <a:chOff x="3389909" y="5362902"/>
            <a:chExt cx="4910426" cy="840830"/>
          </a:xfrm>
        </p:grpSpPr>
        <p:sp>
          <p:nvSpPr>
            <p:cNvPr id="114" name="Rectangle 2"/>
            <p:cNvSpPr txBox="1">
              <a:spLocks noChangeArrowheads="1"/>
            </p:cNvSpPr>
            <p:nvPr/>
          </p:nvSpPr>
          <p:spPr bwMode="auto">
            <a:xfrm>
              <a:off x="3389909" y="5362902"/>
              <a:ext cx="4910426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th-TH" sz="3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2.2 ตัวอย่างเป็นอิสระกัน และ </a:t>
              </a:r>
              <a:r>
                <a:rPr lang="th-TH" sz="26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</a:t>
              </a:r>
              <a:r>
                <a:rPr lang="th-TH" sz="3200" b="1" kern="0" baseline="3000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2</a:t>
              </a:r>
              <a:r>
                <a:rPr lang="th-TH" sz="3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 </a:t>
              </a:r>
              <a:r>
                <a:rPr lang="en-US" sz="3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 =  </a:t>
              </a:r>
              <a:r>
                <a:rPr lang="th-TH" sz="26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</a:t>
              </a:r>
              <a:r>
                <a:rPr lang="th-TH" sz="3200" b="1" kern="0" baseline="3000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2</a:t>
              </a:r>
              <a:endParaRPr lang="th-TH" sz="3200" b="1" kern="0" baseline="3000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15" name="Rectangle 2"/>
            <p:cNvSpPr txBox="1">
              <a:spLocks noChangeArrowheads="1"/>
            </p:cNvSpPr>
            <p:nvPr/>
          </p:nvSpPr>
          <p:spPr bwMode="auto">
            <a:xfrm>
              <a:off x="6855975" y="5471894"/>
              <a:ext cx="474991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th-TH" sz="2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</a:t>
              </a:r>
              <a:endParaRPr lang="th-TH" sz="2200" b="1" kern="0" baseline="3000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116" name="Rectangle 2"/>
            <p:cNvSpPr txBox="1">
              <a:spLocks noChangeArrowheads="1"/>
            </p:cNvSpPr>
            <p:nvPr/>
          </p:nvSpPr>
          <p:spPr bwMode="auto">
            <a:xfrm>
              <a:off x="7570677" y="5470634"/>
              <a:ext cx="474991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th-TH" sz="2200" b="1" kern="0" dirty="0">
                  <a:solidFill>
                    <a:srgbClr val="6633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</a:t>
              </a:r>
              <a:endParaRPr lang="th-TH" sz="2200" b="1" kern="0" baseline="3000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46234" y="1524000"/>
            <a:ext cx="6177820" cy="1203434"/>
            <a:chOff x="746234" y="2123091"/>
            <a:chExt cx="6177820" cy="1203434"/>
          </a:xfrm>
        </p:grpSpPr>
        <p:sp>
          <p:nvSpPr>
            <p:cNvPr id="35843" name="Rectangle 3"/>
            <p:cNvSpPr>
              <a:spLocks noChangeArrowheads="1"/>
            </p:cNvSpPr>
            <p:nvPr/>
          </p:nvSpPr>
          <p:spPr bwMode="auto">
            <a:xfrm>
              <a:off x="746234" y="2303176"/>
              <a:ext cx="48768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rgbClr val="CC3399"/>
                  </a:solidFill>
                  <a:latin typeface="Angsana New" panose="02020603050405020304" pitchFamily="18" charset="-34"/>
                </a:rPr>
                <a:t>สถิติสำหรับการทดสอบ :</a:t>
              </a: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3505200" y="2123091"/>
              <a:ext cx="3418854" cy="1203434"/>
              <a:chOff x="3505200" y="2123091"/>
              <a:chExt cx="3418854" cy="1203434"/>
            </a:xfrm>
          </p:grpSpPr>
          <p:sp>
            <p:nvSpPr>
              <p:cNvPr id="78" name="Rectangle 3"/>
              <p:cNvSpPr>
                <a:spLocks noChangeArrowheads="1"/>
              </p:cNvSpPr>
              <p:nvPr/>
            </p:nvSpPr>
            <p:spPr bwMode="auto">
              <a:xfrm>
                <a:off x="3505200" y="2322313"/>
                <a:ext cx="800100" cy="609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5000"/>
                  </a:lnSpc>
                  <a:defRPr/>
                </a:pPr>
                <a:r>
                  <a:rPr lang="th-TH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 </a:t>
                </a: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t  =  </a:t>
                </a:r>
                <a:endParaRPr lang="th-TH" sz="3200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79" name="Rectangle 3"/>
              <p:cNvSpPr>
                <a:spLocks noChangeArrowheads="1"/>
              </p:cNvSpPr>
              <p:nvPr/>
            </p:nvSpPr>
            <p:spPr bwMode="auto">
              <a:xfrm>
                <a:off x="4150268" y="2123091"/>
                <a:ext cx="2773786" cy="609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5000"/>
                  </a:lnSpc>
                  <a:defRPr/>
                </a:pP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(X</a:t>
                </a:r>
                <a:r>
                  <a:rPr lang="en-US" sz="32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1</a:t>
                </a: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 – X</a:t>
                </a:r>
                <a:r>
                  <a:rPr lang="en-US" sz="32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2</a:t>
                </a: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) – (</a:t>
                </a:r>
                <a:r>
                  <a:rPr lang="en-US" sz="26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lang="en-US" sz="32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  <a:sym typeface="Symbol"/>
                  </a:rPr>
                  <a:t>1 </a:t>
                </a: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– </a:t>
                </a:r>
                <a:r>
                  <a:rPr lang="en-US" sz="26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lang="en-US" sz="32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2</a:t>
                </a: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)</a:t>
                </a:r>
                <a:r>
                  <a:rPr lang="en-US" sz="32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  <a:sym typeface="Symbol"/>
                  </a:rPr>
                  <a:t> </a:t>
                </a: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  </a:t>
                </a:r>
                <a:endParaRPr lang="th-TH" sz="3200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</a:endParaRPr>
              </a:p>
            </p:txBody>
          </p:sp>
          <p:cxnSp>
            <p:nvCxnSpPr>
              <p:cNvPr id="84" name="Straight Connector 83"/>
              <p:cNvCxnSpPr/>
              <p:nvPr/>
            </p:nvCxnSpPr>
            <p:spPr bwMode="auto">
              <a:xfrm flipH="1">
                <a:off x="4206435" y="2622329"/>
                <a:ext cx="2377440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8" name="Group 7"/>
              <p:cNvGrpSpPr/>
              <p:nvPr/>
            </p:nvGrpSpPr>
            <p:grpSpPr>
              <a:xfrm>
                <a:off x="4881008" y="2672260"/>
                <a:ext cx="1275952" cy="548640"/>
                <a:chOff x="4701730" y="2286005"/>
                <a:chExt cx="1275952" cy="548640"/>
              </a:xfrm>
            </p:grpSpPr>
            <p:cxnSp>
              <p:nvCxnSpPr>
                <p:cNvPr id="4" name="Straight Connector 3"/>
                <p:cNvCxnSpPr/>
                <p:nvPr/>
              </p:nvCxnSpPr>
              <p:spPr bwMode="auto">
                <a:xfrm flipH="1">
                  <a:off x="4791066" y="2286005"/>
                  <a:ext cx="91440" cy="54864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lumMod val="5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3" name="Straight Connector 82"/>
                <p:cNvCxnSpPr/>
                <p:nvPr/>
              </p:nvCxnSpPr>
              <p:spPr bwMode="auto">
                <a:xfrm flipH="1">
                  <a:off x="4880402" y="2317532"/>
                  <a:ext cx="1097280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lumMod val="5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7" name="Straight Connector 86"/>
                <p:cNvCxnSpPr/>
                <p:nvPr/>
              </p:nvCxnSpPr>
              <p:spPr bwMode="auto">
                <a:xfrm>
                  <a:off x="4701730" y="2727436"/>
                  <a:ext cx="76200" cy="9144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lumMod val="5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92" name="Straight Connector 91"/>
              <p:cNvCxnSpPr/>
              <p:nvPr/>
            </p:nvCxnSpPr>
            <p:spPr bwMode="auto">
              <a:xfrm flipH="1">
                <a:off x="4343400" y="2259725"/>
                <a:ext cx="182880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8" name="Straight Connector 117"/>
              <p:cNvCxnSpPr/>
              <p:nvPr/>
            </p:nvCxnSpPr>
            <p:spPr bwMode="auto">
              <a:xfrm flipH="1">
                <a:off x="4910694" y="2257098"/>
                <a:ext cx="182880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9" name="Group 8"/>
              <p:cNvGrpSpPr/>
              <p:nvPr/>
            </p:nvGrpSpPr>
            <p:grpSpPr>
              <a:xfrm>
                <a:off x="4483786" y="2688023"/>
                <a:ext cx="1764614" cy="638502"/>
                <a:chOff x="7151884" y="2343811"/>
                <a:chExt cx="1764614" cy="638502"/>
              </a:xfrm>
            </p:grpSpPr>
            <p:grpSp>
              <p:nvGrpSpPr>
                <p:cNvPr id="5" name="Group 4"/>
                <p:cNvGrpSpPr/>
                <p:nvPr/>
              </p:nvGrpSpPr>
              <p:grpSpPr>
                <a:xfrm>
                  <a:off x="7725135" y="2372713"/>
                  <a:ext cx="489133" cy="609600"/>
                  <a:chOff x="2771242" y="1305912"/>
                  <a:chExt cx="489133" cy="609600"/>
                </a:xfrm>
              </p:grpSpPr>
              <p:sp>
                <p:nvSpPr>
                  <p:cNvPr id="119" name="Rectangle 3"/>
                  <p:cNvSpPr>
                    <a:spLocks noChangeArrowheads="1"/>
                  </p:cNvSpPr>
                  <p:nvPr/>
                </p:nvSpPr>
                <p:spPr bwMode="auto">
                  <a:xfrm>
                    <a:off x="2771242" y="1305912"/>
                    <a:ext cx="489133" cy="6096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/>
                  <a:lstStyle/>
                  <a:p>
                    <a:pPr eaLnBrk="0" hangingPunct="0">
                      <a:lnSpc>
                        <a:spcPts val="2000"/>
                      </a:lnSpc>
                      <a:defRPr/>
                    </a:pPr>
                    <a:r>
                      <a:rPr lang="en-US" sz="3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1</a:t>
                    </a:r>
                    <a:endParaRPr lang="en-US" sz="32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endParaRPr>
                  </a:p>
                  <a:p>
                    <a:pPr eaLnBrk="0" hangingPunct="0">
                      <a:lnSpc>
                        <a:spcPts val="2000"/>
                      </a:lnSpc>
                      <a:defRPr/>
                    </a:pPr>
                    <a:r>
                      <a:rPr lang="en-US" sz="3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n</a:t>
                    </a:r>
                    <a:r>
                      <a:rPr lang="en-US" sz="3200" b="1" baseline="-25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1</a:t>
                    </a:r>
                    <a:r>
                      <a:rPr lang="en-US" sz="3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  </a:t>
                    </a:r>
                    <a:endParaRPr lang="th-TH" sz="32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endParaRPr>
                  </a:p>
                </p:txBody>
              </p:sp>
              <p:cxnSp>
                <p:nvCxnSpPr>
                  <p:cNvPr id="120" name="Straight Connector 119"/>
                  <p:cNvCxnSpPr/>
                  <p:nvPr/>
                </p:nvCxnSpPr>
                <p:spPr bwMode="auto">
                  <a:xfrm flipH="1">
                    <a:off x="2808037" y="1581810"/>
                    <a:ext cx="27432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chemeClr val="accent1">
                        <a:lumMod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</p:grpSp>
            <p:grpSp>
              <p:nvGrpSpPr>
                <p:cNvPr id="124" name="Group 123"/>
                <p:cNvGrpSpPr/>
                <p:nvPr/>
              </p:nvGrpSpPr>
              <p:grpSpPr>
                <a:xfrm>
                  <a:off x="7151884" y="2356947"/>
                  <a:ext cx="1764614" cy="625366"/>
                  <a:chOff x="6508873" y="2356947"/>
                  <a:chExt cx="1764614" cy="625366"/>
                </a:xfrm>
              </p:grpSpPr>
              <p:grpSp>
                <p:nvGrpSpPr>
                  <p:cNvPr id="125" name="Group 124"/>
                  <p:cNvGrpSpPr/>
                  <p:nvPr/>
                </p:nvGrpSpPr>
                <p:grpSpPr>
                  <a:xfrm>
                    <a:off x="7726087" y="2372713"/>
                    <a:ext cx="547400" cy="609600"/>
                    <a:chOff x="2772194" y="1305912"/>
                    <a:chExt cx="547400" cy="609600"/>
                  </a:xfrm>
                </p:grpSpPr>
                <p:sp>
                  <p:nvSpPr>
                    <p:cNvPr id="127" name="Rectangle 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72194" y="1305912"/>
                      <a:ext cx="547400" cy="6096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anchor="ctr"/>
                    <a:lstStyle/>
                    <a:p>
                      <a:pPr eaLnBrk="0" hangingPunct="0">
                        <a:lnSpc>
                          <a:spcPts val="2000"/>
                        </a:lnSpc>
                        <a:defRPr/>
                      </a:pPr>
                      <a:r>
                        <a:rPr lang="en-US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1</a:t>
                      </a:r>
                      <a:endParaRPr lang="en-US" sz="3200" b="1" baseline="-25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endParaRPr>
                    </a:p>
                    <a:p>
                      <a:pPr eaLnBrk="0" hangingPunct="0">
                        <a:lnSpc>
                          <a:spcPts val="2000"/>
                        </a:lnSpc>
                        <a:defRPr/>
                      </a:pPr>
                      <a:r>
                        <a:rPr lang="en-US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n</a:t>
                      </a:r>
                      <a:r>
                        <a:rPr lang="en-US" sz="3200" b="1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2</a:t>
                      </a:r>
                      <a:r>
                        <a:rPr lang="en-US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  </a:t>
                      </a:r>
                      <a:endParaRPr lang="th-TH" sz="3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endParaRPr>
                    </a:p>
                  </p:txBody>
                </p:sp>
                <p:cxnSp>
                  <p:nvCxnSpPr>
                    <p:cNvPr id="128" name="Straight Connector 127"/>
                    <p:cNvCxnSpPr/>
                    <p:nvPr/>
                  </p:nvCxnSpPr>
                  <p:spPr bwMode="auto">
                    <a:xfrm flipH="1">
                      <a:off x="2832966" y="1581810"/>
                      <a:ext cx="274320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sp>
                <p:nvSpPr>
                  <p:cNvPr id="126" name="Rectangle 3"/>
                  <p:cNvSpPr>
                    <a:spLocks noChangeArrowheads="1"/>
                  </p:cNvSpPr>
                  <p:nvPr/>
                </p:nvSpPr>
                <p:spPr bwMode="auto">
                  <a:xfrm>
                    <a:off x="6508873" y="2356947"/>
                    <a:ext cx="545414" cy="48873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/>
                  <a:lstStyle/>
                  <a:p>
                    <a:pPr eaLnBrk="0" hangingPunct="0">
                      <a:lnSpc>
                        <a:spcPct val="70000"/>
                      </a:lnSpc>
                      <a:defRPr/>
                    </a:pPr>
                    <a:r>
                      <a:rPr lang="en-US" sz="3200" b="1" dirty="0" err="1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S</a:t>
                    </a:r>
                    <a:r>
                      <a:rPr lang="en-US" sz="3200" b="1" baseline="-25000" dirty="0" err="1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p</a:t>
                    </a:r>
                    <a:endParaRPr lang="th-TH" sz="32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endParaRPr>
                  </a:p>
                </p:txBody>
              </p:sp>
            </p:grpSp>
            <p:sp>
              <p:nvSpPr>
                <p:cNvPr id="7" name="TextBox 6"/>
                <p:cNvSpPr txBox="1"/>
                <p:nvPr/>
              </p:nvSpPr>
              <p:spPr>
                <a:xfrm>
                  <a:off x="8061435" y="2343811"/>
                  <a:ext cx="44253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anose="02020603050405020304" pitchFamily="18" charset="-34"/>
                    </a:rPr>
                    <a:t>+ </a:t>
                  </a:r>
                  <a:endParaRPr lang="th-TH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</p:grpSp>
      </p:grpSp>
      <p:grpSp>
        <p:nvGrpSpPr>
          <p:cNvPr id="29" name="Group 28"/>
          <p:cNvGrpSpPr/>
          <p:nvPr/>
        </p:nvGrpSpPr>
        <p:grpSpPr>
          <a:xfrm>
            <a:off x="5533539" y="1371600"/>
            <a:ext cx="1369292" cy="580691"/>
            <a:chOff x="5533539" y="1371600"/>
            <a:chExt cx="1369292" cy="580691"/>
          </a:xfrm>
        </p:grpSpPr>
        <p:cxnSp>
          <p:nvCxnSpPr>
            <p:cNvPr id="17" name="Straight Arrow Connector 16"/>
            <p:cNvCxnSpPr/>
            <p:nvPr/>
          </p:nvCxnSpPr>
          <p:spPr bwMode="auto">
            <a:xfrm flipV="1">
              <a:off x="5533539" y="1660634"/>
              <a:ext cx="1031100" cy="29165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sp>
          <p:nvSpPr>
            <p:cNvPr id="27" name="TextBox 26"/>
            <p:cNvSpPr txBox="1"/>
            <p:nvPr/>
          </p:nvSpPr>
          <p:spPr>
            <a:xfrm>
              <a:off x="6521668" y="1371600"/>
              <a:ext cx="3811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Angsana New" panose="02020603050405020304" pitchFamily="18" charset="-34"/>
                </a:rPr>
                <a:t>0</a:t>
              </a:r>
              <a:endParaRPr lang="th-TH" b="1" dirty="0">
                <a:solidFill>
                  <a:srgbClr val="FF0000"/>
                </a:solidFill>
                <a:latin typeface="Angsana New" panose="02020603050405020304" pitchFamily="18" charset="-34"/>
              </a:endParaRPr>
            </a:p>
          </p:txBody>
        </p:sp>
      </p:grpSp>
      <p:sp>
        <p:nvSpPr>
          <p:cNvPr id="137" name="Rectangle 3"/>
          <p:cNvSpPr>
            <a:spLocks noChangeArrowheads="1"/>
          </p:cNvSpPr>
          <p:nvPr/>
        </p:nvSpPr>
        <p:spPr bwMode="auto">
          <a:xfrm>
            <a:off x="6629400" y="1721068"/>
            <a:ext cx="231490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lnSpc>
                <a:spcPct val="75000"/>
              </a:lnSpc>
              <a:defRPr/>
            </a:pPr>
            <a:r>
              <a:rPr lang="th-TH" sz="2600" b="1" dirty="0">
                <a:solidFill>
                  <a:srgbClr val="FF0000"/>
                </a:solidFill>
                <a:latin typeface="Angsana New" pitchFamily="18" charset="-34"/>
              </a:rPr>
              <a:t> </a:t>
            </a:r>
            <a:r>
              <a:rPr lang="th-TH" sz="2600" b="1" dirty="0">
                <a:solidFill>
                  <a:srgbClr val="FF0000"/>
                </a:solidFill>
                <a:latin typeface="Angsana New" pitchFamily="18" charset="-34"/>
                <a:sym typeface="Symbol"/>
              </a:rPr>
              <a:t></a:t>
            </a:r>
            <a:r>
              <a:rPr lang="en-US" sz="2600" b="1" dirty="0">
                <a:solidFill>
                  <a:srgbClr val="FF0000"/>
                </a:solidFill>
                <a:latin typeface="Angsana New" pitchFamily="18" charset="-34"/>
                <a:sym typeface="Symbol"/>
              </a:rPr>
              <a:t>  </a:t>
            </a:r>
            <a:r>
              <a:rPr lang="en-US" sz="3200" b="1" dirty="0">
                <a:solidFill>
                  <a:srgbClr val="FF0000"/>
                </a:solidFill>
                <a:latin typeface="Angsana New" pitchFamily="18" charset="-34"/>
                <a:sym typeface="Symbol"/>
              </a:rPr>
              <a:t>t(</a:t>
            </a:r>
            <a:r>
              <a:rPr lang="en-US" sz="3200" b="1" dirty="0">
                <a:solidFill>
                  <a:srgbClr val="FF0000"/>
                </a:solidFill>
                <a:latin typeface="Angsana New" pitchFamily="18" charset="-34"/>
              </a:rPr>
              <a:t>n</a:t>
            </a:r>
            <a:r>
              <a:rPr lang="en-US" sz="3200" b="1" baseline="-25000" dirty="0">
                <a:solidFill>
                  <a:srgbClr val="FF0000"/>
                </a:solidFill>
                <a:latin typeface="Angsana New" pitchFamily="18" charset="-34"/>
              </a:rPr>
              <a:t>1</a:t>
            </a:r>
            <a:r>
              <a:rPr lang="en-US" sz="3200" b="1" dirty="0">
                <a:solidFill>
                  <a:srgbClr val="FF0000"/>
                </a:solidFill>
                <a:latin typeface="Angsana New" pitchFamily="18" charset="-34"/>
              </a:rPr>
              <a:t> + n</a:t>
            </a:r>
            <a:r>
              <a:rPr lang="en-US" sz="3200" b="1" baseline="-25000" dirty="0">
                <a:solidFill>
                  <a:srgbClr val="FF0000"/>
                </a:solidFill>
                <a:latin typeface="Angsana New" pitchFamily="18" charset="-34"/>
              </a:rPr>
              <a:t>2</a:t>
            </a:r>
            <a:r>
              <a:rPr lang="en-US" sz="3200" b="1" dirty="0">
                <a:solidFill>
                  <a:srgbClr val="FF0000"/>
                </a:solidFill>
                <a:latin typeface="Angsana New" pitchFamily="18" charset="-34"/>
              </a:rPr>
              <a:t> – 2 )</a:t>
            </a:r>
            <a:endParaRPr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35849" name="Group 35848"/>
          <p:cNvGrpSpPr/>
          <p:nvPr/>
        </p:nvGrpSpPr>
        <p:grpSpPr>
          <a:xfrm>
            <a:off x="4419600" y="2727434"/>
            <a:ext cx="3716214" cy="1006366"/>
            <a:chOff x="4911435" y="2812586"/>
            <a:chExt cx="3716214" cy="1006366"/>
          </a:xfrm>
        </p:grpSpPr>
        <p:sp>
          <p:nvSpPr>
            <p:cNvPr id="144" name="Rectangle 3"/>
            <p:cNvSpPr>
              <a:spLocks noChangeArrowheads="1"/>
            </p:cNvSpPr>
            <p:nvPr/>
          </p:nvSpPr>
          <p:spPr bwMode="auto">
            <a:xfrm>
              <a:off x="4911435" y="3082789"/>
              <a:ext cx="994228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rgbClr val="FF0000"/>
                  </a:solidFill>
                  <a:latin typeface="Angsana New" pitchFamily="18" charset="-34"/>
                </a:rPr>
                <a:t> </a:t>
              </a:r>
              <a:r>
                <a:rPr lang="en-US" sz="3200" b="1" dirty="0" err="1">
                  <a:solidFill>
                    <a:srgbClr val="FF0000"/>
                  </a:solidFill>
                  <a:latin typeface="Angsana New" pitchFamily="18" charset="-34"/>
                </a:rPr>
                <a:t>S</a:t>
              </a:r>
              <a:r>
                <a:rPr lang="en-US" sz="3200" b="1" baseline="-25000" dirty="0" err="1">
                  <a:solidFill>
                    <a:srgbClr val="FF0000"/>
                  </a:solidFill>
                  <a:latin typeface="Angsana New" pitchFamily="18" charset="-34"/>
                </a:rPr>
                <a:t>p</a:t>
              </a:r>
              <a:r>
                <a:rPr lang="en-US" sz="3200" b="1" dirty="0">
                  <a:solidFill>
                    <a:srgbClr val="FF0000"/>
                  </a:solidFill>
                  <a:latin typeface="Angsana New" pitchFamily="18" charset="-34"/>
                </a:rPr>
                <a:t>  =  </a:t>
              </a:r>
              <a:endParaRPr lang="th-TH" sz="3200" b="1" dirty="0">
                <a:solidFill>
                  <a:srgbClr val="FF0000"/>
                </a:solidFill>
                <a:latin typeface="Angsana New" pitchFamily="18" charset="-34"/>
              </a:endParaRPr>
            </a:p>
          </p:txBody>
        </p:sp>
        <p:grpSp>
          <p:nvGrpSpPr>
            <p:cNvPr id="35841" name="Group 35840"/>
            <p:cNvGrpSpPr/>
            <p:nvPr/>
          </p:nvGrpSpPr>
          <p:grpSpPr>
            <a:xfrm>
              <a:off x="5130147" y="2812586"/>
              <a:ext cx="3497502" cy="705410"/>
              <a:chOff x="5130147" y="2812586"/>
              <a:chExt cx="3497502" cy="705410"/>
            </a:xfrm>
          </p:grpSpPr>
          <p:grpSp>
            <p:nvGrpSpPr>
              <p:cNvPr id="35840" name="Group 35839"/>
              <p:cNvGrpSpPr/>
              <p:nvPr/>
            </p:nvGrpSpPr>
            <p:grpSpPr>
              <a:xfrm>
                <a:off x="5710504" y="2812586"/>
                <a:ext cx="2917145" cy="641132"/>
                <a:chOff x="5710504" y="2812586"/>
                <a:chExt cx="2917145" cy="641132"/>
              </a:xfrm>
            </p:grpSpPr>
            <p:sp>
              <p:nvSpPr>
                <p:cNvPr id="160" name="Rectangle 3"/>
                <p:cNvSpPr>
                  <a:spLocks noChangeArrowheads="1"/>
                </p:cNvSpPr>
                <p:nvPr/>
              </p:nvSpPr>
              <p:spPr bwMode="auto">
                <a:xfrm>
                  <a:off x="5710504" y="2844118"/>
                  <a:ext cx="2917145" cy="6096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eaLnBrk="0" hangingPunct="0">
                    <a:defRPr/>
                  </a:pPr>
                  <a:r>
                    <a:rPr lang="en-US" sz="3200" b="1" dirty="0">
                      <a:solidFill>
                        <a:srgbClr val="FF0000"/>
                      </a:solidFill>
                      <a:latin typeface="Angsana New" pitchFamily="18" charset="-34"/>
                    </a:rPr>
                    <a:t>(n</a:t>
                  </a:r>
                  <a:r>
                    <a:rPr lang="en-US" sz="3200" b="1" baseline="-25000" dirty="0">
                      <a:solidFill>
                        <a:srgbClr val="FF0000"/>
                      </a:solidFill>
                      <a:latin typeface="Angsana New" pitchFamily="18" charset="-34"/>
                    </a:rPr>
                    <a:t>1</a:t>
                  </a:r>
                  <a:r>
                    <a:rPr lang="en-US" sz="3200" b="1" dirty="0">
                      <a:solidFill>
                        <a:srgbClr val="FF0000"/>
                      </a:solidFill>
                      <a:latin typeface="Angsana New" pitchFamily="18" charset="-34"/>
                    </a:rPr>
                    <a:t> – 1)S</a:t>
                  </a:r>
                  <a:r>
                    <a:rPr lang="en-US" sz="3200" b="1" baseline="-25000" dirty="0">
                      <a:solidFill>
                        <a:srgbClr val="FF0000"/>
                      </a:solidFill>
                      <a:latin typeface="Angsana New" pitchFamily="18" charset="-34"/>
                    </a:rPr>
                    <a:t>1</a:t>
                  </a:r>
                  <a:r>
                    <a:rPr lang="en-US" sz="3200" b="1" dirty="0">
                      <a:solidFill>
                        <a:srgbClr val="FF0000"/>
                      </a:solidFill>
                      <a:latin typeface="Angsana New" pitchFamily="18" charset="-34"/>
                    </a:rPr>
                    <a:t>  +  (n</a:t>
                  </a:r>
                  <a:r>
                    <a:rPr lang="en-US" sz="3200" b="1" baseline="-25000" dirty="0">
                      <a:solidFill>
                        <a:srgbClr val="FF0000"/>
                      </a:solidFill>
                      <a:latin typeface="Angsana New" pitchFamily="18" charset="-34"/>
                    </a:rPr>
                    <a:t>2</a:t>
                  </a:r>
                  <a:r>
                    <a:rPr lang="en-US" sz="3200" b="1" dirty="0">
                      <a:solidFill>
                        <a:srgbClr val="FF0000"/>
                      </a:solidFill>
                      <a:latin typeface="Angsana New" pitchFamily="18" charset="-34"/>
                    </a:rPr>
                    <a:t> – 1)S</a:t>
                  </a:r>
                  <a:r>
                    <a:rPr lang="en-US" sz="3200" b="1" baseline="-25000" dirty="0">
                      <a:solidFill>
                        <a:srgbClr val="FF0000"/>
                      </a:solidFill>
                      <a:latin typeface="Angsana New" pitchFamily="18" charset="-34"/>
                    </a:rPr>
                    <a:t>2</a:t>
                  </a:r>
                  <a:r>
                    <a:rPr lang="en-US" sz="3200" b="1" dirty="0">
                      <a:solidFill>
                        <a:srgbClr val="FF0000"/>
                      </a:solidFill>
                      <a:latin typeface="Angsana New" pitchFamily="18" charset="-34"/>
                    </a:rPr>
                    <a:t>  </a:t>
                  </a:r>
                  <a:endParaRPr lang="th-TH" sz="3200" b="1" dirty="0">
                    <a:solidFill>
                      <a:srgbClr val="FF0000"/>
                    </a:solidFill>
                    <a:latin typeface="Angsana New" pitchFamily="18" charset="-34"/>
                  </a:endParaRPr>
                </a:p>
              </p:txBody>
            </p:sp>
            <p:sp>
              <p:nvSpPr>
                <p:cNvPr id="159" name="Rectangle 3"/>
                <p:cNvSpPr>
                  <a:spLocks noChangeArrowheads="1"/>
                </p:cNvSpPr>
                <p:nvPr/>
              </p:nvSpPr>
              <p:spPr bwMode="auto">
                <a:xfrm>
                  <a:off x="6714022" y="2812586"/>
                  <a:ext cx="392257" cy="4887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eaLnBrk="0" hangingPunct="0">
                    <a:lnSpc>
                      <a:spcPct val="70000"/>
                    </a:lnSpc>
                    <a:defRPr/>
                  </a:pPr>
                  <a:r>
                    <a:rPr lang="en-US" sz="2400" b="1" dirty="0">
                      <a:solidFill>
                        <a:srgbClr val="FF0000"/>
                      </a:solidFill>
                      <a:latin typeface="Angsana New" pitchFamily="18" charset="-34"/>
                    </a:rPr>
                    <a:t>2</a:t>
                  </a:r>
                  <a:endParaRPr lang="th-TH" sz="2400" b="1" dirty="0">
                    <a:solidFill>
                      <a:srgbClr val="FF0000"/>
                    </a:solidFill>
                    <a:latin typeface="Angsana New" pitchFamily="18" charset="-34"/>
                  </a:endParaRPr>
                </a:p>
              </p:txBody>
            </p:sp>
          </p:grpSp>
          <p:sp>
            <p:nvSpPr>
              <p:cNvPr id="169" name="Rectangle 3"/>
              <p:cNvSpPr>
                <a:spLocks noChangeArrowheads="1"/>
              </p:cNvSpPr>
              <p:nvPr/>
            </p:nvSpPr>
            <p:spPr bwMode="auto">
              <a:xfrm>
                <a:off x="5130147" y="3029264"/>
                <a:ext cx="392257" cy="4887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0000"/>
                  </a:lnSpc>
                  <a:defRPr/>
                </a:pPr>
                <a:r>
                  <a:rPr lang="en-US" sz="2400" b="1" dirty="0">
                    <a:solidFill>
                      <a:srgbClr val="FF0000"/>
                    </a:solidFill>
                    <a:latin typeface="Angsana New" pitchFamily="18" charset="-34"/>
                  </a:rPr>
                  <a:t>2</a:t>
                </a:r>
                <a:endParaRPr lang="th-TH" sz="24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</p:grpSp>
        <p:sp>
          <p:nvSpPr>
            <p:cNvPr id="180" name="TextBox 179"/>
            <p:cNvSpPr txBox="1"/>
            <p:nvPr/>
          </p:nvSpPr>
          <p:spPr>
            <a:xfrm>
              <a:off x="8168732" y="2825763"/>
              <a:ext cx="458917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rgbClr val="FF0000"/>
                  </a:solidFill>
                  <a:latin typeface="Angsana New" panose="02020603050405020304" pitchFamily="18" charset="-34"/>
                </a:rPr>
                <a:t>2 </a:t>
              </a:r>
              <a:endParaRPr lang="th-TH" sz="2200" b="1" dirty="0">
                <a:solidFill>
                  <a:srgbClr val="FF0000"/>
                </a:solidFill>
                <a:latin typeface="Angsana New" panose="02020603050405020304" pitchFamily="18" charset="-34"/>
              </a:endParaRPr>
            </a:p>
          </p:txBody>
        </p:sp>
        <p:sp>
          <p:nvSpPr>
            <p:cNvPr id="200" name="Rectangle 3"/>
            <p:cNvSpPr>
              <a:spLocks noChangeArrowheads="1"/>
            </p:cNvSpPr>
            <p:nvPr/>
          </p:nvSpPr>
          <p:spPr bwMode="auto">
            <a:xfrm>
              <a:off x="6417849" y="3209352"/>
              <a:ext cx="1687857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defRPr/>
              </a:pPr>
              <a:r>
                <a:rPr lang="en-US" sz="3200" b="1" dirty="0">
                  <a:solidFill>
                    <a:srgbClr val="FF0000"/>
                  </a:solidFill>
                  <a:latin typeface="Angsana New" pitchFamily="18" charset="-34"/>
                </a:rPr>
                <a:t>n</a:t>
              </a:r>
              <a:r>
                <a:rPr lang="en-US" sz="3200" b="1" baseline="-25000" dirty="0">
                  <a:solidFill>
                    <a:srgbClr val="FF0000"/>
                  </a:solidFill>
                  <a:latin typeface="Angsana New" pitchFamily="18" charset="-34"/>
                </a:rPr>
                <a:t>1</a:t>
              </a:r>
              <a:r>
                <a:rPr lang="en-US" sz="3200" b="1" dirty="0">
                  <a:solidFill>
                    <a:srgbClr val="FF0000"/>
                  </a:solidFill>
                  <a:latin typeface="Angsana New" pitchFamily="18" charset="-34"/>
                </a:rPr>
                <a:t> + n</a:t>
              </a:r>
              <a:r>
                <a:rPr lang="en-US" sz="3200" b="1" baseline="-25000" dirty="0">
                  <a:solidFill>
                    <a:srgbClr val="FF0000"/>
                  </a:solidFill>
                  <a:latin typeface="Angsana New" pitchFamily="18" charset="-34"/>
                </a:rPr>
                <a:t>2</a:t>
              </a:r>
              <a:r>
                <a:rPr lang="en-US" sz="3200" b="1" dirty="0">
                  <a:solidFill>
                    <a:srgbClr val="FF0000"/>
                  </a:solidFill>
                  <a:latin typeface="Angsana New" pitchFamily="18" charset="-34"/>
                </a:rPr>
                <a:t> – 2  </a:t>
              </a:r>
              <a:endParaRPr lang="th-TH" sz="3200" b="1" dirty="0">
                <a:solidFill>
                  <a:srgbClr val="FF0000"/>
                </a:solidFill>
                <a:latin typeface="Angsana New" pitchFamily="18" charset="-34"/>
              </a:endParaRPr>
            </a:p>
          </p:txBody>
        </p:sp>
        <p:cxnSp>
          <p:nvCxnSpPr>
            <p:cNvPr id="146" name="Straight Connector 145"/>
            <p:cNvCxnSpPr/>
            <p:nvPr/>
          </p:nvCxnSpPr>
          <p:spPr bwMode="auto">
            <a:xfrm flipH="1">
              <a:off x="5764633" y="3382805"/>
              <a:ext cx="265176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sp>
        <p:nvSpPr>
          <p:cNvPr id="150" name="Rectangle 6"/>
          <p:cNvSpPr>
            <a:spLocks noChangeArrowheads="1"/>
          </p:cNvSpPr>
          <p:nvPr/>
        </p:nvSpPr>
        <p:spPr bwMode="auto">
          <a:xfrm>
            <a:off x="152400" y="4058443"/>
            <a:ext cx="2438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75000"/>
              </a:lnSpc>
              <a:defRPr/>
            </a:pPr>
            <a:r>
              <a:rPr lang="th-TH" sz="3200" b="1" dirty="0">
                <a:solidFill>
                  <a:srgbClr val="CC3399"/>
                </a:solidFill>
                <a:latin typeface="Angsana New" panose="02020603050405020304" pitchFamily="18" charset="-34"/>
              </a:rPr>
              <a:t>เขตวิกฤต :</a:t>
            </a:r>
          </a:p>
        </p:txBody>
      </p:sp>
      <p:sp>
        <p:nvSpPr>
          <p:cNvPr id="151" name="Text Box 25"/>
          <p:cNvSpPr txBox="1">
            <a:spLocks noChangeArrowheads="1"/>
          </p:cNvSpPr>
          <p:nvPr/>
        </p:nvSpPr>
        <p:spPr bwMode="auto">
          <a:xfrm>
            <a:off x="1600200" y="3962400"/>
            <a:ext cx="21844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– 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2 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&lt;  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152" name="Group 151"/>
          <p:cNvGrpSpPr/>
          <p:nvPr/>
        </p:nvGrpSpPr>
        <p:grpSpPr>
          <a:xfrm>
            <a:off x="1162749" y="4558455"/>
            <a:ext cx="2506290" cy="903120"/>
            <a:chOff x="1162749" y="2481212"/>
            <a:chExt cx="2506290" cy="903120"/>
          </a:xfrm>
        </p:grpSpPr>
        <p:grpSp>
          <p:nvGrpSpPr>
            <p:cNvPr id="162" name="Group 9"/>
            <p:cNvGrpSpPr>
              <a:grpSpLocks/>
            </p:cNvGrpSpPr>
            <p:nvPr/>
          </p:nvGrpSpPr>
          <p:grpSpPr bwMode="auto">
            <a:xfrm>
              <a:off x="1278264" y="2492157"/>
              <a:ext cx="2390775" cy="892175"/>
              <a:chOff x="288" y="3518"/>
              <a:chExt cx="1506" cy="562"/>
            </a:xfrm>
          </p:grpSpPr>
          <p:grpSp>
            <p:nvGrpSpPr>
              <p:cNvPr id="164" name="Group 10"/>
              <p:cNvGrpSpPr>
                <a:grpSpLocks/>
              </p:cNvGrpSpPr>
              <p:nvPr/>
            </p:nvGrpSpPr>
            <p:grpSpPr bwMode="auto">
              <a:xfrm>
                <a:off x="288" y="3518"/>
                <a:ext cx="1506" cy="562"/>
                <a:chOff x="288" y="3614"/>
                <a:chExt cx="1506" cy="562"/>
              </a:xfrm>
            </p:grpSpPr>
            <p:grpSp>
              <p:nvGrpSpPr>
                <p:cNvPr id="166" name="Group 11"/>
                <p:cNvGrpSpPr>
                  <a:grpSpLocks/>
                </p:cNvGrpSpPr>
                <p:nvPr/>
              </p:nvGrpSpPr>
              <p:grpSpPr bwMode="auto">
                <a:xfrm>
                  <a:off x="288" y="3614"/>
                  <a:ext cx="1506" cy="562"/>
                  <a:chOff x="288" y="3614"/>
                  <a:chExt cx="1506" cy="562"/>
                </a:xfrm>
              </p:grpSpPr>
              <p:grpSp>
                <p:nvGrpSpPr>
                  <p:cNvPr id="168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88" y="3614"/>
                    <a:ext cx="1506" cy="562"/>
                    <a:chOff x="288" y="3614"/>
                    <a:chExt cx="1506" cy="562"/>
                  </a:xfrm>
                </p:grpSpPr>
                <p:grpSp>
                  <p:nvGrpSpPr>
                    <p:cNvPr id="171" name="Group 1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8" y="3614"/>
                      <a:ext cx="1506" cy="562"/>
                      <a:chOff x="288" y="3619"/>
                      <a:chExt cx="1506" cy="562"/>
                    </a:xfrm>
                  </p:grpSpPr>
                  <p:sp>
                    <p:nvSpPr>
                      <p:cNvPr id="179" name="Line 1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" y="4176"/>
                        <a:ext cx="1488" cy="0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81" name="Freeform 1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5" y="3619"/>
                        <a:ext cx="1499" cy="525"/>
                      </a:xfrm>
                      <a:custGeom>
                        <a:avLst/>
                        <a:gdLst>
                          <a:gd name="T0" fmla="*/ 0 w 1499"/>
                          <a:gd name="T1" fmla="*/ 525 h 525"/>
                          <a:gd name="T2" fmla="*/ 269 w 1499"/>
                          <a:gd name="T3" fmla="*/ 483 h 525"/>
                          <a:gd name="T4" fmla="*/ 513 w 1499"/>
                          <a:gd name="T5" fmla="*/ 314 h 525"/>
                          <a:gd name="T6" fmla="*/ 665 w 1499"/>
                          <a:gd name="T7" fmla="*/ 70 h 525"/>
                          <a:gd name="T8" fmla="*/ 808 w 1499"/>
                          <a:gd name="T9" fmla="*/ 3 h 525"/>
                          <a:gd name="T10" fmla="*/ 943 w 1499"/>
                          <a:gd name="T11" fmla="*/ 87 h 525"/>
                          <a:gd name="T12" fmla="*/ 1069 w 1499"/>
                          <a:gd name="T13" fmla="*/ 348 h 525"/>
                          <a:gd name="T14" fmla="*/ 1196 w 1499"/>
                          <a:gd name="T15" fmla="*/ 457 h 525"/>
                          <a:gd name="T16" fmla="*/ 1339 w 1499"/>
                          <a:gd name="T17" fmla="*/ 491 h 525"/>
                          <a:gd name="T18" fmla="*/ 1499 w 1499"/>
                          <a:gd name="T19" fmla="*/ 516 h 525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  <a:gd name="T27" fmla="*/ 0 60000 65536"/>
                          <a:gd name="T28" fmla="*/ 0 60000 65536"/>
                          <a:gd name="T29" fmla="*/ 0 60000 65536"/>
                          <a:gd name="T30" fmla="*/ 0 w 1499"/>
                          <a:gd name="T31" fmla="*/ 0 h 525"/>
                          <a:gd name="T32" fmla="*/ 1499 w 1499"/>
                          <a:gd name="T33" fmla="*/ 525 h 525"/>
                        </a:gdLst>
                        <a:ahLst/>
                        <a:cxnLst>
                          <a:cxn ang="T20">
                            <a:pos x="T0" y="T1"/>
                          </a:cxn>
                          <a:cxn ang="T21">
                            <a:pos x="T2" y="T3"/>
                          </a:cxn>
                          <a:cxn ang="T22">
                            <a:pos x="T4" y="T5"/>
                          </a:cxn>
                          <a:cxn ang="T23">
                            <a:pos x="T6" y="T7"/>
                          </a:cxn>
                          <a:cxn ang="T24">
                            <a:pos x="T8" y="T9"/>
                          </a:cxn>
                          <a:cxn ang="T25">
                            <a:pos x="T10" y="T11"/>
                          </a:cxn>
                          <a:cxn ang="T26">
                            <a:pos x="T12" y="T13"/>
                          </a:cxn>
                          <a:cxn ang="T27">
                            <a:pos x="T14" y="T15"/>
                          </a:cxn>
                          <a:cxn ang="T28">
                            <a:pos x="T16" y="T17"/>
                          </a:cxn>
                          <a:cxn ang="T29">
                            <a:pos x="T18" y="T19"/>
                          </a:cxn>
                        </a:cxnLst>
                        <a:rect l="T30" t="T31" r="T32" b="T33"/>
                        <a:pathLst>
                          <a:path w="1499" h="525">
                            <a:moveTo>
                              <a:pt x="0" y="525"/>
                            </a:moveTo>
                            <a:cubicBezTo>
                              <a:pt x="43" y="518"/>
                              <a:pt x="184" y="518"/>
                              <a:pt x="269" y="483"/>
                            </a:cubicBezTo>
                            <a:cubicBezTo>
                              <a:pt x="354" y="448"/>
                              <a:pt x="447" y="383"/>
                              <a:pt x="513" y="314"/>
                            </a:cubicBezTo>
                            <a:cubicBezTo>
                              <a:pt x="579" y="245"/>
                              <a:pt x="616" y="122"/>
                              <a:pt x="665" y="70"/>
                            </a:cubicBezTo>
                            <a:cubicBezTo>
                              <a:pt x="714" y="18"/>
                              <a:pt x="762" y="0"/>
                              <a:pt x="808" y="3"/>
                            </a:cubicBezTo>
                            <a:cubicBezTo>
                              <a:pt x="854" y="6"/>
                              <a:pt x="899" y="29"/>
                              <a:pt x="943" y="87"/>
                            </a:cubicBezTo>
                            <a:cubicBezTo>
                              <a:pt x="987" y="145"/>
                              <a:pt x="1027" y="286"/>
                              <a:pt x="1069" y="348"/>
                            </a:cubicBezTo>
                            <a:cubicBezTo>
                              <a:pt x="1111" y="410"/>
                              <a:pt x="1151" y="433"/>
                              <a:pt x="1196" y="457"/>
                            </a:cubicBezTo>
                            <a:cubicBezTo>
                              <a:pt x="1241" y="481"/>
                              <a:pt x="1289" y="481"/>
                              <a:pt x="1339" y="491"/>
                            </a:cubicBezTo>
                            <a:cubicBezTo>
                              <a:pt x="1389" y="501"/>
                              <a:pt x="1466" y="511"/>
                              <a:pt x="1499" y="516"/>
                            </a:cubicBezTo>
                          </a:path>
                        </a:pathLst>
                      </a:cu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th-TH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82" name="Line 16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72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85" name="Line 17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24" y="4085"/>
                        <a:ext cx="96" cy="96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86" name="Line 18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576" y="4037"/>
                        <a:ext cx="144" cy="144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95" name="Line 19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80" y="4128"/>
                        <a:ext cx="56" cy="53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203" name="Line 2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432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204" name="Line 21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36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205" name="Line 22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84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grpSp>
                  <p:nvGrpSpPr>
                    <p:cNvPr id="172" name="Group 2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28" y="4032"/>
                      <a:ext cx="192" cy="144"/>
                      <a:chOff x="528" y="4032"/>
                      <a:chExt cx="192" cy="144"/>
                    </a:xfrm>
                  </p:grpSpPr>
                  <p:sp>
                    <p:nvSpPr>
                      <p:cNvPr id="175" name="Line 2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20" y="4032"/>
                        <a:ext cx="0" cy="144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76" name="Line 25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28" y="4076"/>
                        <a:ext cx="95" cy="100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</p:grpSp>
              <p:sp>
                <p:nvSpPr>
                  <p:cNvPr id="170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28" y="4032"/>
                    <a:ext cx="192" cy="9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167" name="Line 27"/>
                <p:cNvSpPr>
                  <a:spLocks noChangeShapeType="1"/>
                </p:cNvSpPr>
                <p:nvPr/>
              </p:nvSpPr>
              <p:spPr bwMode="auto">
                <a:xfrm>
                  <a:off x="384" y="3840"/>
                  <a:ext cx="139" cy="240"/>
                </a:xfrm>
                <a:prstGeom prst="line">
                  <a:avLst/>
                </a:prstGeom>
                <a:noFill/>
                <a:ln w="28575">
                  <a:solidFill>
                    <a:srgbClr val="CC3399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</p:grpSp>
          <p:sp>
            <p:nvSpPr>
              <p:cNvPr id="165" name="Line 29"/>
              <p:cNvSpPr>
                <a:spLocks noChangeShapeType="1"/>
              </p:cNvSpPr>
              <p:nvPr/>
            </p:nvSpPr>
            <p:spPr bwMode="auto">
              <a:xfrm flipH="1">
                <a:off x="448" y="4000"/>
                <a:ext cx="192" cy="4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</p:grpSp>
        <p:sp>
          <p:nvSpPr>
            <p:cNvPr id="163" name="Text Box 25"/>
            <p:cNvSpPr txBox="1">
              <a:spLocks noChangeArrowheads="1"/>
            </p:cNvSpPr>
            <p:nvPr/>
          </p:nvSpPr>
          <p:spPr bwMode="auto">
            <a:xfrm>
              <a:off x="1162749" y="2481212"/>
              <a:ext cx="530677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sp>
        <p:nvSpPr>
          <p:cNvPr id="206" name="Text Box 25"/>
          <p:cNvSpPr txBox="1">
            <a:spLocks noChangeArrowheads="1"/>
          </p:cNvSpPr>
          <p:nvPr/>
        </p:nvSpPr>
        <p:spPr bwMode="auto">
          <a:xfrm>
            <a:off x="4267200" y="3962400"/>
            <a:ext cx="20596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</a:t>
            </a:r>
            <a:r>
              <a:rPr kumimoji="1" lang="th-TH" sz="24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–  </a:t>
            </a:r>
            <a:r>
              <a:rPr kumimoji="1" lang="th-TH" sz="24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2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</a:t>
            </a:r>
            <a:r>
              <a:rPr kumimoji="1" lang="en-US" sz="2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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  </a:t>
            </a:r>
            <a:r>
              <a:rPr kumimoji="1" lang="th-TH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207" name="Group 206"/>
          <p:cNvGrpSpPr/>
          <p:nvPr/>
        </p:nvGrpSpPr>
        <p:grpSpPr>
          <a:xfrm>
            <a:off x="3784659" y="4455209"/>
            <a:ext cx="2645976" cy="974834"/>
            <a:chOff x="3784659" y="2377966"/>
            <a:chExt cx="2645976" cy="974834"/>
          </a:xfrm>
        </p:grpSpPr>
        <p:grpSp>
          <p:nvGrpSpPr>
            <p:cNvPr id="208" name="Group 51"/>
            <p:cNvGrpSpPr>
              <a:grpSpLocks/>
            </p:cNvGrpSpPr>
            <p:nvPr/>
          </p:nvGrpSpPr>
          <p:grpSpPr bwMode="auto">
            <a:xfrm>
              <a:off x="3928625" y="2438400"/>
              <a:ext cx="2393950" cy="914400"/>
              <a:chOff x="2206" y="3504"/>
              <a:chExt cx="1508" cy="576"/>
            </a:xfrm>
          </p:grpSpPr>
          <p:grpSp>
            <p:nvGrpSpPr>
              <p:cNvPr id="211" name="Group 52"/>
              <p:cNvGrpSpPr>
                <a:grpSpLocks/>
              </p:cNvGrpSpPr>
              <p:nvPr/>
            </p:nvGrpSpPr>
            <p:grpSpPr bwMode="auto">
              <a:xfrm>
                <a:off x="2208" y="3504"/>
                <a:ext cx="1506" cy="576"/>
                <a:chOff x="2256" y="3506"/>
                <a:chExt cx="1506" cy="576"/>
              </a:xfrm>
            </p:grpSpPr>
            <p:grpSp>
              <p:nvGrpSpPr>
                <p:cNvPr id="213" name="Group 53"/>
                <p:cNvGrpSpPr>
                  <a:grpSpLocks/>
                </p:cNvGrpSpPr>
                <p:nvPr/>
              </p:nvGrpSpPr>
              <p:grpSpPr bwMode="auto">
                <a:xfrm>
                  <a:off x="2256" y="3506"/>
                  <a:ext cx="1506" cy="576"/>
                  <a:chOff x="2256" y="3506"/>
                  <a:chExt cx="1506" cy="576"/>
                </a:xfrm>
              </p:grpSpPr>
              <p:grpSp>
                <p:nvGrpSpPr>
                  <p:cNvPr id="215" name="Group 54"/>
                  <p:cNvGrpSpPr>
                    <a:grpSpLocks/>
                  </p:cNvGrpSpPr>
                  <p:nvPr/>
                </p:nvGrpSpPr>
                <p:grpSpPr bwMode="auto">
                  <a:xfrm>
                    <a:off x="2256" y="3506"/>
                    <a:ext cx="1506" cy="576"/>
                    <a:chOff x="2256" y="3506"/>
                    <a:chExt cx="1506" cy="576"/>
                  </a:xfrm>
                </p:grpSpPr>
                <p:grpSp>
                  <p:nvGrpSpPr>
                    <p:cNvPr id="217" name="Group 5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63" y="3506"/>
                      <a:ext cx="1499" cy="576"/>
                      <a:chOff x="2263" y="3506"/>
                      <a:chExt cx="1499" cy="576"/>
                    </a:xfrm>
                  </p:grpSpPr>
                  <p:grpSp>
                    <p:nvGrpSpPr>
                      <p:cNvPr id="220" name="Group 5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63" y="3506"/>
                        <a:ext cx="1499" cy="576"/>
                        <a:chOff x="2263" y="3506"/>
                        <a:chExt cx="1499" cy="576"/>
                      </a:xfrm>
                    </p:grpSpPr>
                    <p:grpSp>
                      <p:nvGrpSpPr>
                        <p:cNvPr id="222" name="Group 57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263" y="3506"/>
                          <a:ext cx="1499" cy="576"/>
                          <a:chOff x="2263" y="3504"/>
                          <a:chExt cx="1499" cy="576"/>
                        </a:xfrm>
                      </p:grpSpPr>
                      <p:grpSp>
                        <p:nvGrpSpPr>
                          <p:cNvPr id="224" name="Group 58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263" y="3504"/>
                            <a:ext cx="1499" cy="576"/>
                            <a:chOff x="2263" y="3504"/>
                            <a:chExt cx="1499" cy="576"/>
                          </a:xfrm>
                        </p:grpSpPr>
                        <p:sp>
                          <p:nvSpPr>
                            <p:cNvPr id="228" name="Line 59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2263" y="4080"/>
                              <a:ext cx="1488" cy="0"/>
                            </a:xfrm>
                            <a:prstGeom prst="line">
                              <a:avLst/>
                            </a:pr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229" name="Freeform 60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263" y="3504"/>
                              <a:ext cx="1499" cy="525"/>
                            </a:xfrm>
                            <a:custGeom>
                              <a:avLst/>
                              <a:gdLst>
                                <a:gd name="T0" fmla="*/ 0 w 1499"/>
                                <a:gd name="T1" fmla="*/ 525 h 525"/>
                                <a:gd name="T2" fmla="*/ 269 w 1499"/>
                                <a:gd name="T3" fmla="*/ 483 h 525"/>
                                <a:gd name="T4" fmla="*/ 513 w 1499"/>
                                <a:gd name="T5" fmla="*/ 314 h 525"/>
                                <a:gd name="T6" fmla="*/ 665 w 1499"/>
                                <a:gd name="T7" fmla="*/ 70 h 525"/>
                                <a:gd name="T8" fmla="*/ 808 w 1499"/>
                                <a:gd name="T9" fmla="*/ 3 h 525"/>
                                <a:gd name="T10" fmla="*/ 943 w 1499"/>
                                <a:gd name="T11" fmla="*/ 87 h 525"/>
                                <a:gd name="T12" fmla="*/ 1069 w 1499"/>
                                <a:gd name="T13" fmla="*/ 348 h 525"/>
                                <a:gd name="T14" fmla="*/ 1196 w 1499"/>
                                <a:gd name="T15" fmla="*/ 457 h 525"/>
                                <a:gd name="T16" fmla="*/ 1339 w 1499"/>
                                <a:gd name="T17" fmla="*/ 491 h 525"/>
                                <a:gd name="T18" fmla="*/ 1499 w 1499"/>
                                <a:gd name="T19" fmla="*/ 516 h 525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  <a:gd name="T24" fmla="*/ 0 60000 65536"/>
                                <a:gd name="T25" fmla="*/ 0 60000 65536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w 1499"/>
                                <a:gd name="T31" fmla="*/ 0 h 525"/>
                                <a:gd name="T32" fmla="*/ 1499 w 1499"/>
                                <a:gd name="T33" fmla="*/ 525 h 525"/>
                              </a:gdLst>
                              <a:ahLst/>
                              <a:cxnLst>
                                <a:cxn ang="T20">
                                  <a:pos x="T0" y="T1"/>
                                </a:cxn>
                                <a:cxn ang="T21">
                                  <a:pos x="T2" y="T3"/>
                                </a:cxn>
                                <a:cxn ang="T22">
                                  <a:pos x="T4" y="T5"/>
                                </a:cxn>
                                <a:cxn ang="T23">
                                  <a:pos x="T6" y="T7"/>
                                </a:cxn>
                                <a:cxn ang="T24">
                                  <a:pos x="T8" y="T9"/>
                                </a:cxn>
                                <a:cxn ang="T25">
                                  <a:pos x="T10" y="T11"/>
                                </a:cxn>
                                <a:cxn ang="T26">
                                  <a:pos x="T12" y="T13"/>
                                </a:cxn>
                                <a:cxn ang="T27">
                                  <a:pos x="T14" y="T15"/>
                                </a:cxn>
                                <a:cxn ang="T28">
                                  <a:pos x="T16" y="T17"/>
                                </a:cxn>
                                <a:cxn ang="T29">
                                  <a:pos x="T18" y="T19"/>
                                </a:cxn>
                              </a:cxnLst>
                              <a:rect l="T30" t="T31" r="T32" b="T33"/>
                              <a:pathLst>
                                <a:path w="1499" h="525">
                                  <a:moveTo>
                                    <a:pt x="0" y="525"/>
                                  </a:moveTo>
                                  <a:cubicBezTo>
                                    <a:pt x="43" y="518"/>
                                    <a:pt x="184" y="518"/>
                                    <a:pt x="269" y="483"/>
                                  </a:cubicBezTo>
                                  <a:cubicBezTo>
                                    <a:pt x="354" y="448"/>
                                    <a:pt x="447" y="383"/>
                                    <a:pt x="513" y="314"/>
                                  </a:cubicBezTo>
                                  <a:cubicBezTo>
                                    <a:pt x="579" y="245"/>
                                    <a:pt x="616" y="122"/>
                                    <a:pt x="665" y="70"/>
                                  </a:cubicBezTo>
                                  <a:cubicBezTo>
                                    <a:pt x="714" y="18"/>
                                    <a:pt x="762" y="0"/>
                                    <a:pt x="808" y="3"/>
                                  </a:cubicBezTo>
                                  <a:cubicBezTo>
                                    <a:pt x="854" y="6"/>
                                    <a:pt x="899" y="29"/>
                                    <a:pt x="943" y="87"/>
                                  </a:cubicBezTo>
                                  <a:cubicBezTo>
                                    <a:pt x="987" y="145"/>
                                    <a:pt x="1027" y="286"/>
                                    <a:pt x="1069" y="348"/>
                                  </a:cubicBezTo>
                                  <a:cubicBezTo>
                                    <a:pt x="1111" y="410"/>
                                    <a:pt x="1151" y="433"/>
                                    <a:pt x="1196" y="457"/>
                                  </a:cubicBezTo>
                                  <a:cubicBezTo>
                                    <a:pt x="1241" y="481"/>
                                    <a:pt x="1289" y="481"/>
                                    <a:pt x="1339" y="491"/>
                                  </a:cubicBezTo>
                                  <a:cubicBezTo>
                                    <a:pt x="1389" y="501"/>
                                    <a:pt x="1466" y="511"/>
                                    <a:pt x="1499" y="516"/>
                                  </a:cubicBezTo>
                                </a:path>
                              </a:pathLst>
                            </a:cu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th-TH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230" name="Line 62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360" y="4032"/>
                              <a:ext cx="240" cy="0"/>
                            </a:xfrm>
                            <a:prstGeom prst="line">
                              <a:avLst/>
                            </a:prstGeom>
                            <a:noFill/>
                            <a:ln w="7620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231" name="Line 63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360" y="3936"/>
                              <a:ext cx="336" cy="96"/>
                            </a:xfrm>
                            <a:prstGeom prst="line">
                              <a:avLst/>
                            </a:pr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232" name="Line 64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3523" y="3744"/>
                              <a:ext cx="102" cy="241"/>
                            </a:xfrm>
                            <a:prstGeom prst="line">
                              <a:avLst/>
                            </a:prstGeom>
                            <a:noFill/>
                            <a:ln w="28575">
                              <a:solidFill>
                                <a:srgbClr val="CC3399"/>
                              </a:solidFill>
                              <a:round/>
                              <a:headEnd/>
                              <a:tailEnd type="triangle" w="med" len="med"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25" name="Line 6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504" y="3984"/>
                            <a:ext cx="192" cy="48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226" name="Line 6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360" y="4049"/>
                            <a:ext cx="358" cy="19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227" name="Line 6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360" y="3984"/>
                            <a:ext cx="144" cy="0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</p:grpSp>
                    <p:sp>
                      <p:nvSpPr>
                        <p:cNvPr id="223" name="Line 6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360" y="3888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</p:grpSp>
                  <p:sp>
                    <p:nvSpPr>
                      <p:cNvPr id="221" name="Line 7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83" y="3746"/>
                        <a:ext cx="142" cy="241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CC3399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sp>
                  <p:nvSpPr>
                    <p:cNvPr id="218" name="Line 7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4080"/>
                      <a:ext cx="384" cy="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  <p:sp>
                  <p:nvSpPr>
                    <p:cNvPr id="219" name="Line 72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636" y="3959"/>
                      <a:ext cx="4" cy="121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</p:grpSp>
              <p:sp>
                <p:nvSpPr>
                  <p:cNvPr id="216" name="Line 7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411" y="4032"/>
                    <a:ext cx="229" cy="8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214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2544" y="3969"/>
                  <a:ext cx="96" cy="4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</p:grpSp>
          <p:sp>
            <p:nvSpPr>
              <p:cNvPr id="212" name="Line 75"/>
              <p:cNvSpPr>
                <a:spLocks noChangeShapeType="1"/>
              </p:cNvSpPr>
              <p:nvPr/>
            </p:nvSpPr>
            <p:spPr bwMode="auto">
              <a:xfrm>
                <a:off x="2206" y="4047"/>
                <a:ext cx="146" cy="1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</p:grpSp>
        <p:sp>
          <p:nvSpPr>
            <p:cNvPr id="209" name="Text Box 25"/>
            <p:cNvSpPr txBox="1">
              <a:spLocks noChangeArrowheads="1"/>
            </p:cNvSpPr>
            <p:nvPr/>
          </p:nvSpPr>
          <p:spPr bwMode="auto">
            <a:xfrm>
              <a:off x="3784659" y="2384395"/>
              <a:ext cx="685801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r>
                <a:rPr kumimoji="1" lang="en-US" sz="32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/2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  <p:sp>
          <p:nvSpPr>
            <p:cNvPr id="210" name="Text Box 25"/>
            <p:cNvSpPr txBox="1">
              <a:spLocks noChangeArrowheads="1"/>
            </p:cNvSpPr>
            <p:nvPr/>
          </p:nvSpPr>
          <p:spPr bwMode="auto">
            <a:xfrm>
              <a:off x="5744834" y="2377966"/>
              <a:ext cx="685801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r>
                <a:rPr kumimoji="1" lang="en-US" sz="32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/2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sp>
        <p:nvSpPr>
          <p:cNvPr id="233" name="Text Box 25"/>
          <p:cNvSpPr txBox="1">
            <a:spLocks noChangeArrowheads="1"/>
          </p:cNvSpPr>
          <p:nvPr/>
        </p:nvSpPr>
        <p:spPr bwMode="auto">
          <a:xfrm>
            <a:off x="6858000" y="3971459"/>
            <a:ext cx="21253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– 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2 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&gt;  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234" name="Group 233"/>
          <p:cNvGrpSpPr/>
          <p:nvPr/>
        </p:nvGrpSpPr>
        <p:grpSpPr>
          <a:xfrm>
            <a:off x="6564639" y="4455209"/>
            <a:ext cx="2379663" cy="974834"/>
            <a:chOff x="6564639" y="2377966"/>
            <a:chExt cx="2379663" cy="974834"/>
          </a:xfrm>
        </p:grpSpPr>
        <p:grpSp>
          <p:nvGrpSpPr>
            <p:cNvPr id="235" name="Group 32"/>
            <p:cNvGrpSpPr>
              <a:grpSpLocks/>
            </p:cNvGrpSpPr>
            <p:nvPr/>
          </p:nvGrpSpPr>
          <p:grpSpPr bwMode="auto">
            <a:xfrm>
              <a:off x="6564639" y="2438400"/>
              <a:ext cx="2379663" cy="914400"/>
              <a:chOff x="4128" y="3552"/>
              <a:chExt cx="1499" cy="576"/>
            </a:xfrm>
          </p:grpSpPr>
          <p:sp>
            <p:nvSpPr>
              <p:cNvPr id="237" name="Line 33"/>
              <p:cNvSpPr>
                <a:spLocks noChangeShapeType="1"/>
              </p:cNvSpPr>
              <p:nvPr/>
            </p:nvSpPr>
            <p:spPr bwMode="auto">
              <a:xfrm>
                <a:off x="5369" y="4032"/>
                <a:ext cx="192" cy="4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  <p:grpSp>
            <p:nvGrpSpPr>
              <p:cNvPr id="238" name="Group 34"/>
              <p:cNvGrpSpPr>
                <a:grpSpLocks/>
              </p:cNvGrpSpPr>
              <p:nvPr/>
            </p:nvGrpSpPr>
            <p:grpSpPr bwMode="auto">
              <a:xfrm>
                <a:off x="4128" y="3552"/>
                <a:ext cx="1499" cy="576"/>
                <a:chOff x="4128" y="3456"/>
                <a:chExt cx="1499" cy="576"/>
              </a:xfrm>
            </p:grpSpPr>
            <p:sp>
              <p:nvSpPr>
                <p:cNvPr id="239" name="Line 35"/>
                <p:cNvSpPr>
                  <a:spLocks noChangeShapeType="1"/>
                </p:cNvSpPr>
                <p:nvPr/>
              </p:nvSpPr>
              <p:spPr bwMode="auto">
                <a:xfrm>
                  <a:off x="4128" y="4032"/>
                  <a:ext cx="1488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  <p:grpSp>
              <p:nvGrpSpPr>
                <p:cNvPr id="240" name="Group 36"/>
                <p:cNvGrpSpPr>
                  <a:grpSpLocks/>
                </p:cNvGrpSpPr>
                <p:nvPr/>
              </p:nvGrpSpPr>
              <p:grpSpPr bwMode="auto">
                <a:xfrm>
                  <a:off x="4128" y="3456"/>
                  <a:ext cx="1499" cy="576"/>
                  <a:chOff x="4128" y="3456"/>
                  <a:chExt cx="1499" cy="576"/>
                </a:xfrm>
              </p:grpSpPr>
              <p:grpSp>
                <p:nvGrpSpPr>
                  <p:cNvPr id="241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4128" y="3456"/>
                    <a:ext cx="1499" cy="576"/>
                    <a:chOff x="4135" y="3456"/>
                    <a:chExt cx="1499" cy="576"/>
                  </a:xfrm>
                </p:grpSpPr>
                <p:grpSp>
                  <p:nvGrpSpPr>
                    <p:cNvPr id="243" name="Group 3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35" y="3456"/>
                      <a:ext cx="1499" cy="576"/>
                      <a:chOff x="4135" y="3456"/>
                      <a:chExt cx="1499" cy="576"/>
                    </a:xfrm>
                  </p:grpSpPr>
                  <p:grpSp>
                    <p:nvGrpSpPr>
                      <p:cNvPr id="245" name="Group 3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135" y="3456"/>
                        <a:ext cx="1499" cy="576"/>
                        <a:chOff x="4135" y="3456"/>
                        <a:chExt cx="1499" cy="576"/>
                      </a:xfrm>
                    </p:grpSpPr>
                    <p:grpSp>
                      <p:nvGrpSpPr>
                        <p:cNvPr id="247" name="Group 40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135" y="3456"/>
                          <a:ext cx="1499" cy="576"/>
                          <a:chOff x="4135" y="3456"/>
                          <a:chExt cx="1499" cy="576"/>
                        </a:xfrm>
                      </p:grpSpPr>
                      <p:sp>
                        <p:nvSpPr>
                          <p:cNvPr id="250" name="Freeform 4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135" y="3456"/>
                            <a:ext cx="1499" cy="525"/>
                          </a:xfrm>
                          <a:custGeom>
                            <a:avLst/>
                            <a:gdLst>
                              <a:gd name="T0" fmla="*/ 0 w 1499"/>
                              <a:gd name="T1" fmla="*/ 525 h 525"/>
                              <a:gd name="T2" fmla="*/ 269 w 1499"/>
                              <a:gd name="T3" fmla="*/ 483 h 525"/>
                              <a:gd name="T4" fmla="*/ 513 w 1499"/>
                              <a:gd name="T5" fmla="*/ 314 h 525"/>
                              <a:gd name="T6" fmla="*/ 665 w 1499"/>
                              <a:gd name="T7" fmla="*/ 70 h 525"/>
                              <a:gd name="T8" fmla="*/ 808 w 1499"/>
                              <a:gd name="T9" fmla="*/ 3 h 525"/>
                              <a:gd name="T10" fmla="*/ 943 w 1499"/>
                              <a:gd name="T11" fmla="*/ 87 h 525"/>
                              <a:gd name="T12" fmla="*/ 1069 w 1499"/>
                              <a:gd name="T13" fmla="*/ 348 h 525"/>
                              <a:gd name="T14" fmla="*/ 1196 w 1499"/>
                              <a:gd name="T15" fmla="*/ 457 h 525"/>
                              <a:gd name="T16" fmla="*/ 1339 w 1499"/>
                              <a:gd name="T17" fmla="*/ 491 h 525"/>
                              <a:gd name="T18" fmla="*/ 1499 w 1499"/>
                              <a:gd name="T19" fmla="*/ 516 h 525"/>
                              <a:gd name="T20" fmla="*/ 0 60000 65536"/>
                              <a:gd name="T21" fmla="*/ 0 60000 65536"/>
                              <a:gd name="T22" fmla="*/ 0 60000 65536"/>
                              <a:gd name="T23" fmla="*/ 0 60000 65536"/>
                              <a:gd name="T24" fmla="*/ 0 60000 65536"/>
                              <a:gd name="T25" fmla="*/ 0 60000 65536"/>
                              <a:gd name="T26" fmla="*/ 0 60000 65536"/>
                              <a:gd name="T27" fmla="*/ 0 60000 65536"/>
                              <a:gd name="T28" fmla="*/ 0 60000 65536"/>
                              <a:gd name="T29" fmla="*/ 0 60000 65536"/>
                              <a:gd name="T30" fmla="*/ 0 w 1499"/>
                              <a:gd name="T31" fmla="*/ 0 h 525"/>
                              <a:gd name="T32" fmla="*/ 1499 w 1499"/>
                              <a:gd name="T33" fmla="*/ 525 h 525"/>
                            </a:gdLst>
                            <a:ahLst/>
                            <a:cxnLst>
                              <a:cxn ang="T20">
                                <a:pos x="T0" y="T1"/>
                              </a:cxn>
                              <a:cxn ang="T21">
                                <a:pos x="T2" y="T3"/>
                              </a:cxn>
                              <a:cxn ang="T22">
                                <a:pos x="T4" y="T5"/>
                              </a:cxn>
                              <a:cxn ang="T23">
                                <a:pos x="T6" y="T7"/>
                              </a:cxn>
                              <a:cxn ang="T24">
                                <a:pos x="T8" y="T9"/>
                              </a:cxn>
                              <a:cxn ang="T25">
                                <a:pos x="T10" y="T11"/>
                              </a:cxn>
                              <a:cxn ang="T26">
                                <a:pos x="T12" y="T13"/>
                              </a:cxn>
                              <a:cxn ang="T27">
                                <a:pos x="T14" y="T15"/>
                              </a:cxn>
                              <a:cxn ang="T28">
                                <a:pos x="T16" y="T17"/>
                              </a:cxn>
                              <a:cxn ang="T29">
                                <a:pos x="T18" y="T19"/>
                              </a:cxn>
                            </a:cxnLst>
                            <a:rect l="T30" t="T31" r="T32" b="T33"/>
                            <a:pathLst>
                              <a:path w="1499" h="525">
                                <a:moveTo>
                                  <a:pt x="0" y="525"/>
                                </a:moveTo>
                                <a:cubicBezTo>
                                  <a:pt x="43" y="518"/>
                                  <a:pt x="184" y="518"/>
                                  <a:pt x="269" y="483"/>
                                </a:cubicBezTo>
                                <a:cubicBezTo>
                                  <a:pt x="354" y="448"/>
                                  <a:pt x="447" y="383"/>
                                  <a:pt x="513" y="314"/>
                                </a:cubicBezTo>
                                <a:cubicBezTo>
                                  <a:pt x="579" y="245"/>
                                  <a:pt x="616" y="122"/>
                                  <a:pt x="665" y="70"/>
                                </a:cubicBezTo>
                                <a:cubicBezTo>
                                  <a:pt x="714" y="18"/>
                                  <a:pt x="762" y="0"/>
                                  <a:pt x="808" y="3"/>
                                </a:cubicBezTo>
                                <a:cubicBezTo>
                                  <a:pt x="854" y="6"/>
                                  <a:pt x="899" y="29"/>
                                  <a:pt x="943" y="87"/>
                                </a:cubicBezTo>
                                <a:cubicBezTo>
                                  <a:pt x="987" y="145"/>
                                  <a:pt x="1027" y="286"/>
                                  <a:pt x="1069" y="348"/>
                                </a:cubicBezTo>
                                <a:cubicBezTo>
                                  <a:pt x="1111" y="410"/>
                                  <a:pt x="1151" y="433"/>
                                  <a:pt x="1196" y="457"/>
                                </a:cubicBezTo>
                                <a:cubicBezTo>
                                  <a:pt x="1241" y="481"/>
                                  <a:pt x="1289" y="481"/>
                                  <a:pt x="1339" y="491"/>
                                </a:cubicBezTo>
                                <a:cubicBezTo>
                                  <a:pt x="1389" y="501"/>
                                  <a:pt x="1466" y="511"/>
                                  <a:pt x="1499" y="516"/>
                                </a:cubicBezTo>
                              </a:path>
                            </a:pathLst>
                          </a:custGeom>
                          <a:noFill/>
                          <a:ln w="5715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th-TH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251" name="Line 4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232" y="3840"/>
                            <a:ext cx="0" cy="192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</p:grpSp>
                    <p:sp>
                      <p:nvSpPr>
                        <p:cNvPr id="248" name="Line 4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32" y="4001"/>
                          <a:ext cx="358" cy="19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  <p:sp>
                      <p:nvSpPr>
                        <p:cNvPr id="249" name="Line 4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32" y="3984"/>
                          <a:ext cx="240" cy="0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</p:grpSp>
                  <p:sp>
                    <p:nvSpPr>
                      <p:cNvPr id="246" name="Line 4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232" y="3936"/>
                        <a:ext cx="144" cy="0"/>
                      </a:xfrm>
                      <a:prstGeom prst="line">
                        <a:avLst/>
                      </a:prstGeom>
                      <a:noFill/>
                      <a:ln w="762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sp>
                  <p:nvSpPr>
                    <p:cNvPr id="244" name="Line 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232" y="3888"/>
                      <a:ext cx="336" cy="96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</p:grpSp>
              <p:sp>
                <p:nvSpPr>
                  <p:cNvPr id="242" name="Line 4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321" y="3668"/>
                    <a:ext cx="96" cy="240"/>
                  </a:xfrm>
                  <a:prstGeom prst="line">
                    <a:avLst/>
                  </a:prstGeom>
                  <a:noFill/>
                  <a:ln w="28575">
                    <a:solidFill>
                      <a:srgbClr val="CC3399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</p:grpSp>
        </p:grpSp>
        <p:sp>
          <p:nvSpPr>
            <p:cNvPr id="236" name="Text Box 25"/>
            <p:cNvSpPr txBox="1">
              <a:spLocks noChangeArrowheads="1"/>
            </p:cNvSpPr>
            <p:nvPr/>
          </p:nvSpPr>
          <p:spPr bwMode="auto">
            <a:xfrm>
              <a:off x="8396068" y="2377966"/>
              <a:ext cx="474991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6A3930-BC4B-423B-80A1-2AC923EC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3616EF-75E5-4690-856B-E2DE7F57532B}" type="slidenum">
              <a:rPr lang="en-US" smtClean="0"/>
              <a:pPr>
                <a:defRPr/>
              </a:pPr>
              <a:t>17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122449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/>
      <p:bldP spid="150" grpId="0"/>
      <p:bldP spid="151" grpId="0"/>
      <p:bldP spid="206" grpId="0"/>
      <p:bldP spid="2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70000"/>
              </a:lnSpc>
              <a:defRPr/>
            </a:pP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 การทดสอบค่าเฉลี่ยของ 2 ประชากร เมื่อไม่ทราบค่าความแปรปรวนประชากร</a:t>
            </a:r>
            <a:endParaRPr lang="th-TH" sz="3200" b="1" kern="0" baseline="30000" dirty="0">
              <a:solidFill>
                <a:srgbClr val="6633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14" name="Rectangle 2"/>
          <p:cNvSpPr txBox="1">
            <a:spLocks noChangeArrowheads="1"/>
          </p:cNvSpPr>
          <p:nvPr/>
        </p:nvSpPr>
        <p:spPr bwMode="auto">
          <a:xfrm>
            <a:off x="304799" y="381000"/>
            <a:ext cx="8639503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70000"/>
              </a:lnSpc>
              <a:defRPr/>
            </a:pP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2.3 ตัวอย่าง</a:t>
            </a:r>
            <a:r>
              <a:rPr lang="th-TH" sz="4000" b="1" u="sng" kern="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ไม่</a:t>
            </a: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เป็นอิสระกัน </a:t>
            </a:r>
            <a:r>
              <a:rPr lang="en-US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" panose="05000000000000000000" pitchFamily="2" charset="2"/>
              </a:rPr>
              <a:t> </a:t>
            </a: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" panose="05000000000000000000" pitchFamily="2" charset="2"/>
              </a:rPr>
              <a:t>มีความสัมพันธ์แบบเป็นคู่ </a:t>
            </a:r>
            <a:r>
              <a:rPr lang="en-US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" panose="05000000000000000000" pitchFamily="2" charset="2"/>
              </a:rPr>
              <a:t>(Matched pair)</a:t>
            </a: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" panose="05000000000000000000" pitchFamily="2" charset="2"/>
              </a:rPr>
              <a:t> </a:t>
            </a:r>
            <a:endParaRPr lang="th-TH" sz="3200" b="1" kern="0" baseline="30000" dirty="0">
              <a:solidFill>
                <a:srgbClr val="6633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4124390" y="3828342"/>
            <a:ext cx="685024" cy="579120"/>
            <a:chOff x="5533539" y="1355834"/>
            <a:chExt cx="685024" cy="579120"/>
          </a:xfrm>
        </p:grpSpPr>
        <p:cxnSp>
          <p:nvCxnSpPr>
            <p:cNvPr id="17" name="Straight Arrow Connector 16"/>
            <p:cNvCxnSpPr/>
            <p:nvPr/>
          </p:nvCxnSpPr>
          <p:spPr bwMode="auto">
            <a:xfrm flipV="1">
              <a:off x="5533539" y="1660634"/>
              <a:ext cx="365760" cy="27432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sp>
          <p:nvSpPr>
            <p:cNvPr id="27" name="TextBox 26"/>
            <p:cNvSpPr txBox="1"/>
            <p:nvPr/>
          </p:nvSpPr>
          <p:spPr>
            <a:xfrm>
              <a:off x="5837400" y="1355834"/>
              <a:ext cx="3811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Angsana New" panose="02020603050405020304" pitchFamily="18" charset="-34"/>
                </a:rPr>
                <a:t>0</a:t>
              </a:r>
              <a:endParaRPr lang="th-TH" b="1" dirty="0">
                <a:solidFill>
                  <a:srgbClr val="FF0000"/>
                </a:solidFill>
                <a:latin typeface="Angsana New" panose="02020603050405020304" pitchFamily="18" charset="-34"/>
              </a:endParaRPr>
            </a:p>
          </p:txBody>
        </p:sp>
      </p:grpSp>
      <p:sp>
        <p:nvSpPr>
          <p:cNvPr id="121" name="Rectangle 6"/>
          <p:cNvSpPr>
            <a:spLocks noChangeArrowheads="1"/>
          </p:cNvSpPr>
          <p:nvPr/>
        </p:nvSpPr>
        <p:spPr bwMode="auto">
          <a:xfrm>
            <a:off x="152400" y="4904119"/>
            <a:ext cx="2438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75000"/>
              </a:lnSpc>
              <a:defRPr/>
            </a:pPr>
            <a:r>
              <a:rPr lang="th-TH" sz="3200" b="1" dirty="0">
                <a:solidFill>
                  <a:srgbClr val="CC3399"/>
                </a:solidFill>
                <a:latin typeface="Angsana New" panose="02020603050405020304" pitchFamily="18" charset="-34"/>
              </a:rPr>
              <a:t>เขตวิกฤต :</a:t>
            </a:r>
          </a:p>
        </p:txBody>
      </p:sp>
      <p:sp>
        <p:nvSpPr>
          <p:cNvPr id="122" name="Text Box 25"/>
          <p:cNvSpPr txBox="1">
            <a:spLocks noChangeArrowheads="1"/>
          </p:cNvSpPr>
          <p:nvPr/>
        </p:nvSpPr>
        <p:spPr bwMode="auto">
          <a:xfrm>
            <a:off x="1655326" y="4808076"/>
            <a:ext cx="16795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d 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&lt;  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123" name="Group 122"/>
          <p:cNvGrpSpPr/>
          <p:nvPr/>
        </p:nvGrpSpPr>
        <p:grpSpPr>
          <a:xfrm>
            <a:off x="1162749" y="5834568"/>
            <a:ext cx="2506290" cy="903120"/>
            <a:chOff x="1162749" y="2481212"/>
            <a:chExt cx="2506290" cy="903120"/>
          </a:xfrm>
        </p:grpSpPr>
        <p:grpSp>
          <p:nvGrpSpPr>
            <p:cNvPr id="129" name="Group 9"/>
            <p:cNvGrpSpPr>
              <a:grpSpLocks/>
            </p:cNvGrpSpPr>
            <p:nvPr/>
          </p:nvGrpSpPr>
          <p:grpSpPr bwMode="auto">
            <a:xfrm>
              <a:off x="1278264" y="2492157"/>
              <a:ext cx="2390775" cy="892175"/>
              <a:chOff x="288" y="3518"/>
              <a:chExt cx="1506" cy="562"/>
            </a:xfrm>
          </p:grpSpPr>
          <p:grpSp>
            <p:nvGrpSpPr>
              <p:cNvPr id="131" name="Group 10"/>
              <p:cNvGrpSpPr>
                <a:grpSpLocks/>
              </p:cNvGrpSpPr>
              <p:nvPr/>
            </p:nvGrpSpPr>
            <p:grpSpPr bwMode="auto">
              <a:xfrm>
                <a:off x="288" y="3518"/>
                <a:ext cx="1506" cy="562"/>
                <a:chOff x="288" y="3614"/>
                <a:chExt cx="1506" cy="562"/>
              </a:xfrm>
            </p:grpSpPr>
            <p:grpSp>
              <p:nvGrpSpPr>
                <p:cNvPr id="133" name="Group 11"/>
                <p:cNvGrpSpPr>
                  <a:grpSpLocks/>
                </p:cNvGrpSpPr>
                <p:nvPr/>
              </p:nvGrpSpPr>
              <p:grpSpPr bwMode="auto">
                <a:xfrm>
                  <a:off x="288" y="3614"/>
                  <a:ext cx="1506" cy="562"/>
                  <a:chOff x="288" y="3614"/>
                  <a:chExt cx="1506" cy="562"/>
                </a:xfrm>
              </p:grpSpPr>
              <p:grpSp>
                <p:nvGrpSpPr>
                  <p:cNvPr id="135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88" y="3614"/>
                    <a:ext cx="1506" cy="562"/>
                    <a:chOff x="288" y="3614"/>
                    <a:chExt cx="1506" cy="562"/>
                  </a:xfrm>
                </p:grpSpPr>
                <p:grpSp>
                  <p:nvGrpSpPr>
                    <p:cNvPr id="138" name="Group 1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8" y="3614"/>
                      <a:ext cx="1506" cy="562"/>
                      <a:chOff x="288" y="3619"/>
                      <a:chExt cx="1506" cy="562"/>
                    </a:xfrm>
                  </p:grpSpPr>
                  <p:sp>
                    <p:nvSpPr>
                      <p:cNvPr id="142" name="Line 1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" y="4176"/>
                        <a:ext cx="1488" cy="0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43" name="Freeform 1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5" y="3619"/>
                        <a:ext cx="1499" cy="525"/>
                      </a:xfrm>
                      <a:custGeom>
                        <a:avLst/>
                        <a:gdLst>
                          <a:gd name="T0" fmla="*/ 0 w 1499"/>
                          <a:gd name="T1" fmla="*/ 525 h 525"/>
                          <a:gd name="T2" fmla="*/ 269 w 1499"/>
                          <a:gd name="T3" fmla="*/ 483 h 525"/>
                          <a:gd name="T4" fmla="*/ 513 w 1499"/>
                          <a:gd name="T5" fmla="*/ 314 h 525"/>
                          <a:gd name="T6" fmla="*/ 665 w 1499"/>
                          <a:gd name="T7" fmla="*/ 70 h 525"/>
                          <a:gd name="T8" fmla="*/ 808 w 1499"/>
                          <a:gd name="T9" fmla="*/ 3 h 525"/>
                          <a:gd name="T10" fmla="*/ 943 w 1499"/>
                          <a:gd name="T11" fmla="*/ 87 h 525"/>
                          <a:gd name="T12" fmla="*/ 1069 w 1499"/>
                          <a:gd name="T13" fmla="*/ 348 h 525"/>
                          <a:gd name="T14" fmla="*/ 1196 w 1499"/>
                          <a:gd name="T15" fmla="*/ 457 h 525"/>
                          <a:gd name="T16" fmla="*/ 1339 w 1499"/>
                          <a:gd name="T17" fmla="*/ 491 h 525"/>
                          <a:gd name="T18" fmla="*/ 1499 w 1499"/>
                          <a:gd name="T19" fmla="*/ 516 h 525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  <a:gd name="T27" fmla="*/ 0 60000 65536"/>
                          <a:gd name="T28" fmla="*/ 0 60000 65536"/>
                          <a:gd name="T29" fmla="*/ 0 60000 65536"/>
                          <a:gd name="T30" fmla="*/ 0 w 1499"/>
                          <a:gd name="T31" fmla="*/ 0 h 525"/>
                          <a:gd name="T32" fmla="*/ 1499 w 1499"/>
                          <a:gd name="T33" fmla="*/ 525 h 525"/>
                        </a:gdLst>
                        <a:ahLst/>
                        <a:cxnLst>
                          <a:cxn ang="T20">
                            <a:pos x="T0" y="T1"/>
                          </a:cxn>
                          <a:cxn ang="T21">
                            <a:pos x="T2" y="T3"/>
                          </a:cxn>
                          <a:cxn ang="T22">
                            <a:pos x="T4" y="T5"/>
                          </a:cxn>
                          <a:cxn ang="T23">
                            <a:pos x="T6" y="T7"/>
                          </a:cxn>
                          <a:cxn ang="T24">
                            <a:pos x="T8" y="T9"/>
                          </a:cxn>
                          <a:cxn ang="T25">
                            <a:pos x="T10" y="T11"/>
                          </a:cxn>
                          <a:cxn ang="T26">
                            <a:pos x="T12" y="T13"/>
                          </a:cxn>
                          <a:cxn ang="T27">
                            <a:pos x="T14" y="T15"/>
                          </a:cxn>
                          <a:cxn ang="T28">
                            <a:pos x="T16" y="T17"/>
                          </a:cxn>
                          <a:cxn ang="T29">
                            <a:pos x="T18" y="T19"/>
                          </a:cxn>
                        </a:cxnLst>
                        <a:rect l="T30" t="T31" r="T32" b="T33"/>
                        <a:pathLst>
                          <a:path w="1499" h="525">
                            <a:moveTo>
                              <a:pt x="0" y="525"/>
                            </a:moveTo>
                            <a:cubicBezTo>
                              <a:pt x="43" y="518"/>
                              <a:pt x="184" y="518"/>
                              <a:pt x="269" y="483"/>
                            </a:cubicBezTo>
                            <a:cubicBezTo>
                              <a:pt x="354" y="448"/>
                              <a:pt x="447" y="383"/>
                              <a:pt x="513" y="314"/>
                            </a:cubicBezTo>
                            <a:cubicBezTo>
                              <a:pt x="579" y="245"/>
                              <a:pt x="616" y="122"/>
                              <a:pt x="665" y="70"/>
                            </a:cubicBezTo>
                            <a:cubicBezTo>
                              <a:pt x="714" y="18"/>
                              <a:pt x="762" y="0"/>
                              <a:pt x="808" y="3"/>
                            </a:cubicBezTo>
                            <a:cubicBezTo>
                              <a:pt x="854" y="6"/>
                              <a:pt x="899" y="29"/>
                              <a:pt x="943" y="87"/>
                            </a:cubicBezTo>
                            <a:cubicBezTo>
                              <a:pt x="987" y="145"/>
                              <a:pt x="1027" y="286"/>
                              <a:pt x="1069" y="348"/>
                            </a:cubicBezTo>
                            <a:cubicBezTo>
                              <a:pt x="1111" y="410"/>
                              <a:pt x="1151" y="433"/>
                              <a:pt x="1196" y="457"/>
                            </a:cubicBezTo>
                            <a:cubicBezTo>
                              <a:pt x="1241" y="481"/>
                              <a:pt x="1289" y="481"/>
                              <a:pt x="1339" y="491"/>
                            </a:cubicBezTo>
                            <a:cubicBezTo>
                              <a:pt x="1389" y="501"/>
                              <a:pt x="1466" y="511"/>
                              <a:pt x="1499" y="516"/>
                            </a:cubicBezTo>
                          </a:path>
                        </a:pathLst>
                      </a:cu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th-TH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45" name="Line 16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72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47" name="Line 17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24" y="4085"/>
                        <a:ext cx="96" cy="96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48" name="Line 18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576" y="4037"/>
                        <a:ext cx="144" cy="144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49" name="Line 19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80" y="4128"/>
                        <a:ext cx="56" cy="53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53" name="Line 2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432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54" name="Line 21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36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55" name="Line 22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84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grpSp>
                  <p:nvGrpSpPr>
                    <p:cNvPr id="139" name="Group 2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28" y="4032"/>
                      <a:ext cx="192" cy="144"/>
                      <a:chOff x="528" y="4032"/>
                      <a:chExt cx="192" cy="144"/>
                    </a:xfrm>
                  </p:grpSpPr>
                  <p:sp>
                    <p:nvSpPr>
                      <p:cNvPr id="140" name="Line 2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20" y="4032"/>
                        <a:ext cx="0" cy="144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41" name="Line 25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28" y="4076"/>
                        <a:ext cx="95" cy="100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</p:grpSp>
              <p:sp>
                <p:nvSpPr>
                  <p:cNvPr id="136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28" y="4032"/>
                    <a:ext cx="192" cy="9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134" name="Line 27"/>
                <p:cNvSpPr>
                  <a:spLocks noChangeShapeType="1"/>
                </p:cNvSpPr>
                <p:nvPr/>
              </p:nvSpPr>
              <p:spPr bwMode="auto">
                <a:xfrm>
                  <a:off x="384" y="3840"/>
                  <a:ext cx="139" cy="240"/>
                </a:xfrm>
                <a:prstGeom prst="line">
                  <a:avLst/>
                </a:prstGeom>
                <a:noFill/>
                <a:ln w="28575">
                  <a:solidFill>
                    <a:srgbClr val="CC3399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</p:grpSp>
          <p:sp>
            <p:nvSpPr>
              <p:cNvPr id="132" name="Line 29"/>
              <p:cNvSpPr>
                <a:spLocks noChangeShapeType="1"/>
              </p:cNvSpPr>
              <p:nvPr/>
            </p:nvSpPr>
            <p:spPr bwMode="auto">
              <a:xfrm flipH="1">
                <a:off x="448" y="4000"/>
                <a:ext cx="192" cy="4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</p:grpSp>
        <p:sp>
          <p:nvSpPr>
            <p:cNvPr id="130" name="Text Box 25"/>
            <p:cNvSpPr txBox="1">
              <a:spLocks noChangeArrowheads="1"/>
            </p:cNvSpPr>
            <p:nvPr/>
          </p:nvSpPr>
          <p:spPr bwMode="auto">
            <a:xfrm>
              <a:off x="1162749" y="2481212"/>
              <a:ext cx="530677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sp>
        <p:nvSpPr>
          <p:cNvPr id="156" name="Text Box 25"/>
          <p:cNvSpPr txBox="1">
            <a:spLocks noChangeArrowheads="1"/>
          </p:cNvSpPr>
          <p:nvPr/>
        </p:nvSpPr>
        <p:spPr bwMode="auto">
          <a:xfrm>
            <a:off x="4324445" y="4801369"/>
            <a:ext cx="16795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d  </a:t>
            </a:r>
            <a:r>
              <a:rPr kumimoji="1" lang="en-US" sz="20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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 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157" name="Group 156"/>
          <p:cNvGrpSpPr/>
          <p:nvPr/>
        </p:nvGrpSpPr>
        <p:grpSpPr>
          <a:xfrm>
            <a:off x="3784659" y="5731322"/>
            <a:ext cx="2645976" cy="974834"/>
            <a:chOff x="3784659" y="2377966"/>
            <a:chExt cx="2645976" cy="974834"/>
          </a:xfrm>
        </p:grpSpPr>
        <p:grpSp>
          <p:nvGrpSpPr>
            <p:cNvPr id="158" name="Group 51"/>
            <p:cNvGrpSpPr>
              <a:grpSpLocks/>
            </p:cNvGrpSpPr>
            <p:nvPr/>
          </p:nvGrpSpPr>
          <p:grpSpPr bwMode="auto">
            <a:xfrm>
              <a:off x="3928625" y="2438400"/>
              <a:ext cx="2393950" cy="914400"/>
              <a:chOff x="2206" y="3504"/>
              <a:chExt cx="1508" cy="576"/>
            </a:xfrm>
          </p:grpSpPr>
          <p:grpSp>
            <p:nvGrpSpPr>
              <p:cNvPr id="174" name="Group 52"/>
              <p:cNvGrpSpPr>
                <a:grpSpLocks/>
              </p:cNvGrpSpPr>
              <p:nvPr/>
            </p:nvGrpSpPr>
            <p:grpSpPr bwMode="auto">
              <a:xfrm>
                <a:off x="2208" y="3504"/>
                <a:ext cx="1506" cy="576"/>
                <a:chOff x="2256" y="3506"/>
                <a:chExt cx="1506" cy="576"/>
              </a:xfrm>
            </p:grpSpPr>
            <p:grpSp>
              <p:nvGrpSpPr>
                <p:cNvPr id="178" name="Group 53"/>
                <p:cNvGrpSpPr>
                  <a:grpSpLocks/>
                </p:cNvGrpSpPr>
                <p:nvPr/>
              </p:nvGrpSpPr>
              <p:grpSpPr bwMode="auto">
                <a:xfrm>
                  <a:off x="2256" y="3506"/>
                  <a:ext cx="1506" cy="576"/>
                  <a:chOff x="2256" y="3506"/>
                  <a:chExt cx="1506" cy="576"/>
                </a:xfrm>
              </p:grpSpPr>
              <p:grpSp>
                <p:nvGrpSpPr>
                  <p:cNvPr id="184" name="Group 54"/>
                  <p:cNvGrpSpPr>
                    <a:grpSpLocks/>
                  </p:cNvGrpSpPr>
                  <p:nvPr/>
                </p:nvGrpSpPr>
                <p:grpSpPr bwMode="auto">
                  <a:xfrm>
                    <a:off x="2256" y="3506"/>
                    <a:ext cx="1506" cy="576"/>
                    <a:chOff x="2256" y="3506"/>
                    <a:chExt cx="1506" cy="576"/>
                  </a:xfrm>
                </p:grpSpPr>
                <p:grpSp>
                  <p:nvGrpSpPr>
                    <p:cNvPr id="188" name="Group 5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63" y="3506"/>
                      <a:ext cx="1499" cy="576"/>
                      <a:chOff x="2263" y="3506"/>
                      <a:chExt cx="1499" cy="576"/>
                    </a:xfrm>
                  </p:grpSpPr>
                  <p:grpSp>
                    <p:nvGrpSpPr>
                      <p:cNvPr id="191" name="Group 5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63" y="3506"/>
                        <a:ext cx="1499" cy="576"/>
                        <a:chOff x="2263" y="3506"/>
                        <a:chExt cx="1499" cy="576"/>
                      </a:xfrm>
                    </p:grpSpPr>
                    <p:grpSp>
                      <p:nvGrpSpPr>
                        <p:cNvPr id="196" name="Group 57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263" y="3506"/>
                          <a:ext cx="1499" cy="576"/>
                          <a:chOff x="2263" y="3504"/>
                          <a:chExt cx="1499" cy="576"/>
                        </a:xfrm>
                      </p:grpSpPr>
                      <p:grpSp>
                        <p:nvGrpSpPr>
                          <p:cNvPr id="198" name="Group 58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263" y="3504"/>
                            <a:ext cx="1499" cy="576"/>
                            <a:chOff x="2263" y="3504"/>
                            <a:chExt cx="1499" cy="576"/>
                          </a:xfrm>
                        </p:grpSpPr>
                        <p:sp>
                          <p:nvSpPr>
                            <p:cNvPr id="254" name="Line 59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2263" y="4080"/>
                              <a:ext cx="1488" cy="0"/>
                            </a:xfrm>
                            <a:prstGeom prst="line">
                              <a:avLst/>
                            </a:pr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255" name="Freeform 60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263" y="3504"/>
                              <a:ext cx="1499" cy="525"/>
                            </a:xfrm>
                            <a:custGeom>
                              <a:avLst/>
                              <a:gdLst>
                                <a:gd name="T0" fmla="*/ 0 w 1499"/>
                                <a:gd name="T1" fmla="*/ 525 h 525"/>
                                <a:gd name="T2" fmla="*/ 269 w 1499"/>
                                <a:gd name="T3" fmla="*/ 483 h 525"/>
                                <a:gd name="T4" fmla="*/ 513 w 1499"/>
                                <a:gd name="T5" fmla="*/ 314 h 525"/>
                                <a:gd name="T6" fmla="*/ 665 w 1499"/>
                                <a:gd name="T7" fmla="*/ 70 h 525"/>
                                <a:gd name="T8" fmla="*/ 808 w 1499"/>
                                <a:gd name="T9" fmla="*/ 3 h 525"/>
                                <a:gd name="T10" fmla="*/ 943 w 1499"/>
                                <a:gd name="T11" fmla="*/ 87 h 525"/>
                                <a:gd name="T12" fmla="*/ 1069 w 1499"/>
                                <a:gd name="T13" fmla="*/ 348 h 525"/>
                                <a:gd name="T14" fmla="*/ 1196 w 1499"/>
                                <a:gd name="T15" fmla="*/ 457 h 525"/>
                                <a:gd name="T16" fmla="*/ 1339 w 1499"/>
                                <a:gd name="T17" fmla="*/ 491 h 525"/>
                                <a:gd name="T18" fmla="*/ 1499 w 1499"/>
                                <a:gd name="T19" fmla="*/ 516 h 525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  <a:gd name="T24" fmla="*/ 0 60000 65536"/>
                                <a:gd name="T25" fmla="*/ 0 60000 65536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w 1499"/>
                                <a:gd name="T31" fmla="*/ 0 h 525"/>
                                <a:gd name="T32" fmla="*/ 1499 w 1499"/>
                                <a:gd name="T33" fmla="*/ 525 h 525"/>
                              </a:gdLst>
                              <a:ahLst/>
                              <a:cxnLst>
                                <a:cxn ang="T20">
                                  <a:pos x="T0" y="T1"/>
                                </a:cxn>
                                <a:cxn ang="T21">
                                  <a:pos x="T2" y="T3"/>
                                </a:cxn>
                                <a:cxn ang="T22">
                                  <a:pos x="T4" y="T5"/>
                                </a:cxn>
                                <a:cxn ang="T23">
                                  <a:pos x="T6" y="T7"/>
                                </a:cxn>
                                <a:cxn ang="T24">
                                  <a:pos x="T8" y="T9"/>
                                </a:cxn>
                                <a:cxn ang="T25">
                                  <a:pos x="T10" y="T11"/>
                                </a:cxn>
                                <a:cxn ang="T26">
                                  <a:pos x="T12" y="T13"/>
                                </a:cxn>
                                <a:cxn ang="T27">
                                  <a:pos x="T14" y="T15"/>
                                </a:cxn>
                                <a:cxn ang="T28">
                                  <a:pos x="T16" y="T17"/>
                                </a:cxn>
                                <a:cxn ang="T29">
                                  <a:pos x="T18" y="T19"/>
                                </a:cxn>
                              </a:cxnLst>
                              <a:rect l="T30" t="T31" r="T32" b="T33"/>
                              <a:pathLst>
                                <a:path w="1499" h="525">
                                  <a:moveTo>
                                    <a:pt x="0" y="525"/>
                                  </a:moveTo>
                                  <a:cubicBezTo>
                                    <a:pt x="43" y="518"/>
                                    <a:pt x="184" y="518"/>
                                    <a:pt x="269" y="483"/>
                                  </a:cubicBezTo>
                                  <a:cubicBezTo>
                                    <a:pt x="354" y="448"/>
                                    <a:pt x="447" y="383"/>
                                    <a:pt x="513" y="314"/>
                                  </a:cubicBezTo>
                                  <a:cubicBezTo>
                                    <a:pt x="579" y="245"/>
                                    <a:pt x="616" y="122"/>
                                    <a:pt x="665" y="70"/>
                                  </a:cubicBezTo>
                                  <a:cubicBezTo>
                                    <a:pt x="714" y="18"/>
                                    <a:pt x="762" y="0"/>
                                    <a:pt x="808" y="3"/>
                                  </a:cubicBezTo>
                                  <a:cubicBezTo>
                                    <a:pt x="854" y="6"/>
                                    <a:pt x="899" y="29"/>
                                    <a:pt x="943" y="87"/>
                                  </a:cubicBezTo>
                                  <a:cubicBezTo>
                                    <a:pt x="987" y="145"/>
                                    <a:pt x="1027" y="286"/>
                                    <a:pt x="1069" y="348"/>
                                  </a:cubicBezTo>
                                  <a:cubicBezTo>
                                    <a:pt x="1111" y="410"/>
                                    <a:pt x="1151" y="433"/>
                                    <a:pt x="1196" y="457"/>
                                  </a:cubicBezTo>
                                  <a:cubicBezTo>
                                    <a:pt x="1241" y="481"/>
                                    <a:pt x="1289" y="481"/>
                                    <a:pt x="1339" y="491"/>
                                  </a:cubicBezTo>
                                  <a:cubicBezTo>
                                    <a:pt x="1389" y="501"/>
                                    <a:pt x="1466" y="511"/>
                                    <a:pt x="1499" y="516"/>
                                  </a:cubicBezTo>
                                </a:path>
                              </a:pathLst>
                            </a:cu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th-TH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256" name="Line 62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360" y="4032"/>
                              <a:ext cx="240" cy="0"/>
                            </a:xfrm>
                            <a:prstGeom prst="line">
                              <a:avLst/>
                            </a:prstGeom>
                            <a:noFill/>
                            <a:ln w="7620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257" name="Line 63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360" y="3936"/>
                              <a:ext cx="336" cy="96"/>
                            </a:xfrm>
                            <a:prstGeom prst="line">
                              <a:avLst/>
                            </a:pr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258" name="Line 64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3523" y="3744"/>
                              <a:ext cx="102" cy="241"/>
                            </a:xfrm>
                            <a:prstGeom prst="line">
                              <a:avLst/>
                            </a:prstGeom>
                            <a:noFill/>
                            <a:ln w="28575">
                              <a:solidFill>
                                <a:srgbClr val="CC3399"/>
                              </a:solidFill>
                              <a:round/>
                              <a:headEnd/>
                              <a:tailEnd type="triangle" w="med" len="med"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99" name="Line 6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504" y="3984"/>
                            <a:ext cx="192" cy="48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252" name="Line 6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360" y="4049"/>
                            <a:ext cx="358" cy="19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253" name="Line 6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360" y="3984"/>
                            <a:ext cx="144" cy="0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</p:grpSp>
                    <p:sp>
                      <p:nvSpPr>
                        <p:cNvPr id="197" name="Line 6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360" y="3888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</p:grpSp>
                  <p:sp>
                    <p:nvSpPr>
                      <p:cNvPr id="192" name="Line 7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83" y="3746"/>
                        <a:ext cx="142" cy="241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CC3399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sp>
                  <p:nvSpPr>
                    <p:cNvPr id="189" name="Line 7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4080"/>
                      <a:ext cx="384" cy="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  <p:sp>
                  <p:nvSpPr>
                    <p:cNvPr id="190" name="Line 72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636" y="3959"/>
                      <a:ext cx="4" cy="121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</p:grpSp>
              <p:sp>
                <p:nvSpPr>
                  <p:cNvPr id="187" name="Line 7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411" y="4032"/>
                    <a:ext cx="229" cy="8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183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2544" y="3969"/>
                  <a:ext cx="96" cy="4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</p:grpSp>
          <p:sp>
            <p:nvSpPr>
              <p:cNvPr id="177" name="Line 75"/>
              <p:cNvSpPr>
                <a:spLocks noChangeShapeType="1"/>
              </p:cNvSpPr>
              <p:nvPr/>
            </p:nvSpPr>
            <p:spPr bwMode="auto">
              <a:xfrm>
                <a:off x="2206" y="4047"/>
                <a:ext cx="146" cy="1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</p:grpSp>
        <p:sp>
          <p:nvSpPr>
            <p:cNvPr id="161" name="Text Box 25"/>
            <p:cNvSpPr txBox="1">
              <a:spLocks noChangeArrowheads="1"/>
            </p:cNvSpPr>
            <p:nvPr/>
          </p:nvSpPr>
          <p:spPr bwMode="auto">
            <a:xfrm>
              <a:off x="3784659" y="2384395"/>
              <a:ext cx="685801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r>
                <a:rPr kumimoji="1" lang="en-US" sz="32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/2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  <p:sp>
          <p:nvSpPr>
            <p:cNvPr id="173" name="Text Box 25"/>
            <p:cNvSpPr txBox="1">
              <a:spLocks noChangeArrowheads="1"/>
            </p:cNvSpPr>
            <p:nvPr/>
          </p:nvSpPr>
          <p:spPr bwMode="auto">
            <a:xfrm>
              <a:off x="5744834" y="2377966"/>
              <a:ext cx="685801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r>
                <a:rPr kumimoji="1" lang="en-US" sz="32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/2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sp>
        <p:nvSpPr>
          <p:cNvPr id="259" name="Text Box 25"/>
          <p:cNvSpPr txBox="1">
            <a:spLocks noChangeArrowheads="1"/>
          </p:cNvSpPr>
          <p:nvPr/>
        </p:nvSpPr>
        <p:spPr bwMode="auto">
          <a:xfrm>
            <a:off x="6905298" y="4808076"/>
            <a:ext cx="16795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d 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&gt;  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260" name="Group 259"/>
          <p:cNvGrpSpPr/>
          <p:nvPr/>
        </p:nvGrpSpPr>
        <p:grpSpPr>
          <a:xfrm>
            <a:off x="6564639" y="5731322"/>
            <a:ext cx="2379663" cy="974834"/>
            <a:chOff x="6564639" y="2377966"/>
            <a:chExt cx="2379663" cy="974834"/>
          </a:xfrm>
        </p:grpSpPr>
        <p:grpSp>
          <p:nvGrpSpPr>
            <p:cNvPr id="261" name="Group 32"/>
            <p:cNvGrpSpPr>
              <a:grpSpLocks/>
            </p:cNvGrpSpPr>
            <p:nvPr/>
          </p:nvGrpSpPr>
          <p:grpSpPr bwMode="auto">
            <a:xfrm>
              <a:off x="6564639" y="2438400"/>
              <a:ext cx="2379663" cy="914400"/>
              <a:chOff x="4128" y="3552"/>
              <a:chExt cx="1499" cy="576"/>
            </a:xfrm>
          </p:grpSpPr>
          <p:sp>
            <p:nvSpPr>
              <p:cNvPr id="263" name="Line 33"/>
              <p:cNvSpPr>
                <a:spLocks noChangeShapeType="1"/>
              </p:cNvSpPr>
              <p:nvPr/>
            </p:nvSpPr>
            <p:spPr bwMode="auto">
              <a:xfrm>
                <a:off x="5369" y="4032"/>
                <a:ext cx="192" cy="4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  <p:grpSp>
            <p:nvGrpSpPr>
              <p:cNvPr id="264" name="Group 34"/>
              <p:cNvGrpSpPr>
                <a:grpSpLocks/>
              </p:cNvGrpSpPr>
              <p:nvPr/>
            </p:nvGrpSpPr>
            <p:grpSpPr bwMode="auto">
              <a:xfrm>
                <a:off x="4128" y="3552"/>
                <a:ext cx="1499" cy="576"/>
                <a:chOff x="4128" y="3456"/>
                <a:chExt cx="1499" cy="576"/>
              </a:xfrm>
            </p:grpSpPr>
            <p:sp>
              <p:nvSpPr>
                <p:cNvPr id="265" name="Line 35"/>
                <p:cNvSpPr>
                  <a:spLocks noChangeShapeType="1"/>
                </p:cNvSpPr>
                <p:nvPr/>
              </p:nvSpPr>
              <p:spPr bwMode="auto">
                <a:xfrm>
                  <a:off x="4128" y="4032"/>
                  <a:ext cx="1488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  <p:grpSp>
              <p:nvGrpSpPr>
                <p:cNvPr id="266" name="Group 36"/>
                <p:cNvGrpSpPr>
                  <a:grpSpLocks/>
                </p:cNvGrpSpPr>
                <p:nvPr/>
              </p:nvGrpSpPr>
              <p:grpSpPr bwMode="auto">
                <a:xfrm>
                  <a:off x="4128" y="3456"/>
                  <a:ext cx="1499" cy="576"/>
                  <a:chOff x="4128" y="3456"/>
                  <a:chExt cx="1499" cy="576"/>
                </a:xfrm>
              </p:grpSpPr>
              <p:grpSp>
                <p:nvGrpSpPr>
                  <p:cNvPr id="267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4128" y="3456"/>
                    <a:ext cx="1499" cy="576"/>
                    <a:chOff x="4135" y="3456"/>
                    <a:chExt cx="1499" cy="576"/>
                  </a:xfrm>
                </p:grpSpPr>
                <p:grpSp>
                  <p:nvGrpSpPr>
                    <p:cNvPr id="269" name="Group 3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35" y="3456"/>
                      <a:ext cx="1499" cy="576"/>
                      <a:chOff x="4135" y="3456"/>
                      <a:chExt cx="1499" cy="576"/>
                    </a:xfrm>
                  </p:grpSpPr>
                  <p:grpSp>
                    <p:nvGrpSpPr>
                      <p:cNvPr id="271" name="Group 3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135" y="3456"/>
                        <a:ext cx="1499" cy="576"/>
                        <a:chOff x="4135" y="3456"/>
                        <a:chExt cx="1499" cy="576"/>
                      </a:xfrm>
                    </p:grpSpPr>
                    <p:grpSp>
                      <p:nvGrpSpPr>
                        <p:cNvPr id="273" name="Group 40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135" y="3456"/>
                          <a:ext cx="1499" cy="576"/>
                          <a:chOff x="4135" y="3456"/>
                          <a:chExt cx="1499" cy="576"/>
                        </a:xfrm>
                      </p:grpSpPr>
                      <p:sp>
                        <p:nvSpPr>
                          <p:cNvPr id="276" name="Freeform 4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135" y="3456"/>
                            <a:ext cx="1499" cy="525"/>
                          </a:xfrm>
                          <a:custGeom>
                            <a:avLst/>
                            <a:gdLst>
                              <a:gd name="T0" fmla="*/ 0 w 1499"/>
                              <a:gd name="T1" fmla="*/ 525 h 525"/>
                              <a:gd name="T2" fmla="*/ 269 w 1499"/>
                              <a:gd name="T3" fmla="*/ 483 h 525"/>
                              <a:gd name="T4" fmla="*/ 513 w 1499"/>
                              <a:gd name="T5" fmla="*/ 314 h 525"/>
                              <a:gd name="T6" fmla="*/ 665 w 1499"/>
                              <a:gd name="T7" fmla="*/ 70 h 525"/>
                              <a:gd name="T8" fmla="*/ 808 w 1499"/>
                              <a:gd name="T9" fmla="*/ 3 h 525"/>
                              <a:gd name="T10" fmla="*/ 943 w 1499"/>
                              <a:gd name="T11" fmla="*/ 87 h 525"/>
                              <a:gd name="T12" fmla="*/ 1069 w 1499"/>
                              <a:gd name="T13" fmla="*/ 348 h 525"/>
                              <a:gd name="T14" fmla="*/ 1196 w 1499"/>
                              <a:gd name="T15" fmla="*/ 457 h 525"/>
                              <a:gd name="T16" fmla="*/ 1339 w 1499"/>
                              <a:gd name="T17" fmla="*/ 491 h 525"/>
                              <a:gd name="T18" fmla="*/ 1499 w 1499"/>
                              <a:gd name="T19" fmla="*/ 516 h 525"/>
                              <a:gd name="T20" fmla="*/ 0 60000 65536"/>
                              <a:gd name="T21" fmla="*/ 0 60000 65536"/>
                              <a:gd name="T22" fmla="*/ 0 60000 65536"/>
                              <a:gd name="T23" fmla="*/ 0 60000 65536"/>
                              <a:gd name="T24" fmla="*/ 0 60000 65536"/>
                              <a:gd name="T25" fmla="*/ 0 60000 65536"/>
                              <a:gd name="T26" fmla="*/ 0 60000 65536"/>
                              <a:gd name="T27" fmla="*/ 0 60000 65536"/>
                              <a:gd name="T28" fmla="*/ 0 60000 65536"/>
                              <a:gd name="T29" fmla="*/ 0 60000 65536"/>
                              <a:gd name="T30" fmla="*/ 0 w 1499"/>
                              <a:gd name="T31" fmla="*/ 0 h 525"/>
                              <a:gd name="T32" fmla="*/ 1499 w 1499"/>
                              <a:gd name="T33" fmla="*/ 525 h 525"/>
                            </a:gdLst>
                            <a:ahLst/>
                            <a:cxnLst>
                              <a:cxn ang="T20">
                                <a:pos x="T0" y="T1"/>
                              </a:cxn>
                              <a:cxn ang="T21">
                                <a:pos x="T2" y="T3"/>
                              </a:cxn>
                              <a:cxn ang="T22">
                                <a:pos x="T4" y="T5"/>
                              </a:cxn>
                              <a:cxn ang="T23">
                                <a:pos x="T6" y="T7"/>
                              </a:cxn>
                              <a:cxn ang="T24">
                                <a:pos x="T8" y="T9"/>
                              </a:cxn>
                              <a:cxn ang="T25">
                                <a:pos x="T10" y="T11"/>
                              </a:cxn>
                              <a:cxn ang="T26">
                                <a:pos x="T12" y="T13"/>
                              </a:cxn>
                              <a:cxn ang="T27">
                                <a:pos x="T14" y="T15"/>
                              </a:cxn>
                              <a:cxn ang="T28">
                                <a:pos x="T16" y="T17"/>
                              </a:cxn>
                              <a:cxn ang="T29">
                                <a:pos x="T18" y="T19"/>
                              </a:cxn>
                            </a:cxnLst>
                            <a:rect l="T30" t="T31" r="T32" b="T33"/>
                            <a:pathLst>
                              <a:path w="1499" h="525">
                                <a:moveTo>
                                  <a:pt x="0" y="525"/>
                                </a:moveTo>
                                <a:cubicBezTo>
                                  <a:pt x="43" y="518"/>
                                  <a:pt x="184" y="518"/>
                                  <a:pt x="269" y="483"/>
                                </a:cubicBezTo>
                                <a:cubicBezTo>
                                  <a:pt x="354" y="448"/>
                                  <a:pt x="447" y="383"/>
                                  <a:pt x="513" y="314"/>
                                </a:cubicBezTo>
                                <a:cubicBezTo>
                                  <a:pt x="579" y="245"/>
                                  <a:pt x="616" y="122"/>
                                  <a:pt x="665" y="70"/>
                                </a:cubicBezTo>
                                <a:cubicBezTo>
                                  <a:pt x="714" y="18"/>
                                  <a:pt x="762" y="0"/>
                                  <a:pt x="808" y="3"/>
                                </a:cubicBezTo>
                                <a:cubicBezTo>
                                  <a:pt x="854" y="6"/>
                                  <a:pt x="899" y="29"/>
                                  <a:pt x="943" y="87"/>
                                </a:cubicBezTo>
                                <a:cubicBezTo>
                                  <a:pt x="987" y="145"/>
                                  <a:pt x="1027" y="286"/>
                                  <a:pt x="1069" y="348"/>
                                </a:cubicBezTo>
                                <a:cubicBezTo>
                                  <a:pt x="1111" y="410"/>
                                  <a:pt x="1151" y="433"/>
                                  <a:pt x="1196" y="457"/>
                                </a:cubicBezTo>
                                <a:cubicBezTo>
                                  <a:pt x="1241" y="481"/>
                                  <a:pt x="1289" y="481"/>
                                  <a:pt x="1339" y="491"/>
                                </a:cubicBezTo>
                                <a:cubicBezTo>
                                  <a:pt x="1389" y="501"/>
                                  <a:pt x="1466" y="511"/>
                                  <a:pt x="1499" y="516"/>
                                </a:cubicBezTo>
                              </a:path>
                            </a:pathLst>
                          </a:custGeom>
                          <a:noFill/>
                          <a:ln w="5715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th-TH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277" name="Line 4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232" y="3840"/>
                            <a:ext cx="0" cy="192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</p:grpSp>
                    <p:sp>
                      <p:nvSpPr>
                        <p:cNvPr id="274" name="Line 4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32" y="4001"/>
                          <a:ext cx="358" cy="19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  <p:sp>
                      <p:nvSpPr>
                        <p:cNvPr id="275" name="Line 4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32" y="3984"/>
                          <a:ext cx="240" cy="0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</p:grpSp>
                  <p:sp>
                    <p:nvSpPr>
                      <p:cNvPr id="272" name="Line 4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232" y="3936"/>
                        <a:ext cx="144" cy="0"/>
                      </a:xfrm>
                      <a:prstGeom prst="line">
                        <a:avLst/>
                      </a:prstGeom>
                      <a:noFill/>
                      <a:ln w="762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sp>
                  <p:nvSpPr>
                    <p:cNvPr id="270" name="Line 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232" y="3888"/>
                      <a:ext cx="336" cy="96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</p:grpSp>
              <p:sp>
                <p:nvSpPr>
                  <p:cNvPr id="268" name="Line 4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321" y="3668"/>
                    <a:ext cx="96" cy="240"/>
                  </a:xfrm>
                  <a:prstGeom prst="line">
                    <a:avLst/>
                  </a:prstGeom>
                  <a:noFill/>
                  <a:ln w="28575">
                    <a:solidFill>
                      <a:srgbClr val="CC3399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</p:grpSp>
        </p:grpSp>
        <p:sp>
          <p:nvSpPr>
            <p:cNvPr id="262" name="Text Box 25"/>
            <p:cNvSpPr txBox="1">
              <a:spLocks noChangeArrowheads="1"/>
            </p:cNvSpPr>
            <p:nvPr/>
          </p:nvSpPr>
          <p:spPr bwMode="auto">
            <a:xfrm>
              <a:off x="8396068" y="2377966"/>
              <a:ext cx="474991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grpSp>
        <p:nvGrpSpPr>
          <p:cNvPr id="278" name="Group 277"/>
          <p:cNvGrpSpPr/>
          <p:nvPr/>
        </p:nvGrpSpPr>
        <p:grpSpPr>
          <a:xfrm>
            <a:off x="100264" y="3993658"/>
            <a:ext cx="4573292" cy="1019502"/>
            <a:chOff x="15766" y="1392623"/>
            <a:chExt cx="4573292" cy="1019502"/>
          </a:xfrm>
        </p:grpSpPr>
        <p:sp>
          <p:nvSpPr>
            <p:cNvPr id="279" name="Rectangle 3"/>
            <p:cNvSpPr>
              <a:spLocks noChangeArrowheads="1"/>
            </p:cNvSpPr>
            <p:nvPr/>
          </p:nvSpPr>
          <p:spPr bwMode="auto">
            <a:xfrm>
              <a:off x="15766" y="1604240"/>
              <a:ext cx="31242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rgbClr val="CC3399"/>
                  </a:solidFill>
                  <a:latin typeface="Angsana New" panose="02020603050405020304" pitchFamily="18" charset="-34"/>
                </a:rPr>
                <a:t>สถิติสำหรับการทดสอบ :</a:t>
              </a:r>
            </a:p>
          </p:txBody>
        </p:sp>
        <p:grpSp>
          <p:nvGrpSpPr>
            <p:cNvPr id="280" name="Group 279"/>
            <p:cNvGrpSpPr/>
            <p:nvPr/>
          </p:nvGrpSpPr>
          <p:grpSpPr>
            <a:xfrm>
              <a:off x="2949466" y="1392623"/>
              <a:ext cx="1639592" cy="1019502"/>
              <a:chOff x="441436" y="2286000"/>
              <a:chExt cx="1639592" cy="1019502"/>
            </a:xfrm>
          </p:grpSpPr>
          <p:sp>
            <p:nvSpPr>
              <p:cNvPr id="281" name="Rectangle 3"/>
              <p:cNvSpPr>
                <a:spLocks noChangeArrowheads="1"/>
              </p:cNvSpPr>
              <p:nvPr/>
            </p:nvSpPr>
            <p:spPr bwMode="auto">
              <a:xfrm>
                <a:off x="441436" y="2500988"/>
                <a:ext cx="800100" cy="609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5000"/>
                  </a:lnSpc>
                  <a:defRPr/>
                </a:pPr>
                <a:r>
                  <a:rPr lang="th-TH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 </a:t>
                </a: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t  =  </a:t>
                </a:r>
                <a:endParaRPr lang="th-TH" sz="3200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</a:endParaRPr>
              </a:p>
            </p:txBody>
          </p:sp>
          <p:grpSp>
            <p:nvGrpSpPr>
              <p:cNvPr id="282" name="Group 281"/>
              <p:cNvGrpSpPr/>
              <p:nvPr/>
            </p:nvGrpSpPr>
            <p:grpSpPr>
              <a:xfrm>
                <a:off x="1064169" y="2286000"/>
                <a:ext cx="1016859" cy="1019502"/>
                <a:chOff x="2550068" y="2590800"/>
                <a:chExt cx="1016859" cy="1019502"/>
              </a:xfrm>
            </p:grpSpPr>
            <p:sp>
              <p:nvSpPr>
                <p:cNvPr id="284" name="Rectangle 3"/>
                <p:cNvSpPr>
                  <a:spLocks noChangeArrowheads="1"/>
                </p:cNvSpPr>
                <p:nvPr/>
              </p:nvSpPr>
              <p:spPr bwMode="auto">
                <a:xfrm>
                  <a:off x="2581601" y="2590800"/>
                  <a:ext cx="953434" cy="6096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eaLnBrk="0" hangingPunct="0">
                    <a:lnSpc>
                      <a:spcPct val="75000"/>
                    </a:lnSpc>
                    <a:defRPr/>
                  </a:pPr>
                  <a:r>
                    <a:rPr lang="en-US" sz="32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rPr>
                    <a:t>d – </a:t>
                  </a:r>
                  <a:r>
                    <a:rPr lang="en-US" sz="26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  <a:sym typeface="Symbol"/>
                    </a:rPr>
                    <a:t></a:t>
                  </a:r>
                  <a:r>
                    <a:rPr lang="en-US" sz="32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  <a:sym typeface="Symbol"/>
                    </a:rPr>
                    <a:t>d</a:t>
                  </a:r>
                  <a:r>
                    <a:rPr lang="en-US" sz="32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rPr>
                    <a:t>  </a:t>
                  </a:r>
                  <a:endParaRPr lang="th-TH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endParaRPr>
                </a:p>
              </p:txBody>
            </p:sp>
            <p:cxnSp>
              <p:nvCxnSpPr>
                <p:cNvPr id="285" name="Straight Connector 284"/>
                <p:cNvCxnSpPr/>
                <p:nvPr/>
              </p:nvCxnSpPr>
              <p:spPr bwMode="auto">
                <a:xfrm flipH="1">
                  <a:off x="2606236" y="3090038"/>
                  <a:ext cx="822960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lumMod val="5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grpSp>
              <p:nvGrpSpPr>
                <p:cNvPr id="286" name="Group 285"/>
                <p:cNvGrpSpPr/>
                <p:nvPr/>
              </p:nvGrpSpPr>
              <p:grpSpPr>
                <a:xfrm>
                  <a:off x="2550068" y="3000702"/>
                  <a:ext cx="1016859" cy="609600"/>
                  <a:chOff x="3986755" y="2146738"/>
                  <a:chExt cx="1016859" cy="609600"/>
                </a:xfrm>
              </p:grpSpPr>
              <p:sp>
                <p:nvSpPr>
                  <p:cNvPr id="287" name="Rectangle 3"/>
                  <p:cNvSpPr>
                    <a:spLocks noChangeArrowheads="1"/>
                  </p:cNvSpPr>
                  <p:nvPr/>
                </p:nvSpPr>
                <p:spPr bwMode="auto">
                  <a:xfrm>
                    <a:off x="3986755" y="2146738"/>
                    <a:ext cx="1016859" cy="6096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/>
                  <a:lstStyle/>
                  <a:p>
                    <a:pPr eaLnBrk="0" hangingPunct="0">
                      <a:lnSpc>
                        <a:spcPct val="75000"/>
                      </a:lnSpc>
                      <a:defRPr/>
                    </a:pPr>
                    <a:r>
                      <a:rPr lang="en-US" sz="3200" b="1" dirty="0" err="1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S</a:t>
                    </a:r>
                    <a:r>
                      <a:rPr lang="en-US" sz="3200" b="1" baseline="-25000" dirty="0" err="1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d</a:t>
                    </a:r>
                    <a:r>
                      <a:rPr lang="en-US" sz="3200" b="1" baseline="-250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 </a:t>
                    </a:r>
                    <a:r>
                      <a:rPr lang="en-US" sz="40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/</a:t>
                    </a:r>
                    <a:r>
                      <a:rPr lang="en-US" sz="3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  </a:t>
                    </a:r>
                    <a:r>
                      <a:rPr 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 </a:t>
                    </a:r>
                    <a:r>
                      <a:rPr lang="en-US" sz="3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n  </a:t>
                    </a:r>
                    <a:endParaRPr lang="th-TH" sz="32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endParaRPr>
                  </a:p>
                </p:txBody>
              </p:sp>
              <p:cxnSp>
                <p:nvCxnSpPr>
                  <p:cNvPr id="288" name="Straight Connector 287"/>
                  <p:cNvCxnSpPr/>
                  <p:nvPr/>
                </p:nvCxnSpPr>
                <p:spPr bwMode="auto">
                  <a:xfrm flipH="1">
                    <a:off x="4524702" y="2333303"/>
                    <a:ext cx="91440" cy="22860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chemeClr val="accent1">
                        <a:lumMod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89" name="Straight Connector 288"/>
                  <p:cNvCxnSpPr/>
                  <p:nvPr/>
                </p:nvCxnSpPr>
                <p:spPr bwMode="auto">
                  <a:xfrm flipH="1">
                    <a:off x="4614038" y="2349064"/>
                    <a:ext cx="18288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chemeClr val="accent1">
                        <a:lumMod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90" name="Straight Connector 289"/>
                  <p:cNvCxnSpPr/>
                  <p:nvPr/>
                </p:nvCxnSpPr>
                <p:spPr bwMode="auto">
                  <a:xfrm>
                    <a:off x="4466898" y="2501464"/>
                    <a:ext cx="76200" cy="6400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chemeClr val="accent1">
                        <a:lumMod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</p:grpSp>
          </p:grpSp>
          <p:cxnSp>
            <p:nvCxnSpPr>
              <p:cNvPr id="283" name="Straight Connector 282"/>
              <p:cNvCxnSpPr/>
              <p:nvPr/>
            </p:nvCxnSpPr>
            <p:spPr bwMode="auto">
              <a:xfrm flipH="1">
                <a:off x="1175636" y="2442964"/>
                <a:ext cx="182880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291" name="Rectangle 3"/>
          <p:cNvSpPr>
            <a:spLocks noChangeArrowheads="1"/>
          </p:cNvSpPr>
          <p:nvPr/>
        </p:nvSpPr>
        <p:spPr bwMode="auto">
          <a:xfrm>
            <a:off x="4564891" y="4222732"/>
            <a:ext cx="178243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lnSpc>
                <a:spcPct val="75000"/>
              </a:lnSpc>
              <a:defRPr/>
            </a:pPr>
            <a:r>
              <a:rPr lang="th-TH" sz="2600" b="1" dirty="0">
                <a:solidFill>
                  <a:srgbClr val="FF0000"/>
                </a:solidFill>
                <a:latin typeface="Angsana New" pitchFamily="18" charset="-34"/>
              </a:rPr>
              <a:t> </a:t>
            </a:r>
            <a:r>
              <a:rPr lang="th-TH" sz="2600" b="1" dirty="0">
                <a:solidFill>
                  <a:srgbClr val="FF0000"/>
                </a:solidFill>
                <a:latin typeface="Angsana New" pitchFamily="18" charset="-34"/>
                <a:sym typeface="Symbol"/>
              </a:rPr>
              <a:t></a:t>
            </a:r>
            <a:r>
              <a:rPr lang="en-US" sz="2600" b="1" dirty="0">
                <a:solidFill>
                  <a:srgbClr val="FF0000"/>
                </a:solidFill>
                <a:latin typeface="Angsana New" pitchFamily="18" charset="-34"/>
                <a:sym typeface="Symbol"/>
              </a:rPr>
              <a:t>  </a:t>
            </a:r>
            <a:r>
              <a:rPr lang="en-US" sz="3200" b="1" dirty="0">
                <a:solidFill>
                  <a:srgbClr val="FF0000"/>
                </a:solidFill>
                <a:latin typeface="Angsana New" pitchFamily="18" charset="-34"/>
              </a:rPr>
              <a:t>t(n – 1)</a:t>
            </a:r>
            <a:endParaRPr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sp>
        <p:nvSpPr>
          <p:cNvPr id="292" name="Text Box 25"/>
          <p:cNvSpPr txBox="1">
            <a:spLocks noChangeArrowheads="1"/>
          </p:cNvSpPr>
          <p:nvPr/>
        </p:nvSpPr>
        <p:spPr bwMode="auto">
          <a:xfrm>
            <a:off x="1653118" y="5249510"/>
            <a:ext cx="21844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– 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2 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&lt;  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sp>
        <p:nvSpPr>
          <p:cNvPr id="293" name="Text Box 25"/>
          <p:cNvSpPr txBox="1">
            <a:spLocks noChangeArrowheads="1"/>
          </p:cNvSpPr>
          <p:nvPr/>
        </p:nvSpPr>
        <p:spPr bwMode="auto">
          <a:xfrm>
            <a:off x="4320118" y="5249510"/>
            <a:ext cx="20596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</a:t>
            </a:r>
            <a:r>
              <a:rPr kumimoji="1" lang="th-TH" sz="24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–  </a:t>
            </a:r>
            <a:r>
              <a:rPr kumimoji="1" lang="th-TH" sz="24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2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</a:t>
            </a:r>
            <a:r>
              <a:rPr kumimoji="1" lang="en-US" sz="2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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  </a:t>
            </a:r>
            <a:r>
              <a:rPr kumimoji="1" lang="th-TH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sp>
        <p:nvSpPr>
          <p:cNvPr id="294" name="Text Box 25"/>
          <p:cNvSpPr txBox="1">
            <a:spLocks noChangeArrowheads="1"/>
          </p:cNvSpPr>
          <p:nvPr/>
        </p:nvSpPr>
        <p:spPr bwMode="auto">
          <a:xfrm>
            <a:off x="6910918" y="5258569"/>
            <a:ext cx="21253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– 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2 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&gt;  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296" name="Group 295"/>
          <p:cNvGrpSpPr/>
          <p:nvPr/>
        </p:nvGrpSpPr>
        <p:grpSpPr>
          <a:xfrm>
            <a:off x="717332" y="869732"/>
            <a:ext cx="8226970" cy="885359"/>
            <a:chOff x="152400" y="1298030"/>
            <a:chExt cx="8226970" cy="885359"/>
          </a:xfrm>
        </p:grpSpPr>
        <p:sp>
          <p:nvSpPr>
            <p:cNvPr id="297" name="Rectangle 3"/>
            <p:cNvSpPr>
              <a:spLocks noChangeArrowheads="1"/>
            </p:cNvSpPr>
            <p:nvPr/>
          </p:nvSpPr>
          <p:spPr bwMode="auto">
            <a:xfrm>
              <a:off x="152400" y="1389996"/>
              <a:ext cx="3855961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rgbClr val="CC3399"/>
                  </a:solidFill>
                  <a:latin typeface="Angsana New" panose="02020603050405020304" pitchFamily="18" charset="-34"/>
                </a:rPr>
                <a:t>สมมุติฐานสำหรับการทดสอบ :</a:t>
              </a:r>
            </a:p>
          </p:txBody>
        </p:sp>
        <p:grpSp>
          <p:nvGrpSpPr>
            <p:cNvPr id="298" name="Group 297"/>
            <p:cNvGrpSpPr/>
            <p:nvPr/>
          </p:nvGrpSpPr>
          <p:grpSpPr>
            <a:xfrm>
              <a:off x="3717707" y="1298030"/>
              <a:ext cx="4661663" cy="885359"/>
              <a:chOff x="3870433" y="4857299"/>
              <a:chExt cx="4661663" cy="885359"/>
            </a:xfrm>
          </p:grpSpPr>
          <p:sp>
            <p:nvSpPr>
              <p:cNvPr id="299" name="Text Box 25"/>
              <p:cNvSpPr txBox="1">
                <a:spLocks noChangeArrowheads="1"/>
              </p:cNvSpPr>
              <p:nvPr/>
            </p:nvSpPr>
            <p:spPr bwMode="auto">
              <a:xfrm>
                <a:off x="3870433" y="4857299"/>
                <a:ext cx="4661663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H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0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: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 –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2 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=  0</a:t>
                </a:r>
                <a:r>
                  <a:rPr kumimoji="1" lang="th-TH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 </a:t>
                </a:r>
                <a:r>
                  <a:rPr kumimoji="1" lang="th-TH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r>
                  <a:rPr kumimoji="1" lang="en-US" sz="4000" b="1" dirty="0">
                    <a:solidFill>
                      <a:srgbClr val="FF0000"/>
                    </a:solidFill>
                    <a:latin typeface="Angsana New" pitchFamily="18" charset="-34"/>
                  </a:rPr>
                  <a:t>VS 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H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: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40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 </a:t>
                </a:r>
                <a:r>
                  <a:rPr kumimoji="1" lang="th-TH" sz="40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– </a:t>
                </a:r>
                <a:r>
                  <a:rPr kumimoji="1" lang="th-TH" sz="26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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2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       0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 </a:t>
                </a:r>
                <a:r>
                  <a:rPr kumimoji="1" lang="th-TH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endParaRPr kumimoji="1" lang="th-TH" sz="32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300" name="Text Box 25"/>
              <p:cNvSpPr txBox="1">
                <a:spLocks noChangeArrowheads="1"/>
              </p:cNvSpPr>
              <p:nvPr/>
            </p:nvSpPr>
            <p:spPr bwMode="auto">
              <a:xfrm>
                <a:off x="7740867" y="4962957"/>
                <a:ext cx="457201" cy="7797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ts val="1600"/>
                  </a:lnSpc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&lt;</a:t>
                </a:r>
              </a:p>
              <a:p>
                <a:pPr eaLnBrk="0" hangingPunct="0">
                  <a:lnSpc>
                    <a:spcPts val="1600"/>
                  </a:lnSpc>
                  <a:spcBef>
                    <a:spcPts val="0"/>
                  </a:spcBef>
                  <a:defRPr/>
                </a:pPr>
                <a:r>
                  <a:rPr kumimoji="1" lang="en-US" sz="2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</a:t>
                </a:r>
                <a:r>
                  <a:rPr kumimoji="1" lang="en-US" sz="40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endParaRPr kumimoji="1" lang="th-TH" sz="4000" b="1" dirty="0">
                  <a:solidFill>
                    <a:srgbClr val="0000FF"/>
                  </a:solidFill>
                  <a:latin typeface="Angsana New" pitchFamily="18" charset="-34"/>
                </a:endParaRPr>
              </a:p>
              <a:p>
                <a:pPr eaLnBrk="0" hangingPunct="0">
                  <a:lnSpc>
                    <a:spcPts val="1600"/>
                  </a:lnSpc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&gt;</a:t>
                </a:r>
                <a:endParaRPr kumimoji="1" lang="th-TH" sz="32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</p:grpSp>
      </p:grpSp>
      <p:sp>
        <p:nvSpPr>
          <p:cNvPr id="301" name="Rectangle 2"/>
          <p:cNvSpPr txBox="1">
            <a:spLocks noChangeArrowheads="1"/>
          </p:cNvSpPr>
          <p:nvPr/>
        </p:nvSpPr>
        <p:spPr bwMode="auto">
          <a:xfrm>
            <a:off x="16894" y="1648756"/>
            <a:ext cx="553052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70000"/>
              </a:lnSpc>
              <a:defRPr/>
            </a:pP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 </a:t>
            </a:r>
            <a:r>
              <a:rPr lang="en-US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: </a:t>
            </a: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32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11  </a:t>
            </a: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            </a:t>
            </a:r>
            <a:r>
              <a:rPr lang="en-US" sz="24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X</a:t>
            </a:r>
            <a:r>
              <a:rPr lang="en-US" sz="32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12  </a:t>
            </a: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    …   ,           X</a:t>
            </a:r>
            <a:r>
              <a:rPr lang="en-US" sz="32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1n</a:t>
            </a:r>
            <a:endParaRPr lang="th-TH" sz="3200" b="1" kern="0" baseline="-25000" dirty="0">
              <a:solidFill>
                <a:srgbClr val="0066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02" name="Rectangle 2"/>
          <p:cNvSpPr txBox="1">
            <a:spLocks noChangeArrowheads="1"/>
          </p:cNvSpPr>
          <p:nvPr/>
        </p:nvSpPr>
        <p:spPr bwMode="auto">
          <a:xfrm>
            <a:off x="898634" y="2203590"/>
            <a:ext cx="4785767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70000"/>
              </a:lnSpc>
              <a:defRPr/>
            </a:pP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32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21  </a:t>
            </a: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            </a:t>
            </a:r>
            <a:r>
              <a:rPr lang="en-US" sz="24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X</a:t>
            </a:r>
            <a:r>
              <a:rPr lang="en-US" sz="32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22  </a:t>
            </a: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    …   ,          </a:t>
            </a:r>
            <a:r>
              <a:rPr lang="en-US" sz="16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32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2n</a:t>
            </a:r>
            <a:endParaRPr lang="th-TH" sz="3200" b="1" kern="0" baseline="-25000" dirty="0">
              <a:solidFill>
                <a:srgbClr val="0066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>
            <a:off x="1082566" y="2134858"/>
            <a:ext cx="0" cy="27432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303" name="Straight Arrow Connector 302"/>
          <p:cNvCxnSpPr/>
          <p:nvPr/>
        </p:nvCxnSpPr>
        <p:spPr bwMode="auto">
          <a:xfrm>
            <a:off x="4841240" y="2134858"/>
            <a:ext cx="0" cy="27432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304" name="Straight Arrow Connector 303"/>
          <p:cNvCxnSpPr/>
          <p:nvPr/>
        </p:nvCxnSpPr>
        <p:spPr bwMode="auto">
          <a:xfrm>
            <a:off x="2737594" y="2134858"/>
            <a:ext cx="0" cy="27432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sp>
        <p:nvSpPr>
          <p:cNvPr id="305" name="Rectangle 2"/>
          <p:cNvSpPr txBox="1">
            <a:spLocks noChangeArrowheads="1"/>
          </p:cNvSpPr>
          <p:nvPr/>
        </p:nvSpPr>
        <p:spPr bwMode="auto">
          <a:xfrm>
            <a:off x="545138" y="2728694"/>
            <a:ext cx="6143298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70000"/>
              </a:lnSpc>
              <a:defRPr/>
            </a:pP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=&gt; </a:t>
            </a:r>
            <a:r>
              <a:rPr lang="en-US" sz="3200" b="1" kern="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d</a:t>
            </a:r>
            <a:r>
              <a:rPr lang="en-US" sz="3200" b="1" kern="0" baseline="-250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</a:t>
            </a:r>
            <a:r>
              <a:rPr lang="en-US" sz="3200" b="1" kern="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= </a:t>
            </a: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32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11 </a:t>
            </a: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– X</a:t>
            </a:r>
            <a:r>
              <a:rPr lang="en-US" sz="32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21</a:t>
            </a: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</a:t>
            </a:r>
            <a:r>
              <a:rPr lang="en-US" sz="3200" b="1" kern="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d</a:t>
            </a:r>
            <a:r>
              <a:rPr lang="en-US" sz="3200" b="1" kern="0" baseline="-250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en-US" sz="3200" b="1" kern="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= </a:t>
            </a: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32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12 </a:t>
            </a: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– X</a:t>
            </a:r>
            <a:r>
              <a:rPr lang="en-US" sz="32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22</a:t>
            </a: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… , </a:t>
            </a:r>
            <a:r>
              <a:rPr lang="en-US" sz="3200" b="1" kern="0" dirty="0" err="1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d</a:t>
            </a:r>
            <a:r>
              <a:rPr lang="en-US" sz="3200" b="1" kern="0" baseline="-25000" dirty="0" err="1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</a:t>
            </a:r>
            <a:r>
              <a:rPr lang="en-US" sz="3200" b="1" kern="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= </a:t>
            </a: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</a:t>
            </a:r>
            <a:r>
              <a:rPr lang="en-US" sz="32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1n </a:t>
            </a:r>
            <a:r>
              <a:rPr lang="en-US" sz="32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– X</a:t>
            </a:r>
            <a:r>
              <a:rPr lang="en-US" sz="32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2n</a:t>
            </a:r>
            <a:endParaRPr lang="th-TH" sz="3200" b="1" kern="0" baseline="-25000" dirty="0">
              <a:solidFill>
                <a:srgbClr val="0066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6400800" y="1646126"/>
            <a:ext cx="2349264" cy="792274"/>
            <a:chOff x="3158980" y="1568668"/>
            <a:chExt cx="2349264" cy="792274"/>
          </a:xfrm>
        </p:grpSpPr>
        <p:sp>
          <p:nvSpPr>
            <p:cNvPr id="306" name="Rectangle 2"/>
            <p:cNvSpPr txBox="1">
              <a:spLocks noChangeArrowheads="1"/>
            </p:cNvSpPr>
            <p:nvPr/>
          </p:nvSpPr>
          <p:spPr bwMode="auto">
            <a:xfrm>
              <a:off x="3158980" y="1568668"/>
              <a:ext cx="2349264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en-US" sz="3200" b="1" kern="0" dirty="0" err="1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i.i.d</a:t>
              </a:r>
              <a:r>
                <a:rPr lang="en-US" sz="3200" b="1" kern="0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.</a:t>
              </a:r>
              <a:r>
                <a:rPr lang="th-TH" sz="3200" b="1" kern="0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kern="0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N(</a:t>
              </a:r>
              <a:r>
                <a:rPr kumimoji="1" lang="th-TH" sz="2200" b="1" dirty="0">
                  <a:solidFill>
                    <a:srgbClr val="006600"/>
                  </a:solidFill>
                  <a:latin typeface="Angsana New" pitchFamily="18" charset="-34"/>
                  <a:sym typeface="Symbol"/>
                </a:rPr>
                <a:t></a:t>
              </a:r>
              <a:r>
                <a:rPr kumimoji="1" lang="en-US" sz="3200" b="1" baseline="-25000" dirty="0">
                  <a:solidFill>
                    <a:srgbClr val="006600"/>
                  </a:solidFill>
                  <a:latin typeface="Angsana New" pitchFamily="18" charset="-34"/>
                </a:rPr>
                <a:t>1 </a:t>
              </a:r>
              <a:r>
                <a:rPr lang="en-US" sz="3200" b="1" kern="0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</a:t>
              </a:r>
              <a:r>
                <a:rPr lang="th-TH" sz="2200" b="1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</a:t>
              </a:r>
              <a:r>
                <a:rPr kumimoji="1" lang="en-US" sz="3600" b="1" baseline="-25000" dirty="0">
                  <a:solidFill>
                    <a:srgbClr val="006600"/>
                  </a:solidFill>
                  <a:latin typeface="Angsana New" pitchFamily="18" charset="-34"/>
                </a:rPr>
                <a:t>1 </a:t>
              </a:r>
              <a:r>
                <a:rPr lang="en-US" sz="3200" b="1" kern="0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)</a:t>
              </a:r>
              <a:endParaRPr lang="th-TH" sz="32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307" name="Rectangle 2"/>
            <p:cNvSpPr txBox="1">
              <a:spLocks noChangeArrowheads="1"/>
            </p:cNvSpPr>
            <p:nvPr/>
          </p:nvSpPr>
          <p:spPr bwMode="auto">
            <a:xfrm>
              <a:off x="4635259" y="1629104"/>
              <a:ext cx="278089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th-TH" sz="3600" b="1" baseline="30000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2</a:t>
              </a:r>
              <a:endParaRPr lang="th-TH" sz="32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grpSp>
        <p:nvGrpSpPr>
          <p:cNvPr id="308" name="Group 307"/>
          <p:cNvGrpSpPr/>
          <p:nvPr/>
        </p:nvGrpSpPr>
        <p:grpSpPr>
          <a:xfrm>
            <a:off x="6403630" y="2207824"/>
            <a:ext cx="2349264" cy="776508"/>
            <a:chOff x="3158980" y="1568668"/>
            <a:chExt cx="2349264" cy="776508"/>
          </a:xfrm>
        </p:grpSpPr>
        <p:sp>
          <p:nvSpPr>
            <p:cNvPr id="309" name="Rectangle 2"/>
            <p:cNvSpPr txBox="1">
              <a:spLocks noChangeArrowheads="1"/>
            </p:cNvSpPr>
            <p:nvPr/>
          </p:nvSpPr>
          <p:spPr bwMode="auto">
            <a:xfrm>
              <a:off x="3158980" y="1568668"/>
              <a:ext cx="2349264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en-US" sz="3200" b="1" kern="0" dirty="0" err="1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i.i.d</a:t>
              </a:r>
              <a:r>
                <a:rPr lang="en-US" sz="3200" b="1" kern="0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.</a:t>
              </a:r>
              <a:r>
                <a:rPr lang="th-TH" sz="3200" b="1" kern="0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kern="0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N(</a:t>
              </a:r>
              <a:r>
                <a:rPr kumimoji="1" lang="th-TH" sz="2200" b="1" dirty="0">
                  <a:solidFill>
                    <a:srgbClr val="006600"/>
                  </a:solidFill>
                  <a:latin typeface="Angsana New" pitchFamily="18" charset="-34"/>
                  <a:sym typeface="Symbol"/>
                </a:rPr>
                <a:t></a:t>
              </a:r>
              <a:r>
                <a:rPr kumimoji="1" lang="en-US" sz="3200" b="1" baseline="-25000" dirty="0">
                  <a:solidFill>
                    <a:srgbClr val="006600"/>
                  </a:solidFill>
                  <a:latin typeface="Angsana New" pitchFamily="18" charset="-34"/>
                </a:rPr>
                <a:t>2 </a:t>
              </a:r>
              <a:r>
                <a:rPr lang="en-US" sz="3200" b="1" kern="0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</a:t>
              </a:r>
              <a:r>
                <a:rPr lang="th-TH" sz="2200" b="1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</a:t>
              </a:r>
              <a:r>
                <a:rPr kumimoji="1" lang="en-US" sz="3600" b="1" baseline="-25000" dirty="0">
                  <a:solidFill>
                    <a:srgbClr val="006600"/>
                  </a:solidFill>
                  <a:latin typeface="Angsana New" pitchFamily="18" charset="-34"/>
                </a:rPr>
                <a:t>2 </a:t>
              </a:r>
              <a:r>
                <a:rPr lang="en-US" sz="3200" b="1" kern="0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)</a:t>
              </a:r>
              <a:endParaRPr lang="th-TH" sz="32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310" name="Rectangle 2"/>
            <p:cNvSpPr txBox="1">
              <a:spLocks noChangeArrowheads="1"/>
            </p:cNvSpPr>
            <p:nvPr/>
          </p:nvSpPr>
          <p:spPr bwMode="auto">
            <a:xfrm>
              <a:off x="4623227" y="1613338"/>
              <a:ext cx="278089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th-TH" sz="3600" b="1" baseline="30000" dirty="0">
                  <a:solidFill>
                    <a:srgbClr val="0066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2</a:t>
              </a:r>
              <a:endParaRPr lang="th-TH" sz="32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311" name="Rectangle 2"/>
          <p:cNvSpPr txBox="1">
            <a:spLocks noChangeArrowheads="1"/>
          </p:cNvSpPr>
          <p:nvPr/>
        </p:nvSpPr>
        <p:spPr bwMode="auto">
          <a:xfrm rot="5400000">
            <a:off x="7949939" y="1960301"/>
            <a:ext cx="144356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eaLnBrk="1" hangingPunct="1">
              <a:lnSpc>
                <a:spcPct val="70000"/>
              </a:lnSpc>
              <a:defRPr/>
            </a:pPr>
            <a:r>
              <a:rPr lang="th-TH" sz="24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ไม่ทราบ</a:t>
            </a:r>
            <a:endParaRPr lang="en-US" sz="2400" b="1" kern="0" dirty="0">
              <a:solidFill>
                <a:srgbClr val="0066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th-TH" sz="24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2400" b="1" kern="0" dirty="0" err="1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Cov</a:t>
            </a:r>
            <a:r>
              <a:rPr lang="en-US" sz="24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(X</a:t>
            </a:r>
            <a:r>
              <a:rPr lang="en-US" sz="24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1i  </a:t>
            </a:r>
            <a:r>
              <a:rPr lang="en-US" sz="24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X</a:t>
            </a:r>
            <a:r>
              <a:rPr lang="en-US" sz="2400" b="1" kern="0" baseline="-2500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2i</a:t>
            </a:r>
            <a:r>
              <a:rPr lang="en-US" sz="2400" b="1" kern="0" dirty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th-TH" sz="2400" b="1" kern="0" baseline="-25000" dirty="0">
              <a:solidFill>
                <a:srgbClr val="0066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312" name="Group 311"/>
          <p:cNvGrpSpPr/>
          <p:nvPr/>
        </p:nvGrpSpPr>
        <p:grpSpPr>
          <a:xfrm>
            <a:off x="6411497" y="2728692"/>
            <a:ext cx="2349264" cy="776508"/>
            <a:chOff x="3158980" y="1568668"/>
            <a:chExt cx="2349264" cy="776508"/>
          </a:xfrm>
        </p:grpSpPr>
        <p:sp>
          <p:nvSpPr>
            <p:cNvPr id="313" name="Rectangle 2"/>
            <p:cNvSpPr txBox="1">
              <a:spLocks noChangeArrowheads="1"/>
            </p:cNvSpPr>
            <p:nvPr/>
          </p:nvSpPr>
          <p:spPr bwMode="auto">
            <a:xfrm>
              <a:off x="3158980" y="1568668"/>
              <a:ext cx="2349264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en-US" sz="3200" b="1" kern="0" dirty="0" err="1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i.i.d</a:t>
              </a:r>
              <a:r>
                <a:rPr lang="en-US" sz="3200" b="1" kern="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.</a:t>
              </a:r>
              <a:r>
                <a:rPr lang="th-TH" sz="3200" b="1" kern="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3200" b="1" kern="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N(</a:t>
              </a:r>
              <a:r>
                <a:rPr kumimoji="1" lang="th-TH" sz="2200" b="1" dirty="0">
                  <a:solidFill>
                    <a:srgbClr val="FF0000"/>
                  </a:solidFill>
                  <a:latin typeface="Angsana New" pitchFamily="18" charset="-34"/>
                  <a:sym typeface="Symbol"/>
                </a:rPr>
                <a:t></a:t>
              </a:r>
              <a:r>
                <a:rPr kumimoji="1" lang="en-US" sz="3200" b="1" baseline="-25000" dirty="0">
                  <a:solidFill>
                    <a:srgbClr val="FF0000"/>
                  </a:solidFill>
                  <a:latin typeface="Angsana New" pitchFamily="18" charset="-34"/>
                </a:rPr>
                <a:t>d </a:t>
              </a:r>
              <a:r>
                <a:rPr lang="en-US" sz="3200" b="1" kern="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, </a:t>
              </a:r>
              <a:r>
                <a:rPr lang="th-TH" sz="2200" b="1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</a:t>
              </a:r>
              <a:r>
                <a:rPr kumimoji="1" lang="en-US" sz="3600" b="1" baseline="-25000" dirty="0">
                  <a:solidFill>
                    <a:srgbClr val="FF0000"/>
                  </a:solidFill>
                  <a:latin typeface="Angsana New" pitchFamily="18" charset="-34"/>
                </a:rPr>
                <a:t>d </a:t>
              </a:r>
              <a:r>
                <a:rPr lang="en-US" sz="3200" b="1" kern="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)</a:t>
              </a:r>
              <a:endParaRPr lang="th-TH" sz="3200" b="1" kern="0" baseline="-250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sp>
          <p:nvSpPr>
            <p:cNvPr id="314" name="Rectangle 2"/>
            <p:cNvSpPr txBox="1">
              <a:spLocks noChangeArrowheads="1"/>
            </p:cNvSpPr>
            <p:nvPr/>
          </p:nvSpPr>
          <p:spPr bwMode="auto">
            <a:xfrm>
              <a:off x="4630695" y="1613338"/>
              <a:ext cx="278089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charset="0"/>
                  <a:cs typeface="Angsana New" pitchFamily="18" charset="-34"/>
                </a:defRPr>
              </a:lvl9pPr>
            </a:lstStyle>
            <a:p>
              <a:pPr algn="l" eaLnBrk="1" hangingPunct="1">
                <a:lnSpc>
                  <a:spcPct val="70000"/>
                </a:lnSpc>
                <a:defRPr/>
              </a:pPr>
              <a:r>
                <a:rPr lang="th-TH" sz="3600" b="1" baseline="300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Symbol"/>
                </a:rPr>
                <a:t>2</a:t>
              </a:r>
              <a:endParaRPr lang="th-TH" sz="3200" b="1" kern="0" baseline="-250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cxnSp>
        <p:nvCxnSpPr>
          <p:cNvPr id="137" name="Straight Arrow Connector 11">
            <a:extLst>
              <a:ext uri="{FF2B5EF4-FFF2-40B4-BE49-F238E27FC236}">
                <a16:creationId xmlns:a16="http://schemas.microsoft.com/office/drawing/2014/main" id="{AE030D3F-4376-459A-8A8F-8D3041601100}"/>
              </a:ext>
            </a:extLst>
          </p:cNvPr>
          <p:cNvCxnSpPr/>
          <p:nvPr/>
        </p:nvCxnSpPr>
        <p:spPr bwMode="auto">
          <a:xfrm>
            <a:off x="1078832" y="2679238"/>
            <a:ext cx="0" cy="27432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66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cxnSp>
        <p:nvCxnSpPr>
          <p:cNvPr id="144" name="Straight Arrow Connector 302">
            <a:extLst>
              <a:ext uri="{FF2B5EF4-FFF2-40B4-BE49-F238E27FC236}">
                <a16:creationId xmlns:a16="http://schemas.microsoft.com/office/drawing/2014/main" id="{880BFDB9-CFC5-467D-95CC-00C9E0639BDE}"/>
              </a:ext>
            </a:extLst>
          </p:cNvPr>
          <p:cNvCxnSpPr/>
          <p:nvPr/>
        </p:nvCxnSpPr>
        <p:spPr bwMode="auto">
          <a:xfrm>
            <a:off x="4837506" y="2679238"/>
            <a:ext cx="0" cy="27432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66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cxnSp>
        <p:nvCxnSpPr>
          <p:cNvPr id="146" name="Straight Arrow Connector 303">
            <a:extLst>
              <a:ext uri="{FF2B5EF4-FFF2-40B4-BE49-F238E27FC236}">
                <a16:creationId xmlns:a16="http://schemas.microsoft.com/office/drawing/2014/main" id="{2DCC21D8-5B8A-43A7-835E-3432A701FD0C}"/>
              </a:ext>
            </a:extLst>
          </p:cNvPr>
          <p:cNvCxnSpPr/>
          <p:nvPr/>
        </p:nvCxnSpPr>
        <p:spPr bwMode="auto">
          <a:xfrm>
            <a:off x="2733860" y="2679238"/>
            <a:ext cx="0" cy="27432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6600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10" name="วงเล็บปีกกาขวา 9">
            <a:extLst>
              <a:ext uri="{FF2B5EF4-FFF2-40B4-BE49-F238E27FC236}">
                <a16:creationId xmlns:a16="http://schemas.microsoft.com/office/drawing/2014/main" id="{D67138A2-DC6B-4459-B3CB-B813A150E92E}"/>
              </a:ext>
            </a:extLst>
          </p:cNvPr>
          <p:cNvSpPr/>
          <p:nvPr/>
        </p:nvSpPr>
        <p:spPr bwMode="auto">
          <a:xfrm>
            <a:off x="8217080" y="1853769"/>
            <a:ext cx="182880" cy="914400"/>
          </a:xfrm>
          <a:prstGeom prst="rightBrace">
            <a:avLst>
              <a:gd name="adj1" fmla="val 42929"/>
              <a:gd name="adj2" fmla="val 5000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ngsana New" pitchFamily="18" charset="-34"/>
            </a:endParaRPr>
          </a:p>
        </p:txBody>
      </p:sp>
      <p:grpSp>
        <p:nvGrpSpPr>
          <p:cNvPr id="11" name="กลุ่ม 10">
            <a:extLst>
              <a:ext uri="{FF2B5EF4-FFF2-40B4-BE49-F238E27FC236}">
                <a16:creationId xmlns:a16="http://schemas.microsoft.com/office/drawing/2014/main" id="{E07BC43E-F95D-4638-817C-9F0465EAD581}"/>
              </a:ext>
            </a:extLst>
          </p:cNvPr>
          <p:cNvGrpSpPr/>
          <p:nvPr/>
        </p:nvGrpSpPr>
        <p:grpSpPr>
          <a:xfrm>
            <a:off x="4809414" y="868539"/>
            <a:ext cx="3756266" cy="49869"/>
            <a:chOff x="4809414" y="868539"/>
            <a:chExt cx="3756266" cy="49869"/>
          </a:xfrm>
        </p:grpSpPr>
        <p:cxnSp>
          <p:nvCxnSpPr>
            <p:cNvPr id="150" name="Straight Connector 282">
              <a:extLst>
                <a:ext uri="{FF2B5EF4-FFF2-40B4-BE49-F238E27FC236}">
                  <a16:creationId xmlns:a16="http://schemas.microsoft.com/office/drawing/2014/main" id="{EEC0853C-C0CA-4AF4-9F44-BC9EF1DD160F}"/>
                </a:ext>
              </a:extLst>
            </p:cNvPr>
            <p:cNvCxnSpPr/>
            <p:nvPr/>
          </p:nvCxnSpPr>
          <p:spPr bwMode="auto">
            <a:xfrm flipH="1">
              <a:off x="4809414" y="868539"/>
              <a:ext cx="374904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Straight Connector 282">
              <a:extLst>
                <a:ext uri="{FF2B5EF4-FFF2-40B4-BE49-F238E27FC236}">
                  <a16:creationId xmlns:a16="http://schemas.microsoft.com/office/drawing/2014/main" id="{A3B152E3-5EC5-4789-93C8-9F58C8E9F206}"/>
                </a:ext>
              </a:extLst>
            </p:cNvPr>
            <p:cNvCxnSpPr/>
            <p:nvPr/>
          </p:nvCxnSpPr>
          <p:spPr bwMode="auto">
            <a:xfrm flipH="1">
              <a:off x="4816640" y="918408"/>
              <a:ext cx="374904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sp>
        <p:nvSpPr>
          <p:cNvPr id="13" name="ลูกศร: ซ้าย-ขึ้น 12">
            <a:extLst>
              <a:ext uri="{FF2B5EF4-FFF2-40B4-BE49-F238E27FC236}">
                <a16:creationId xmlns:a16="http://schemas.microsoft.com/office/drawing/2014/main" id="{6602DA49-91BC-4B74-8786-099852033474}"/>
              </a:ext>
            </a:extLst>
          </p:cNvPr>
          <p:cNvSpPr/>
          <p:nvPr/>
        </p:nvSpPr>
        <p:spPr bwMode="auto">
          <a:xfrm flipV="1">
            <a:off x="3104290" y="4977842"/>
            <a:ext cx="516621" cy="396269"/>
          </a:xfrm>
          <a:prstGeom prst="leftUpArrow">
            <a:avLst/>
          </a:prstGeom>
          <a:solidFill>
            <a:srgbClr val="FFFF00"/>
          </a:solidFill>
          <a:ln w="9525" cap="flat" cmpd="sng" algn="ctr">
            <a:solidFill>
              <a:srgbClr val="FFC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ngsana New" pitchFamily="18" charset="-34"/>
            </a:endParaRPr>
          </a:p>
        </p:txBody>
      </p:sp>
      <p:sp>
        <p:nvSpPr>
          <p:cNvPr id="152" name="ลูกศร: ซ้าย-ขึ้น 151">
            <a:extLst>
              <a:ext uri="{FF2B5EF4-FFF2-40B4-BE49-F238E27FC236}">
                <a16:creationId xmlns:a16="http://schemas.microsoft.com/office/drawing/2014/main" id="{5E03D582-C5E1-4F7F-928B-F1A64152BAD6}"/>
              </a:ext>
            </a:extLst>
          </p:cNvPr>
          <p:cNvSpPr/>
          <p:nvPr/>
        </p:nvSpPr>
        <p:spPr bwMode="auto">
          <a:xfrm flipV="1">
            <a:off x="5731779" y="4981080"/>
            <a:ext cx="516621" cy="396269"/>
          </a:xfrm>
          <a:prstGeom prst="leftUpArrow">
            <a:avLst/>
          </a:prstGeom>
          <a:solidFill>
            <a:srgbClr val="FFFF00"/>
          </a:solidFill>
          <a:ln w="9525" cap="flat" cmpd="sng" algn="ctr">
            <a:solidFill>
              <a:srgbClr val="FFC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ngsana New" pitchFamily="18" charset="-34"/>
            </a:endParaRPr>
          </a:p>
        </p:txBody>
      </p:sp>
      <p:sp>
        <p:nvSpPr>
          <p:cNvPr id="159" name="ลูกศร: ซ้าย-ขึ้น 158">
            <a:extLst>
              <a:ext uri="{FF2B5EF4-FFF2-40B4-BE49-F238E27FC236}">
                <a16:creationId xmlns:a16="http://schemas.microsoft.com/office/drawing/2014/main" id="{E127EF2E-319D-4619-A559-556C100972BB}"/>
              </a:ext>
            </a:extLst>
          </p:cNvPr>
          <p:cNvSpPr/>
          <p:nvPr/>
        </p:nvSpPr>
        <p:spPr bwMode="auto">
          <a:xfrm flipV="1">
            <a:off x="8358675" y="4981080"/>
            <a:ext cx="516621" cy="396269"/>
          </a:xfrm>
          <a:prstGeom prst="leftUpArrow">
            <a:avLst/>
          </a:prstGeom>
          <a:solidFill>
            <a:srgbClr val="FFFF00"/>
          </a:solidFill>
          <a:ln w="9525" cap="flat" cmpd="sng" algn="ctr">
            <a:solidFill>
              <a:srgbClr val="FFC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ngsana New" pitchFamily="18" charset="-34"/>
            </a:endParaRPr>
          </a:p>
        </p:txBody>
      </p:sp>
      <p:grpSp>
        <p:nvGrpSpPr>
          <p:cNvPr id="22" name="กลุ่ม 21">
            <a:extLst>
              <a:ext uri="{FF2B5EF4-FFF2-40B4-BE49-F238E27FC236}">
                <a16:creationId xmlns:a16="http://schemas.microsoft.com/office/drawing/2014/main" id="{A80436CC-818F-4A2D-BA00-AEFB499962CA}"/>
              </a:ext>
            </a:extLst>
          </p:cNvPr>
          <p:cNvGrpSpPr/>
          <p:nvPr/>
        </p:nvGrpSpPr>
        <p:grpSpPr>
          <a:xfrm>
            <a:off x="533399" y="3148264"/>
            <a:ext cx="5257801" cy="938464"/>
            <a:chOff x="533399" y="3148264"/>
            <a:chExt cx="5257801" cy="938464"/>
          </a:xfrm>
        </p:grpSpPr>
        <p:grpSp>
          <p:nvGrpSpPr>
            <p:cNvPr id="15" name="กลุ่ม 14">
              <a:extLst>
                <a:ext uri="{FF2B5EF4-FFF2-40B4-BE49-F238E27FC236}">
                  <a16:creationId xmlns:a16="http://schemas.microsoft.com/office/drawing/2014/main" id="{74232420-F540-4A74-A761-FF9572763993}"/>
                </a:ext>
              </a:extLst>
            </p:cNvPr>
            <p:cNvGrpSpPr/>
            <p:nvPr/>
          </p:nvGrpSpPr>
          <p:grpSpPr>
            <a:xfrm>
              <a:off x="533399" y="3164303"/>
              <a:ext cx="2441337" cy="890337"/>
              <a:chOff x="6080189" y="3224463"/>
              <a:chExt cx="2441337" cy="890337"/>
            </a:xfrm>
          </p:grpSpPr>
          <p:sp>
            <p:nvSpPr>
              <p:cNvPr id="166" name="Rectangle 2">
                <a:extLst>
                  <a:ext uri="{FF2B5EF4-FFF2-40B4-BE49-F238E27FC236}">
                    <a16:creationId xmlns:a16="http://schemas.microsoft.com/office/drawing/2014/main" id="{FC41F660-6F28-492E-A963-2444982278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22432" y="3224463"/>
                <a:ext cx="704298" cy="8660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2pPr>
                <a:lvl3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3pPr>
                <a:lvl4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4pPr>
                <a:lvl5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9pPr>
              </a:lstStyle>
              <a:p>
                <a:pPr eaLnBrk="1" hangingPunct="1">
                  <a:lnSpc>
                    <a:spcPts val="3200"/>
                  </a:lnSpc>
                  <a:defRPr/>
                </a:pPr>
                <a:r>
                  <a:rPr lang="en-US" sz="2200" b="1" kern="0" dirty="0">
                    <a:solidFill>
                      <a:srgbClr val="6600CC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n</a:t>
                </a:r>
              </a:p>
              <a:p>
                <a:pPr eaLnBrk="1" hangingPunct="1">
                  <a:lnSpc>
                    <a:spcPts val="3200"/>
                  </a:lnSpc>
                  <a:defRPr/>
                </a:pPr>
                <a:r>
                  <a:rPr lang="en-US" sz="2200" b="1" kern="0" dirty="0" err="1">
                    <a:solidFill>
                      <a:srgbClr val="6600CC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i</a:t>
                </a:r>
                <a:r>
                  <a:rPr lang="en-US" sz="2200" b="1" kern="0" dirty="0">
                    <a:solidFill>
                      <a:srgbClr val="6600CC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=</a:t>
                </a:r>
                <a:r>
                  <a:rPr lang="en-US" sz="1400" b="1" kern="0" dirty="0">
                    <a:solidFill>
                      <a:srgbClr val="6600CC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</a:t>
                </a:r>
                <a:r>
                  <a:rPr lang="en-US" sz="2200" b="1" kern="0" dirty="0">
                    <a:solidFill>
                      <a:srgbClr val="6600CC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1</a:t>
                </a:r>
                <a:endParaRPr lang="th-TH" sz="2200" b="1" kern="0" dirty="0">
                  <a:solidFill>
                    <a:srgbClr val="6600CC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sp>
            <p:nvSpPr>
              <p:cNvPr id="162" name="Rectangle 2">
                <a:extLst>
                  <a:ext uri="{FF2B5EF4-FFF2-40B4-BE49-F238E27FC236}">
                    <a16:creationId xmlns:a16="http://schemas.microsoft.com/office/drawing/2014/main" id="{B48DF14B-0B59-41C8-A0A0-25FA5352C1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0189" y="3382962"/>
                <a:ext cx="2441337" cy="7318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2pPr>
                <a:lvl3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3pPr>
                <a:lvl4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4pPr>
                <a:lvl5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9pPr>
              </a:lstStyle>
              <a:p>
                <a:pPr algn="l" eaLnBrk="1" hangingPunct="1">
                  <a:lnSpc>
                    <a:spcPct val="70000"/>
                  </a:lnSpc>
                  <a:defRPr/>
                </a:pPr>
                <a:r>
                  <a:rPr lang="en-US" sz="3200" b="1" kern="0" dirty="0">
                    <a:solidFill>
                      <a:srgbClr val="6600CC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=&gt; d =     </a:t>
                </a:r>
                <a:r>
                  <a:rPr lang="en-US" sz="2600" b="1" kern="0" dirty="0">
                    <a:solidFill>
                      <a:srgbClr val="6600CC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</a:t>
                </a:r>
                <a:r>
                  <a:rPr lang="en-US" sz="3200" b="1" kern="0" dirty="0">
                    <a:solidFill>
                      <a:srgbClr val="6600CC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 panose="05050102010706020507" pitchFamily="18" charset="2"/>
                  </a:rPr>
                  <a:t> d</a:t>
                </a:r>
                <a:r>
                  <a:rPr kumimoji="1" lang="en-US" sz="3200" b="1" baseline="-25000" dirty="0">
                    <a:solidFill>
                      <a:srgbClr val="6600CC"/>
                    </a:solidFill>
                    <a:latin typeface="Angsana New" pitchFamily="18" charset="-34"/>
                  </a:rPr>
                  <a:t>i</a:t>
                </a:r>
                <a:r>
                  <a:rPr lang="en-US" sz="3200" b="1" kern="0" dirty="0">
                    <a:solidFill>
                      <a:srgbClr val="6600CC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   </a:t>
                </a:r>
                <a:r>
                  <a:rPr lang="en-US" sz="3200" b="1" kern="0" dirty="0">
                    <a:solidFill>
                      <a:srgbClr val="9933FF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rPr>
                  <a:t>and</a:t>
                </a:r>
                <a:endParaRPr lang="th-TH" sz="3200" b="1" kern="0" baseline="-25000" dirty="0">
                  <a:solidFill>
                    <a:srgbClr val="9933FF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grpSp>
            <p:nvGrpSpPr>
              <p:cNvPr id="14" name="กลุ่ม 13">
                <a:extLst>
                  <a:ext uri="{FF2B5EF4-FFF2-40B4-BE49-F238E27FC236}">
                    <a16:creationId xmlns:a16="http://schemas.microsoft.com/office/drawing/2014/main" id="{8FF10D13-7433-4C6D-B0CF-BF38156EF517}"/>
                  </a:ext>
                </a:extLst>
              </p:cNvPr>
              <p:cNvGrpSpPr/>
              <p:nvPr/>
            </p:nvGrpSpPr>
            <p:grpSpPr>
              <a:xfrm>
                <a:off x="6958264" y="3370930"/>
                <a:ext cx="316348" cy="731838"/>
                <a:chOff x="8430970" y="3285097"/>
                <a:chExt cx="316348" cy="731838"/>
              </a:xfrm>
            </p:grpSpPr>
            <p:sp>
              <p:nvSpPr>
                <p:cNvPr id="163" name="Rectangle 2">
                  <a:extLst>
                    <a:ext uri="{FF2B5EF4-FFF2-40B4-BE49-F238E27FC236}">
                      <a16:creationId xmlns:a16="http://schemas.microsoft.com/office/drawing/2014/main" id="{0AD10D00-F7B0-4C24-8083-4B95E0ED7B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430970" y="3285097"/>
                  <a:ext cx="316348" cy="73183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>
                  <a:lvl1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+mj-lt"/>
                      <a:ea typeface="+mj-ea"/>
                      <a:cs typeface="+mj-cs"/>
                    </a:defRPr>
                  </a:lvl1pPr>
                  <a:lvl2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2pPr>
                  <a:lvl3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3pPr>
                  <a:lvl4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4pPr>
                  <a:lvl5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5pPr>
                  <a:lvl6pPr marL="4572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6pPr>
                  <a:lvl7pPr marL="9144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7pPr>
                  <a:lvl8pPr marL="13716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8pPr>
                  <a:lvl9pPr marL="18288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9pPr>
                </a:lstStyle>
                <a:p>
                  <a:pPr algn="l" eaLnBrk="1" hangingPunct="1">
                    <a:lnSpc>
                      <a:spcPct val="50000"/>
                    </a:lnSpc>
                    <a:defRPr/>
                  </a:pPr>
                  <a:r>
                    <a:rPr lang="en-US" sz="2800" b="1" kern="0" dirty="0">
                      <a:solidFill>
                        <a:srgbClr val="6600CC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1</a:t>
                  </a:r>
                </a:p>
                <a:p>
                  <a:pPr algn="l" eaLnBrk="1" hangingPunct="1">
                    <a:lnSpc>
                      <a:spcPct val="50000"/>
                    </a:lnSpc>
                    <a:defRPr/>
                  </a:pPr>
                  <a:r>
                    <a:rPr lang="en-US" sz="2800" b="1" kern="0" dirty="0">
                      <a:solidFill>
                        <a:srgbClr val="6600CC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n</a:t>
                  </a:r>
                  <a:endParaRPr lang="th-TH" sz="2800" b="1" kern="0" baseline="-25000" dirty="0">
                    <a:solidFill>
                      <a:srgbClr val="6600CC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cxnSp>
              <p:nvCxnSpPr>
                <p:cNvPr id="164" name="Straight Connector 282">
                  <a:extLst>
                    <a:ext uri="{FF2B5EF4-FFF2-40B4-BE49-F238E27FC236}">
                      <a16:creationId xmlns:a16="http://schemas.microsoft.com/office/drawing/2014/main" id="{DCB5EACC-1783-417A-9098-BDC260A029C2}"/>
                    </a:ext>
                  </a:extLst>
                </p:cNvPr>
                <p:cNvCxnSpPr/>
                <p:nvPr/>
              </p:nvCxnSpPr>
              <p:spPr bwMode="auto">
                <a:xfrm flipH="1">
                  <a:off x="8495896" y="3621504"/>
                  <a:ext cx="182880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6600CC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168" name="Straight Connector 282">
                <a:extLst>
                  <a:ext uri="{FF2B5EF4-FFF2-40B4-BE49-F238E27FC236}">
                    <a16:creationId xmlns:a16="http://schemas.microsoft.com/office/drawing/2014/main" id="{D02CCFBA-7583-4D9A-8E20-355A1E9CC5AC}"/>
                  </a:ext>
                </a:extLst>
              </p:cNvPr>
              <p:cNvCxnSpPr/>
              <p:nvPr/>
            </p:nvCxnSpPr>
            <p:spPr bwMode="auto">
              <a:xfrm flipH="1">
                <a:off x="6506680" y="3585408"/>
                <a:ext cx="182880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6600CC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9" name="กลุ่ม 18">
              <a:extLst>
                <a:ext uri="{FF2B5EF4-FFF2-40B4-BE49-F238E27FC236}">
                  <a16:creationId xmlns:a16="http://schemas.microsoft.com/office/drawing/2014/main" id="{A9BCBD05-056C-48C3-957C-3DA4879D1037}"/>
                </a:ext>
              </a:extLst>
            </p:cNvPr>
            <p:cNvGrpSpPr/>
            <p:nvPr/>
          </p:nvGrpSpPr>
          <p:grpSpPr>
            <a:xfrm>
              <a:off x="2927131" y="3148264"/>
              <a:ext cx="2864069" cy="938464"/>
              <a:chOff x="6185308" y="3657600"/>
              <a:chExt cx="2864069" cy="938464"/>
            </a:xfrm>
          </p:grpSpPr>
          <p:grpSp>
            <p:nvGrpSpPr>
              <p:cNvPr id="169" name="กลุ่ม 168">
                <a:extLst>
                  <a:ext uri="{FF2B5EF4-FFF2-40B4-BE49-F238E27FC236}">
                    <a16:creationId xmlns:a16="http://schemas.microsoft.com/office/drawing/2014/main" id="{B1BF04D8-1D49-4235-BA43-ACA98E4FD777}"/>
                  </a:ext>
                </a:extLst>
              </p:cNvPr>
              <p:cNvGrpSpPr/>
              <p:nvPr/>
            </p:nvGrpSpPr>
            <p:grpSpPr>
              <a:xfrm>
                <a:off x="6185308" y="3657600"/>
                <a:ext cx="2864069" cy="902369"/>
                <a:chOff x="6400799" y="3212431"/>
                <a:chExt cx="2864069" cy="902369"/>
              </a:xfrm>
            </p:grpSpPr>
            <p:sp>
              <p:nvSpPr>
                <p:cNvPr id="170" name="Rectangle 2">
                  <a:extLst>
                    <a:ext uri="{FF2B5EF4-FFF2-40B4-BE49-F238E27FC236}">
                      <a16:creationId xmlns:a16="http://schemas.microsoft.com/office/drawing/2014/main" id="{EFB89A0E-32BF-4886-B172-90877F4DF9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00799" y="3382962"/>
                  <a:ext cx="2864069" cy="73183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>
                  <a:lvl1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+mj-lt"/>
                      <a:ea typeface="+mj-ea"/>
                      <a:cs typeface="+mj-cs"/>
                    </a:defRPr>
                  </a:lvl1pPr>
                  <a:lvl2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2pPr>
                  <a:lvl3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3pPr>
                  <a:lvl4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4pPr>
                  <a:lvl5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5pPr>
                  <a:lvl6pPr marL="4572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6pPr>
                  <a:lvl7pPr marL="9144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7pPr>
                  <a:lvl8pPr marL="13716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8pPr>
                  <a:lvl9pPr marL="18288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9pPr>
                </a:lstStyle>
                <a:p>
                  <a:pPr algn="l" eaLnBrk="1" hangingPunct="1">
                    <a:lnSpc>
                      <a:spcPct val="70000"/>
                    </a:lnSpc>
                    <a:defRPr/>
                  </a:pPr>
                  <a:r>
                    <a:rPr lang="en-US" sz="3200" b="1" kern="0" dirty="0" err="1">
                      <a:solidFill>
                        <a:srgbClr val="6600CC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S</a:t>
                  </a:r>
                  <a:r>
                    <a:rPr lang="en-US" sz="3200" b="1" kern="0" baseline="-25000" dirty="0" err="1">
                      <a:solidFill>
                        <a:srgbClr val="6600CC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d</a:t>
                  </a:r>
                  <a:r>
                    <a:rPr lang="en-US" sz="3200" b="1" kern="0" dirty="0">
                      <a:solidFill>
                        <a:srgbClr val="6600CC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=           </a:t>
                  </a:r>
                  <a:r>
                    <a:rPr lang="en-US" sz="2600" b="1" kern="0" dirty="0">
                      <a:solidFill>
                        <a:srgbClr val="6600CC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</a:t>
                  </a:r>
                  <a:r>
                    <a:rPr lang="en-US" sz="3200" b="1" kern="0" dirty="0">
                      <a:solidFill>
                        <a:srgbClr val="6600CC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 (d</a:t>
                  </a:r>
                  <a:r>
                    <a:rPr kumimoji="1" lang="en-US" sz="3200" b="1" baseline="-25000" dirty="0">
                      <a:solidFill>
                        <a:srgbClr val="6600CC"/>
                      </a:solidFill>
                      <a:latin typeface="Angsana New" pitchFamily="18" charset="-34"/>
                    </a:rPr>
                    <a:t>i</a:t>
                  </a:r>
                  <a:r>
                    <a:rPr lang="en-US" sz="3200" b="1" kern="0" dirty="0">
                      <a:solidFill>
                        <a:srgbClr val="6600CC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 – d)</a:t>
                  </a:r>
                  <a:r>
                    <a:rPr lang="en-US" sz="3200" b="1" kern="0" baseline="30000" dirty="0">
                      <a:solidFill>
                        <a:srgbClr val="6600CC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2</a:t>
                  </a:r>
                  <a:r>
                    <a:rPr lang="en-US" sz="3200" b="1" kern="0" dirty="0">
                      <a:solidFill>
                        <a:srgbClr val="6600CC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  <a:sym typeface="Symbol" panose="05050102010706020507" pitchFamily="18" charset="2"/>
                    </a:rPr>
                    <a:t> </a:t>
                  </a:r>
                  <a:endParaRPr lang="th-TH" sz="3200" b="1" kern="0" baseline="-25000" dirty="0">
                    <a:solidFill>
                      <a:srgbClr val="6600CC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sp>
              <p:nvSpPr>
                <p:cNvPr id="172" name="Rectangle 2">
                  <a:extLst>
                    <a:ext uri="{FF2B5EF4-FFF2-40B4-BE49-F238E27FC236}">
                      <a16:creationId xmlns:a16="http://schemas.microsoft.com/office/drawing/2014/main" id="{D297EB29-96BC-4CD9-89A3-22F88F3FCA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57126" y="3212431"/>
                  <a:ext cx="704298" cy="8660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>
                  <a:lvl1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+mj-lt"/>
                      <a:ea typeface="+mj-ea"/>
                      <a:cs typeface="+mj-cs"/>
                    </a:defRPr>
                  </a:lvl1pPr>
                  <a:lvl2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2pPr>
                  <a:lvl3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3pPr>
                  <a:lvl4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4pPr>
                  <a:lvl5pPr algn="ctr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5pPr>
                  <a:lvl6pPr marL="4572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6pPr>
                  <a:lvl7pPr marL="9144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7pPr>
                  <a:lvl8pPr marL="13716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8pPr>
                  <a:lvl9pPr marL="1828800" algn="ctr" rtl="0" fontAlgn="base">
                    <a:spcBef>
                      <a:spcPct val="0"/>
                    </a:spcBef>
                    <a:spcAft>
                      <a:spcPct val="0"/>
                    </a:spcAft>
                    <a:defRPr sz="4400">
                      <a:solidFill>
                        <a:schemeClr val="tx2"/>
                      </a:solidFill>
                      <a:latin typeface="Arial" charset="0"/>
                      <a:cs typeface="Angsana New" pitchFamily="18" charset="-34"/>
                    </a:defRPr>
                  </a:lvl9pPr>
                </a:lstStyle>
                <a:p>
                  <a:pPr eaLnBrk="1" hangingPunct="1">
                    <a:lnSpc>
                      <a:spcPts val="3200"/>
                    </a:lnSpc>
                    <a:defRPr/>
                  </a:pPr>
                  <a:r>
                    <a:rPr lang="en-US" sz="2200" b="1" kern="0" dirty="0">
                      <a:solidFill>
                        <a:srgbClr val="6600CC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n</a:t>
                  </a:r>
                </a:p>
                <a:p>
                  <a:pPr eaLnBrk="1" hangingPunct="1">
                    <a:lnSpc>
                      <a:spcPts val="3200"/>
                    </a:lnSpc>
                    <a:defRPr/>
                  </a:pPr>
                  <a:r>
                    <a:rPr lang="en-US" sz="2200" b="1" kern="0" dirty="0" err="1">
                      <a:solidFill>
                        <a:srgbClr val="6600CC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i</a:t>
                  </a:r>
                  <a:r>
                    <a:rPr lang="en-US" sz="2200" b="1" kern="0" dirty="0">
                      <a:solidFill>
                        <a:srgbClr val="6600CC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=</a:t>
                  </a:r>
                  <a:r>
                    <a:rPr lang="en-US" sz="1400" b="1" kern="0" dirty="0">
                      <a:solidFill>
                        <a:srgbClr val="6600CC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</a:t>
                  </a:r>
                  <a:r>
                    <a:rPr lang="en-US" sz="2200" b="1" kern="0" dirty="0">
                      <a:solidFill>
                        <a:srgbClr val="6600CC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1</a:t>
                  </a:r>
                  <a:endParaRPr lang="th-TH" sz="2200" b="1" kern="0" dirty="0">
                    <a:solidFill>
                      <a:srgbClr val="6600CC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  <p:grpSp>
              <p:nvGrpSpPr>
                <p:cNvPr id="171" name="กลุ่ม 170">
                  <a:extLst>
                    <a:ext uri="{FF2B5EF4-FFF2-40B4-BE49-F238E27FC236}">
                      <a16:creationId xmlns:a16="http://schemas.microsoft.com/office/drawing/2014/main" id="{A16E3F4F-F0AA-41F8-A728-8AC49B04C7E9}"/>
                    </a:ext>
                  </a:extLst>
                </p:cNvPr>
                <p:cNvGrpSpPr/>
                <p:nvPr/>
              </p:nvGrpSpPr>
              <p:grpSpPr>
                <a:xfrm>
                  <a:off x="6974304" y="3376864"/>
                  <a:ext cx="762000" cy="731838"/>
                  <a:chOff x="8447010" y="3291031"/>
                  <a:chExt cx="762000" cy="731838"/>
                </a:xfrm>
              </p:grpSpPr>
              <p:sp>
                <p:nvSpPr>
                  <p:cNvPr id="176" name="Rectangle 2">
                    <a:extLst>
                      <a:ext uri="{FF2B5EF4-FFF2-40B4-BE49-F238E27FC236}">
                        <a16:creationId xmlns:a16="http://schemas.microsoft.com/office/drawing/2014/main" id="{A8164A8B-0D5E-4923-B080-F55176D15C4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7010" y="3291031"/>
                    <a:ext cx="762000" cy="7318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</a:bodyPr>
                  <a:lstStyle>
                    <a:lvl1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4400">
                        <a:solidFill>
                          <a:schemeClr val="tx2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  <a:lvl2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4400">
                        <a:solidFill>
                          <a:schemeClr val="tx2"/>
                        </a:solidFill>
                        <a:latin typeface="Arial" charset="0"/>
                        <a:cs typeface="Angsana New" pitchFamily="18" charset="-34"/>
                      </a:defRPr>
                    </a:lvl2pPr>
                    <a:lvl3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4400">
                        <a:solidFill>
                          <a:schemeClr val="tx2"/>
                        </a:solidFill>
                        <a:latin typeface="Arial" charset="0"/>
                        <a:cs typeface="Angsana New" pitchFamily="18" charset="-34"/>
                      </a:defRPr>
                    </a:lvl3pPr>
                    <a:lvl4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4400">
                        <a:solidFill>
                          <a:schemeClr val="tx2"/>
                        </a:solidFill>
                        <a:latin typeface="Arial" charset="0"/>
                        <a:cs typeface="Angsana New" pitchFamily="18" charset="-34"/>
                      </a:defRPr>
                    </a:lvl4pPr>
                    <a:lvl5pPr algn="ctr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4400">
                        <a:solidFill>
                          <a:schemeClr val="tx2"/>
                        </a:solidFill>
                        <a:latin typeface="Arial" charset="0"/>
                        <a:cs typeface="Angsana New" pitchFamily="18" charset="-34"/>
                      </a:defRPr>
                    </a:lvl5pPr>
                    <a:lvl6pPr marL="457200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sz="4400">
                        <a:solidFill>
                          <a:schemeClr val="tx2"/>
                        </a:solidFill>
                        <a:latin typeface="Arial" charset="0"/>
                        <a:cs typeface="Angsana New" pitchFamily="18" charset="-34"/>
                      </a:defRPr>
                    </a:lvl6pPr>
                    <a:lvl7pPr marL="914400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sz="4400">
                        <a:solidFill>
                          <a:schemeClr val="tx2"/>
                        </a:solidFill>
                        <a:latin typeface="Arial" charset="0"/>
                        <a:cs typeface="Angsana New" pitchFamily="18" charset="-34"/>
                      </a:defRPr>
                    </a:lvl7pPr>
                    <a:lvl8pPr marL="1371600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sz="4400">
                        <a:solidFill>
                          <a:schemeClr val="tx2"/>
                        </a:solidFill>
                        <a:latin typeface="Arial" charset="0"/>
                        <a:cs typeface="Angsana New" pitchFamily="18" charset="-34"/>
                      </a:defRPr>
                    </a:lvl8pPr>
                    <a:lvl9pPr marL="1828800" algn="ctr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sz="4400">
                        <a:solidFill>
                          <a:schemeClr val="tx2"/>
                        </a:solidFill>
                        <a:latin typeface="Arial" charset="0"/>
                        <a:cs typeface="Angsana New" pitchFamily="18" charset="-34"/>
                      </a:defRPr>
                    </a:lvl9pPr>
                  </a:lstStyle>
                  <a:p>
                    <a:pPr eaLnBrk="1" hangingPunct="1">
                      <a:lnSpc>
                        <a:spcPct val="60000"/>
                      </a:lnSpc>
                      <a:defRPr/>
                    </a:pPr>
                    <a:r>
                      <a:rPr lang="en-US" sz="2800" b="1" kern="0" dirty="0">
                        <a:solidFill>
                          <a:srgbClr val="6600CC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1</a:t>
                    </a:r>
                  </a:p>
                  <a:p>
                    <a:pPr eaLnBrk="1" hangingPunct="1">
                      <a:lnSpc>
                        <a:spcPct val="60000"/>
                      </a:lnSpc>
                      <a:defRPr/>
                    </a:pPr>
                    <a:r>
                      <a:rPr lang="en-US" sz="2800" b="1" kern="0" dirty="0">
                        <a:solidFill>
                          <a:srgbClr val="6600CC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rPr>
                      <a:t>n – 1 </a:t>
                    </a:r>
                    <a:endParaRPr lang="th-TH" sz="2800" b="1" kern="0" baseline="-25000" dirty="0">
                      <a:solidFill>
                        <a:srgbClr val="6600CC"/>
                      </a:solidFill>
                      <a:latin typeface="Angsana New" panose="02020603050405020304" pitchFamily="18" charset="-34"/>
                      <a:cs typeface="Angsana New" panose="02020603050405020304" pitchFamily="18" charset="-34"/>
                    </a:endParaRPr>
                  </a:p>
                </p:txBody>
              </p:sp>
              <p:cxnSp>
                <p:nvCxnSpPr>
                  <p:cNvPr id="179" name="Straight Connector 282">
                    <a:extLst>
                      <a:ext uri="{FF2B5EF4-FFF2-40B4-BE49-F238E27FC236}">
                        <a16:creationId xmlns:a16="http://schemas.microsoft.com/office/drawing/2014/main" id="{0202D3FB-91FE-4C9C-9727-F736C71B8C6F}"/>
                      </a:ext>
                    </a:extLst>
                  </p:cNvPr>
                  <p:cNvCxnSpPr/>
                  <p:nvPr/>
                </p:nvCxnSpPr>
                <p:spPr bwMode="auto">
                  <a:xfrm flipH="1">
                    <a:off x="8543266" y="3621504"/>
                    <a:ext cx="54864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6600CC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</p:grpSp>
          </p:grpSp>
          <p:sp>
            <p:nvSpPr>
              <p:cNvPr id="180" name="Rectangle 2">
                <a:extLst>
                  <a:ext uri="{FF2B5EF4-FFF2-40B4-BE49-F238E27FC236}">
                    <a16:creationId xmlns:a16="http://schemas.microsoft.com/office/drawing/2014/main" id="{120E2B09-F472-4BC4-89C1-D3B36DA7C2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4600" y="3864226"/>
                <a:ext cx="278089" cy="731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2pPr>
                <a:lvl3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3pPr>
                <a:lvl4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4pPr>
                <a:lvl5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charset="0"/>
                    <a:cs typeface="Angsana New" pitchFamily="18" charset="-34"/>
                  </a:defRPr>
                </a:lvl9pPr>
              </a:lstStyle>
              <a:p>
                <a:pPr algn="l" eaLnBrk="1" hangingPunct="1">
                  <a:lnSpc>
                    <a:spcPct val="70000"/>
                  </a:lnSpc>
                  <a:defRPr/>
                </a:pPr>
                <a:r>
                  <a:rPr lang="th-TH" sz="3600" b="1" baseline="30000" dirty="0">
                    <a:solidFill>
                      <a:srgbClr val="6600CC"/>
                    </a:solidFill>
                    <a:latin typeface="Angsana New" panose="02020603050405020304" pitchFamily="18" charset="-34"/>
                    <a:cs typeface="Angsana New" panose="02020603050405020304" pitchFamily="18" charset="-34"/>
                    <a:sym typeface="Symbol"/>
                  </a:rPr>
                  <a:t>2</a:t>
                </a:r>
                <a:endParaRPr lang="th-TH" sz="3200" b="1" kern="0" baseline="-25000" dirty="0">
                  <a:solidFill>
                    <a:srgbClr val="6600CC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  <p:cxnSp>
            <p:nvCxnSpPr>
              <p:cNvPr id="181" name="Straight Connector 282">
                <a:extLst>
                  <a:ext uri="{FF2B5EF4-FFF2-40B4-BE49-F238E27FC236}">
                    <a16:creationId xmlns:a16="http://schemas.microsoft.com/office/drawing/2014/main" id="{649AEFE3-AB09-44D6-9C97-E1FBD8346DB8}"/>
                  </a:ext>
                </a:extLst>
              </p:cNvPr>
              <p:cNvCxnSpPr/>
              <p:nvPr/>
            </p:nvCxnSpPr>
            <p:spPr bwMode="auto">
              <a:xfrm flipH="1">
                <a:off x="8263288" y="4022560"/>
                <a:ext cx="182880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6600CC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880AD2-FC51-4ACD-9A7F-033251C7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3616EF-75E5-4690-856B-E2DE7F57532B}" type="slidenum">
              <a:rPr lang="en-US" smtClean="0"/>
              <a:pPr>
                <a:defRPr/>
              </a:pPr>
              <a:t>18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199877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21" grpId="0" autoUpdateAnimBg="0"/>
      <p:bldP spid="122" grpId="0"/>
      <p:bldP spid="156" grpId="0"/>
      <p:bldP spid="259" grpId="0"/>
      <p:bldP spid="291" grpId="0"/>
      <p:bldP spid="292" grpId="0"/>
      <p:bldP spid="293" grpId="0"/>
      <p:bldP spid="294" grpId="0"/>
      <p:bldP spid="301" grpId="0"/>
      <p:bldP spid="302" grpId="0"/>
      <p:bldP spid="305" grpId="0"/>
      <p:bldP spid="311" grpId="0"/>
      <p:bldP spid="10" grpId="0" animBg="1"/>
      <p:bldP spid="13" grpId="0" animBg="1"/>
      <p:bldP spid="152" grpId="0" animBg="1"/>
      <p:bldP spid="15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2"/>
          <p:cNvSpPr txBox="1">
            <a:spLocks noChangeArrowheads="1"/>
          </p:cNvSpPr>
          <p:nvPr/>
        </p:nvSpPr>
        <p:spPr bwMode="auto">
          <a:xfrm>
            <a:off x="0" y="0"/>
            <a:ext cx="91440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70000"/>
              </a:lnSpc>
              <a:defRPr/>
            </a:pPr>
            <a:r>
              <a:rPr lang="en-US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</a:t>
            </a: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 การทดสอบค่าเฉลี่ยของหลายประชากร</a:t>
            </a:r>
            <a:endParaRPr lang="th-TH" sz="3200" b="1" kern="0" baseline="30000" dirty="0">
              <a:solidFill>
                <a:srgbClr val="6633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14" name="Rectangle 2"/>
          <p:cNvSpPr txBox="1">
            <a:spLocks noChangeArrowheads="1"/>
          </p:cNvSpPr>
          <p:nvPr/>
        </p:nvSpPr>
        <p:spPr bwMode="auto">
          <a:xfrm>
            <a:off x="304799" y="1600200"/>
            <a:ext cx="3124201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70000"/>
              </a:lnSpc>
              <a:defRPr/>
            </a:pPr>
            <a:r>
              <a:rPr lang="en-US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</a:t>
            </a: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en-US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</a:t>
            </a: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ตัวอย่างเป็นอิสระกัน</a:t>
            </a:r>
            <a:endParaRPr lang="th-TH" sz="3200" b="1" kern="0" baseline="30000" dirty="0">
              <a:solidFill>
                <a:srgbClr val="6633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296" name="Group 295"/>
          <p:cNvGrpSpPr/>
          <p:nvPr/>
        </p:nvGrpSpPr>
        <p:grpSpPr>
          <a:xfrm>
            <a:off x="304800" y="494152"/>
            <a:ext cx="8141368" cy="699492"/>
            <a:chOff x="152400" y="1258687"/>
            <a:chExt cx="8141368" cy="769441"/>
          </a:xfrm>
        </p:grpSpPr>
        <p:sp>
          <p:nvSpPr>
            <p:cNvPr id="297" name="Rectangle 3"/>
            <p:cNvSpPr>
              <a:spLocks noChangeArrowheads="1"/>
            </p:cNvSpPr>
            <p:nvPr/>
          </p:nvSpPr>
          <p:spPr bwMode="auto">
            <a:xfrm>
              <a:off x="152400" y="1389996"/>
              <a:ext cx="3855961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rgbClr val="CC3399"/>
                  </a:solidFill>
                  <a:latin typeface="Angsana New" panose="02020603050405020304" pitchFamily="18" charset="-34"/>
                </a:rPr>
                <a:t>สมมุติฐานสำหรับการทดสอบ :</a:t>
              </a:r>
            </a:p>
          </p:txBody>
        </p:sp>
        <p:sp>
          <p:nvSpPr>
            <p:cNvPr id="299" name="Text Box 25"/>
            <p:cNvSpPr txBox="1">
              <a:spLocks noChangeArrowheads="1"/>
            </p:cNvSpPr>
            <p:nvPr/>
          </p:nvSpPr>
          <p:spPr bwMode="auto">
            <a:xfrm>
              <a:off x="3632105" y="1258687"/>
              <a:ext cx="4661663" cy="769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3200" b="1" dirty="0">
                  <a:solidFill>
                    <a:srgbClr val="0000FF"/>
                  </a:solidFill>
                  <a:latin typeface="Angsana New" pitchFamily="18" charset="-34"/>
                </a:rPr>
                <a:t>H</a:t>
              </a:r>
              <a:r>
                <a:rPr kumimoji="1" lang="en-US" sz="3200" b="1" baseline="-25000" dirty="0">
                  <a:solidFill>
                    <a:srgbClr val="0000FF"/>
                  </a:solidFill>
                  <a:latin typeface="Angsana New" pitchFamily="18" charset="-34"/>
                </a:rPr>
                <a:t>0</a:t>
              </a:r>
              <a:r>
                <a:rPr kumimoji="1" lang="en-US" sz="3200" b="1" dirty="0">
                  <a:solidFill>
                    <a:srgbClr val="0000FF"/>
                  </a:solidFill>
                  <a:latin typeface="Angsana New" pitchFamily="18" charset="-34"/>
                </a:rPr>
                <a:t>: </a:t>
              </a:r>
              <a:r>
                <a:rPr kumimoji="1" lang="th-TH" sz="2600" b="1" dirty="0">
                  <a:solidFill>
                    <a:srgbClr val="0000FF"/>
                  </a:solidFill>
                  <a:latin typeface="Angsana New" pitchFamily="18" charset="-34"/>
                  <a:sym typeface="Symbol"/>
                </a:rPr>
                <a:t></a:t>
              </a:r>
              <a:r>
                <a:rPr kumimoji="1" lang="en-US" sz="3200" b="1" baseline="-25000" dirty="0">
                  <a:solidFill>
                    <a:srgbClr val="0000FF"/>
                  </a:solidFill>
                  <a:latin typeface="Angsana New" pitchFamily="18" charset="-34"/>
                </a:rPr>
                <a:t>1</a:t>
              </a:r>
              <a:r>
                <a:rPr kumimoji="1" lang="en-US" sz="3200" b="1" dirty="0">
                  <a:solidFill>
                    <a:srgbClr val="0000FF"/>
                  </a:solidFill>
                  <a:latin typeface="Angsana New" pitchFamily="18" charset="-34"/>
                  <a:sym typeface="Symbol"/>
                </a:rPr>
                <a:t> </a:t>
              </a:r>
              <a:r>
                <a:rPr kumimoji="1" lang="en-US" sz="3200" b="1" dirty="0">
                  <a:solidFill>
                    <a:srgbClr val="0000FF"/>
                  </a:solidFill>
                  <a:latin typeface="Angsana New" pitchFamily="18" charset="-34"/>
                </a:rPr>
                <a:t>= </a:t>
              </a:r>
              <a:r>
                <a:rPr kumimoji="1" lang="th-TH" sz="2600" b="1" dirty="0">
                  <a:solidFill>
                    <a:srgbClr val="0000FF"/>
                  </a:solidFill>
                  <a:latin typeface="Angsana New" pitchFamily="18" charset="-34"/>
                  <a:sym typeface="Symbol"/>
                </a:rPr>
                <a:t></a:t>
              </a:r>
              <a:r>
                <a:rPr kumimoji="1" lang="en-US" sz="3200" b="1" baseline="-25000" dirty="0">
                  <a:solidFill>
                    <a:srgbClr val="0000FF"/>
                  </a:solidFill>
                  <a:latin typeface="Angsana New" pitchFamily="18" charset="-34"/>
                </a:rPr>
                <a:t>2 </a:t>
              </a:r>
              <a:r>
                <a:rPr kumimoji="1" lang="en-US" sz="3200" b="1" dirty="0">
                  <a:solidFill>
                    <a:srgbClr val="0000FF"/>
                  </a:solidFill>
                  <a:latin typeface="Angsana New" pitchFamily="18" charset="-34"/>
                </a:rPr>
                <a:t>=  … = </a:t>
              </a:r>
              <a:r>
                <a:rPr kumimoji="1" lang="th-TH" sz="2600" b="1" dirty="0">
                  <a:solidFill>
                    <a:srgbClr val="0000FF"/>
                  </a:solidFill>
                  <a:latin typeface="Angsana New" pitchFamily="18" charset="-34"/>
                  <a:sym typeface="Symbol"/>
                </a:rPr>
                <a:t></a:t>
              </a:r>
              <a:r>
                <a:rPr kumimoji="1" lang="en-US" sz="3200" b="1" baseline="-25000" dirty="0">
                  <a:solidFill>
                    <a:srgbClr val="0000FF"/>
                  </a:solidFill>
                  <a:latin typeface="Angsana New" pitchFamily="18" charset="-34"/>
                </a:rPr>
                <a:t>k</a:t>
              </a:r>
              <a:r>
                <a:rPr kumimoji="1" lang="th-TH" sz="3200" b="1" baseline="-25000" dirty="0">
                  <a:solidFill>
                    <a:srgbClr val="0000FF"/>
                  </a:solidFill>
                  <a:latin typeface="Angsana New" pitchFamily="18" charset="-34"/>
                </a:rPr>
                <a:t> </a:t>
              </a:r>
              <a:r>
                <a:rPr kumimoji="1" lang="en-US" sz="3200" b="1" baseline="-25000" dirty="0">
                  <a:solidFill>
                    <a:srgbClr val="0000FF"/>
                  </a:solidFill>
                  <a:latin typeface="Angsana New" pitchFamily="18" charset="-34"/>
                </a:rPr>
                <a:t>  </a:t>
              </a:r>
              <a:r>
                <a:rPr kumimoji="1" lang="en-US" sz="4400" b="1" dirty="0">
                  <a:solidFill>
                    <a:srgbClr val="FF0000"/>
                  </a:solidFill>
                  <a:latin typeface="Angsana New" pitchFamily="18" charset="-34"/>
                </a:rPr>
                <a:t>VS</a:t>
              </a:r>
              <a:r>
                <a:rPr kumimoji="1" lang="en-US" sz="3200" b="1" baseline="-25000" dirty="0">
                  <a:solidFill>
                    <a:srgbClr val="0000FF"/>
                  </a:solidFill>
                  <a:latin typeface="Angsana New" pitchFamily="18" charset="-34"/>
                </a:rPr>
                <a:t> </a:t>
              </a:r>
              <a:endParaRPr kumimoji="1" lang="th-TH" sz="3200" b="1" dirty="0">
                <a:solidFill>
                  <a:srgbClr val="FF0000"/>
                </a:solidFill>
                <a:latin typeface="Angsana New" pitchFamily="18" charset="-34"/>
              </a:endParaRPr>
            </a:p>
          </p:txBody>
        </p:sp>
      </p:grpSp>
      <p:sp>
        <p:nvSpPr>
          <p:cNvPr id="160" name="Text Box 25">
            <a:extLst>
              <a:ext uri="{FF2B5EF4-FFF2-40B4-BE49-F238E27FC236}">
                <a16:creationId xmlns:a16="http://schemas.microsoft.com/office/drawing/2014/main" id="{F5BB7025-EBFF-435B-9079-BDD952D53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5936" y="1000691"/>
            <a:ext cx="3124200" cy="643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4000" b="1" baseline="-25000" dirty="0" err="1">
                <a:solidFill>
                  <a:srgbClr val="0000FF"/>
                </a:solidFill>
                <a:latin typeface="Angsana New" pitchFamily="18" charset="-34"/>
              </a:rPr>
              <a:t>i</a:t>
            </a:r>
            <a:r>
              <a:rPr kumimoji="1" lang="en-US" sz="4000" b="1" baseline="-25000" dirty="0">
                <a:solidFill>
                  <a:srgbClr val="0000FF"/>
                </a:solidFill>
                <a:latin typeface="Angsana New" pitchFamily="18" charset="-34"/>
              </a:rPr>
              <a:t> </a:t>
            </a:r>
            <a:r>
              <a:rPr kumimoji="1" lang="th-TH" sz="2000" b="1" dirty="0">
                <a:solidFill>
                  <a:srgbClr val="0000FF"/>
                </a:solidFill>
                <a:latin typeface="Angsana New" pitchFamily="18" charset="-34"/>
                <a:sym typeface="Symbol" panose="05050102010706020507" pitchFamily="18" charset="2"/>
              </a:rPr>
              <a:t></a:t>
            </a:r>
            <a:r>
              <a:rPr kumimoji="1" lang="th-TH" sz="40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</a:t>
            </a:r>
            <a:r>
              <a:rPr kumimoji="1" lang="th-TH" sz="26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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j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 </a:t>
            </a:r>
            <a:r>
              <a:rPr kumimoji="1" lang="th-TH" sz="3200" b="1" dirty="0">
                <a:solidFill>
                  <a:srgbClr val="0000FF"/>
                </a:solidFill>
                <a:latin typeface="Angsana New" pitchFamily="18" charset="-34"/>
              </a:rPr>
              <a:t>อย่างน้อย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1 </a:t>
            </a:r>
            <a:r>
              <a:rPr kumimoji="1" lang="th-TH" sz="3200" b="1" dirty="0">
                <a:solidFill>
                  <a:srgbClr val="0000FF"/>
                </a:solidFill>
                <a:latin typeface="Angsana New" pitchFamily="18" charset="-34"/>
              </a:rPr>
              <a:t>คู่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  </a:t>
            </a:r>
            <a:r>
              <a:rPr kumimoji="1" lang="th-TH" sz="3200" b="1" baseline="-25000" dirty="0">
                <a:solidFill>
                  <a:srgbClr val="0000FF"/>
                </a:solidFill>
                <a:latin typeface="Angsana New" pitchFamily="18" charset="-34"/>
              </a:rPr>
              <a:t> 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sp>
        <p:nvSpPr>
          <p:cNvPr id="165" name="Rectangle 2">
            <a:extLst>
              <a:ext uri="{FF2B5EF4-FFF2-40B4-BE49-F238E27FC236}">
                <a16:creationId xmlns:a16="http://schemas.microsoft.com/office/drawing/2014/main" id="{BE375E3E-E2A2-4285-B346-0A951C348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1" y="2514600"/>
            <a:ext cx="36576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70000"/>
              </a:lnSpc>
              <a:defRPr/>
            </a:pPr>
            <a:r>
              <a:rPr lang="en-US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</a:t>
            </a: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en-US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ตัวอย่าง</a:t>
            </a:r>
            <a:r>
              <a:rPr lang="th-TH" sz="4000" b="1" u="sng" kern="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ไม่</a:t>
            </a:r>
            <a:r>
              <a:rPr lang="th-TH" sz="3200" b="1" kern="0" dirty="0">
                <a:solidFill>
                  <a:srgbClr val="66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เป็นอิสระกัน</a:t>
            </a:r>
            <a:endParaRPr lang="th-TH" sz="3200" b="1" kern="0" baseline="30000" dirty="0">
              <a:solidFill>
                <a:srgbClr val="6633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67" name="Text Box 9">
            <a:extLst>
              <a:ext uri="{FF2B5EF4-FFF2-40B4-BE49-F238E27FC236}">
                <a16:creationId xmlns:a16="http://schemas.microsoft.com/office/drawing/2014/main" id="{A6B23A82-1046-4144-A785-42DF8731E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057400"/>
            <a:ext cx="67818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3200" b="1" dirty="0">
                <a:solidFill>
                  <a:srgbClr val="00B050"/>
                </a:solidFill>
                <a:latin typeface="Angsana New" pitchFamily="18" charset="-34"/>
              </a:rPr>
              <a:t>=&gt;  One – way ANOVA (F – test)</a:t>
            </a:r>
            <a:endParaRPr lang="th-TH" sz="3200" b="1" dirty="0">
              <a:solidFill>
                <a:srgbClr val="00B050"/>
              </a:solidFill>
              <a:latin typeface="Angsana New" pitchFamily="18" charset="-34"/>
            </a:endParaRPr>
          </a:p>
        </p:txBody>
      </p:sp>
      <p:sp>
        <p:nvSpPr>
          <p:cNvPr id="175" name="Text Box 11">
            <a:extLst>
              <a:ext uri="{FF2B5EF4-FFF2-40B4-BE49-F238E27FC236}">
                <a16:creationId xmlns:a16="http://schemas.microsoft.com/office/drawing/2014/main" id="{6FC5A526-FC95-4FEC-B4F7-2DA77F91A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048000"/>
            <a:ext cx="7010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3200" b="1" dirty="0">
                <a:solidFill>
                  <a:srgbClr val="00B050"/>
                </a:solidFill>
                <a:latin typeface="Angsana New" pitchFamily="18" charset="-34"/>
              </a:rPr>
              <a:t>=&gt;  Two – way ANOVA (F – test)</a:t>
            </a:r>
            <a:endParaRPr lang="th-TH" sz="3200" b="1" dirty="0">
              <a:solidFill>
                <a:srgbClr val="00B050"/>
              </a:solidFill>
              <a:latin typeface="Angsana New" pitchFamily="18" charset="-34"/>
            </a:endParaRPr>
          </a:p>
        </p:txBody>
      </p:sp>
      <p:grpSp>
        <p:nvGrpSpPr>
          <p:cNvPr id="9" name="กลุ่ม 8">
            <a:extLst>
              <a:ext uri="{FF2B5EF4-FFF2-40B4-BE49-F238E27FC236}">
                <a16:creationId xmlns:a16="http://schemas.microsoft.com/office/drawing/2014/main" id="{F6C61F60-631B-4400-8E1C-5D96909B7009}"/>
              </a:ext>
            </a:extLst>
          </p:cNvPr>
          <p:cNvGrpSpPr/>
          <p:nvPr/>
        </p:nvGrpSpPr>
        <p:grpSpPr>
          <a:xfrm>
            <a:off x="701040" y="3721006"/>
            <a:ext cx="7680960" cy="2832193"/>
            <a:chOff x="701040" y="3721006"/>
            <a:chExt cx="7680960" cy="2832193"/>
          </a:xfrm>
        </p:grpSpPr>
        <p:grpSp>
          <p:nvGrpSpPr>
            <p:cNvPr id="7" name="กลุ่ม 6">
              <a:extLst>
                <a:ext uri="{FF2B5EF4-FFF2-40B4-BE49-F238E27FC236}">
                  <a16:creationId xmlns:a16="http://schemas.microsoft.com/office/drawing/2014/main" id="{D71824EB-88FA-45D0-B4D7-64AB1A4CA005}"/>
                </a:ext>
              </a:extLst>
            </p:cNvPr>
            <p:cNvGrpSpPr/>
            <p:nvPr/>
          </p:nvGrpSpPr>
          <p:grpSpPr>
            <a:xfrm>
              <a:off x="701040" y="3721006"/>
              <a:ext cx="7680960" cy="2832193"/>
              <a:chOff x="701040" y="4038599"/>
              <a:chExt cx="7680960" cy="2832193"/>
            </a:xfrm>
          </p:grpSpPr>
          <p:sp>
            <p:nvSpPr>
              <p:cNvPr id="2" name="กล่องข้อความ 1">
                <a:extLst>
                  <a:ext uri="{FF2B5EF4-FFF2-40B4-BE49-F238E27FC236}">
                    <a16:creationId xmlns:a16="http://schemas.microsoft.com/office/drawing/2014/main" id="{2F823A64-9734-49D3-A428-8C95EB8EF407}"/>
                  </a:ext>
                </a:extLst>
              </p:cNvPr>
              <p:cNvSpPr txBox="1"/>
              <p:nvPr/>
            </p:nvSpPr>
            <p:spPr>
              <a:xfrm>
                <a:off x="838199" y="4185392"/>
                <a:ext cx="1981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6600CC"/>
                    </a:solidFill>
                    <a:latin typeface="Angsana New" panose="02020603050405020304" pitchFamily="18" charset="-34"/>
                  </a:rPr>
                  <a:t>F – distribution</a:t>
                </a:r>
              </a:p>
            </p:txBody>
          </p:sp>
          <p:pic>
            <p:nvPicPr>
              <p:cNvPr id="76802" name="Picture 2" descr="F pdf.svg">
                <a:extLst>
                  <a:ext uri="{FF2B5EF4-FFF2-40B4-BE49-F238E27FC236}">
                    <a16:creationId xmlns:a16="http://schemas.microsoft.com/office/drawing/2014/main" id="{756D7708-5F82-437E-A28D-A02EF1303E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29200" y="4160520"/>
                <a:ext cx="3095625" cy="23241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2" name="กล่องข้อความ 181">
                <a:extLst>
                  <a:ext uri="{FF2B5EF4-FFF2-40B4-BE49-F238E27FC236}">
                    <a16:creationId xmlns:a16="http://schemas.microsoft.com/office/drawing/2014/main" id="{C8C04360-2AE9-4E0D-B3C6-8435F21928D0}"/>
                  </a:ext>
                </a:extLst>
              </p:cNvPr>
              <p:cNvSpPr txBox="1"/>
              <p:nvPr/>
            </p:nvSpPr>
            <p:spPr>
              <a:xfrm>
                <a:off x="1066799" y="4709648"/>
                <a:ext cx="3962401" cy="475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9933FF"/>
                    </a:solidFill>
                    <a:latin typeface="Angsana New" panose="02020603050405020304" pitchFamily="18" charset="-34"/>
                  </a:rPr>
                  <a:t>Let V</a:t>
                </a:r>
                <a:r>
                  <a:rPr lang="en-US" baseline="-25000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1</a:t>
                </a:r>
                <a:r>
                  <a:rPr lang="en-US" dirty="0">
                    <a:solidFill>
                      <a:srgbClr val="9933FF"/>
                    </a:solidFill>
                    <a:latin typeface="Angsana New" panose="02020603050405020304" pitchFamily="18" charset="-34"/>
                  </a:rPr>
                  <a:t> </a:t>
                </a:r>
                <a:r>
                  <a:rPr lang="en-US" sz="2400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</a:t>
                </a:r>
                <a:r>
                  <a:rPr lang="en-US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r>
                  <a:rPr lang="en-US" sz="2200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</a:t>
                </a:r>
                <a:r>
                  <a:rPr lang="en-US" baseline="30000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2</a:t>
                </a:r>
                <a:r>
                  <a:rPr lang="en-US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(d</a:t>
                </a:r>
                <a:r>
                  <a:rPr lang="en-US" baseline="-25000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1</a:t>
                </a:r>
                <a:r>
                  <a:rPr lang="en-US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) and </a:t>
                </a:r>
                <a:r>
                  <a:rPr lang="en-US" dirty="0">
                    <a:solidFill>
                      <a:srgbClr val="9933FF"/>
                    </a:solidFill>
                    <a:latin typeface="Angsana New" panose="02020603050405020304" pitchFamily="18" charset="-34"/>
                  </a:rPr>
                  <a:t>V</a:t>
                </a:r>
                <a:r>
                  <a:rPr lang="en-US" baseline="-25000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2</a:t>
                </a:r>
                <a:r>
                  <a:rPr lang="en-US" dirty="0">
                    <a:solidFill>
                      <a:srgbClr val="9933FF"/>
                    </a:solidFill>
                    <a:latin typeface="Angsana New" panose="02020603050405020304" pitchFamily="18" charset="-34"/>
                  </a:rPr>
                  <a:t> </a:t>
                </a:r>
                <a:r>
                  <a:rPr lang="en-US" sz="2400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</a:t>
                </a:r>
                <a:r>
                  <a:rPr lang="en-US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 </a:t>
                </a:r>
                <a:r>
                  <a:rPr lang="en-US" sz="2200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</a:t>
                </a:r>
                <a:r>
                  <a:rPr lang="en-US" baseline="30000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2</a:t>
                </a:r>
                <a:r>
                  <a:rPr lang="en-US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(d</a:t>
                </a:r>
                <a:r>
                  <a:rPr lang="en-US" baseline="-25000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2</a:t>
                </a:r>
                <a:r>
                  <a:rPr lang="en-US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)</a:t>
                </a:r>
                <a:endParaRPr lang="en-US" dirty="0">
                  <a:solidFill>
                    <a:srgbClr val="9933FF"/>
                  </a:solidFill>
                  <a:latin typeface="Angsana New" panose="02020603050405020304" pitchFamily="18" charset="-34"/>
                </a:endParaRPr>
              </a:p>
            </p:txBody>
          </p:sp>
          <p:sp>
            <p:nvSpPr>
              <p:cNvPr id="185" name="กล่องข้อความ 184">
                <a:extLst>
                  <a:ext uri="{FF2B5EF4-FFF2-40B4-BE49-F238E27FC236}">
                    <a16:creationId xmlns:a16="http://schemas.microsoft.com/office/drawing/2014/main" id="{81786D28-DA06-49AD-BC28-5C0A86490F2A}"/>
                  </a:ext>
                </a:extLst>
              </p:cNvPr>
              <p:cNvSpPr txBox="1"/>
              <p:nvPr/>
            </p:nvSpPr>
            <p:spPr>
              <a:xfrm>
                <a:off x="1066799" y="5252138"/>
                <a:ext cx="3703561" cy="475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9933FF"/>
                    </a:solidFill>
                    <a:latin typeface="Angsana New" panose="02020603050405020304" pitchFamily="18" charset="-34"/>
                  </a:rPr>
                  <a:t>If  V</a:t>
                </a:r>
                <a:r>
                  <a:rPr lang="en-US" baseline="-25000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1</a:t>
                </a:r>
                <a:r>
                  <a:rPr lang="en-US" dirty="0">
                    <a:solidFill>
                      <a:srgbClr val="9933FF"/>
                    </a:solidFill>
                    <a:latin typeface="Angsana New" panose="02020603050405020304" pitchFamily="18" charset="-34"/>
                  </a:rPr>
                  <a:t> </a:t>
                </a:r>
                <a:r>
                  <a:rPr lang="en-US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and </a:t>
                </a:r>
                <a:r>
                  <a:rPr lang="en-US" dirty="0">
                    <a:solidFill>
                      <a:srgbClr val="9933FF"/>
                    </a:solidFill>
                    <a:latin typeface="Angsana New" panose="02020603050405020304" pitchFamily="18" charset="-34"/>
                  </a:rPr>
                  <a:t>V</a:t>
                </a:r>
                <a:r>
                  <a:rPr lang="en-US" baseline="-25000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2</a:t>
                </a:r>
                <a:r>
                  <a:rPr lang="en-US" dirty="0">
                    <a:solidFill>
                      <a:srgbClr val="9933FF"/>
                    </a:solidFill>
                    <a:latin typeface="Angsana New" panose="02020603050405020304" pitchFamily="18" charset="-34"/>
                  </a:rPr>
                  <a:t> </a:t>
                </a:r>
                <a:r>
                  <a:rPr lang="en-US" dirty="0">
                    <a:solidFill>
                      <a:srgbClr val="9933FF"/>
                    </a:solidFill>
                    <a:latin typeface="Angsana New" panose="02020603050405020304" pitchFamily="18" charset="-34"/>
                    <a:sym typeface="Symbol" panose="05050102010706020507" pitchFamily="18" charset="2"/>
                  </a:rPr>
                  <a:t> are independent, then</a:t>
                </a:r>
                <a:endParaRPr lang="en-US" dirty="0">
                  <a:solidFill>
                    <a:srgbClr val="9933FF"/>
                  </a:solidFill>
                  <a:latin typeface="Angsana New" panose="02020603050405020304" pitchFamily="18" charset="-34"/>
                </a:endParaRPr>
              </a:p>
            </p:txBody>
          </p:sp>
          <p:grpSp>
            <p:nvGrpSpPr>
              <p:cNvPr id="5" name="กลุ่ม 4">
                <a:extLst>
                  <a:ext uri="{FF2B5EF4-FFF2-40B4-BE49-F238E27FC236}">
                    <a16:creationId xmlns:a16="http://schemas.microsoft.com/office/drawing/2014/main" id="{89433930-7893-4863-BDC0-D1A062BBEDB0}"/>
                  </a:ext>
                </a:extLst>
              </p:cNvPr>
              <p:cNvGrpSpPr/>
              <p:nvPr/>
            </p:nvGrpSpPr>
            <p:grpSpPr>
              <a:xfrm>
                <a:off x="1600200" y="5899888"/>
                <a:ext cx="2550535" cy="589905"/>
                <a:chOff x="609601" y="6186232"/>
                <a:chExt cx="2550535" cy="589905"/>
              </a:xfrm>
            </p:grpSpPr>
            <p:sp>
              <p:nvSpPr>
                <p:cNvPr id="186" name="กล่องข้อความ 185">
                  <a:extLst>
                    <a:ext uri="{FF2B5EF4-FFF2-40B4-BE49-F238E27FC236}">
                      <a16:creationId xmlns:a16="http://schemas.microsoft.com/office/drawing/2014/main" id="{2C8620C1-FAE1-403B-9EFE-85034DDCD221}"/>
                    </a:ext>
                  </a:extLst>
                </p:cNvPr>
                <p:cNvSpPr txBox="1"/>
                <p:nvPr/>
              </p:nvSpPr>
              <p:spPr>
                <a:xfrm>
                  <a:off x="609601" y="6186232"/>
                  <a:ext cx="1014503" cy="5899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2000"/>
                    </a:lnSpc>
                  </a:pPr>
                  <a:r>
                    <a:rPr lang="en-US" dirty="0">
                      <a:solidFill>
                        <a:srgbClr val="9933FF"/>
                      </a:solidFill>
                      <a:latin typeface="Angsana New" panose="02020603050405020304" pitchFamily="18" charset="-34"/>
                    </a:rPr>
                    <a:t>V</a:t>
                  </a:r>
                  <a:r>
                    <a:rPr lang="en-US" dirty="0">
                      <a:solidFill>
                        <a:srgbClr val="9933FF"/>
                      </a:solidFill>
                      <a:latin typeface="Angsana New" panose="02020603050405020304" pitchFamily="18" charset="-34"/>
                      <a:sym typeface="Symbol" panose="05050102010706020507" pitchFamily="18" charset="2"/>
                    </a:rPr>
                    <a:t>1 / d1</a:t>
                  </a:r>
                </a:p>
                <a:p>
                  <a:pPr>
                    <a:lnSpc>
                      <a:spcPts val="2000"/>
                    </a:lnSpc>
                  </a:pPr>
                  <a:r>
                    <a:rPr lang="en-US" dirty="0">
                      <a:solidFill>
                        <a:srgbClr val="9933FF"/>
                      </a:solidFill>
                      <a:latin typeface="Angsana New" panose="02020603050405020304" pitchFamily="18" charset="-34"/>
                    </a:rPr>
                    <a:t>V</a:t>
                  </a:r>
                  <a:r>
                    <a:rPr lang="en-US" dirty="0">
                      <a:solidFill>
                        <a:srgbClr val="9933FF"/>
                      </a:solidFill>
                      <a:latin typeface="Angsana New" panose="02020603050405020304" pitchFamily="18" charset="-34"/>
                      <a:sym typeface="Symbol" panose="05050102010706020507" pitchFamily="18" charset="2"/>
                    </a:rPr>
                    <a:t>2</a:t>
                  </a:r>
                  <a:r>
                    <a:rPr lang="en-US" dirty="0">
                      <a:solidFill>
                        <a:srgbClr val="9933FF"/>
                      </a:solidFill>
                      <a:latin typeface="Angsana New" panose="02020603050405020304" pitchFamily="18" charset="-34"/>
                    </a:rPr>
                    <a:t> </a:t>
                  </a:r>
                  <a:r>
                    <a:rPr lang="en-US" dirty="0">
                      <a:solidFill>
                        <a:srgbClr val="9933FF"/>
                      </a:solidFill>
                      <a:latin typeface="Angsana New" panose="02020603050405020304" pitchFamily="18" charset="-34"/>
                      <a:sym typeface="Symbol" panose="05050102010706020507" pitchFamily="18" charset="2"/>
                    </a:rPr>
                    <a:t>/ d2</a:t>
                  </a:r>
                  <a:endParaRPr lang="en-US" dirty="0">
                    <a:solidFill>
                      <a:srgbClr val="9933FF"/>
                    </a:solidFill>
                    <a:latin typeface="Angsana New" panose="02020603050405020304" pitchFamily="18" charset="-34"/>
                  </a:endParaRPr>
                </a:p>
              </p:txBody>
            </p:sp>
            <p:cxnSp>
              <p:nvCxnSpPr>
                <p:cNvPr id="4" name="ตัวเชื่อมต่อตรง 3">
                  <a:extLst>
                    <a:ext uri="{FF2B5EF4-FFF2-40B4-BE49-F238E27FC236}">
                      <a16:creationId xmlns:a16="http://schemas.microsoft.com/office/drawing/2014/main" id="{EF2510E3-E963-41DD-9F36-A70045749BDC}"/>
                    </a:ext>
                  </a:extLst>
                </p:cNvPr>
                <p:cNvCxnSpPr/>
                <p:nvPr/>
              </p:nvCxnSpPr>
              <p:spPr bwMode="auto">
                <a:xfrm>
                  <a:off x="645536" y="6433464"/>
                  <a:ext cx="822960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9933FF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93" name="กล่องข้อความ 192">
                  <a:extLst>
                    <a:ext uri="{FF2B5EF4-FFF2-40B4-BE49-F238E27FC236}">
                      <a16:creationId xmlns:a16="http://schemas.microsoft.com/office/drawing/2014/main" id="{989156F5-C526-450A-BAA0-5BB00A948DE3}"/>
                    </a:ext>
                  </a:extLst>
                </p:cNvPr>
                <p:cNvSpPr txBox="1"/>
                <p:nvPr/>
              </p:nvSpPr>
              <p:spPr>
                <a:xfrm>
                  <a:off x="1489592" y="6192551"/>
                  <a:ext cx="1670544" cy="4756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>
                      <a:solidFill>
                        <a:srgbClr val="9933FF"/>
                      </a:solidFill>
                      <a:latin typeface="Angsana New" panose="02020603050405020304" pitchFamily="18" charset="-34"/>
                      <a:sym typeface="Symbol" panose="05050102010706020507" pitchFamily="18" charset="2"/>
                    </a:rPr>
                    <a:t></a:t>
                  </a:r>
                  <a:r>
                    <a:rPr lang="en-US" dirty="0">
                      <a:solidFill>
                        <a:srgbClr val="9933FF"/>
                      </a:solidFill>
                      <a:latin typeface="Angsana New" panose="02020603050405020304" pitchFamily="18" charset="-34"/>
                      <a:sym typeface="Symbol" panose="05050102010706020507" pitchFamily="18" charset="2"/>
                    </a:rPr>
                    <a:t>  F(d</a:t>
                  </a:r>
                  <a:r>
                    <a:rPr lang="en-US" baseline="-25000" dirty="0">
                      <a:solidFill>
                        <a:srgbClr val="9933FF"/>
                      </a:solidFill>
                      <a:latin typeface="Angsana New" panose="02020603050405020304" pitchFamily="18" charset="-34"/>
                      <a:sym typeface="Symbol" panose="05050102010706020507" pitchFamily="18" charset="2"/>
                    </a:rPr>
                    <a:t>1 </a:t>
                  </a:r>
                  <a:r>
                    <a:rPr lang="en-US" dirty="0">
                      <a:solidFill>
                        <a:srgbClr val="9933FF"/>
                      </a:solidFill>
                      <a:latin typeface="Angsana New" panose="02020603050405020304" pitchFamily="18" charset="-34"/>
                      <a:sym typeface="Symbol" panose="05050102010706020507" pitchFamily="18" charset="2"/>
                    </a:rPr>
                    <a:t>, d</a:t>
                  </a:r>
                  <a:r>
                    <a:rPr lang="en-US" baseline="-25000" dirty="0">
                      <a:solidFill>
                        <a:srgbClr val="9933FF"/>
                      </a:solidFill>
                      <a:latin typeface="Angsana New" panose="02020603050405020304" pitchFamily="18" charset="-34"/>
                      <a:sym typeface="Symbol" panose="05050102010706020507" pitchFamily="18" charset="2"/>
                    </a:rPr>
                    <a:t>2</a:t>
                  </a:r>
                  <a:r>
                    <a:rPr lang="en-US" dirty="0">
                      <a:solidFill>
                        <a:srgbClr val="9933FF"/>
                      </a:solidFill>
                      <a:latin typeface="Angsana New" panose="02020603050405020304" pitchFamily="18" charset="-34"/>
                      <a:sym typeface="Symbol" panose="05050102010706020507" pitchFamily="18" charset="2"/>
                    </a:rPr>
                    <a:t>)</a:t>
                  </a:r>
                  <a:endParaRPr lang="en-US" dirty="0">
                    <a:solidFill>
                      <a:srgbClr val="9933FF"/>
                    </a:solidFill>
                    <a:latin typeface="Angsana New" panose="02020603050405020304" pitchFamily="18" charset="-34"/>
                  </a:endParaRPr>
                </a:p>
              </p:txBody>
            </p:sp>
          </p:grpSp>
          <p:sp>
            <p:nvSpPr>
              <p:cNvPr id="6" name="สี่เหลี่ยมผืนผ้า: มุมมน 5">
                <a:extLst>
                  <a:ext uri="{FF2B5EF4-FFF2-40B4-BE49-F238E27FC236}">
                    <a16:creationId xmlns:a16="http://schemas.microsoft.com/office/drawing/2014/main" id="{C50B5264-3155-46FB-A0F8-5BAC6DD4E045}"/>
                  </a:ext>
                </a:extLst>
              </p:cNvPr>
              <p:cNvSpPr/>
              <p:nvPr/>
            </p:nvSpPr>
            <p:spPr bwMode="auto">
              <a:xfrm>
                <a:off x="701040" y="4038599"/>
                <a:ext cx="7680960" cy="2832193"/>
              </a:xfrm>
              <a:prstGeom prst="roundRect">
                <a:avLst>
                  <a:gd name="adj" fmla="val 2632"/>
                </a:avLst>
              </a:prstGeom>
              <a:noFill/>
              <a:ln w="28575" cap="flat" cmpd="sng" algn="ctr">
                <a:solidFill>
                  <a:srgbClr val="9933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ngsana New" pitchFamily="18" charset="-34"/>
                </a:endParaRPr>
              </a:p>
            </p:txBody>
          </p:sp>
        </p:grpSp>
        <p:sp>
          <p:nvSpPr>
            <p:cNvPr id="8" name="กล่องข้อความ 7">
              <a:extLst>
                <a:ext uri="{FF2B5EF4-FFF2-40B4-BE49-F238E27FC236}">
                  <a16:creationId xmlns:a16="http://schemas.microsoft.com/office/drawing/2014/main" id="{A1165CE8-53DE-488D-80A2-52E99CEA86CE}"/>
                </a:ext>
              </a:extLst>
            </p:cNvPr>
            <p:cNvSpPr txBox="1"/>
            <p:nvPr/>
          </p:nvSpPr>
          <p:spPr>
            <a:xfrm>
              <a:off x="4648200" y="6096000"/>
              <a:ext cx="3657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ngsana New" panose="02020603050405020304" pitchFamily="18" charset="-34"/>
                </a:rPr>
                <a:t>Source: https://en.wikipedia.org/wiki/F-distribution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474B64-0B9B-4CFF-8EBA-7AF220BD8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3616EF-75E5-4690-856B-E2DE7F57532B}" type="slidenum">
              <a:rPr lang="en-US" smtClean="0"/>
              <a:pPr>
                <a:defRPr/>
              </a:pPr>
              <a:t>19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011266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/>
      <p:bldP spid="114" grpId="0"/>
      <p:bldP spid="160" grpId="0"/>
      <p:bldP spid="165" grpId="0"/>
      <p:bldP spid="167" grpId="0" autoUpdateAnimBg="0"/>
      <p:bldP spid="17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4300" y="133350"/>
            <a:ext cx="8896350" cy="552450"/>
          </a:xfrm>
        </p:spPr>
        <p:txBody>
          <a:bodyPr/>
          <a:lstStyle/>
          <a:p>
            <a:pPr eaLnBrk="1" hangingPunct="1">
              <a:lnSpc>
                <a:spcPct val="70000"/>
              </a:lnSpc>
              <a:defRPr/>
            </a:pPr>
            <a:r>
              <a:rPr lang="th-TH" sz="3200" b="1" dirty="0">
                <a:solidFill>
                  <a:srgbClr val="66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การทดสอบสัดส่วนของประชากร</a:t>
            </a:r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1721384" y="609600"/>
            <a:ext cx="544141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eaLnBrk="0" hangingPunct="0">
              <a:lnSpc>
                <a:spcPts val="2800"/>
              </a:lnSpc>
              <a:defRPr/>
            </a:pPr>
            <a:r>
              <a:rPr kumimoji="1" lang="th-TH" b="1" dirty="0">
                <a:solidFill>
                  <a:srgbClr val="006699"/>
                </a:solidFill>
                <a:latin typeface="Angsana New" panose="02020603050405020304" pitchFamily="18" charset="-34"/>
              </a:rPr>
              <a:t>1.  หนึ่งประชากร</a:t>
            </a:r>
          </a:p>
          <a:p>
            <a:pPr marL="457200" indent="-457200" eaLnBrk="0" hangingPunct="0">
              <a:lnSpc>
                <a:spcPts val="2800"/>
              </a:lnSpc>
              <a:defRPr/>
            </a:pPr>
            <a:r>
              <a:rPr kumimoji="1" lang="th-TH" b="1" dirty="0">
                <a:solidFill>
                  <a:srgbClr val="006699"/>
                </a:solidFill>
                <a:latin typeface="Angsana New" panose="02020603050405020304" pitchFamily="18" charset="-34"/>
              </a:rPr>
              <a:t>2.  สองประชากร</a:t>
            </a:r>
          </a:p>
          <a:p>
            <a:pPr marL="457200" indent="-457200" eaLnBrk="0" hangingPunct="0">
              <a:lnSpc>
                <a:spcPts val="2800"/>
              </a:lnSpc>
              <a:defRPr/>
            </a:pPr>
            <a:r>
              <a:rPr kumimoji="1" lang="th-TH" b="1" dirty="0">
                <a:solidFill>
                  <a:srgbClr val="1FB4FF"/>
                </a:solidFill>
                <a:latin typeface="Angsana New" panose="02020603050405020304" pitchFamily="18" charset="-34"/>
              </a:rPr>
              <a:t>3.  หลายประชากร</a:t>
            </a:r>
            <a:r>
              <a:rPr kumimoji="1" lang="en-US" b="1" dirty="0">
                <a:solidFill>
                  <a:srgbClr val="1FB4FF"/>
                </a:solidFill>
                <a:latin typeface="Angsana New" panose="02020603050405020304" pitchFamily="18" charset="-34"/>
              </a:rPr>
              <a:t> </a:t>
            </a:r>
            <a:r>
              <a:rPr kumimoji="1" lang="th-TH" b="1" dirty="0">
                <a:solidFill>
                  <a:srgbClr val="1FB4FF"/>
                </a:solidFill>
                <a:latin typeface="Angsana New" panose="02020603050405020304" pitchFamily="18" charset="-34"/>
              </a:rPr>
              <a:t>(การทดสอบแบบไคกำลังสอง)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5ED9386-C760-4D23-B552-B8678B9F9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676400"/>
            <a:ext cx="86868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90000"/>
              </a:lnSpc>
              <a:defRPr/>
            </a:pPr>
            <a:r>
              <a:rPr lang="th-TH" sz="2800" b="1" kern="0">
                <a:solidFill>
                  <a:srgbClr val="FF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ข้อสมมุติ </a:t>
            </a:r>
            <a:r>
              <a:rPr lang="en-US" sz="2800" b="1" kern="0">
                <a:solidFill>
                  <a:srgbClr val="FF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(Assumptions)</a:t>
            </a:r>
            <a:r>
              <a:rPr lang="en-US" sz="2800" b="1" kern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2800" b="1" kern="0">
                <a:solidFill>
                  <a:srgbClr val="0066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สำหรับการทดสอบสัดส่วนของประชากร</a:t>
            </a:r>
            <a:endParaRPr lang="en-US" sz="2800" b="1" kern="0" dirty="0">
              <a:solidFill>
                <a:srgbClr val="0066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F688674-EF2C-4E7E-AB7A-DDB590EE2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2127538"/>
            <a:ext cx="9067800" cy="153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 eaLnBrk="1" hangingPunct="1">
              <a:spcBef>
                <a:spcPct val="0"/>
              </a:spcBef>
              <a:buClr>
                <a:srgbClr val="FFFF00"/>
              </a:buClr>
              <a:buFont typeface="Monotype Sorts" pitchFamily="2" charset="2"/>
              <a:buNone/>
            </a:pPr>
            <a:r>
              <a:rPr lang="en-US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1.  </a:t>
            </a:r>
            <a:r>
              <a:rPr lang="en-US" sz="2800" b="1" kern="0" dirty="0" err="1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ตัวอย่างเป็นตัวอย่างสุ่ม</a:t>
            </a:r>
            <a:endParaRPr lang="en-US" sz="2800" b="1" kern="0" dirty="0">
              <a:solidFill>
                <a:srgbClr val="6600CC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 eaLnBrk="1" hangingPunct="1">
              <a:spcBef>
                <a:spcPct val="0"/>
              </a:spcBef>
              <a:buClr>
                <a:srgbClr val="66FF33"/>
              </a:buClr>
            </a:pPr>
            <a:r>
              <a:rPr lang="en-US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2.  </a:t>
            </a:r>
            <a:r>
              <a:rPr lang="en-US" sz="2800" b="1" kern="0" dirty="0" err="1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ค่าสังเกตเป็น</a:t>
            </a:r>
            <a:r>
              <a:rPr lang="en-US" sz="2800" b="1" kern="0" dirty="0" err="1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ความถี่</a:t>
            </a:r>
            <a:r>
              <a:rPr lang="en-US" sz="2800" b="1" kern="0" dirty="0" err="1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ของสิ่งที่สนใจ</a:t>
            </a:r>
            <a:r>
              <a:rPr lang="en-US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(X </a:t>
            </a:r>
            <a:r>
              <a:rPr lang="th-TH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และ </a:t>
            </a:r>
            <a:r>
              <a:rPr lang="en-US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Y) </a:t>
            </a:r>
            <a:r>
              <a:rPr lang="en-US" sz="2800" b="1" kern="0" dirty="0" err="1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โดยที่</a:t>
            </a:r>
            <a:r>
              <a:rPr lang="en-US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2800" b="1" kern="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 </a:t>
            </a:r>
            <a:r>
              <a:rPr kumimoji="1" lang="en-GB" sz="2400" b="1" dirty="0">
                <a:solidFill>
                  <a:srgbClr val="0070C0"/>
                </a:solidFill>
                <a:latin typeface="Angsana New" pitchFamily="18" charset="-34"/>
                <a:sym typeface="Symbol" panose="05050102010706020507" pitchFamily="18" charset="2"/>
              </a:rPr>
              <a:t></a:t>
            </a:r>
            <a:r>
              <a:rPr kumimoji="1" lang="en-US" sz="2800" b="1" dirty="0">
                <a:solidFill>
                  <a:srgbClr val="CC3399"/>
                </a:solidFill>
                <a:latin typeface="Angsana New" pitchFamily="18" charset="-34"/>
              </a:rPr>
              <a:t> </a:t>
            </a:r>
            <a:r>
              <a:rPr lang="en-US" sz="2800" b="1" kern="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B(n</a:t>
            </a:r>
            <a:r>
              <a:rPr lang="en-US" sz="2800" b="1" kern="0" baseline="-2500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</a:t>
            </a:r>
            <a:r>
              <a:rPr lang="en-US" sz="2800" b="1" kern="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, p</a:t>
            </a:r>
            <a:r>
              <a:rPr lang="en-US" sz="2800" b="1" kern="0" baseline="-2500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</a:t>
            </a:r>
            <a:r>
              <a:rPr lang="en-US" sz="2800" b="1" kern="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)  </a:t>
            </a:r>
            <a:r>
              <a:rPr lang="th-TH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และ </a:t>
            </a:r>
            <a:r>
              <a:rPr lang="en-US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2800" b="1" kern="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Y </a:t>
            </a:r>
            <a:r>
              <a:rPr kumimoji="1" lang="en-GB" sz="2400" b="1" dirty="0">
                <a:solidFill>
                  <a:srgbClr val="0070C0"/>
                </a:solidFill>
                <a:latin typeface="Angsana New" pitchFamily="18" charset="-34"/>
                <a:sym typeface="Symbol" panose="05050102010706020507" pitchFamily="18" charset="2"/>
              </a:rPr>
              <a:t></a:t>
            </a:r>
            <a:r>
              <a:rPr kumimoji="1" lang="en-GB" sz="2800" b="1" dirty="0">
                <a:solidFill>
                  <a:srgbClr val="0070C0"/>
                </a:solidFill>
                <a:latin typeface="Angsana New" pitchFamily="18" charset="-34"/>
                <a:sym typeface="Symbol" panose="05050102010706020507" pitchFamily="18" charset="2"/>
              </a:rPr>
              <a:t>  </a:t>
            </a:r>
            <a:r>
              <a:rPr lang="en-US" sz="2800" b="1" kern="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B(n</a:t>
            </a:r>
            <a:r>
              <a:rPr lang="en-US" sz="2800" b="1" kern="0" baseline="-2500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en-US" sz="2800" b="1" kern="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, p</a:t>
            </a:r>
            <a:r>
              <a:rPr lang="en-US" sz="2800" b="1" kern="0" baseline="-2500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en-US" sz="2800" b="1" kern="0" dirty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</a:p>
          <a:p>
            <a:pPr algn="l" eaLnBrk="1" hangingPunct="1">
              <a:spcBef>
                <a:spcPct val="0"/>
              </a:spcBef>
              <a:buClr>
                <a:srgbClr val="66FF33"/>
              </a:buClr>
            </a:pPr>
            <a:r>
              <a:rPr lang="en-US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3.  </a:t>
            </a:r>
            <a:r>
              <a:rPr lang="en-US" sz="2800" b="1" kern="0" dirty="0" err="1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ตัวอย่าง</a:t>
            </a:r>
            <a:r>
              <a:rPr lang="en-US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(n</a:t>
            </a:r>
            <a:r>
              <a:rPr lang="en-US" sz="2800" b="1" kern="0" baseline="-2500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 </a:t>
            </a:r>
            <a:r>
              <a:rPr lang="th-TH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และ</a:t>
            </a:r>
            <a:r>
              <a:rPr lang="en-US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n</a:t>
            </a:r>
            <a:r>
              <a:rPr lang="en-US" sz="2800" b="1" kern="0" baseline="-2500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en-US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) </a:t>
            </a:r>
            <a:r>
              <a:rPr lang="en-US" sz="2800" b="1" kern="0" dirty="0" err="1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มีขนาดใหญ่</a:t>
            </a:r>
            <a:r>
              <a:rPr lang="en-US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(n</a:t>
            </a:r>
            <a:r>
              <a:rPr lang="en-US" sz="2800" b="1" kern="0" baseline="-2500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 </a:t>
            </a:r>
            <a:r>
              <a:rPr lang="th-TH" sz="24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 </a:t>
            </a:r>
            <a:r>
              <a:rPr lang="en-US" sz="24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  </a:t>
            </a:r>
            <a:r>
              <a:rPr lang="en-US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,</a:t>
            </a:r>
            <a:r>
              <a:rPr lang="en-US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n</a:t>
            </a:r>
            <a:r>
              <a:rPr lang="en-US" sz="2800" b="1" kern="0" baseline="-2500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 </a:t>
            </a:r>
            <a:r>
              <a:rPr lang="th-TH" sz="24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Symbol" panose="05050102010706020507" pitchFamily="18" charset="2"/>
              </a:rPr>
              <a:t> </a:t>
            </a:r>
            <a:r>
              <a:rPr lang="en-US" sz="2800" b="1" kern="0" dirty="0">
                <a:solidFill>
                  <a:srgbClr val="6600CC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81000" y="3429000"/>
            <a:ext cx="7186305" cy="1200156"/>
            <a:chOff x="381000" y="3752844"/>
            <a:chExt cx="7186305" cy="1200156"/>
          </a:xfrm>
        </p:grpSpPr>
        <p:grpSp>
          <p:nvGrpSpPr>
            <p:cNvPr id="8" name="Group 7"/>
            <p:cNvGrpSpPr/>
            <p:nvPr/>
          </p:nvGrpSpPr>
          <p:grpSpPr>
            <a:xfrm>
              <a:off x="2371252" y="3911312"/>
              <a:ext cx="1007466" cy="619166"/>
              <a:chOff x="3348997" y="3614747"/>
              <a:chExt cx="1007466" cy="619166"/>
            </a:xfrm>
          </p:grpSpPr>
          <p:grpSp>
            <p:nvGrpSpPr>
              <p:cNvPr id="29" name="Group 28"/>
              <p:cNvGrpSpPr/>
              <p:nvPr/>
            </p:nvGrpSpPr>
            <p:grpSpPr>
              <a:xfrm>
                <a:off x="3368039" y="3666289"/>
                <a:ext cx="988424" cy="567624"/>
                <a:chOff x="1158239" y="5325149"/>
                <a:chExt cx="988424" cy="567624"/>
              </a:xfrm>
            </p:grpSpPr>
            <p:sp>
              <p:nvSpPr>
                <p:cNvPr id="31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1158239" y="5325149"/>
                  <a:ext cx="909811" cy="5232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0" hangingPunct="0">
                    <a:spcBef>
                      <a:spcPct val="100000"/>
                    </a:spcBef>
                    <a:defRPr/>
                  </a:pPr>
                  <a:r>
                    <a:rPr kumimoji="1" lang="en-US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p  = </a:t>
                  </a:r>
                </a:p>
              </p:txBody>
            </p:sp>
            <p:grpSp>
              <p:nvGrpSpPr>
                <p:cNvPr id="32" name="Group 31"/>
                <p:cNvGrpSpPr/>
                <p:nvPr/>
              </p:nvGrpSpPr>
              <p:grpSpPr>
                <a:xfrm>
                  <a:off x="1689463" y="5338775"/>
                  <a:ext cx="457200" cy="553998"/>
                  <a:chOff x="4432664" y="5227272"/>
                  <a:chExt cx="457200" cy="553998"/>
                </a:xfrm>
              </p:grpSpPr>
              <p:sp>
                <p:nvSpPr>
                  <p:cNvPr id="33" name="Text Box 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32664" y="5227272"/>
                    <a:ext cx="457200" cy="55399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 algn="ctr" eaLnBrk="0" hangingPunct="0">
                      <a:lnSpc>
                        <a:spcPts val="1800"/>
                      </a:lnSpc>
                      <a:spcBef>
                        <a:spcPts val="0"/>
                      </a:spcBef>
                      <a:defRPr/>
                    </a:pPr>
                    <a:r>
                      <a:rPr kumimoji="1" lang="en-US" b="1" dirty="0">
                        <a:solidFill>
                          <a:srgbClr val="CC3399"/>
                        </a:solidFill>
                        <a:latin typeface="Angsana New" pitchFamily="18" charset="-34"/>
                      </a:rPr>
                      <a:t>X</a:t>
                    </a:r>
                  </a:p>
                  <a:p>
                    <a:pPr algn="ctr" eaLnBrk="0" hangingPunct="0">
                      <a:lnSpc>
                        <a:spcPts val="1800"/>
                      </a:lnSpc>
                      <a:spcBef>
                        <a:spcPts val="0"/>
                      </a:spcBef>
                      <a:defRPr/>
                    </a:pPr>
                    <a:r>
                      <a:rPr kumimoji="1" lang="en-US" b="1" dirty="0">
                        <a:solidFill>
                          <a:srgbClr val="CC3399"/>
                        </a:solidFill>
                        <a:latin typeface="Angsana New" pitchFamily="18" charset="-34"/>
                      </a:rPr>
                      <a:t>n    </a:t>
                    </a:r>
                  </a:p>
                </p:txBody>
              </p:sp>
              <p:cxnSp>
                <p:nvCxnSpPr>
                  <p:cNvPr id="34" name="Straight Connector 33"/>
                  <p:cNvCxnSpPr/>
                  <p:nvPr/>
                </p:nvCxnSpPr>
                <p:spPr bwMode="auto">
                  <a:xfrm>
                    <a:off x="4511041" y="5473808"/>
                    <a:ext cx="28800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CC3399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</p:grpSp>
          </p:grpSp>
          <p:sp>
            <p:nvSpPr>
              <p:cNvPr id="30" name="Text Box 4"/>
              <p:cNvSpPr txBox="1">
                <a:spLocks noChangeArrowheads="1"/>
              </p:cNvSpPr>
              <p:nvPr/>
            </p:nvSpPr>
            <p:spPr bwMode="auto">
              <a:xfrm>
                <a:off x="3348997" y="3614747"/>
                <a:ext cx="372933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100000"/>
                  </a:spcBef>
                  <a:defRPr/>
                </a:pPr>
                <a:r>
                  <a:rPr kumimoji="1" lang="en-US" b="1" dirty="0">
                    <a:solidFill>
                      <a:srgbClr val="CC3399"/>
                    </a:solidFill>
                    <a:latin typeface="Angsana New" pitchFamily="18" charset="-34"/>
                  </a:rPr>
                  <a:t>^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3309775" y="3752844"/>
              <a:ext cx="4257530" cy="1200156"/>
              <a:chOff x="4287520" y="3641084"/>
              <a:chExt cx="4257530" cy="1200156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4287520" y="3641084"/>
                <a:ext cx="4257530" cy="1200156"/>
                <a:chOff x="4358150" y="3443662"/>
                <a:chExt cx="4257530" cy="1200156"/>
              </a:xfrm>
            </p:grpSpPr>
            <p:sp>
              <p:nvSpPr>
                <p:cNvPr id="15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4358150" y="3657600"/>
                  <a:ext cx="1060334" cy="5232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0" hangingPunct="0">
                    <a:spcBef>
                      <a:spcPct val="100000"/>
                    </a:spcBef>
                    <a:defRPr/>
                  </a:pPr>
                  <a:r>
                    <a:rPr kumimoji="1" lang="en-US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=&gt;  Z  = </a:t>
                  </a:r>
                </a:p>
              </p:txBody>
            </p:sp>
            <p:grpSp>
              <p:nvGrpSpPr>
                <p:cNvPr id="16" name="Group 15"/>
                <p:cNvGrpSpPr/>
                <p:nvPr/>
              </p:nvGrpSpPr>
              <p:grpSpPr>
                <a:xfrm>
                  <a:off x="5326317" y="3443662"/>
                  <a:ext cx="1107910" cy="1200156"/>
                  <a:chOff x="6644642" y="1802099"/>
                  <a:chExt cx="1107910" cy="1200156"/>
                </a:xfrm>
              </p:grpSpPr>
              <p:grpSp>
                <p:nvGrpSpPr>
                  <p:cNvPr id="18" name="Group 17"/>
                  <p:cNvGrpSpPr/>
                  <p:nvPr/>
                </p:nvGrpSpPr>
                <p:grpSpPr>
                  <a:xfrm>
                    <a:off x="6644642" y="1802099"/>
                    <a:ext cx="1080000" cy="575341"/>
                    <a:chOff x="2762299" y="3614168"/>
                    <a:chExt cx="989486" cy="575341"/>
                  </a:xfrm>
                </p:grpSpPr>
                <p:grpSp>
                  <p:nvGrpSpPr>
                    <p:cNvPr id="25" name="Group 24"/>
                    <p:cNvGrpSpPr/>
                    <p:nvPr/>
                  </p:nvGrpSpPr>
                  <p:grpSpPr>
                    <a:xfrm>
                      <a:off x="2762299" y="3666289"/>
                      <a:ext cx="989486" cy="523220"/>
                      <a:chOff x="552499" y="5325149"/>
                      <a:chExt cx="989486" cy="523220"/>
                    </a:xfrm>
                  </p:grpSpPr>
                  <p:sp>
                    <p:nvSpPr>
                      <p:cNvPr id="27" name="Text Box 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766589" y="5325149"/>
                        <a:ext cx="757848" cy="5232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square">
                        <a:spAutoFit/>
                      </a:bodyPr>
                      <a:lstStyle/>
                      <a:p>
                        <a:pPr eaLnBrk="0" hangingPunct="0">
                          <a:spcBef>
                            <a:spcPct val="100000"/>
                          </a:spcBef>
                          <a:defRPr/>
                        </a:pPr>
                        <a:r>
                          <a:rPr kumimoji="1" lang="en-US" b="1" dirty="0">
                            <a:solidFill>
                              <a:srgbClr val="CC3399"/>
                            </a:solidFill>
                            <a:latin typeface="Angsana New" pitchFamily="18" charset="-34"/>
                          </a:rPr>
                          <a:t>p – p  </a:t>
                        </a:r>
                      </a:p>
                    </p:txBody>
                  </p:sp>
                  <p:cxnSp>
                    <p:nvCxnSpPr>
                      <p:cNvPr id="28" name="Straight Connector 27"/>
                      <p:cNvCxnSpPr/>
                      <p:nvPr/>
                    </p:nvCxnSpPr>
                    <p:spPr bwMode="auto">
                      <a:xfrm>
                        <a:off x="552499" y="5752541"/>
                        <a:ext cx="989486" cy="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19050" cap="flat" cmpd="sng" algn="ctr">
                        <a:solidFill>
                          <a:srgbClr val="CC3399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  <p:sp>
                  <p:nvSpPr>
                    <p:cNvPr id="26" name="Text Box 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979484" y="3614168"/>
                      <a:ext cx="372933" cy="52322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square">
                      <a:spAutoFit/>
                    </a:bodyPr>
                    <a:lstStyle/>
                    <a:p>
                      <a:pPr eaLnBrk="0" hangingPunct="0">
                        <a:spcBef>
                          <a:spcPct val="100000"/>
                        </a:spcBef>
                        <a:defRPr/>
                      </a:pPr>
                      <a:r>
                        <a:rPr kumimoji="1" lang="en-US" b="1" dirty="0">
                          <a:solidFill>
                            <a:srgbClr val="CC3399"/>
                          </a:solidFill>
                          <a:latin typeface="Angsana New" pitchFamily="18" charset="-34"/>
                        </a:rPr>
                        <a:t>^</a:t>
                      </a:r>
                    </a:p>
                  </p:txBody>
                </p:sp>
              </p:grpSp>
              <p:grpSp>
                <p:nvGrpSpPr>
                  <p:cNvPr id="19" name="Group 18"/>
                  <p:cNvGrpSpPr/>
                  <p:nvPr/>
                </p:nvGrpSpPr>
                <p:grpSpPr>
                  <a:xfrm>
                    <a:off x="6682187" y="2335119"/>
                    <a:ext cx="1070365" cy="667136"/>
                    <a:chOff x="7117080" y="3696273"/>
                    <a:chExt cx="1070365" cy="667136"/>
                  </a:xfrm>
                </p:grpSpPr>
                <p:sp>
                  <p:nvSpPr>
                    <p:cNvPr id="20" name="Text Box 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182903" y="3714513"/>
                      <a:ext cx="1004542" cy="648896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square">
                      <a:spAutoFit/>
                    </a:bodyPr>
                    <a:lstStyle/>
                    <a:p>
                      <a:pPr algn="ctr" eaLnBrk="0" hangingPunct="0">
                        <a:lnSpc>
                          <a:spcPts val="2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kumimoji="1" lang="en-US" b="1" dirty="0">
                          <a:solidFill>
                            <a:srgbClr val="CC3399"/>
                          </a:solidFill>
                          <a:latin typeface="Angsana New" pitchFamily="18" charset="-34"/>
                        </a:rPr>
                        <a:t>p(1 – p)</a:t>
                      </a:r>
                    </a:p>
                    <a:p>
                      <a:pPr algn="ctr" eaLnBrk="0" hangingPunct="0">
                        <a:lnSpc>
                          <a:spcPts val="2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kumimoji="1" lang="en-US" b="1" dirty="0">
                          <a:solidFill>
                            <a:srgbClr val="CC3399"/>
                          </a:solidFill>
                          <a:latin typeface="Angsana New" pitchFamily="18" charset="-34"/>
                        </a:rPr>
                        <a:t>n    </a:t>
                      </a:r>
                    </a:p>
                  </p:txBody>
                </p:sp>
                <p:cxnSp>
                  <p:nvCxnSpPr>
                    <p:cNvPr id="21" name="Straight Connector 20"/>
                    <p:cNvCxnSpPr/>
                    <p:nvPr/>
                  </p:nvCxnSpPr>
                  <p:spPr bwMode="auto">
                    <a:xfrm>
                      <a:off x="7264183" y="4008481"/>
                      <a:ext cx="828000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rgbClr val="CC3399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22" name="Straight Connector 21"/>
                    <p:cNvCxnSpPr/>
                    <p:nvPr/>
                  </p:nvCxnSpPr>
                  <p:spPr bwMode="auto">
                    <a:xfrm>
                      <a:off x="7249160" y="3698240"/>
                      <a:ext cx="864000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rgbClr val="CC3399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23" name="Straight Connector 22"/>
                    <p:cNvCxnSpPr/>
                    <p:nvPr/>
                  </p:nvCxnSpPr>
                  <p:spPr bwMode="auto">
                    <a:xfrm flipH="1">
                      <a:off x="7168921" y="3696273"/>
                      <a:ext cx="80239" cy="481951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rgbClr val="CC3399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24" name="Straight Connector 23"/>
                    <p:cNvCxnSpPr/>
                    <p:nvPr/>
                  </p:nvCxnSpPr>
                  <p:spPr bwMode="auto">
                    <a:xfrm>
                      <a:off x="7117080" y="4094480"/>
                      <a:ext cx="49735" cy="7200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rgbClr val="CC3399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</p:grpSp>
            <p:sp>
              <p:nvSpPr>
                <p:cNvPr id="17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6483311" y="3637280"/>
                  <a:ext cx="2132369" cy="5232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0" hangingPunct="0">
                    <a:spcBef>
                      <a:spcPct val="100000"/>
                    </a:spcBef>
                    <a:defRPr/>
                  </a:pPr>
                  <a:r>
                    <a:rPr kumimoji="1" lang="en-GB" sz="2000" b="1" dirty="0">
                      <a:solidFill>
                        <a:srgbClr val="CC3399"/>
                      </a:solidFill>
                      <a:latin typeface="Angsana New" pitchFamily="18" charset="-34"/>
                      <a:sym typeface="Symbol" panose="05050102010706020507" pitchFamily="18" charset="2"/>
                    </a:rPr>
                    <a:t></a:t>
                  </a:r>
                  <a:r>
                    <a:rPr kumimoji="1" lang="en-US" sz="2000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 </a:t>
                  </a:r>
                  <a:r>
                    <a:rPr kumimoji="1" lang="en-US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 N(0, 1) as n </a:t>
                  </a:r>
                  <a:r>
                    <a:rPr kumimoji="1" lang="en-US" sz="2000" b="1" dirty="0">
                      <a:solidFill>
                        <a:srgbClr val="CC3399"/>
                      </a:solidFill>
                      <a:latin typeface="Angsana New" pitchFamily="18" charset="-34"/>
                      <a:sym typeface="Symbol" panose="05050102010706020507" pitchFamily="18" charset="2"/>
                    </a:rPr>
                    <a:t> </a:t>
                  </a:r>
                  <a:r>
                    <a:rPr kumimoji="1" lang="en-US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 </a:t>
                  </a:r>
                </a:p>
              </p:txBody>
            </p:sp>
          </p:grpSp>
          <p:sp>
            <p:nvSpPr>
              <p:cNvPr id="14" name="TextBox 13"/>
              <p:cNvSpPr txBox="1"/>
              <p:nvPr/>
            </p:nvSpPr>
            <p:spPr>
              <a:xfrm>
                <a:off x="6454503" y="3820160"/>
                <a:ext cx="29475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C3399"/>
                    </a:solidFill>
                    <a:latin typeface="Angsana New" panose="02020603050405020304" pitchFamily="18" charset="-34"/>
                  </a:rPr>
                  <a:t>:</a:t>
                </a:r>
                <a:endParaRPr lang="th-TH" b="1" dirty="0">
                  <a:solidFill>
                    <a:srgbClr val="CC3399"/>
                  </a:solidFill>
                  <a:latin typeface="Angsana New" panose="02020603050405020304" pitchFamily="18" charset="-34"/>
                </a:endParaRPr>
              </a:p>
            </p:txBody>
          </p:sp>
        </p:grpSp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81000" y="3962400"/>
              <a:ext cx="198419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100000"/>
                </a:spcBef>
                <a:defRPr/>
              </a:pP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For 1 population: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91442" y="4455315"/>
            <a:ext cx="8177575" cy="1214256"/>
            <a:chOff x="391442" y="4779159"/>
            <a:chExt cx="8177575" cy="1214256"/>
          </a:xfrm>
        </p:grpSpPr>
        <p:grpSp>
          <p:nvGrpSpPr>
            <p:cNvPr id="36" name="Group 35"/>
            <p:cNvGrpSpPr/>
            <p:nvPr/>
          </p:nvGrpSpPr>
          <p:grpSpPr>
            <a:xfrm>
              <a:off x="2381694" y="4925713"/>
              <a:ext cx="994403" cy="707886"/>
              <a:chOff x="3348997" y="3562348"/>
              <a:chExt cx="994403" cy="707886"/>
            </a:xfrm>
          </p:grpSpPr>
          <p:grpSp>
            <p:nvGrpSpPr>
              <p:cNvPr id="64" name="Group 63"/>
              <p:cNvGrpSpPr/>
              <p:nvPr/>
            </p:nvGrpSpPr>
            <p:grpSpPr>
              <a:xfrm>
                <a:off x="3368039" y="3562348"/>
                <a:ext cx="975361" cy="707886"/>
                <a:chOff x="1158239" y="5221208"/>
                <a:chExt cx="975361" cy="707886"/>
              </a:xfrm>
            </p:grpSpPr>
            <p:sp>
              <p:nvSpPr>
                <p:cNvPr id="66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1158239" y="5325149"/>
                  <a:ext cx="909811" cy="5232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0" hangingPunct="0">
                    <a:spcBef>
                      <a:spcPct val="100000"/>
                    </a:spcBef>
                    <a:defRPr/>
                  </a:pPr>
                  <a:r>
                    <a:rPr kumimoji="1" lang="en-US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p</a:t>
                  </a:r>
                  <a:r>
                    <a:rPr kumimoji="1" lang="en-US" b="1" baseline="-25000" dirty="0">
                      <a:solidFill>
                        <a:srgbClr val="CC3399"/>
                      </a:solidFill>
                      <a:latin typeface="Angsana New" pitchFamily="18" charset="-34"/>
                    </a:rPr>
                    <a:t>i</a:t>
                  </a:r>
                  <a:r>
                    <a:rPr kumimoji="1" lang="en-US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  = </a:t>
                  </a:r>
                </a:p>
              </p:txBody>
            </p:sp>
            <p:grpSp>
              <p:nvGrpSpPr>
                <p:cNvPr id="67" name="Group 66"/>
                <p:cNvGrpSpPr/>
                <p:nvPr/>
              </p:nvGrpSpPr>
              <p:grpSpPr>
                <a:xfrm>
                  <a:off x="1676400" y="5221208"/>
                  <a:ext cx="457200" cy="707886"/>
                  <a:chOff x="4419601" y="5109705"/>
                  <a:chExt cx="457200" cy="707886"/>
                </a:xfrm>
              </p:grpSpPr>
              <p:sp>
                <p:nvSpPr>
                  <p:cNvPr id="68" name="Text Box 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19601" y="5109705"/>
                    <a:ext cx="457200" cy="70788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 algn="ctr" eaLnBrk="0" hangingPunct="0">
                      <a:lnSpc>
                        <a:spcPts val="2400"/>
                      </a:lnSpc>
                      <a:spcBef>
                        <a:spcPts val="0"/>
                      </a:spcBef>
                      <a:defRPr/>
                    </a:pPr>
                    <a:r>
                      <a:rPr kumimoji="1" lang="en-US" b="1" dirty="0">
                        <a:solidFill>
                          <a:srgbClr val="CC3399"/>
                        </a:solidFill>
                        <a:latin typeface="Angsana New" pitchFamily="18" charset="-34"/>
                      </a:rPr>
                      <a:t>X</a:t>
                    </a:r>
                    <a:r>
                      <a:rPr kumimoji="1" lang="en-US" b="1" baseline="-25000" dirty="0">
                        <a:solidFill>
                          <a:srgbClr val="CC3399"/>
                        </a:solidFill>
                        <a:latin typeface="Angsana New" pitchFamily="18" charset="-34"/>
                      </a:rPr>
                      <a:t>i</a:t>
                    </a:r>
                    <a:r>
                      <a:rPr kumimoji="1" lang="en-US" b="1" dirty="0">
                        <a:solidFill>
                          <a:srgbClr val="CC3399"/>
                        </a:solidFill>
                        <a:latin typeface="Angsana New" pitchFamily="18" charset="-34"/>
                      </a:rPr>
                      <a:t> </a:t>
                    </a:r>
                  </a:p>
                  <a:p>
                    <a:pPr algn="ctr" eaLnBrk="0" hangingPunct="0">
                      <a:lnSpc>
                        <a:spcPts val="2400"/>
                      </a:lnSpc>
                      <a:spcBef>
                        <a:spcPts val="0"/>
                      </a:spcBef>
                      <a:defRPr/>
                    </a:pPr>
                    <a:r>
                      <a:rPr kumimoji="1" lang="en-US" b="1" dirty="0" err="1">
                        <a:solidFill>
                          <a:srgbClr val="CC3399"/>
                        </a:solidFill>
                        <a:latin typeface="Angsana New" pitchFamily="18" charset="-34"/>
                      </a:rPr>
                      <a:t>n</a:t>
                    </a:r>
                    <a:r>
                      <a:rPr kumimoji="1" lang="en-US" b="1" baseline="-25000" dirty="0" err="1">
                        <a:solidFill>
                          <a:srgbClr val="CC3399"/>
                        </a:solidFill>
                        <a:latin typeface="Angsana New" pitchFamily="18" charset="-34"/>
                      </a:rPr>
                      <a:t>i</a:t>
                    </a:r>
                    <a:r>
                      <a:rPr kumimoji="1" lang="en-US" b="1" dirty="0">
                        <a:solidFill>
                          <a:srgbClr val="CC3399"/>
                        </a:solidFill>
                        <a:latin typeface="Angsana New" pitchFamily="18" charset="-34"/>
                      </a:rPr>
                      <a:t>    </a:t>
                    </a:r>
                  </a:p>
                </p:txBody>
              </p:sp>
              <p:cxnSp>
                <p:nvCxnSpPr>
                  <p:cNvPr id="69" name="Straight Connector 68"/>
                  <p:cNvCxnSpPr/>
                  <p:nvPr/>
                </p:nvCxnSpPr>
                <p:spPr bwMode="auto">
                  <a:xfrm>
                    <a:off x="4511041" y="5473808"/>
                    <a:ext cx="28800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CC3399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</p:grpSp>
          </p:grpSp>
          <p:sp>
            <p:nvSpPr>
              <p:cNvPr id="65" name="Text Box 4"/>
              <p:cNvSpPr txBox="1">
                <a:spLocks noChangeArrowheads="1"/>
              </p:cNvSpPr>
              <p:nvPr/>
            </p:nvSpPr>
            <p:spPr bwMode="auto">
              <a:xfrm>
                <a:off x="3348997" y="3614747"/>
                <a:ext cx="372933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100000"/>
                  </a:spcBef>
                  <a:defRPr/>
                </a:pPr>
                <a:r>
                  <a:rPr kumimoji="1" lang="en-US" b="1" dirty="0">
                    <a:solidFill>
                      <a:srgbClr val="CC3399"/>
                    </a:solidFill>
                    <a:latin typeface="Angsana New" pitchFamily="18" charset="-34"/>
                  </a:rPr>
                  <a:t>^</a:t>
                </a: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3320217" y="4779159"/>
              <a:ext cx="5248800" cy="1136433"/>
              <a:chOff x="4287520" y="3600599"/>
              <a:chExt cx="5168965" cy="1136433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4287520" y="3600599"/>
                <a:ext cx="5168965" cy="1136433"/>
                <a:chOff x="4358150" y="3403177"/>
                <a:chExt cx="5168965" cy="1136433"/>
              </a:xfrm>
            </p:grpSpPr>
            <p:sp>
              <p:nvSpPr>
                <p:cNvPr id="51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4358150" y="3657600"/>
                  <a:ext cx="1060334" cy="5232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0" hangingPunct="0">
                    <a:spcBef>
                      <a:spcPct val="100000"/>
                    </a:spcBef>
                    <a:defRPr/>
                  </a:pPr>
                  <a:r>
                    <a:rPr kumimoji="1" lang="en-US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=&gt;  Z  = </a:t>
                  </a:r>
                </a:p>
              </p:txBody>
            </p:sp>
            <p:grpSp>
              <p:nvGrpSpPr>
                <p:cNvPr id="52" name="Group 51"/>
                <p:cNvGrpSpPr/>
                <p:nvPr/>
              </p:nvGrpSpPr>
              <p:grpSpPr>
                <a:xfrm>
                  <a:off x="5361046" y="3403177"/>
                  <a:ext cx="2136613" cy="1136433"/>
                  <a:chOff x="6679371" y="1761614"/>
                  <a:chExt cx="2136613" cy="1136433"/>
                </a:xfrm>
              </p:grpSpPr>
              <p:grpSp>
                <p:nvGrpSpPr>
                  <p:cNvPr id="54" name="Group 53"/>
                  <p:cNvGrpSpPr/>
                  <p:nvPr/>
                </p:nvGrpSpPr>
                <p:grpSpPr>
                  <a:xfrm>
                    <a:off x="6679371" y="1761614"/>
                    <a:ext cx="2136613" cy="589700"/>
                    <a:chOff x="2794118" y="3573683"/>
                    <a:chExt cx="1957546" cy="589700"/>
                  </a:xfrm>
                </p:grpSpPr>
                <p:grpSp>
                  <p:nvGrpSpPr>
                    <p:cNvPr id="60" name="Group 59"/>
                    <p:cNvGrpSpPr/>
                    <p:nvPr/>
                  </p:nvGrpSpPr>
                  <p:grpSpPr>
                    <a:xfrm>
                      <a:off x="2794118" y="3640163"/>
                      <a:ext cx="1957546" cy="523220"/>
                      <a:chOff x="584318" y="5299023"/>
                      <a:chExt cx="1957546" cy="523220"/>
                    </a:xfrm>
                  </p:grpSpPr>
                  <p:sp>
                    <p:nvSpPr>
                      <p:cNvPr id="62" name="Text Box 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46787" y="5299023"/>
                        <a:ext cx="1895077" cy="5232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  <p:txBody>
                      <a:bodyPr wrap="square">
                        <a:spAutoFit/>
                      </a:bodyPr>
                      <a:lstStyle/>
                      <a:p>
                        <a:pPr eaLnBrk="0" hangingPunct="0">
                          <a:spcBef>
                            <a:spcPct val="100000"/>
                          </a:spcBef>
                          <a:defRPr/>
                        </a:pPr>
                        <a:r>
                          <a:rPr kumimoji="1" lang="en-US" b="1" dirty="0">
                            <a:solidFill>
                              <a:srgbClr val="CC3399"/>
                            </a:solidFill>
                            <a:latin typeface="Angsana New" pitchFamily="18" charset="-34"/>
                          </a:rPr>
                          <a:t>p</a:t>
                        </a:r>
                        <a:r>
                          <a:rPr kumimoji="1" lang="en-US" b="1" baseline="-25000" dirty="0">
                            <a:solidFill>
                              <a:srgbClr val="CC3399"/>
                            </a:solidFill>
                            <a:latin typeface="Angsana New" pitchFamily="18" charset="-34"/>
                          </a:rPr>
                          <a:t>1</a:t>
                        </a:r>
                        <a:r>
                          <a:rPr kumimoji="1" lang="en-US" b="1" dirty="0">
                            <a:solidFill>
                              <a:srgbClr val="CC3399"/>
                            </a:solidFill>
                            <a:latin typeface="Angsana New" pitchFamily="18" charset="-34"/>
                          </a:rPr>
                          <a:t> – p</a:t>
                        </a:r>
                        <a:r>
                          <a:rPr kumimoji="1" lang="en-US" b="1" baseline="-25000" dirty="0">
                            <a:solidFill>
                              <a:srgbClr val="CC3399"/>
                            </a:solidFill>
                            <a:latin typeface="Angsana New" pitchFamily="18" charset="-34"/>
                          </a:rPr>
                          <a:t>2</a:t>
                        </a:r>
                        <a:r>
                          <a:rPr kumimoji="1" lang="en-US" b="1" dirty="0">
                            <a:solidFill>
                              <a:srgbClr val="CC3399"/>
                            </a:solidFill>
                            <a:latin typeface="Angsana New" pitchFamily="18" charset="-34"/>
                          </a:rPr>
                          <a:t>) – (p</a:t>
                        </a:r>
                        <a:r>
                          <a:rPr kumimoji="1" lang="en-US" b="1" baseline="-25000" dirty="0">
                            <a:solidFill>
                              <a:srgbClr val="CC3399"/>
                            </a:solidFill>
                            <a:latin typeface="Angsana New" pitchFamily="18" charset="-34"/>
                          </a:rPr>
                          <a:t>1</a:t>
                        </a:r>
                        <a:r>
                          <a:rPr kumimoji="1" lang="en-US" b="1" dirty="0">
                            <a:solidFill>
                              <a:srgbClr val="CC3399"/>
                            </a:solidFill>
                            <a:latin typeface="Angsana New" pitchFamily="18" charset="-34"/>
                          </a:rPr>
                          <a:t> – p</a:t>
                        </a:r>
                        <a:r>
                          <a:rPr kumimoji="1" lang="en-US" b="1" baseline="-25000" dirty="0">
                            <a:solidFill>
                              <a:srgbClr val="CC3399"/>
                            </a:solidFill>
                            <a:latin typeface="Angsana New" pitchFamily="18" charset="-34"/>
                          </a:rPr>
                          <a:t>2</a:t>
                        </a:r>
                        <a:r>
                          <a:rPr kumimoji="1" lang="en-US" b="1" dirty="0">
                            <a:solidFill>
                              <a:srgbClr val="CC3399"/>
                            </a:solidFill>
                            <a:latin typeface="Angsana New" pitchFamily="18" charset="-34"/>
                          </a:rPr>
                          <a:t>)  </a:t>
                        </a:r>
                      </a:p>
                    </p:txBody>
                  </p:sp>
                  <p:cxnSp>
                    <p:nvCxnSpPr>
                      <p:cNvPr id="63" name="Straight Connector 62"/>
                      <p:cNvCxnSpPr/>
                      <p:nvPr/>
                    </p:nvCxnSpPr>
                    <p:spPr bwMode="auto">
                      <a:xfrm>
                        <a:off x="584318" y="5752541"/>
                        <a:ext cx="1815050" cy="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19050" cap="flat" cmpd="sng" algn="ctr">
                        <a:solidFill>
                          <a:srgbClr val="CC3399"/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  <p:sp>
                  <p:nvSpPr>
                    <p:cNvPr id="61" name="Text Box 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56588" y="3573683"/>
                      <a:ext cx="782046" cy="52322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square">
                      <a:spAutoFit/>
                    </a:bodyPr>
                    <a:lstStyle/>
                    <a:p>
                      <a:pPr eaLnBrk="0" hangingPunct="0">
                        <a:spcBef>
                          <a:spcPct val="100000"/>
                        </a:spcBef>
                        <a:defRPr/>
                      </a:pPr>
                      <a:r>
                        <a:rPr kumimoji="1" lang="en-US" b="1" dirty="0">
                          <a:solidFill>
                            <a:srgbClr val="CC3399"/>
                          </a:solidFill>
                          <a:latin typeface="Angsana New" pitchFamily="18" charset="-34"/>
                        </a:rPr>
                        <a:t> ^     ^</a:t>
                      </a:r>
                    </a:p>
                  </p:txBody>
                </p:sp>
              </p:grpSp>
              <p:grpSp>
                <p:nvGrpSpPr>
                  <p:cNvPr id="55" name="Group 54"/>
                  <p:cNvGrpSpPr/>
                  <p:nvPr/>
                </p:nvGrpSpPr>
                <p:grpSpPr>
                  <a:xfrm>
                    <a:off x="6709824" y="2348182"/>
                    <a:ext cx="1861014" cy="549865"/>
                    <a:chOff x="7144717" y="3709336"/>
                    <a:chExt cx="1861014" cy="549865"/>
                  </a:xfrm>
                </p:grpSpPr>
                <p:sp>
                  <p:nvSpPr>
                    <p:cNvPr id="56" name="Text Box 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215705" y="3866786"/>
                      <a:ext cx="1004542" cy="392415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ffectLst/>
                  </p:spPr>
                  <p:txBody>
                    <a:bodyPr wrap="square">
                      <a:spAutoFit/>
                    </a:bodyPr>
                    <a:lstStyle/>
                    <a:p>
                      <a:pPr algn="ctr" eaLnBrk="0" hangingPunct="0">
                        <a:lnSpc>
                          <a:spcPts val="2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kumimoji="1" lang="en-US" b="1" dirty="0">
                          <a:solidFill>
                            <a:srgbClr val="CC3399"/>
                          </a:solidFill>
                          <a:latin typeface="Angsana New" pitchFamily="18" charset="-34"/>
                        </a:rPr>
                        <a:t>p(1 – p)    </a:t>
                      </a:r>
                    </a:p>
                  </p:txBody>
                </p:sp>
                <p:cxnSp>
                  <p:nvCxnSpPr>
                    <p:cNvPr id="57" name="Straight Connector 56"/>
                    <p:cNvCxnSpPr/>
                    <p:nvPr/>
                  </p:nvCxnSpPr>
                  <p:spPr bwMode="auto">
                    <a:xfrm>
                      <a:off x="7294797" y="3711303"/>
                      <a:ext cx="1710934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rgbClr val="CC3399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58" name="Straight Connector 57"/>
                    <p:cNvCxnSpPr/>
                    <p:nvPr/>
                  </p:nvCxnSpPr>
                  <p:spPr bwMode="auto">
                    <a:xfrm flipH="1">
                      <a:off x="7196558" y="3709336"/>
                      <a:ext cx="80239" cy="481951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rgbClr val="CC3399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59" name="Straight Connector 58"/>
                    <p:cNvCxnSpPr/>
                    <p:nvPr/>
                  </p:nvCxnSpPr>
                  <p:spPr bwMode="auto">
                    <a:xfrm>
                      <a:off x="7144717" y="4139009"/>
                      <a:ext cx="49735" cy="7200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rgbClr val="CC3399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</p:grpSp>
            <p:sp>
              <p:nvSpPr>
                <p:cNvPr id="53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7394746" y="3642185"/>
                  <a:ext cx="2132369" cy="52322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eaLnBrk="0" hangingPunct="0">
                    <a:spcBef>
                      <a:spcPct val="100000"/>
                    </a:spcBef>
                    <a:defRPr/>
                  </a:pPr>
                  <a:r>
                    <a:rPr kumimoji="1" lang="en-GB" sz="2000" b="1" dirty="0">
                      <a:solidFill>
                        <a:srgbClr val="CC3399"/>
                      </a:solidFill>
                      <a:latin typeface="Angsana New" pitchFamily="18" charset="-34"/>
                      <a:sym typeface="Symbol" panose="05050102010706020507" pitchFamily="18" charset="2"/>
                    </a:rPr>
                    <a:t></a:t>
                  </a:r>
                  <a:r>
                    <a:rPr kumimoji="1" lang="en-US" sz="2000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 </a:t>
                  </a:r>
                  <a:r>
                    <a:rPr kumimoji="1" lang="en-US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 N(0, 1) as n </a:t>
                  </a:r>
                  <a:r>
                    <a:rPr kumimoji="1" lang="en-US" sz="2000" b="1" dirty="0">
                      <a:solidFill>
                        <a:srgbClr val="CC3399"/>
                      </a:solidFill>
                      <a:latin typeface="Angsana New" pitchFamily="18" charset="-34"/>
                      <a:sym typeface="Symbol" panose="05050102010706020507" pitchFamily="18" charset="2"/>
                    </a:rPr>
                    <a:t> </a:t>
                  </a:r>
                  <a:r>
                    <a:rPr kumimoji="1" lang="en-US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 </a:t>
                  </a:r>
                </a:p>
              </p:txBody>
            </p:sp>
          </p:grpSp>
          <p:sp>
            <p:nvSpPr>
              <p:cNvPr id="50" name="TextBox 49"/>
              <p:cNvSpPr txBox="1"/>
              <p:nvPr/>
            </p:nvSpPr>
            <p:spPr>
              <a:xfrm>
                <a:off x="7357259" y="3826423"/>
                <a:ext cx="29475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rgbClr val="CC3399"/>
                    </a:solidFill>
                    <a:latin typeface="Angsana New" panose="02020603050405020304" pitchFamily="18" charset="-34"/>
                  </a:rPr>
                  <a:t>:</a:t>
                </a:r>
                <a:endParaRPr lang="th-TH" b="1" dirty="0">
                  <a:solidFill>
                    <a:srgbClr val="CC3399"/>
                  </a:solidFill>
                  <a:latin typeface="Angsana New" panose="02020603050405020304" pitchFamily="18" charset="-34"/>
                </a:endParaRPr>
              </a:p>
            </p:txBody>
          </p:sp>
        </p:grpSp>
        <p:sp>
          <p:nvSpPr>
            <p:cNvPr id="38" name="Text Box 4"/>
            <p:cNvSpPr txBox="1">
              <a:spLocks noChangeArrowheads="1"/>
            </p:cNvSpPr>
            <p:nvPr/>
          </p:nvSpPr>
          <p:spPr bwMode="auto">
            <a:xfrm>
              <a:off x="391442" y="5029200"/>
              <a:ext cx="2166276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100000"/>
                </a:spcBef>
                <a:defRPr/>
              </a:pP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For 2 populations:</a:t>
              </a:r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5334000" y="5386252"/>
              <a:ext cx="936771" cy="607163"/>
              <a:chOff x="5927340" y="5536474"/>
              <a:chExt cx="936771" cy="607163"/>
            </a:xfrm>
          </p:grpSpPr>
          <p:grpSp>
            <p:nvGrpSpPr>
              <p:cNvPr id="41" name="Group 40"/>
              <p:cNvGrpSpPr/>
              <p:nvPr/>
            </p:nvGrpSpPr>
            <p:grpSpPr>
              <a:xfrm>
                <a:off x="5927340" y="5538343"/>
                <a:ext cx="476374" cy="605294"/>
                <a:chOff x="5927340" y="5538343"/>
                <a:chExt cx="476374" cy="605294"/>
              </a:xfrm>
            </p:grpSpPr>
            <p:sp>
              <p:nvSpPr>
                <p:cNvPr id="47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5927340" y="5538343"/>
                  <a:ext cx="476374" cy="60529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algn="ctr" eaLnBrk="0" hangingPunct="0">
                    <a:lnSpc>
                      <a:spcPts val="2000"/>
                    </a:lnSpc>
                    <a:spcBef>
                      <a:spcPts val="0"/>
                    </a:spcBef>
                    <a:defRPr/>
                  </a:pPr>
                  <a:r>
                    <a:rPr kumimoji="1" lang="en-US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1</a:t>
                  </a:r>
                </a:p>
                <a:p>
                  <a:pPr algn="ctr" eaLnBrk="0" hangingPunct="0">
                    <a:lnSpc>
                      <a:spcPts val="2000"/>
                    </a:lnSpc>
                    <a:spcBef>
                      <a:spcPts val="0"/>
                    </a:spcBef>
                    <a:defRPr/>
                  </a:pPr>
                  <a:r>
                    <a:rPr kumimoji="1" lang="en-US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n</a:t>
                  </a:r>
                  <a:r>
                    <a:rPr kumimoji="1" lang="en-US" b="1" baseline="-25000" dirty="0">
                      <a:solidFill>
                        <a:srgbClr val="CC3399"/>
                      </a:solidFill>
                      <a:latin typeface="Angsana New" pitchFamily="18" charset="-34"/>
                    </a:rPr>
                    <a:t>1</a:t>
                  </a:r>
                  <a:r>
                    <a:rPr kumimoji="1" lang="en-US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    </a:t>
                  </a:r>
                </a:p>
              </p:txBody>
            </p:sp>
            <p:cxnSp>
              <p:nvCxnSpPr>
                <p:cNvPr id="48" name="Straight Connector 47"/>
                <p:cNvCxnSpPr/>
                <p:nvPr/>
              </p:nvCxnSpPr>
              <p:spPr bwMode="auto">
                <a:xfrm>
                  <a:off x="6039395" y="5831400"/>
                  <a:ext cx="228600" cy="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CC3399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42" name="Group 41"/>
              <p:cNvGrpSpPr/>
              <p:nvPr/>
            </p:nvGrpSpPr>
            <p:grpSpPr>
              <a:xfrm>
                <a:off x="6387737" y="5536474"/>
                <a:ext cx="476374" cy="605294"/>
                <a:chOff x="5927340" y="5538343"/>
                <a:chExt cx="476374" cy="605294"/>
              </a:xfrm>
            </p:grpSpPr>
            <p:sp>
              <p:nvSpPr>
                <p:cNvPr id="45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5927340" y="5538343"/>
                  <a:ext cx="476374" cy="60529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algn="ctr" eaLnBrk="0" hangingPunct="0">
                    <a:lnSpc>
                      <a:spcPts val="2000"/>
                    </a:lnSpc>
                    <a:spcBef>
                      <a:spcPts val="0"/>
                    </a:spcBef>
                    <a:defRPr/>
                  </a:pPr>
                  <a:r>
                    <a:rPr kumimoji="1" lang="en-US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1</a:t>
                  </a:r>
                </a:p>
                <a:p>
                  <a:pPr algn="ctr" eaLnBrk="0" hangingPunct="0">
                    <a:lnSpc>
                      <a:spcPts val="2000"/>
                    </a:lnSpc>
                    <a:spcBef>
                      <a:spcPts val="0"/>
                    </a:spcBef>
                    <a:defRPr/>
                  </a:pPr>
                  <a:r>
                    <a:rPr kumimoji="1" lang="en-US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n</a:t>
                  </a:r>
                  <a:r>
                    <a:rPr kumimoji="1" lang="en-US" b="1" baseline="-25000" dirty="0">
                      <a:solidFill>
                        <a:srgbClr val="CC3399"/>
                      </a:solidFill>
                      <a:latin typeface="Angsana New" pitchFamily="18" charset="-34"/>
                    </a:rPr>
                    <a:t>2</a:t>
                  </a:r>
                  <a:r>
                    <a:rPr kumimoji="1" lang="en-US" b="1" dirty="0">
                      <a:solidFill>
                        <a:srgbClr val="CC3399"/>
                      </a:solidFill>
                      <a:latin typeface="Angsana New" pitchFamily="18" charset="-34"/>
                    </a:rPr>
                    <a:t>    </a:t>
                  </a:r>
                </a:p>
              </p:txBody>
            </p:sp>
            <p:cxnSp>
              <p:nvCxnSpPr>
                <p:cNvPr id="46" name="Straight Connector 45"/>
                <p:cNvCxnSpPr/>
                <p:nvPr/>
              </p:nvCxnSpPr>
              <p:spPr bwMode="auto">
                <a:xfrm>
                  <a:off x="6026332" y="5831400"/>
                  <a:ext cx="228600" cy="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rgbClr val="CC3399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43" name="Text Box 4"/>
              <p:cNvSpPr txBox="1">
                <a:spLocks noChangeArrowheads="1"/>
              </p:cNvSpPr>
              <p:nvPr/>
            </p:nvSpPr>
            <p:spPr bwMode="auto">
              <a:xfrm>
                <a:off x="6196148" y="5684050"/>
                <a:ext cx="381000" cy="3488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eaLnBrk="0" hangingPunct="0">
                  <a:lnSpc>
                    <a:spcPts val="2000"/>
                  </a:lnSpc>
                  <a:spcBef>
                    <a:spcPts val="0"/>
                  </a:spcBef>
                  <a:defRPr/>
                </a:pPr>
                <a:r>
                  <a:rPr kumimoji="1" lang="en-US" b="1" dirty="0">
                    <a:solidFill>
                      <a:srgbClr val="CC3399"/>
                    </a:solidFill>
                    <a:latin typeface="Angsana New" pitchFamily="18" charset="-34"/>
                  </a:rPr>
                  <a:t>+</a:t>
                </a:r>
              </a:p>
            </p:txBody>
          </p:sp>
          <p:sp>
            <p:nvSpPr>
              <p:cNvPr id="44" name="Double Bracket 43"/>
              <p:cNvSpPr/>
              <p:nvPr/>
            </p:nvSpPr>
            <p:spPr bwMode="auto">
              <a:xfrm>
                <a:off x="5966529" y="5567513"/>
                <a:ext cx="826157" cy="535066"/>
              </a:xfrm>
              <a:prstGeom prst="bracketPair">
                <a:avLst>
                  <a:gd name="adj" fmla="val 6902"/>
                </a:avLst>
              </a:prstGeom>
              <a:noFill/>
              <a:ln w="9525" cap="flat" cmpd="sng" algn="ctr">
                <a:solidFill>
                  <a:srgbClr val="CC3399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th-TH" sz="2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ngsana New" pitchFamily="18" charset="-34"/>
                </a:endParaRPr>
              </a:p>
            </p:txBody>
          </p:sp>
        </p:grpSp>
        <p:sp>
          <p:nvSpPr>
            <p:cNvPr id="40" name="Text Box 4"/>
            <p:cNvSpPr txBox="1">
              <a:spLocks noChangeArrowheads="1"/>
            </p:cNvSpPr>
            <p:nvPr/>
          </p:nvSpPr>
          <p:spPr bwMode="auto">
            <a:xfrm>
              <a:off x="4471852" y="5333295"/>
              <a:ext cx="989815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100000"/>
                </a:spcBef>
                <a:defRPr/>
              </a:pP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^       ^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6630055" y="5334000"/>
            <a:ext cx="2285345" cy="707886"/>
            <a:chOff x="282815" y="5621704"/>
            <a:chExt cx="2285345" cy="707886"/>
          </a:xfrm>
        </p:grpSpPr>
        <p:sp>
          <p:nvSpPr>
            <p:cNvPr id="71" name="Text Box 4"/>
            <p:cNvSpPr txBox="1">
              <a:spLocks noChangeArrowheads="1"/>
            </p:cNvSpPr>
            <p:nvPr/>
          </p:nvSpPr>
          <p:spPr bwMode="auto">
            <a:xfrm>
              <a:off x="282815" y="5740163"/>
              <a:ext cx="172451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100000"/>
                </a:spcBef>
                <a:defRPr/>
              </a:pP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where  p  = </a:t>
              </a:r>
            </a:p>
          </p:txBody>
        </p:sp>
        <p:sp>
          <p:nvSpPr>
            <p:cNvPr id="72" name="Text Box 4"/>
            <p:cNvSpPr txBox="1">
              <a:spLocks noChangeArrowheads="1"/>
            </p:cNvSpPr>
            <p:nvPr/>
          </p:nvSpPr>
          <p:spPr bwMode="auto">
            <a:xfrm>
              <a:off x="1000632" y="5688621"/>
              <a:ext cx="37293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100000"/>
                </a:spcBef>
                <a:defRPr/>
              </a:pP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^</a:t>
              </a:r>
            </a:p>
          </p:txBody>
        </p:sp>
        <p:sp>
          <p:nvSpPr>
            <p:cNvPr id="73" name="Text Box 4"/>
            <p:cNvSpPr txBox="1">
              <a:spLocks noChangeArrowheads="1"/>
            </p:cNvSpPr>
            <p:nvPr/>
          </p:nvSpPr>
          <p:spPr bwMode="auto">
            <a:xfrm>
              <a:off x="1544675" y="5621704"/>
              <a:ext cx="1023485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eaLnBrk="0" hangingPunct="0">
                <a:lnSpc>
                  <a:spcPts val="2400"/>
                </a:lnSpc>
                <a:spcBef>
                  <a:spcPts val="0"/>
                </a:spcBef>
                <a:defRPr/>
              </a:pP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X</a:t>
              </a:r>
              <a:r>
                <a:rPr kumimoji="1" lang="en-US" b="1" baseline="-25000" dirty="0">
                  <a:solidFill>
                    <a:srgbClr val="CC3399"/>
                  </a:solidFill>
                  <a:latin typeface="Angsana New" pitchFamily="18" charset="-34"/>
                </a:rPr>
                <a:t>1 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+ X</a:t>
              </a:r>
              <a:r>
                <a:rPr kumimoji="1" lang="en-US" b="1" baseline="-25000" dirty="0">
                  <a:solidFill>
                    <a:srgbClr val="CC3399"/>
                  </a:solidFill>
                  <a:latin typeface="Angsana New" pitchFamily="18" charset="-34"/>
                </a:rPr>
                <a:t>2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 </a:t>
              </a:r>
            </a:p>
            <a:p>
              <a:pPr algn="ctr" eaLnBrk="0" hangingPunct="0">
                <a:lnSpc>
                  <a:spcPts val="2400"/>
                </a:lnSpc>
                <a:spcBef>
                  <a:spcPts val="0"/>
                </a:spcBef>
                <a:defRPr/>
              </a:pP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n</a:t>
              </a:r>
              <a:r>
                <a:rPr kumimoji="1" lang="en-US" b="1" baseline="-25000" dirty="0">
                  <a:solidFill>
                    <a:srgbClr val="CC3399"/>
                  </a:solidFill>
                  <a:latin typeface="Angsana New" pitchFamily="18" charset="-34"/>
                </a:rPr>
                <a:t>1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 + n</a:t>
              </a:r>
              <a:r>
                <a:rPr kumimoji="1" lang="en-US" b="1" baseline="-25000" dirty="0">
                  <a:solidFill>
                    <a:srgbClr val="CC3399"/>
                  </a:solidFill>
                  <a:latin typeface="Angsana New" pitchFamily="18" charset="-34"/>
                </a:rPr>
                <a:t>2</a:t>
              </a:r>
              <a:r>
                <a:rPr kumimoji="1" lang="en-US" b="1" dirty="0">
                  <a:solidFill>
                    <a:srgbClr val="CC3399"/>
                  </a:solidFill>
                  <a:latin typeface="Angsana New" pitchFamily="18" charset="-34"/>
                </a:rPr>
                <a:t>    </a:t>
              </a:r>
            </a:p>
          </p:txBody>
        </p:sp>
        <p:cxnSp>
          <p:nvCxnSpPr>
            <p:cNvPr id="74" name="Straight Connector 73"/>
            <p:cNvCxnSpPr/>
            <p:nvPr/>
          </p:nvCxnSpPr>
          <p:spPr bwMode="auto">
            <a:xfrm>
              <a:off x="1655401" y="6000325"/>
              <a:ext cx="82296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99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BD86B3-7D3E-4253-B3A3-198134C1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3616EF-75E5-4690-856B-E2DE7F57532B}" type="slidenum">
              <a:rPr lang="en-US" smtClean="0"/>
              <a:pPr>
                <a:defRPr/>
              </a:pPr>
              <a:t>20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4484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/>
      <p:bldP spid="90115" grpId="0" build="p" autoUpdateAnimBg="0"/>
      <p:bldP spid="11" grpId="0"/>
      <p:bldP spid="1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8896350" cy="552450"/>
          </a:xfrm>
        </p:spPr>
        <p:txBody>
          <a:bodyPr/>
          <a:lstStyle/>
          <a:p>
            <a:pPr algn="l" eaLnBrk="1" hangingPunct="1">
              <a:lnSpc>
                <a:spcPct val="70000"/>
              </a:lnSpc>
              <a:defRPr/>
            </a:pPr>
            <a:r>
              <a:rPr lang="en-US" sz="3200" b="1" dirty="0">
                <a:solidFill>
                  <a:srgbClr val="66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 </a:t>
            </a:r>
            <a:r>
              <a:rPr lang="th-TH" sz="3200" b="1" dirty="0">
                <a:solidFill>
                  <a:srgbClr val="66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การทดสอบสัดส่วนของประชากร</a:t>
            </a:r>
            <a:r>
              <a:rPr lang="en-US" sz="3200" b="1" dirty="0">
                <a:solidFill>
                  <a:srgbClr val="66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1</a:t>
            </a:r>
            <a:r>
              <a:rPr lang="th-TH" sz="3200" b="1" dirty="0">
                <a:solidFill>
                  <a:srgbClr val="66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ประชากร</a:t>
            </a:r>
            <a:r>
              <a:rPr lang="en-US" sz="3200" b="1" dirty="0">
                <a:solidFill>
                  <a:srgbClr val="66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endParaRPr lang="th-TH" sz="3200" b="1" dirty="0">
              <a:solidFill>
                <a:srgbClr val="6600FF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1D65B3B2-97F1-4F63-B464-16D35753E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600535"/>
            <a:ext cx="2438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75000"/>
              </a:lnSpc>
              <a:defRPr/>
            </a:pPr>
            <a:r>
              <a:rPr lang="th-TH" sz="3200" b="1" dirty="0">
                <a:solidFill>
                  <a:srgbClr val="CC3399"/>
                </a:solidFill>
                <a:latin typeface="Angsana New" panose="02020603050405020304" pitchFamily="18" charset="-34"/>
              </a:rPr>
              <a:t>เขตวิกฤต :</a:t>
            </a: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2866124E-B8A6-46A2-89CE-74709C2C6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14" y="1516524"/>
            <a:ext cx="16795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p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&lt; p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28" name="Group 20">
            <a:extLst>
              <a:ext uri="{FF2B5EF4-FFF2-40B4-BE49-F238E27FC236}">
                <a16:creationId xmlns:a16="http://schemas.microsoft.com/office/drawing/2014/main" id="{738EFE71-CE79-475A-8CA9-38B8296E90D9}"/>
              </a:ext>
            </a:extLst>
          </p:cNvPr>
          <p:cNvGrpSpPr/>
          <p:nvPr/>
        </p:nvGrpSpPr>
        <p:grpSpPr>
          <a:xfrm>
            <a:off x="1162749" y="2004291"/>
            <a:ext cx="2506290" cy="903120"/>
            <a:chOff x="1162749" y="2481212"/>
            <a:chExt cx="2506290" cy="903120"/>
          </a:xfrm>
        </p:grpSpPr>
        <p:grpSp>
          <p:nvGrpSpPr>
            <p:cNvPr id="29" name="Group 9">
              <a:extLst>
                <a:ext uri="{FF2B5EF4-FFF2-40B4-BE49-F238E27FC236}">
                  <a16:creationId xmlns:a16="http://schemas.microsoft.com/office/drawing/2014/main" id="{2708FAE5-2BE7-4879-A823-1077EBAD32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8264" y="2492157"/>
              <a:ext cx="2390775" cy="892175"/>
              <a:chOff x="288" y="3518"/>
              <a:chExt cx="1506" cy="562"/>
            </a:xfrm>
          </p:grpSpPr>
          <p:grpSp>
            <p:nvGrpSpPr>
              <p:cNvPr id="31" name="Group 10">
                <a:extLst>
                  <a:ext uri="{FF2B5EF4-FFF2-40B4-BE49-F238E27FC236}">
                    <a16:creationId xmlns:a16="http://schemas.microsoft.com/office/drawing/2014/main" id="{890B4391-8D39-4A77-96E1-2D2CA48847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3518"/>
                <a:ext cx="1506" cy="562"/>
                <a:chOff x="288" y="3614"/>
                <a:chExt cx="1506" cy="562"/>
              </a:xfrm>
            </p:grpSpPr>
            <p:grpSp>
              <p:nvGrpSpPr>
                <p:cNvPr id="33" name="Group 11">
                  <a:extLst>
                    <a:ext uri="{FF2B5EF4-FFF2-40B4-BE49-F238E27FC236}">
                      <a16:creationId xmlns:a16="http://schemas.microsoft.com/office/drawing/2014/main" id="{E6D968D6-71D6-47D8-8296-DF74EF7D06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8" y="3614"/>
                  <a:ext cx="1506" cy="562"/>
                  <a:chOff x="288" y="3614"/>
                  <a:chExt cx="1506" cy="562"/>
                </a:xfrm>
              </p:grpSpPr>
              <p:grpSp>
                <p:nvGrpSpPr>
                  <p:cNvPr id="35" name="Group 12">
                    <a:extLst>
                      <a:ext uri="{FF2B5EF4-FFF2-40B4-BE49-F238E27FC236}">
                        <a16:creationId xmlns:a16="http://schemas.microsoft.com/office/drawing/2014/main" id="{780323E2-5C7E-40C6-A2ED-96D1F8F577F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8" y="3614"/>
                    <a:ext cx="1506" cy="562"/>
                    <a:chOff x="288" y="3614"/>
                    <a:chExt cx="1506" cy="562"/>
                  </a:xfrm>
                </p:grpSpPr>
                <p:grpSp>
                  <p:nvGrpSpPr>
                    <p:cNvPr id="37" name="Group 13">
                      <a:extLst>
                        <a:ext uri="{FF2B5EF4-FFF2-40B4-BE49-F238E27FC236}">
                          <a16:creationId xmlns:a16="http://schemas.microsoft.com/office/drawing/2014/main" id="{5A0E6052-EDD6-446B-B482-1263C4ED400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8" y="3614"/>
                      <a:ext cx="1506" cy="562"/>
                      <a:chOff x="288" y="3619"/>
                      <a:chExt cx="1506" cy="562"/>
                    </a:xfrm>
                  </p:grpSpPr>
                  <p:sp>
                    <p:nvSpPr>
                      <p:cNvPr id="41" name="Line 14">
                        <a:extLst>
                          <a:ext uri="{FF2B5EF4-FFF2-40B4-BE49-F238E27FC236}">
                            <a16:creationId xmlns:a16="http://schemas.microsoft.com/office/drawing/2014/main" id="{F965D752-39AF-49DD-A688-517E8F06E12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" y="4176"/>
                        <a:ext cx="1488" cy="0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42" name="Freeform 15">
                        <a:extLst>
                          <a:ext uri="{FF2B5EF4-FFF2-40B4-BE49-F238E27FC236}">
                            <a16:creationId xmlns:a16="http://schemas.microsoft.com/office/drawing/2014/main" id="{4EF09A8E-D442-4208-89D9-279C6C4B46E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5" y="3619"/>
                        <a:ext cx="1499" cy="525"/>
                      </a:xfrm>
                      <a:custGeom>
                        <a:avLst/>
                        <a:gdLst>
                          <a:gd name="T0" fmla="*/ 0 w 1499"/>
                          <a:gd name="T1" fmla="*/ 525 h 525"/>
                          <a:gd name="T2" fmla="*/ 269 w 1499"/>
                          <a:gd name="T3" fmla="*/ 483 h 525"/>
                          <a:gd name="T4" fmla="*/ 513 w 1499"/>
                          <a:gd name="T5" fmla="*/ 314 h 525"/>
                          <a:gd name="T6" fmla="*/ 665 w 1499"/>
                          <a:gd name="T7" fmla="*/ 70 h 525"/>
                          <a:gd name="T8" fmla="*/ 808 w 1499"/>
                          <a:gd name="T9" fmla="*/ 3 h 525"/>
                          <a:gd name="T10" fmla="*/ 943 w 1499"/>
                          <a:gd name="T11" fmla="*/ 87 h 525"/>
                          <a:gd name="T12" fmla="*/ 1069 w 1499"/>
                          <a:gd name="T13" fmla="*/ 348 h 525"/>
                          <a:gd name="T14" fmla="*/ 1196 w 1499"/>
                          <a:gd name="T15" fmla="*/ 457 h 525"/>
                          <a:gd name="T16" fmla="*/ 1339 w 1499"/>
                          <a:gd name="T17" fmla="*/ 491 h 525"/>
                          <a:gd name="T18" fmla="*/ 1499 w 1499"/>
                          <a:gd name="T19" fmla="*/ 516 h 525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  <a:gd name="T27" fmla="*/ 0 60000 65536"/>
                          <a:gd name="T28" fmla="*/ 0 60000 65536"/>
                          <a:gd name="T29" fmla="*/ 0 60000 65536"/>
                          <a:gd name="T30" fmla="*/ 0 w 1499"/>
                          <a:gd name="T31" fmla="*/ 0 h 525"/>
                          <a:gd name="T32" fmla="*/ 1499 w 1499"/>
                          <a:gd name="T33" fmla="*/ 525 h 525"/>
                        </a:gdLst>
                        <a:ahLst/>
                        <a:cxnLst>
                          <a:cxn ang="T20">
                            <a:pos x="T0" y="T1"/>
                          </a:cxn>
                          <a:cxn ang="T21">
                            <a:pos x="T2" y="T3"/>
                          </a:cxn>
                          <a:cxn ang="T22">
                            <a:pos x="T4" y="T5"/>
                          </a:cxn>
                          <a:cxn ang="T23">
                            <a:pos x="T6" y="T7"/>
                          </a:cxn>
                          <a:cxn ang="T24">
                            <a:pos x="T8" y="T9"/>
                          </a:cxn>
                          <a:cxn ang="T25">
                            <a:pos x="T10" y="T11"/>
                          </a:cxn>
                          <a:cxn ang="T26">
                            <a:pos x="T12" y="T13"/>
                          </a:cxn>
                          <a:cxn ang="T27">
                            <a:pos x="T14" y="T15"/>
                          </a:cxn>
                          <a:cxn ang="T28">
                            <a:pos x="T16" y="T17"/>
                          </a:cxn>
                          <a:cxn ang="T29">
                            <a:pos x="T18" y="T19"/>
                          </a:cxn>
                        </a:cxnLst>
                        <a:rect l="T30" t="T31" r="T32" b="T33"/>
                        <a:pathLst>
                          <a:path w="1499" h="525">
                            <a:moveTo>
                              <a:pt x="0" y="525"/>
                            </a:moveTo>
                            <a:cubicBezTo>
                              <a:pt x="43" y="518"/>
                              <a:pt x="184" y="518"/>
                              <a:pt x="269" y="483"/>
                            </a:cubicBezTo>
                            <a:cubicBezTo>
                              <a:pt x="354" y="448"/>
                              <a:pt x="447" y="383"/>
                              <a:pt x="513" y="314"/>
                            </a:cubicBezTo>
                            <a:cubicBezTo>
                              <a:pt x="579" y="245"/>
                              <a:pt x="616" y="122"/>
                              <a:pt x="665" y="70"/>
                            </a:cubicBezTo>
                            <a:cubicBezTo>
                              <a:pt x="714" y="18"/>
                              <a:pt x="762" y="0"/>
                              <a:pt x="808" y="3"/>
                            </a:cubicBezTo>
                            <a:cubicBezTo>
                              <a:pt x="854" y="6"/>
                              <a:pt x="899" y="29"/>
                              <a:pt x="943" y="87"/>
                            </a:cubicBezTo>
                            <a:cubicBezTo>
                              <a:pt x="987" y="145"/>
                              <a:pt x="1027" y="286"/>
                              <a:pt x="1069" y="348"/>
                            </a:cubicBezTo>
                            <a:cubicBezTo>
                              <a:pt x="1111" y="410"/>
                              <a:pt x="1151" y="433"/>
                              <a:pt x="1196" y="457"/>
                            </a:cubicBezTo>
                            <a:cubicBezTo>
                              <a:pt x="1241" y="481"/>
                              <a:pt x="1289" y="481"/>
                              <a:pt x="1339" y="491"/>
                            </a:cubicBezTo>
                            <a:cubicBezTo>
                              <a:pt x="1389" y="501"/>
                              <a:pt x="1466" y="511"/>
                              <a:pt x="1499" y="516"/>
                            </a:cubicBezTo>
                          </a:path>
                        </a:pathLst>
                      </a:cu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th-TH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43" name="Line 16">
                        <a:extLst>
                          <a:ext uri="{FF2B5EF4-FFF2-40B4-BE49-F238E27FC236}">
                            <a16:creationId xmlns:a16="http://schemas.microsoft.com/office/drawing/2014/main" id="{B73F7F8A-8D7B-461E-98A9-35BD5A26338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72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44" name="Line 17">
                        <a:extLst>
                          <a:ext uri="{FF2B5EF4-FFF2-40B4-BE49-F238E27FC236}">
                            <a16:creationId xmlns:a16="http://schemas.microsoft.com/office/drawing/2014/main" id="{FE997B50-2314-4948-A3D1-3F7DA10DA96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24" y="4085"/>
                        <a:ext cx="96" cy="96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45" name="Line 18">
                        <a:extLst>
                          <a:ext uri="{FF2B5EF4-FFF2-40B4-BE49-F238E27FC236}">
                            <a16:creationId xmlns:a16="http://schemas.microsoft.com/office/drawing/2014/main" id="{53CEA232-5623-4405-AD16-B054C61C52E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576" y="4037"/>
                        <a:ext cx="144" cy="144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46" name="Line 19">
                        <a:extLst>
                          <a:ext uri="{FF2B5EF4-FFF2-40B4-BE49-F238E27FC236}">
                            <a16:creationId xmlns:a16="http://schemas.microsoft.com/office/drawing/2014/main" id="{A18D20B5-7639-41BE-AF8E-B990CA6DAA5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80" y="4128"/>
                        <a:ext cx="56" cy="53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47" name="Line 20">
                        <a:extLst>
                          <a:ext uri="{FF2B5EF4-FFF2-40B4-BE49-F238E27FC236}">
                            <a16:creationId xmlns:a16="http://schemas.microsoft.com/office/drawing/2014/main" id="{1999003A-B7D5-4570-8E45-474AD2EC0EE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432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48" name="Line 21">
                        <a:extLst>
                          <a:ext uri="{FF2B5EF4-FFF2-40B4-BE49-F238E27FC236}">
                            <a16:creationId xmlns:a16="http://schemas.microsoft.com/office/drawing/2014/main" id="{464F8F9D-06A3-4FDF-97D6-714E325E876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36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49" name="Line 22">
                        <a:extLst>
                          <a:ext uri="{FF2B5EF4-FFF2-40B4-BE49-F238E27FC236}">
                            <a16:creationId xmlns:a16="http://schemas.microsoft.com/office/drawing/2014/main" id="{46F54A5A-BC58-4F62-BCF0-1E2ADAB25DA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84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grpSp>
                  <p:nvGrpSpPr>
                    <p:cNvPr id="38" name="Group 23">
                      <a:extLst>
                        <a:ext uri="{FF2B5EF4-FFF2-40B4-BE49-F238E27FC236}">
                          <a16:creationId xmlns:a16="http://schemas.microsoft.com/office/drawing/2014/main" id="{EEC9AE9A-CA57-431A-AEE3-752947F44C5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28" y="4032"/>
                      <a:ext cx="192" cy="144"/>
                      <a:chOff x="528" y="4032"/>
                      <a:chExt cx="192" cy="144"/>
                    </a:xfrm>
                  </p:grpSpPr>
                  <p:sp>
                    <p:nvSpPr>
                      <p:cNvPr id="39" name="Line 24">
                        <a:extLst>
                          <a:ext uri="{FF2B5EF4-FFF2-40B4-BE49-F238E27FC236}">
                            <a16:creationId xmlns:a16="http://schemas.microsoft.com/office/drawing/2014/main" id="{47EDA1D9-0C1C-4874-835C-91DBB1F6F7A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20" y="4032"/>
                        <a:ext cx="0" cy="144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40" name="Line 25">
                        <a:extLst>
                          <a:ext uri="{FF2B5EF4-FFF2-40B4-BE49-F238E27FC236}">
                            <a16:creationId xmlns:a16="http://schemas.microsoft.com/office/drawing/2014/main" id="{D0FBDEBF-9204-470F-8A55-1A1EA75CBB4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28" y="4076"/>
                        <a:ext cx="95" cy="100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</p:grpSp>
              <p:sp>
                <p:nvSpPr>
                  <p:cNvPr id="36" name="Line 26">
                    <a:extLst>
                      <a:ext uri="{FF2B5EF4-FFF2-40B4-BE49-F238E27FC236}">
                        <a16:creationId xmlns:a16="http://schemas.microsoft.com/office/drawing/2014/main" id="{BBBCE824-BBBC-4F92-A57A-E32D19FA89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28" y="4032"/>
                    <a:ext cx="192" cy="9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34" name="Line 27">
                  <a:extLst>
                    <a:ext uri="{FF2B5EF4-FFF2-40B4-BE49-F238E27FC236}">
                      <a16:creationId xmlns:a16="http://schemas.microsoft.com/office/drawing/2014/main" id="{6AC42D59-0929-4A46-AF60-22EDF843B8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3840"/>
                  <a:ext cx="139" cy="240"/>
                </a:xfrm>
                <a:prstGeom prst="line">
                  <a:avLst/>
                </a:prstGeom>
                <a:noFill/>
                <a:ln w="28575">
                  <a:solidFill>
                    <a:srgbClr val="CC3399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</p:grpSp>
          <p:sp>
            <p:nvSpPr>
              <p:cNvPr id="32" name="Line 29">
                <a:extLst>
                  <a:ext uri="{FF2B5EF4-FFF2-40B4-BE49-F238E27FC236}">
                    <a16:creationId xmlns:a16="http://schemas.microsoft.com/office/drawing/2014/main" id="{A15FD940-443C-4EA7-BAFE-A862B516D9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8" y="4000"/>
                <a:ext cx="192" cy="4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</p:grpSp>
        <p:sp>
          <p:nvSpPr>
            <p:cNvPr id="30" name="Text Box 25">
              <a:extLst>
                <a:ext uri="{FF2B5EF4-FFF2-40B4-BE49-F238E27FC236}">
                  <a16:creationId xmlns:a16="http://schemas.microsoft.com/office/drawing/2014/main" id="{51DE3D8F-7CD2-408B-A6CF-DA8C40562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2749" y="2481212"/>
              <a:ext cx="530677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sp>
        <p:nvSpPr>
          <p:cNvPr id="50" name="Text Box 25">
            <a:extLst>
              <a:ext uri="{FF2B5EF4-FFF2-40B4-BE49-F238E27FC236}">
                <a16:creationId xmlns:a16="http://schemas.microsoft.com/office/drawing/2014/main" id="{FD4177C1-415E-4707-9DC0-B02094520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2011" y="1516524"/>
            <a:ext cx="16795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p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</a:t>
            </a:r>
            <a:r>
              <a:rPr kumimoji="1" lang="en-US" sz="2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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 p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51" name="Group 21">
            <a:extLst>
              <a:ext uri="{FF2B5EF4-FFF2-40B4-BE49-F238E27FC236}">
                <a16:creationId xmlns:a16="http://schemas.microsoft.com/office/drawing/2014/main" id="{787FF723-3965-4A31-8F69-C2C5743FF91C}"/>
              </a:ext>
            </a:extLst>
          </p:cNvPr>
          <p:cNvGrpSpPr/>
          <p:nvPr/>
        </p:nvGrpSpPr>
        <p:grpSpPr>
          <a:xfrm>
            <a:off x="3784659" y="1925109"/>
            <a:ext cx="2645976" cy="974834"/>
            <a:chOff x="3784659" y="2377966"/>
            <a:chExt cx="2645976" cy="974834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EBBD9FB-4284-42B5-B902-B048827FE4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8625" y="2438400"/>
              <a:ext cx="2393950" cy="914400"/>
              <a:chOff x="2206" y="3504"/>
              <a:chExt cx="1508" cy="576"/>
            </a:xfrm>
          </p:grpSpPr>
          <p:grpSp>
            <p:nvGrpSpPr>
              <p:cNvPr id="55" name="Group 52">
                <a:extLst>
                  <a:ext uri="{FF2B5EF4-FFF2-40B4-BE49-F238E27FC236}">
                    <a16:creationId xmlns:a16="http://schemas.microsoft.com/office/drawing/2014/main" id="{6C6587CC-30DD-49FB-B5F3-A196D4F04D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3504"/>
                <a:ext cx="1506" cy="576"/>
                <a:chOff x="2256" y="3506"/>
                <a:chExt cx="1506" cy="576"/>
              </a:xfrm>
            </p:grpSpPr>
            <p:grpSp>
              <p:nvGrpSpPr>
                <p:cNvPr id="57" name="Group 53">
                  <a:extLst>
                    <a:ext uri="{FF2B5EF4-FFF2-40B4-BE49-F238E27FC236}">
                      <a16:creationId xmlns:a16="http://schemas.microsoft.com/office/drawing/2014/main" id="{0D90D89A-77AD-4CA4-9A84-AFA6AB8755E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56" y="3506"/>
                  <a:ext cx="1506" cy="576"/>
                  <a:chOff x="2256" y="3506"/>
                  <a:chExt cx="1506" cy="576"/>
                </a:xfrm>
              </p:grpSpPr>
              <p:grpSp>
                <p:nvGrpSpPr>
                  <p:cNvPr id="59" name="Group 54">
                    <a:extLst>
                      <a:ext uri="{FF2B5EF4-FFF2-40B4-BE49-F238E27FC236}">
                        <a16:creationId xmlns:a16="http://schemas.microsoft.com/office/drawing/2014/main" id="{B59429ED-CE69-489E-87CE-6B336FAEF43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256" y="3506"/>
                    <a:ext cx="1506" cy="576"/>
                    <a:chOff x="2256" y="3506"/>
                    <a:chExt cx="1506" cy="576"/>
                  </a:xfrm>
                </p:grpSpPr>
                <p:grpSp>
                  <p:nvGrpSpPr>
                    <p:cNvPr id="61" name="Group 55">
                      <a:extLst>
                        <a:ext uri="{FF2B5EF4-FFF2-40B4-BE49-F238E27FC236}">
                          <a16:creationId xmlns:a16="http://schemas.microsoft.com/office/drawing/2014/main" id="{A8B2FCE0-532D-4461-83B6-39ECDE301E4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63" y="3506"/>
                      <a:ext cx="1499" cy="576"/>
                      <a:chOff x="2263" y="3506"/>
                      <a:chExt cx="1499" cy="576"/>
                    </a:xfrm>
                  </p:grpSpPr>
                  <p:grpSp>
                    <p:nvGrpSpPr>
                      <p:cNvPr id="64" name="Group 56">
                        <a:extLst>
                          <a:ext uri="{FF2B5EF4-FFF2-40B4-BE49-F238E27FC236}">
                            <a16:creationId xmlns:a16="http://schemas.microsoft.com/office/drawing/2014/main" id="{75248E2B-882D-4C89-BF99-56EF3ED74F17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63" y="3506"/>
                        <a:ext cx="1499" cy="576"/>
                        <a:chOff x="2263" y="3506"/>
                        <a:chExt cx="1499" cy="576"/>
                      </a:xfrm>
                    </p:grpSpPr>
                    <p:grpSp>
                      <p:nvGrpSpPr>
                        <p:cNvPr id="66" name="Group 57">
                          <a:extLst>
                            <a:ext uri="{FF2B5EF4-FFF2-40B4-BE49-F238E27FC236}">
                              <a16:creationId xmlns:a16="http://schemas.microsoft.com/office/drawing/2014/main" id="{A02E4B84-961C-4133-9014-8BB6B4A7677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263" y="3506"/>
                          <a:ext cx="1499" cy="576"/>
                          <a:chOff x="2263" y="3504"/>
                          <a:chExt cx="1499" cy="576"/>
                        </a:xfrm>
                      </p:grpSpPr>
                      <p:grpSp>
                        <p:nvGrpSpPr>
                          <p:cNvPr id="68" name="Group 58">
                            <a:extLst>
                              <a:ext uri="{FF2B5EF4-FFF2-40B4-BE49-F238E27FC236}">
                                <a16:creationId xmlns:a16="http://schemas.microsoft.com/office/drawing/2014/main" id="{763775B4-EB1A-47E9-AD16-E1D1C0C4AE90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263" y="3504"/>
                            <a:ext cx="1499" cy="576"/>
                            <a:chOff x="2263" y="3504"/>
                            <a:chExt cx="1499" cy="576"/>
                          </a:xfrm>
                        </p:grpSpPr>
                        <p:sp>
                          <p:nvSpPr>
                            <p:cNvPr id="72" name="Line 59">
                              <a:extLst>
                                <a:ext uri="{FF2B5EF4-FFF2-40B4-BE49-F238E27FC236}">
                                  <a16:creationId xmlns:a16="http://schemas.microsoft.com/office/drawing/2014/main" id="{7DE0DF85-D147-4391-885E-BA51769A7C87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2263" y="4080"/>
                              <a:ext cx="1488" cy="0"/>
                            </a:xfrm>
                            <a:prstGeom prst="line">
                              <a:avLst/>
                            </a:pr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73" name="Freeform 60">
                              <a:extLst>
                                <a:ext uri="{FF2B5EF4-FFF2-40B4-BE49-F238E27FC236}">
                                  <a16:creationId xmlns:a16="http://schemas.microsoft.com/office/drawing/2014/main" id="{5673CC51-C16A-411C-8E49-1A932A9B6DBE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263" y="3504"/>
                              <a:ext cx="1499" cy="525"/>
                            </a:xfrm>
                            <a:custGeom>
                              <a:avLst/>
                              <a:gdLst>
                                <a:gd name="T0" fmla="*/ 0 w 1499"/>
                                <a:gd name="T1" fmla="*/ 525 h 525"/>
                                <a:gd name="T2" fmla="*/ 269 w 1499"/>
                                <a:gd name="T3" fmla="*/ 483 h 525"/>
                                <a:gd name="T4" fmla="*/ 513 w 1499"/>
                                <a:gd name="T5" fmla="*/ 314 h 525"/>
                                <a:gd name="T6" fmla="*/ 665 w 1499"/>
                                <a:gd name="T7" fmla="*/ 70 h 525"/>
                                <a:gd name="T8" fmla="*/ 808 w 1499"/>
                                <a:gd name="T9" fmla="*/ 3 h 525"/>
                                <a:gd name="T10" fmla="*/ 943 w 1499"/>
                                <a:gd name="T11" fmla="*/ 87 h 525"/>
                                <a:gd name="T12" fmla="*/ 1069 w 1499"/>
                                <a:gd name="T13" fmla="*/ 348 h 525"/>
                                <a:gd name="T14" fmla="*/ 1196 w 1499"/>
                                <a:gd name="T15" fmla="*/ 457 h 525"/>
                                <a:gd name="T16" fmla="*/ 1339 w 1499"/>
                                <a:gd name="T17" fmla="*/ 491 h 525"/>
                                <a:gd name="T18" fmla="*/ 1499 w 1499"/>
                                <a:gd name="T19" fmla="*/ 516 h 525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  <a:gd name="T24" fmla="*/ 0 60000 65536"/>
                                <a:gd name="T25" fmla="*/ 0 60000 65536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w 1499"/>
                                <a:gd name="T31" fmla="*/ 0 h 525"/>
                                <a:gd name="T32" fmla="*/ 1499 w 1499"/>
                                <a:gd name="T33" fmla="*/ 525 h 525"/>
                              </a:gdLst>
                              <a:ahLst/>
                              <a:cxnLst>
                                <a:cxn ang="T20">
                                  <a:pos x="T0" y="T1"/>
                                </a:cxn>
                                <a:cxn ang="T21">
                                  <a:pos x="T2" y="T3"/>
                                </a:cxn>
                                <a:cxn ang="T22">
                                  <a:pos x="T4" y="T5"/>
                                </a:cxn>
                                <a:cxn ang="T23">
                                  <a:pos x="T6" y="T7"/>
                                </a:cxn>
                                <a:cxn ang="T24">
                                  <a:pos x="T8" y="T9"/>
                                </a:cxn>
                                <a:cxn ang="T25">
                                  <a:pos x="T10" y="T11"/>
                                </a:cxn>
                                <a:cxn ang="T26">
                                  <a:pos x="T12" y="T13"/>
                                </a:cxn>
                                <a:cxn ang="T27">
                                  <a:pos x="T14" y="T15"/>
                                </a:cxn>
                                <a:cxn ang="T28">
                                  <a:pos x="T16" y="T17"/>
                                </a:cxn>
                                <a:cxn ang="T29">
                                  <a:pos x="T18" y="T19"/>
                                </a:cxn>
                              </a:cxnLst>
                              <a:rect l="T30" t="T31" r="T32" b="T33"/>
                              <a:pathLst>
                                <a:path w="1499" h="525">
                                  <a:moveTo>
                                    <a:pt x="0" y="525"/>
                                  </a:moveTo>
                                  <a:cubicBezTo>
                                    <a:pt x="43" y="518"/>
                                    <a:pt x="184" y="518"/>
                                    <a:pt x="269" y="483"/>
                                  </a:cubicBezTo>
                                  <a:cubicBezTo>
                                    <a:pt x="354" y="448"/>
                                    <a:pt x="447" y="383"/>
                                    <a:pt x="513" y="314"/>
                                  </a:cubicBezTo>
                                  <a:cubicBezTo>
                                    <a:pt x="579" y="245"/>
                                    <a:pt x="616" y="122"/>
                                    <a:pt x="665" y="70"/>
                                  </a:cubicBezTo>
                                  <a:cubicBezTo>
                                    <a:pt x="714" y="18"/>
                                    <a:pt x="762" y="0"/>
                                    <a:pt x="808" y="3"/>
                                  </a:cubicBezTo>
                                  <a:cubicBezTo>
                                    <a:pt x="854" y="6"/>
                                    <a:pt x="899" y="29"/>
                                    <a:pt x="943" y="87"/>
                                  </a:cubicBezTo>
                                  <a:cubicBezTo>
                                    <a:pt x="987" y="145"/>
                                    <a:pt x="1027" y="286"/>
                                    <a:pt x="1069" y="348"/>
                                  </a:cubicBezTo>
                                  <a:cubicBezTo>
                                    <a:pt x="1111" y="410"/>
                                    <a:pt x="1151" y="433"/>
                                    <a:pt x="1196" y="457"/>
                                  </a:cubicBezTo>
                                  <a:cubicBezTo>
                                    <a:pt x="1241" y="481"/>
                                    <a:pt x="1289" y="481"/>
                                    <a:pt x="1339" y="491"/>
                                  </a:cubicBezTo>
                                  <a:cubicBezTo>
                                    <a:pt x="1389" y="501"/>
                                    <a:pt x="1466" y="511"/>
                                    <a:pt x="1499" y="516"/>
                                  </a:cubicBezTo>
                                </a:path>
                              </a:pathLst>
                            </a:cu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th-TH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74" name="Line 62">
                              <a:extLst>
                                <a:ext uri="{FF2B5EF4-FFF2-40B4-BE49-F238E27FC236}">
                                  <a16:creationId xmlns:a16="http://schemas.microsoft.com/office/drawing/2014/main" id="{ECDA3D87-E0FC-41B4-A5CF-27291B2012E2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360" y="4032"/>
                              <a:ext cx="240" cy="0"/>
                            </a:xfrm>
                            <a:prstGeom prst="line">
                              <a:avLst/>
                            </a:prstGeom>
                            <a:noFill/>
                            <a:ln w="7620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75" name="Line 63">
                              <a:extLst>
                                <a:ext uri="{FF2B5EF4-FFF2-40B4-BE49-F238E27FC236}">
                                  <a16:creationId xmlns:a16="http://schemas.microsoft.com/office/drawing/2014/main" id="{5BC7FE1A-F928-40CD-B600-D882950CCB6A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360" y="3936"/>
                              <a:ext cx="336" cy="96"/>
                            </a:xfrm>
                            <a:prstGeom prst="line">
                              <a:avLst/>
                            </a:pr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76" name="Line 64">
                              <a:extLst>
                                <a:ext uri="{FF2B5EF4-FFF2-40B4-BE49-F238E27FC236}">
                                  <a16:creationId xmlns:a16="http://schemas.microsoft.com/office/drawing/2014/main" id="{D9C8E26B-7D24-45FC-872A-A80D5DFF27E4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3523" y="3744"/>
                              <a:ext cx="102" cy="241"/>
                            </a:xfrm>
                            <a:prstGeom prst="line">
                              <a:avLst/>
                            </a:prstGeom>
                            <a:noFill/>
                            <a:ln w="28575">
                              <a:solidFill>
                                <a:srgbClr val="CC3399"/>
                              </a:solidFill>
                              <a:round/>
                              <a:headEnd/>
                              <a:tailEnd type="triangle" w="med" len="med"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69" name="Line 66">
                            <a:extLst>
                              <a:ext uri="{FF2B5EF4-FFF2-40B4-BE49-F238E27FC236}">
                                <a16:creationId xmlns:a16="http://schemas.microsoft.com/office/drawing/2014/main" id="{19937BCD-2A32-4BDF-BD6F-D50C2CD9354C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504" y="3984"/>
                            <a:ext cx="192" cy="48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70" name="Line 67">
                            <a:extLst>
                              <a:ext uri="{FF2B5EF4-FFF2-40B4-BE49-F238E27FC236}">
                                <a16:creationId xmlns:a16="http://schemas.microsoft.com/office/drawing/2014/main" id="{3D6C2094-C1BB-459A-98B7-8217064ECBB6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360" y="4049"/>
                            <a:ext cx="358" cy="19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71" name="Line 68">
                            <a:extLst>
                              <a:ext uri="{FF2B5EF4-FFF2-40B4-BE49-F238E27FC236}">
                                <a16:creationId xmlns:a16="http://schemas.microsoft.com/office/drawing/2014/main" id="{B8333467-817D-4CF7-9E55-D1DDD74A9298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360" y="3984"/>
                            <a:ext cx="144" cy="0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</p:grpSp>
                    <p:sp>
                      <p:nvSpPr>
                        <p:cNvPr id="67" name="Line 69">
                          <a:extLst>
                            <a:ext uri="{FF2B5EF4-FFF2-40B4-BE49-F238E27FC236}">
                              <a16:creationId xmlns:a16="http://schemas.microsoft.com/office/drawing/2014/main" id="{447709BD-5498-4F36-BEF4-9753108A963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360" y="3888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</p:grpSp>
                  <p:sp>
                    <p:nvSpPr>
                      <p:cNvPr id="65" name="Line 70">
                        <a:extLst>
                          <a:ext uri="{FF2B5EF4-FFF2-40B4-BE49-F238E27FC236}">
                            <a16:creationId xmlns:a16="http://schemas.microsoft.com/office/drawing/2014/main" id="{B72B8B63-1DB8-4883-8B76-554E4605CAB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83" y="3746"/>
                        <a:ext cx="142" cy="241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CC3399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sp>
                  <p:nvSpPr>
                    <p:cNvPr id="62" name="Line 71">
                      <a:extLst>
                        <a:ext uri="{FF2B5EF4-FFF2-40B4-BE49-F238E27FC236}">
                          <a16:creationId xmlns:a16="http://schemas.microsoft.com/office/drawing/2014/main" id="{FC7D65C2-88C5-4AD1-934A-6DB4F06194D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4080"/>
                      <a:ext cx="384" cy="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  <p:sp>
                  <p:nvSpPr>
                    <p:cNvPr id="63" name="Line 72">
                      <a:extLst>
                        <a:ext uri="{FF2B5EF4-FFF2-40B4-BE49-F238E27FC236}">
                          <a16:creationId xmlns:a16="http://schemas.microsoft.com/office/drawing/2014/main" id="{98D38606-6678-4868-9851-D7F5C0ED90E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636" y="3959"/>
                      <a:ext cx="4" cy="121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</p:grpSp>
              <p:sp>
                <p:nvSpPr>
                  <p:cNvPr id="60" name="Line 73">
                    <a:extLst>
                      <a:ext uri="{FF2B5EF4-FFF2-40B4-BE49-F238E27FC236}">
                        <a16:creationId xmlns:a16="http://schemas.microsoft.com/office/drawing/2014/main" id="{A1F65DA7-2DA9-4D75-9FF6-D912853B8E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411" y="4032"/>
                    <a:ext cx="229" cy="8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58" name="Line 74">
                  <a:extLst>
                    <a:ext uri="{FF2B5EF4-FFF2-40B4-BE49-F238E27FC236}">
                      <a16:creationId xmlns:a16="http://schemas.microsoft.com/office/drawing/2014/main" id="{C6C4AA37-90C4-47CC-A852-7FE3065E0B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544" y="3969"/>
                  <a:ext cx="96" cy="4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</p:grpSp>
          <p:sp>
            <p:nvSpPr>
              <p:cNvPr id="56" name="Line 75">
                <a:extLst>
                  <a:ext uri="{FF2B5EF4-FFF2-40B4-BE49-F238E27FC236}">
                    <a16:creationId xmlns:a16="http://schemas.microsoft.com/office/drawing/2014/main" id="{6A27F6DF-8595-4BC6-968A-3465057A35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6" y="4047"/>
                <a:ext cx="146" cy="1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</p:grpSp>
        <p:sp>
          <p:nvSpPr>
            <p:cNvPr id="53" name="Text Box 25">
              <a:extLst>
                <a:ext uri="{FF2B5EF4-FFF2-40B4-BE49-F238E27FC236}">
                  <a16:creationId xmlns:a16="http://schemas.microsoft.com/office/drawing/2014/main" id="{ED7AACC3-4C91-4A8B-B43C-F8A81CCFB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4659" y="2384395"/>
              <a:ext cx="685801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r>
                <a:rPr kumimoji="1" lang="en-US" sz="32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/2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  <p:sp>
          <p:nvSpPr>
            <p:cNvPr id="54" name="Text Box 25">
              <a:extLst>
                <a:ext uri="{FF2B5EF4-FFF2-40B4-BE49-F238E27FC236}">
                  <a16:creationId xmlns:a16="http://schemas.microsoft.com/office/drawing/2014/main" id="{2290F468-97DF-4CBF-ABC9-EDDEE8E79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44834" y="2377966"/>
              <a:ext cx="685801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r>
                <a:rPr kumimoji="1" lang="en-US" sz="32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/2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sp>
        <p:nvSpPr>
          <p:cNvPr id="77" name="Text Box 25">
            <a:extLst>
              <a:ext uri="{FF2B5EF4-FFF2-40B4-BE49-F238E27FC236}">
                <a16:creationId xmlns:a16="http://schemas.microsoft.com/office/drawing/2014/main" id="{603177B5-7253-45F8-BCD3-CD16E17A3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8650" y="1513551"/>
            <a:ext cx="16795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p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&gt; p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0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78" name="Group 22">
            <a:extLst>
              <a:ext uri="{FF2B5EF4-FFF2-40B4-BE49-F238E27FC236}">
                <a16:creationId xmlns:a16="http://schemas.microsoft.com/office/drawing/2014/main" id="{2C017121-D648-4F1B-8D51-8142708168C3}"/>
              </a:ext>
            </a:extLst>
          </p:cNvPr>
          <p:cNvGrpSpPr/>
          <p:nvPr/>
        </p:nvGrpSpPr>
        <p:grpSpPr>
          <a:xfrm>
            <a:off x="6564639" y="1925109"/>
            <a:ext cx="2379663" cy="974834"/>
            <a:chOff x="6564639" y="2377966"/>
            <a:chExt cx="2379663" cy="974834"/>
          </a:xfrm>
        </p:grpSpPr>
        <p:grpSp>
          <p:nvGrpSpPr>
            <p:cNvPr id="79" name="Group 32">
              <a:extLst>
                <a:ext uri="{FF2B5EF4-FFF2-40B4-BE49-F238E27FC236}">
                  <a16:creationId xmlns:a16="http://schemas.microsoft.com/office/drawing/2014/main" id="{C3E87C5D-31A9-43C4-AFAE-0949E985A1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64639" y="2438400"/>
              <a:ext cx="2379663" cy="914400"/>
              <a:chOff x="4128" y="3552"/>
              <a:chExt cx="1499" cy="576"/>
            </a:xfrm>
          </p:grpSpPr>
          <p:sp>
            <p:nvSpPr>
              <p:cNvPr id="81" name="Line 33">
                <a:extLst>
                  <a:ext uri="{FF2B5EF4-FFF2-40B4-BE49-F238E27FC236}">
                    <a16:creationId xmlns:a16="http://schemas.microsoft.com/office/drawing/2014/main" id="{207AE2E6-38EB-458F-A675-5CD523A74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69" y="4032"/>
                <a:ext cx="192" cy="4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  <p:grpSp>
            <p:nvGrpSpPr>
              <p:cNvPr id="82" name="Group 34">
                <a:extLst>
                  <a:ext uri="{FF2B5EF4-FFF2-40B4-BE49-F238E27FC236}">
                    <a16:creationId xmlns:a16="http://schemas.microsoft.com/office/drawing/2014/main" id="{32D2244E-2D8B-466F-9DB2-FE55E344E9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3552"/>
                <a:ext cx="1499" cy="576"/>
                <a:chOff x="4128" y="3456"/>
                <a:chExt cx="1499" cy="576"/>
              </a:xfrm>
            </p:grpSpPr>
            <p:sp>
              <p:nvSpPr>
                <p:cNvPr id="83" name="Line 35">
                  <a:extLst>
                    <a:ext uri="{FF2B5EF4-FFF2-40B4-BE49-F238E27FC236}">
                      <a16:creationId xmlns:a16="http://schemas.microsoft.com/office/drawing/2014/main" id="{5AA78578-8E1F-4E1C-9202-556DC1A3DE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28" y="4032"/>
                  <a:ext cx="1488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  <p:grpSp>
              <p:nvGrpSpPr>
                <p:cNvPr id="84" name="Group 36">
                  <a:extLst>
                    <a:ext uri="{FF2B5EF4-FFF2-40B4-BE49-F238E27FC236}">
                      <a16:creationId xmlns:a16="http://schemas.microsoft.com/office/drawing/2014/main" id="{9DC5197F-A610-46D7-9654-A25B0AF5E1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28" y="3456"/>
                  <a:ext cx="1499" cy="576"/>
                  <a:chOff x="4128" y="3456"/>
                  <a:chExt cx="1499" cy="576"/>
                </a:xfrm>
              </p:grpSpPr>
              <p:grpSp>
                <p:nvGrpSpPr>
                  <p:cNvPr id="85" name="Group 37">
                    <a:extLst>
                      <a:ext uri="{FF2B5EF4-FFF2-40B4-BE49-F238E27FC236}">
                        <a16:creationId xmlns:a16="http://schemas.microsoft.com/office/drawing/2014/main" id="{648D8BAA-3935-4DFE-8D28-B56D7A017EF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128" y="3456"/>
                    <a:ext cx="1499" cy="576"/>
                    <a:chOff x="4135" y="3456"/>
                    <a:chExt cx="1499" cy="576"/>
                  </a:xfrm>
                </p:grpSpPr>
                <p:grpSp>
                  <p:nvGrpSpPr>
                    <p:cNvPr id="87" name="Group 38">
                      <a:extLst>
                        <a:ext uri="{FF2B5EF4-FFF2-40B4-BE49-F238E27FC236}">
                          <a16:creationId xmlns:a16="http://schemas.microsoft.com/office/drawing/2014/main" id="{288A0AD1-03FE-451B-B070-78ED3BB70B7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35" y="3456"/>
                      <a:ext cx="1499" cy="576"/>
                      <a:chOff x="4135" y="3456"/>
                      <a:chExt cx="1499" cy="576"/>
                    </a:xfrm>
                  </p:grpSpPr>
                  <p:grpSp>
                    <p:nvGrpSpPr>
                      <p:cNvPr id="89" name="Group 39">
                        <a:extLst>
                          <a:ext uri="{FF2B5EF4-FFF2-40B4-BE49-F238E27FC236}">
                            <a16:creationId xmlns:a16="http://schemas.microsoft.com/office/drawing/2014/main" id="{93D7EFAA-2EAC-42D8-8A14-4DDA46F7A9F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135" y="3456"/>
                        <a:ext cx="1499" cy="576"/>
                        <a:chOff x="4135" y="3456"/>
                        <a:chExt cx="1499" cy="576"/>
                      </a:xfrm>
                    </p:grpSpPr>
                    <p:grpSp>
                      <p:nvGrpSpPr>
                        <p:cNvPr id="91" name="Group 40">
                          <a:extLst>
                            <a:ext uri="{FF2B5EF4-FFF2-40B4-BE49-F238E27FC236}">
                              <a16:creationId xmlns:a16="http://schemas.microsoft.com/office/drawing/2014/main" id="{0ADF339D-D245-4CE7-A58E-BEB21C0620E8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135" y="3456"/>
                          <a:ext cx="1499" cy="576"/>
                          <a:chOff x="4135" y="3456"/>
                          <a:chExt cx="1499" cy="576"/>
                        </a:xfrm>
                      </p:grpSpPr>
                      <p:sp>
                        <p:nvSpPr>
                          <p:cNvPr id="94" name="Freeform 41">
                            <a:extLst>
                              <a:ext uri="{FF2B5EF4-FFF2-40B4-BE49-F238E27FC236}">
                                <a16:creationId xmlns:a16="http://schemas.microsoft.com/office/drawing/2014/main" id="{8A128674-7C24-46EC-A1E2-8F10654B00BF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135" y="3456"/>
                            <a:ext cx="1499" cy="525"/>
                          </a:xfrm>
                          <a:custGeom>
                            <a:avLst/>
                            <a:gdLst>
                              <a:gd name="T0" fmla="*/ 0 w 1499"/>
                              <a:gd name="T1" fmla="*/ 525 h 525"/>
                              <a:gd name="T2" fmla="*/ 269 w 1499"/>
                              <a:gd name="T3" fmla="*/ 483 h 525"/>
                              <a:gd name="T4" fmla="*/ 513 w 1499"/>
                              <a:gd name="T5" fmla="*/ 314 h 525"/>
                              <a:gd name="T6" fmla="*/ 665 w 1499"/>
                              <a:gd name="T7" fmla="*/ 70 h 525"/>
                              <a:gd name="T8" fmla="*/ 808 w 1499"/>
                              <a:gd name="T9" fmla="*/ 3 h 525"/>
                              <a:gd name="T10" fmla="*/ 943 w 1499"/>
                              <a:gd name="T11" fmla="*/ 87 h 525"/>
                              <a:gd name="T12" fmla="*/ 1069 w 1499"/>
                              <a:gd name="T13" fmla="*/ 348 h 525"/>
                              <a:gd name="T14" fmla="*/ 1196 w 1499"/>
                              <a:gd name="T15" fmla="*/ 457 h 525"/>
                              <a:gd name="T16" fmla="*/ 1339 w 1499"/>
                              <a:gd name="T17" fmla="*/ 491 h 525"/>
                              <a:gd name="T18" fmla="*/ 1499 w 1499"/>
                              <a:gd name="T19" fmla="*/ 516 h 525"/>
                              <a:gd name="T20" fmla="*/ 0 60000 65536"/>
                              <a:gd name="T21" fmla="*/ 0 60000 65536"/>
                              <a:gd name="T22" fmla="*/ 0 60000 65536"/>
                              <a:gd name="T23" fmla="*/ 0 60000 65536"/>
                              <a:gd name="T24" fmla="*/ 0 60000 65536"/>
                              <a:gd name="T25" fmla="*/ 0 60000 65536"/>
                              <a:gd name="T26" fmla="*/ 0 60000 65536"/>
                              <a:gd name="T27" fmla="*/ 0 60000 65536"/>
                              <a:gd name="T28" fmla="*/ 0 60000 65536"/>
                              <a:gd name="T29" fmla="*/ 0 60000 65536"/>
                              <a:gd name="T30" fmla="*/ 0 w 1499"/>
                              <a:gd name="T31" fmla="*/ 0 h 525"/>
                              <a:gd name="T32" fmla="*/ 1499 w 1499"/>
                              <a:gd name="T33" fmla="*/ 525 h 525"/>
                            </a:gdLst>
                            <a:ahLst/>
                            <a:cxnLst>
                              <a:cxn ang="T20">
                                <a:pos x="T0" y="T1"/>
                              </a:cxn>
                              <a:cxn ang="T21">
                                <a:pos x="T2" y="T3"/>
                              </a:cxn>
                              <a:cxn ang="T22">
                                <a:pos x="T4" y="T5"/>
                              </a:cxn>
                              <a:cxn ang="T23">
                                <a:pos x="T6" y="T7"/>
                              </a:cxn>
                              <a:cxn ang="T24">
                                <a:pos x="T8" y="T9"/>
                              </a:cxn>
                              <a:cxn ang="T25">
                                <a:pos x="T10" y="T11"/>
                              </a:cxn>
                              <a:cxn ang="T26">
                                <a:pos x="T12" y="T13"/>
                              </a:cxn>
                              <a:cxn ang="T27">
                                <a:pos x="T14" y="T15"/>
                              </a:cxn>
                              <a:cxn ang="T28">
                                <a:pos x="T16" y="T17"/>
                              </a:cxn>
                              <a:cxn ang="T29">
                                <a:pos x="T18" y="T19"/>
                              </a:cxn>
                            </a:cxnLst>
                            <a:rect l="T30" t="T31" r="T32" b="T33"/>
                            <a:pathLst>
                              <a:path w="1499" h="525">
                                <a:moveTo>
                                  <a:pt x="0" y="525"/>
                                </a:moveTo>
                                <a:cubicBezTo>
                                  <a:pt x="43" y="518"/>
                                  <a:pt x="184" y="518"/>
                                  <a:pt x="269" y="483"/>
                                </a:cubicBezTo>
                                <a:cubicBezTo>
                                  <a:pt x="354" y="448"/>
                                  <a:pt x="447" y="383"/>
                                  <a:pt x="513" y="314"/>
                                </a:cubicBezTo>
                                <a:cubicBezTo>
                                  <a:pt x="579" y="245"/>
                                  <a:pt x="616" y="122"/>
                                  <a:pt x="665" y="70"/>
                                </a:cubicBezTo>
                                <a:cubicBezTo>
                                  <a:pt x="714" y="18"/>
                                  <a:pt x="762" y="0"/>
                                  <a:pt x="808" y="3"/>
                                </a:cubicBezTo>
                                <a:cubicBezTo>
                                  <a:pt x="854" y="6"/>
                                  <a:pt x="899" y="29"/>
                                  <a:pt x="943" y="87"/>
                                </a:cubicBezTo>
                                <a:cubicBezTo>
                                  <a:pt x="987" y="145"/>
                                  <a:pt x="1027" y="286"/>
                                  <a:pt x="1069" y="348"/>
                                </a:cubicBezTo>
                                <a:cubicBezTo>
                                  <a:pt x="1111" y="410"/>
                                  <a:pt x="1151" y="433"/>
                                  <a:pt x="1196" y="457"/>
                                </a:cubicBezTo>
                                <a:cubicBezTo>
                                  <a:pt x="1241" y="481"/>
                                  <a:pt x="1289" y="481"/>
                                  <a:pt x="1339" y="491"/>
                                </a:cubicBezTo>
                                <a:cubicBezTo>
                                  <a:pt x="1389" y="501"/>
                                  <a:pt x="1466" y="511"/>
                                  <a:pt x="1499" y="516"/>
                                </a:cubicBezTo>
                              </a:path>
                            </a:pathLst>
                          </a:custGeom>
                          <a:noFill/>
                          <a:ln w="5715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th-TH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95" name="Line 43">
                            <a:extLst>
                              <a:ext uri="{FF2B5EF4-FFF2-40B4-BE49-F238E27FC236}">
                                <a16:creationId xmlns:a16="http://schemas.microsoft.com/office/drawing/2014/main" id="{33C2BE36-DFF1-4B5D-B56F-4361E319C356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232" y="3840"/>
                            <a:ext cx="0" cy="192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</p:grpSp>
                    <p:sp>
                      <p:nvSpPr>
                        <p:cNvPr id="92" name="Line 44">
                          <a:extLst>
                            <a:ext uri="{FF2B5EF4-FFF2-40B4-BE49-F238E27FC236}">
                              <a16:creationId xmlns:a16="http://schemas.microsoft.com/office/drawing/2014/main" id="{7D1BA682-D4B0-4E59-816A-5C5AF7BF847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32" y="4001"/>
                          <a:ext cx="358" cy="19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  <p:sp>
                      <p:nvSpPr>
                        <p:cNvPr id="93" name="Line 45">
                          <a:extLst>
                            <a:ext uri="{FF2B5EF4-FFF2-40B4-BE49-F238E27FC236}">
                              <a16:creationId xmlns:a16="http://schemas.microsoft.com/office/drawing/2014/main" id="{3FE9D6A6-18CC-4DB7-A816-4A85EDFC998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32" y="3984"/>
                          <a:ext cx="240" cy="0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</p:grpSp>
                  <p:sp>
                    <p:nvSpPr>
                      <p:cNvPr id="90" name="Line 46">
                        <a:extLst>
                          <a:ext uri="{FF2B5EF4-FFF2-40B4-BE49-F238E27FC236}">
                            <a16:creationId xmlns:a16="http://schemas.microsoft.com/office/drawing/2014/main" id="{7FD482AB-D9D7-4656-9A3E-764EA69F742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232" y="3936"/>
                        <a:ext cx="144" cy="0"/>
                      </a:xfrm>
                      <a:prstGeom prst="line">
                        <a:avLst/>
                      </a:prstGeom>
                      <a:noFill/>
                      <a:ln w="762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sp>
                  <p:nvSpPr>
                    <p:cNvPr id="88" name="Line 47">
                      <a:extLst>
                        <a:ext uri="{FF2B5EF4-FFF2-40B4-BE49-F238E27FC236}">
                          <a16:creationId xmlns:a16="http://schemas.microsoft.com/office/drawing/2014/main" id="{DFFBD0A7-F4EB-42F5-AB50-4A0FBDF2711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232" y="3888"/>
                      <a:ext cx="336" cy="96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</p:grpSp>
              <p:sp>
                <p:nvSpPr>
                  <p:cNvPr id="86" name="Line 48">
                    <a:extLst>
                      <a:ext uri="{FF2B5EF4-FFF2-40B4-BE49-F238E27FC236}">
                        <a16:creationId xmlns:a16="http://schemas.microsoft.com/office/drawing/2014/main" id="{DE47EC5A-44EC-4153-98EE-F2F0DFE1731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321" y="3668"/>
                    <a:ext cx="96" cy="240"/>
                  </a:xfrm>
                  <a:prstGeom prst="line">
                    <a:avLst/>
                  </a:prstGeom>
                  <a:noFill/>
                  <a:ln w="28575">
                    <a:solidFill>
                      <a:srgbClr val="CC3399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</p:grpSp>
        </p:grpSp>
        <p:sp>
          <p:nvSpPr>
            <p:cNvPr id="80" name="Text Box 25">
              <a:extLst>
                <a:ext uri="{FF2B5EF4-FFF2-40B4-BE49-F238E27FC236}">
                  <a16:creationId xmlns:a16="http://schemas.microsoft.com/office/drawing/2014/main" id="{840BD6BC-E21E-43E2-A486-37203C439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6068" y="2377966"/>
              <a:ext cx="474991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grpSp>
        <p:nvGrpSpPr>
          <p:cNvPr id="96" name="Group 19">
            <a:extLst>
              <a:ext uri="{FF2B5EF4-FFF2-40B4-BE49-F238E27FC236}">
                <a16:creationId xmlns:a16="http://schemas.microsoft.com/office/drawing/2014/main" id="{37EE17CF-8C2B-454A-8C75-BD7872CF4C09}"/>
              </a:ext>
            </a:extLst>
          </p:cNvPr>
          <p:cNvGrpSpPr/>
          <p:nvPr/>
        </p:nvGrpSpPr>
        <p:grpSpPr>
          <a:xfrm>
            <a:off x="152400" y="304800"/>
            <a:ext cx="7467600" cy="805246"/>
            <a:chOff x="152400" y="488732"/>
            <a:chExt cx="7467600" cy="805246"/>
          </a:xfrm>
        </p:grpSpPr>
        <p:grpSp>
          <p:nvGrpSpPr>
            <p:cNvPr id="97" name="Group 107">
              <a:extLst>
                <a:ext uri="{FF2B5EF4-FFF2-40B4-BE49-F238E27FC236}">
                  <a16:creationId xmlns:a16="http://schemas.microsoft.com/office/drawing/2014/main" id="{DEDA83CC-EED5-4EE2-A13E-7569B1A7CA60}"/>
                </a:ext>
              </a:extLst>
            </p:cNvPr>
            <p:cNvGrpSpPr/>
            <p:nvPr/>
          </p:nvGrpSpPr>
          <p:grpSpPr>
            <a:xfrm>
              <a:off x="3862478" y="488732"/>
              <a:ext cx="3757522" cy="805246"/>
              <a:chOff x="533400" y="672664"/>
              <a:chExt cx="3757522" cy="805246"/>
            </a:xfrm>
          </p:grpSpPr>
          <p:sp>
            <p:nvSpPr>
              <p:cNvPr id="99" name="Text Box 25">
                <a:extLst>
                  <a:ext uri="{FF2B5EF4-FFF2-40B4-BE49-F238E27FC236}">
                    <a16:creationId xmlns:a16="http://schemas.microsoft.com/office/drawing/2014/main" id="{E944938C-22D4-4AC3-AE21-A534A471CA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672664"/>
                <a:ext cx="3757522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H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0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: p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 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= p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0</a:t>
                </a:r>
                <a:r>
                  <a:rPr kumimoji="1" lang="th-TH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 </a:t>
                </a:r>
                <a:r>
                  <a:rPr kumimoji="1" lang="th-TH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r>
                  <a:rPr kumimoji="1" lang="en-US" sz="4000" b="1" dirty="0">
                    <a:solidFill>
                      <a:srgbClr val="FF0000"/>
                    </a:solidFill>
                    <a:latin typeface="Angsana New" pitchFamily="18" charset="-34"/>
                  </a:rPr>
                  <a:t>VS 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H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:  p     p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0</a:t>
                </a:r>
                <a:r>
                  <a:rPr kumimoji="1" lang="th-TH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endParaRPr kumimoji="1" lang="th-TH" sz="32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100" name="Text Box 25">
                <a:extLst>
                  <a:ext uri="{FF2B5EF4-FFF2-40B4-BE49-F238E27FC236}">
                    <a16:creationId xmlns:a16="http://schemas.microsoft.com/office/drawing/2014/main" id="{531F52D5-A1B4-4EDC-8D88-483C142BF5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1721" y="770024"/>
                <a:ext cx="457201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ts val="1600"/>
                  </a:lnSpc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&lt;</a:t>
                </a:r>
              </a:p>
              <a:p>
                <a:pPr eaLnBrk="0" hangingPunct="0">
                  <a:lnSpc>
                    <a:spcPts val="1600"/>
                  </a:lnSpc>
                  <a:spcBef>
                    <a:spcPts val="0"/>
                  </a:spcBef>
                  <a:defRPr/>
                </a:pPr>
                <a:r>
                  <a:rPr kumimoji="1" lang="en-US" sz="18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</a:t>
                </a:r>
                <a:r>
                  <a:rPr kumimoji="1" lang="en-US" sz="40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endParaRPr kumimoji="1" lang="th-TH" sz="4000" b="1" dirty="0">
                  <a:solidFill>
                    <a:srgbClr val="0000FF"/>
                  </a:solidFill>
                  <a:latin typeface="Angsana New" pitchFamily="18" charset="-34"/>
                </a:endParaRPr>
              </a:p>
              <a:p>
                <a:pPr eaLnBrk="0" hangingPunct="0">
                  <a:lnSpc>
                    <a:spcPts val="1600"/>
                  </a:lnSpc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&gt;</a:t>
                </a:r>
                <a:endParaRPr kumimoji="1" lang="th-TH" sz="32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</p:grpSp>
        <p:sp>
          <p:nvSpPr>
            <p:cNvPr id="98" name="Rectangle 3">
              <a:extLst>
                <a:ext uri="{FF2B5EF4-FFF2-40B4-BE49-F238E27FC236}">
                  <a16:creationId xmlns:a16="http://schemas.microsoft.com/office/drawing/2014/main" id="{F1B1FA3D-7085-431A-826A-A91FBEEC4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583328"/>
              <a:ext cx="48768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rgbClr val="CC3399"/>
                  </a:solidFill>
                  <a:latin typeface="Angsana New" panose="02020603050405020304" pitchFamily="18" charset="-34"/>
                </a:rPr>
                <a:t>สมมุติฐานสำหรับการทดสอบ :</a:t>
              </a:r>
            </a:p>
          </p:txBody>
        </p:sp>
      </p:grpSp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F1B62197-796B-4644-B4C8-C6AB471D6EDD}"/>
              </a:ext>
            </a:extLst>
          </p:cNvPr>
          <p:cNvGrpSpPr/>
          <p:nvPr/>
        </p:nvGrpSpPr>
        <p:grpSpPr>
          <a:xfrm>
            <a:off x="152400" y="749968"/>
            <a:ext cx="5638800" cy="1006216"/>
            <a:chOff x="152400" y="882868"/>
            <a:chExt cx="5638800" cy="1006216"/>
          </a:xfrm>
        </p:grpSpPr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DBEBC5A5-BA0C-411B-BE56-1B36EACF3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1086595"/>
              <a:ext cx="48768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rgbClr val="CC3399"/>
                  </a:solidFill>
                  <a:latin typeface="Angsana New" panose="02020603050405020304" pitchFamily="18" charset="-34"/>
                </a:rPr>
                <a:t>สถิติสำหรับการทดสอบ :</a:t>
              </a:r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4E12E67A-C1C3-4E32-8FE2-9719577E9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9096" y="1074200"/>
              <a:ext cx="8001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</a:rPr>
                <a:t> </a:t>
              </a:r>
              <a:r>
                <a:rPr lang="en-US" sz="3200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</a:rPr>
                <a:t>Z  =  </a:t>
              </a:r>
              <a:endParaRPr lang="th-TH" sz="3200" b="1" dirty="0">
                <a:solidFill>
                  <a:schemeClr val="accent1">
                    <a:lumMod val="50000"/>
                  </a:schemeClr>
                </a:solidFill>
                <a:latin typeface="Angsana New" pitchFamily="18" charset="-34"/>
              </a:endParaRPr>
            </a:p>
          </p:txBody>
        </p:sp>
        <p:grpSp>
          <p:nvGrpSpPr>
            <p:cNvPr id="2" name="กลุ่ม 1">
              <a:extLst>
                <a:ext uri="{FF2B5EF4-FFF2-40B4-BE49-F238E27FC236}">
                  <a16:creationId xmlns:a16="http://schemas.microsoft.com/office/drawing/2014/main" id="{A04D3354-1B72-484C-AD0F-9AC7345C869E}"/>
                </a:ext>
              </a:extLst>
            </p:cNvPr>
            <p:cNvGrpSpPr/>
            <p:nvPr/>
          </p:nvGrpSpPr>
          <p:grpSpPr>
            <a:xfrm>
              <a:off x="3809221" y="882868"/>
              <a:ext cx="1981979" cy="1006216"/>
              <a:chOff x="3580620" y="1511968"/>
              <a:chExt cx="1981979" cy="1006216"/>
            </a:xfrm>
          </p:grpSpPr>
          <p:sp>
            <p:nvSpPr>
              <p:cNvPr id="20" name="Rectangle 3">
                <a:extLst>
                  <a:ext uri="{FF2B5EF4-FFF2-40B4-BE49-F238E27FC236}">
                    <a16:creationId xmlns:a16="http://schemas.microsoft.com/office/drawing/2014/main" id="{482E992C-118C-4332-988F-566189A2A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490" y="1511968"/>
                <a:ext cx="1104902" cy="609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5000"/>
                  </a:lnSpc>
                  <a:defRPr/>
                </a:pP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p – p</a:t>
                </a:r>
                <a:r>
                  <a:rPr lang="en-US" sz="3200" b="1" baseline="-25000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  <a:sym typeface="Symbol"/>
                  </a:rPr>
                  <a:t>0</a:t>
                </a: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  </a:t>
                </a:r>
                <a:endParaRPr lang="th-TH" sz="3200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</a:endParaRPr>
              </a:p>
            </p:txBody>
          </p:sp>
          <p:cxnSp>
            <p:nvCxnSpPr>
              <p:cNvPr id="21" name="Straight Connector 83">
                <a:extLst>
                  <a:ext uri="{FF2B5EF4-FFF2-40B4-BE49-F238E27FC236}">
                    <a16:creationId xmlns:a16="http://schemas.microsoft.com/office/drawing/2014/main" id="{9803E94C-9C38-41F7-A680-546E8AB49D39}"/>
                  </a:ext>
                </a:extLst>
              </p:cNvPr>
              <p:cNvCxnSpPr/>
              <p:nvPr/>
            </p:nvCxnSpPr>
            <p:spPr bwMode="auto">
              <a:xfrm flipH="1">
                <a:off x="3580620" y="1997786"/>
                <a:ext cx="1645920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22" name="Group 7">
                <a:extLst>
                  <a:ext uri="{FF2B5EF4-FFF2-40B4-BE49-F238E27FC236}">
                    <a16:creationId xmlns:a16="http://schemas.microsoft.com/office/drawing/2014/main" id="{4D93BEF2-F7EE-4C36-9B73-FD095A9B5270}"/>
                  </a:ext>
                </a:extLst>
              </p:cNvPr>
              <p:cNvGrpSpPr/>
              <p:nvPr/>
            </p:nvGrpSpPr>
            <p:grpSpPr>
              <a:xfrm>
                <a:off x="3633536" y="1908584"/>
                <a:ext cx="1929063" cy="609600"/>
                <a:chOff x="4102167" y="2152409"/>
                <a:chExt cx="1929063" cy="609600"/>
              </a:xfrm>
            </p:grpSpPr>
            <p:sp>
              <p:nvSpPr>
                <p:cNvPr id="23" name="Rectangle 3">
                  <a:extLst>
                    <a:ext uri="{FF2B5EF4-FFF2-40B4-BE49-F238E27FC236}">
                      <a16:creationId xmlns:a16="http://schemas.microsoft.com/office/drawing/2014/main" id="{6AAEB2B4-84E1-42C7-AA82-88FFB1E9D6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4961" y="2152409"/>
                  <a:ext cx="1886269" cy="6096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eaLnBrk="0" hangingPunct="0">
                    <a:lnSpc>
                      <a:spcPct val="75000"/>
                    </a:lnSpc>
                    <a:defRPr/>
                  </a:pPr>
                  <a:r>
                    <a:rPr lang="en-US" sz="32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rPr>
                    <a:t> p</a:t>
                  </a:r>
                  <a:r>
                    <a:rPr lang="en-US" sz="32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rPr>
                    <a:t>0</a:t>
                  </a:r>
                  <a:r>
                    <a:rPr lang="en-US" sz="32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rPr>
                    <a:t>(1 – p</a:t>
                  </a:r>
                  <a:r>
                    <a:rPr lang="en-US" sz="3200" b="1" baseline="-25000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rPr>
                    <a:t>0</a:t>
                  </a:r>
                  <a:r>
                    <a:rPr lang="en-US" sz="32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rPr>
                    <a:t>)/n  </a:t>
                  </a:r>
                  <a:endParaRPr lang="th-TH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endParaRPr>
                </a:p>
              </p:txBody>
            </p:sp>
            <p:cxnSp>
              <p:nvCxnSpPr>
                <p:cNvPr id="24" name="Straight Connector 3">
                  <a:extLst>
                    <a:ext uri="{FF2B5EF4-FFF2-40B4-BE49-F238E27FC236}">
                      <a16:creationId xmlns:a16="http://schemas.microsoft.com/office/drawing/2014/main" id="{5E7468BF-453A-4A41-83D7-1132F72DB302}"/>
                    </a:ext>
                  </a:extLst>
                </p:cNvPr>
                <p:cNvCxnSpPr/>
                <p:nvPr/>
              </p:nvCxnSpPr>
              <p:spPr bwMode="auto">
                <a:xfrm flipH="1">
                  <a:off x="4182523" y="2289739"/>
                  <a:ext cx="64008" cy="32004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lumMod val="5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5" name="Straight Connector 82">
                  <a:extLst>
                    <a:ext uri="{FF2B5EF4-FFF2-40B4-BE49-F238E27FC236}">
                      <a16:creationId xmlns:a16="http://schemas.microsoft.com/office/drawing/2014/main" id="{EC47E15B-533E-438D-8E4E-5FF2530021B4}"/>
                    </a:ext>
                  </a:extLst>
                </p:cNvPr>
                <p:cNvCxnSpPr/>
                <p:nvPr/>
              </p:nvCxnSpPr>
              <p:spPr bwMode="auto">
                <a:xfrm flipH="1">
                  <a:off x="4263983" y="2301766"/>
                  <a:ext cx="1371600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lumMod val="5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6" name="Straight Connector 86">
                  <a:extLst>
                    <a:ext uri="{FF2B5EF4-FFF2-40B4-BE49-F238E27FC236}">
                      <a16:creationId xmlns:a16="http://schemas.microsoft.com/office/drawing/2014/main" id="{EBE1AFE9-8125-4741-8246-2E9E64F3F73F}"/>
                    </a:ext>
                  </a:extLst>
                </p:cNvPr>
                <p:cNvCxnSpPr/>
                <p:nvPr/>
              </p:nvCxnSpPr>
              <p:spPr bwMode="auto">
                <a:xfrm>
                  <a:off x="4102167" y="2530092"/>
                  <a:ext cx="76200" cy="64008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accent1">
                      <a:lumMod val="5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02" name="Rectangle 3">
                <a:extLst>
                  <a:ext uri="{FF2B5EF4-FFF2-40B4-BE49-F238E27FC236}">
                    <a16:creationId xmlns:a16="http://schemas.microsoft.com/office/drawing/2014/main" id="{16772DBA-B3B2-41B7-8621-86424337CC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9764" y="1536032"/>
                <a:ext cx="479940" cy="4470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5000"/>
                  </a:lnSpc>
                  <a:defRPr/>
                </a:pPr>
                <a:r>
                  <a:rPr lang="en-US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rPr>
                  <a:t>^</a:t>
                </a:r>
                <a:endParaRPr lang="th-TH" sz="3200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</a:endParaRPr>
              </a:p>
            </p:txBody>
          </p:sp>
        </p:grpSp>
      </p:grpSp>
      <p:sp>
        <p:nvSpPr>
          <p:cNvPr id="103" name="Rectangle 2">
            <a:extLst>
              <a:ext uri="{FF2B5EF4-FFF2-40B4-BE49-F238E27FC236}">
                <a16:creationId xmlns:a16="http://schemas.microsoft.com/office/drawing/2014/main" id="{B3E7F244-3377-45F3-AA14-8394B1530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043984"/>
            <a:ext cx="88963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ngsana New" pitchFamily="18" charset="-34"/>
              </a:defRPr>
            </a:lvl9pPr>
          </a:lstStyle>
          <a:p>
            <a:pPr algn="l" eaLnBrk="1" hangingPunct="1">
              <a:lnSpc>
                <a:spcPct val="70000"/>
              </a:lnSpc>
              <a:defRPr/>
            </a:pPr>
            <a:r>
              <a:rPr lang="en-US" sz="3200" b="1" kern="0" dirty="0">
                <a:solidFill>
                  <a:srgbClr val="66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 </a:t>
            </a:r>
            <a:r>
              <a:rPr lang="th-TH" sz="3200" b="1" kern="0" dirty="0">
                <a:solidFill>
                  <a:srgbClr val="66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การทดสอบสัดส่วนของประชากร</a:t>
            </a:r>
            <a:r>
              <a:rPr lang="en-US" sz="3200" b="1" kern="0" dirty="0">
                <a:solidFill>
                  <a:srgbClr val="66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2</a:t>
            </a:r>
            <a:r>
              <a:rPr lang="th-TH" sz="3200" b="1" kern="0" dirty="0">
                <a:solidFill>
                  <a:srgbClr val="66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ประชากร</a:t>
            </a:r>
            <a:r>
              <a:rPr lang="en-US" sz="3200" b="1" kern="0" dirty="0">
                <a:solidFill>
                  <a:srgbClr val="6600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endParaRPr lang="th-TH" sz="3200" b="1" kern="0" dirty="0">
              <a:solidFill>
                <a:srgbClr val="6600FF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17EF173A-BA0E-4B85-B48E-7B36E6447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62892"/>
            <a:ext cx="2438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lnSpc>
                <a:spcPct val="75000"/>
              </a:lnSpc>
              <a:defRPr/>
            </a:pPr>
            <a:r>
              <a:rPr lang="th-TH" sz="3200" b="1" dirty="0">
                <a:solidFill>
                  <a:srgbClr val="CC3399"/>
                </a:solidFill>
                <a:latin typeface="Angsana New" panose="02020603050405020304" pitchFamily="18" charset="-34"/>
              </a:rPr>
              <a:t>เขตวิกฤต :</a:t>
            </a:r>
          </a:p>
        </p:txBody>
      </p:sp>
      <p:sp>
        <p:nvSpPr>
          <p:cNvPr id="107" name="Text Box 25">
            <a:extLst>
              <a:ext uri="{FF2B5EF4-FFF2-40B4-BE49-F238E27FC236}">
                <a16:creationId xmlns:a16="http://schemas.microsoft.com/office/drawing/2014/main" id="{706C17B0-AC0D-42A9-B70E-59AE8C6F9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198" y="5378881"/>
            <a:ext cx="16795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p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&lt; p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2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108" name="Group 20">
            <a:extLst>
              <a:ext uri="{FF2B5EF4-FFF2-40B4-BE49-F238E27FC236}">
                <a16:creationId xmlns:a16="http://schemas.microsoft.com/office/drawing/2014/main" id="{4A241B5C-F4D7-4E46-B281-E16DD34681D0}"/>
              </a:ext>
            </a:extLst>
          </p:cNvPr>
          <p:cNvGrpSpPr/>
          <p:nvPr/>
        </p:nvGrpSpPr>
        <p:grpSpPr>
          <a:xfrm>
            <a:off x="1118936" y="5866648"/>
            <a:ext cx="2506290" cy="903120"/>
            <a:chOff x="1162749" y="2481212"/>
            <a:chExt cx="2506290" cy="903120"/>
          </a:xfrm>
        </p:grpSpPr>
        <p:grpSp>
          <p:nvGrpSpPr>
            <p:cNvPr id="109" name="Group 9">
              <a:extLst>
                <a:ext uri="{FF2B5EF4-FFF2-40B4-BE49-F238E27FC236}">
                  <a16:creationId xmlns:a16="http://schemas.microsoft.com/office/drawing/2014/main" id="{7BB4E5CC-F14F-4008-BB7C-6C8EE863D2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8264" y="2492157"/>
              <a:ext cx="2390775" cy="892175"/>
              <a:chOff x="288" y="3518"/>
              <a:chExt cx="1506" cy="562"/>
            </a:xfrm>
          </p:grpSpPr>
          <p:grpSp>
            <p:nvGrpSpPr>
              <p:cNvPr id="111" name="Group 10">
                <a:extLst>
                  <a:ext uri="{FF2B5EF4-FFF2-40B4-BE49-F238E27FC236}">
                    <a16:creationId xmlns:a16="http://schemas.microsoft.com/office/drawing/2014/main" id="{223C644E-6D8D-4519-B166-F00041754D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3518"/>
                <a:ext cx="1506" cy="562"/>
                <a:chOff x="288" y="3614"/>
                <a:chExt cx="1506" cy="562"/>
              </a:xfrm>
            </p:grpSpPr>
            <p:grpSp>
              <p:nvGrpSpPr>
                <p:cNvPr id="113" name="Group 11">
                  <a:extLst>
                    <a:ext uri="{FF2B5EF4-FFF2-40B4-BE49-F238E27FC236}">
                      <a16:creationId xmlns:a16="http://schemas.microsoft.com/office/drawing/2014/main" id="{0E513CBE-3798-4832-8606-A0EC1C11A2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8" y="3614"/>
                  <a:ext cx="1506" cy="562"/>
                  <a:chOff x="288" y="3614"/>
                  <a:chExt cx="1506" cy="562"/>
                </a:xfrm>
              </p:grpSpPr>
              <p:grpSp>
                <p:nvGrpSpPr>
                  <p:cNvPr id="115" name="Group 12">
                    <a:extLst>
                      <a:ext uri="{FF2B5EF4-FFF2-40B4-BE49-F238E27FC236}">
                        <a16:creationId xmlns:a16="http://schemas.microsoft.com/office/drawing/2014/main" id="{385C6C4F-F740-4BE2-BE59-098692FA37A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8" y="3614"/>
                    <a:ext cx="1506" cy="562"/>
                    <a:chOff x="288" y="3614"/>
                    <a:chExt cx="1506" cy="562"/>
                  </a:xfrm>
                </p:grpSpPr>
                <p:grpSp>
                  <p:nvGrpSpPr>
                    <p:cNvPr id="117" name="Group 13">
                      <a:extLst>
                        <a:ext uri="{FF2B5EF4-FFF2-40B4-BE49-F238E27FC236}">
                          <a16:creationId xmlns:a16="http://schemas.microsoft.com/office/drawing/2014/main" id="{A5EBDED0-FF45-4DCE-8078-9ADAE3312FD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8" y="3614"/>
                      <a:ext cx="1506" cy="562"/>
                      <a:chOff x="288" y="3619"/>
                      <a:chExt cx="1506" cy="562"/>
                    </a:xfrm>
                  </p:grpSpPr>
                  <p:sp>
                    <p:nvSpPr>
                      <p:cNvPr id="121" name="Line 14">
                        <a:extLst>
                          <a:ext uri="{FF2B5EF4-FFF2-40B4-BE49-F238E27FC236}">
                            <a16:creationId xmlns:a16="http://schemas.microsoft.com/office/drawing/2014/main" id="{1998C622-27F9-43BB-A2AE-0DC898A42C9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" y="4176"/>
                        <a:ext cx="1488" cy="0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22" name="Freeform 15">
                        <a:extLst>
                          <a:ext uri="{FF2B5EF4-FFF2-40B4-BE49-F238E27FC236}">
                            <a16:creationId xmlns:a16="http://schemas.microsoft.com/office/drawing/2014/main" id="{332F1B22-E025-41F3-B1BE-7E0664BE640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5" y="3619"/>
                        <a:ext cx="1499" cy="525"/>
                      </a:xfrm>
                      <a:custGeom>
                        <a:avLst/>
                        <a:gdLst>
                          <a:gd name="T0" fmla="*/ 0 w 1499"/>
                          <a:gd name="T1" fmla="*/ 525 h 525"/>
                          <a:gd name="T2" fmla="*/ 269 w 1499"/>
                          <a:gd name="T3" fmla="*/ 483 h 525"/>
                          <a:gd name="T4" fmla="*/ 513 w 1499"/>
                          <a:gd name="T5" fmla="*/ 314 h 525"/>
                          <a:gd name="T6" fmla="*/ 665 w 1499"/>
                          <a:gd name="T7" fmla="*/ 70 h 525"/>
                          <a:gd name="T8" fmla="*/ 808 w 1499"/>
                          <a:gd name="T9" fmla="*/ 3 h 525"/>
                          <a:gd name="T10" fmla="*/ 943 w 1499"/>
                          <a:gd name="T11" fmla="*/ 87 h 525"/>
                          <a:gd name="T12" fmla="*/ 1069 w 1499"/>
                          <a:gd name="T13" fmla="*/ 348 h 525"/>
                          <a:gd name="T14" fmla="*/ 1196 w 1499"/>
                          <a:gd name="T15" fmla="*/ 457 h 525"/>
                          <a:gd name="T16" fmla="*/ 1339 w 1499"/>
                          <a:gd name="T17" fmla="*/ 491 h 525"/>
                          <a:gd name="T18" fmla="*/ 1499 w 1499"/>
                          <a:gd name="T19" fmla="*/ 516 h 525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  <a:gd name="T27" fmla="*/ 0 60000 65536"/>
                          <a:gd name="T28" fmla="*/ 0 60000 65536"/>
                          <a:gd name="T29" fmla="*/ 0 60000 65536"/>
                          <a:gd name="T30" fmla="*/ 0 w 1499"/>
                          <a:gd name="T31" fmla="*/ 0 h 525"/>
                          <a:gd name="T32" fmla="*/ 1499 w 1499"/>
                          <a:gd name="T33" fmla="*/ 525 h 525"/>
                        </a:gdLst>
                        <a:ahLst/>
                        <a:cxnLst>
                          <a:cxn ang="T20">
                            <a:pos x="T0" y="T1"/>
                          </a:cxn>
                          <a:cxn ang="T21">
                            <a:pos x="T2" y="T3"/>
                          </a:cxn>
                          <a:cxn ang="T22">
                            <a:pos x="T4" y="T5"/>
                          </a:cxn>
                          <a:cxn ang="T23">
                            <a:pos x="T6" y="T7"/>
                          </a:cxn>
                          <a:cxn ang="T24">
                            <a:pos x="T8" y="T9"/>
                          </a:cxn>
                          <a:cxn ang="T25">
                            <a:pos x="T10" y="T11"/>
                          </a:cxn>
                          <a:cxn ang="T26">
                            <a:pos x="T12" y="T13"/>
                          </a:cxn>
                          <a:cxn ang="T27">
                            <a:pos x="T14" y="T15"/>
                          </a:cxn>
                          <a:cxn ang="T28">
                            <a:pos x="T16" y="T17"/>
                          </a:cxn>
                          <a:cxn ang="T29">
                            <a:pos x="T18" y="T19"/>
                          </a:cxn>
                        </a:cxnLst>
                        <a:rect l="T30" t="T31" r="T32" b="T33"/>
                        <a:pathLst>
                          <a:path w="1499" h="525">
                            <a:moveTo>
                              <a:pt x="0" y="525"/>
                            </a:moveTo>
                            <a:cubicBezTo>
                              <a:pt x="43" y="518"/>
                              <a:pt x="184" y="518"/>
                              <a:pt x="269" y="483"/>
                            </a:cubicBezTo>
                            <a:cubicBezTo>
                              <a:pt x="354" y="448"/>
                              <a:pt x="447" y="383"/>
                              <a:pt x="513" y="314"/>
                            </a:cubicBezTo>
                            <a:cubicBezTo>
                              <a:pt x="579" y="245"/>
                              <a:pt x="616" y="122"/>
                              <a:pt x="665" y="70"/>
                            </a:cubicBezTo>
                            <a:cubicBezTo>
                              <a:pt x="714" y="18"/>
                              <a:pt x="762" y="0"/>
                              <a:pt x="808" y="3"/>
                            </a:cubicBezTo>
                            <a:cubicBezTo>
                              <a:pt x="854" y="6"/>
                              <a:pt x="899" y="29"/>
                              <a:pt x="943" y="87"/>
                            </a:cubicBezTo>
                            <a:cubicBezTo>
                              <a:pt x="987" y="145"/>
                              <a:pt x="1027" y="286"/>
                              <a:pt x="1069" y="348"/>
                            </a:cubicBezTo>
                            <a:cubicBezTo>
                              <a:pt x="1111" y="410"/>
                              <a:pt x="1151" y="433"/>
                              <a:pt x="1196" y="457"/>
                            </a:cubicBezTo>
                            <a:cubicBezTo>
                              <a:pt x="1241" y="481"/>
                              <a:pt x="1289" y="481"/>
                              <a:pt x="1339" y="491"/>
                            </a:cubicBezTo>
                            <a:cubicBezTo>
                              <a:pt x="1389" y="501"/>
                              <a:pt x="1466" y="511"/>
                              <a:pt x="1499" y="516"/>
                            </a:cubicBezTo>
                          </a:path>
                        </a:pathLst>
                      </a:cu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th-TH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23" name="Line 16">
                        <a:extLst>
                          <a:ext uri="{FF2B5EF4-FFF2-40B4-BE49-F238E27FC236}">
                            <a16:creationId xmlns:a16="http://schemas.microsoft.com/office/drawing/2014/main" id="{FCFDDDF5-FFEE-47DB-A6AD-68763E6A88F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72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24" name="Line 17">
                        <a:extLst>
                          <a:ext uri="{FF2B5EF4-FFF2-40B4-BE49-F238E27FC236}">
                            <a16:creationId xmlns:a16="http://schemas.microsoft.com/office/drawing/2014/main" id="{4D2CA7AB-14C2-4EDF-AFEB-A743DA76079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624" y="4085"/>
                        <a:ext cx="96" cy="96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25" name="Line 18">
                        <a:extLst>
                          <a:ext uri="{FF2B5EF4-FFF2-40B4-BE49-F238E27FC236}">
                            <a16:creationId xmlns:a16="http://schemas.microsoft.com/office/drawing/2014/main" id="{24539EC1-9A13-4C61-84D1-377BBBE3D90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576" y="4037"/>
                        <a:ext cx="144" cy="144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26" name="Line 19">
                        <a:extLst>
                          <a:ext uri="{FF2B5EF4-FFF2-40B4-BE49-F238E27FC236}">
                            <a16:creationId xmlns:a16="http://schemas.microsoft.com/office/drawing/2014/main" id="{C32404A8-E629-4A89-B8AD-E3839C2FF8B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80" y="4128"/>
                        <a:ext cx="56" cy="53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27" name="Line 20">
                        <a:extLst>
                          <a:ext uri="{FF2B5EF4-FFF2-40B4-BE49-F238E27FC236}">
                            <a16:creationId xmlns:a16="http://schemas.microsoft.com/office/drawing/2014/main" id="{EA1464A9-EAB4-4D5B-87E0-D3EE119393D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432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28" name="Line 21">
                        <a:extLst>
                          <a:ext uri="{FF2B5EF4-FFF2-40B4-BE49-F238E27FC236}">
                            <a16:creationId xmlns:a16="http://schemas.microsoft.com/office/drawing/2014/main" id="{88B149E3-95C8-4D1B-B542-C8A8A749BE4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36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29" name="Line 22">
                        <a:extLst>
                          <a:ext uri="{FF2B5EF4-FFF2-40B4-BE49-F238E27FC236}">
                            <a16:creationId xmlns:a16="http://schemas.microsoft.com/office/drawing/2014/main" id="{44449E9E-E0C7-4525-8228-5F66DBCC9E0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84" y="4133"/>
                        <a:ext cx="48" cy="48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grpSp>
                  <p:nvGrpSpPr>
                    <p:cNvPr id="118" name="Group 23">
                      <a:extLst>
                        <a:ext uri="{FF2B5EF4-FFF2-40B4-BE49-F238E27FC236}">
                          <a16:creationId xmlns:a16="http://schemas.microsoft.com/office/drawing/2014/main" id="{CAF6E999-E5A2-477B-9FEA-C14FC6ED6EE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28" y="4032"/>
                      <a:ext cx="192" cy="144"/>
                      <a:chOff x="528" y="4032"/>
                      <a:chExt cx="192" cy="144"/>
                    </a:xfrm>
                  </p:grpSpPr>
                  <p:sp>
                    <p:nvSpPr>
                      <p:cNvPr id="119" name="Line 24">
                        <a:extLst>
                          <a:ext uri="{FF2B5EF4-FFF2-40B4-BE49-F238E27FC236}">
                            <a16:creationId xmlns:a16="http://schemas.microsoft.com/office/drawing/2014/main" id="{69EF5417-3F1E-4655-A58F-DE5432E7EC1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20" y="4032"/>
                        <a:ext cx="0" cy="144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  <p:sp>
                    <p:nvSpPr>
                      <p:cNvPr id="120" name="Line 25">
                        <a:extLst>
                          <a:ext uri="{FF2B5EF4-FFF2-40B4-BE49-F238E27FC236}">
                            <a16:creationId xmlns:a16="http://schemas.microsoft.com/office/drawing/2014/main" id="{750F0A2D-69AE-4B55-B54D-F19E05DFAFB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28" y="4076"/>
                        <a:ext cx="95" cy="100"/>
                      </a:xfrm>
                      <a:prstGeom prst="line">
                        <a:avLst/>
                      </a:prstGeom>
                      <a:noFill/>
                      <a:ln w="5715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</p:grpSp>
              <p:sp>
                <p:nvSpPr>
                  <p:cNvPr id="116" name="Line 26">
                    <a:extLst>
                      <a:ext uri="{FF2B5EF4-FFF2-40B4-BE49-F238E27FC236}">
                        <a16:creationId xmlns:a16="http://schemas.microsoft.com/office/drawing/2014/main" id="{CD9E4F17-C1ED-4C04-9F2E-9642AD8ADE3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28" y="4032"/>
                    <a:ext cx="192" cy="9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114" name="Line 27">
                  <a:extLst>
                    <a:ext uri="{FF2B5EF4-FFF2-40B4-BE49-F238E27FC236}">
                      <a16:creationId xmlns:a16="http://schemas.microsoft.com/office/drawing/2014/main" id="{CEDD81CE-00AB-4DA1-B824-CA6063C57E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4" y="3840"/>
                  <a:ext cx="139" cy="240"/>
                </a:xfrm>
                <a:prstGeom prst="line">
                  <a:avLst/>
                </a:prstGeom>
                <a:noFill/>
                <a:ln w="28575">
                  <a:solidFill>
                    <a:srgbClr val="CC3399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</p:grpSp>
          <p:sp>
            <p:nvSpPr>
              <p:cNvPr id="112" name="Line 29">
                <a:extLst>
                  <a:ext uri="{FF2B5EF4-FFF2-40B4-BE49-F238E27FC236}">
                    <a16:creationId xmlns:a16="http://schemas.microsoft.com/office/drawing/2014/main" id="{D2B3A92C-828D-4835-BF1B-900327F31C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8" y="4000"/>
                <a:ext cx="192" cy="4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</p:grpSp>
        <p:sp>
          <p:nvSpPr>
            <p:cNvPr id="110" name="Text Box 25">
              <a:extLst>
                <a:ext uri="{FF2B5EF4-FFF2-40B4-BE49-F238E27FC236}">
                  <a16:creationId xmlns:a16="http://schemas.microsoft.com/office/drawing/2014/main" id="{D54545BA-1F87-4C8F-97FB-362B03E91D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2749" y="2481212"/>
              <a:ext cx="530677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sp>
        <p:nvSpPr>
          <p:cNvPr id="130" name="Text Box 25">
            <a:extLst>
              <a:ext uri="{FF2B5EF4-FFF2-40B4-BE49-F238E27FC236}">
                <a16:creationId xmlns:a16="http://schemas.microsoft.com/office/drawing/2014/main" id="{D9F935CF-6FDA-40AF-B1E8-F859F7B11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160" y="5378881"/>
            <a:ext cx="16795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p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</a:t>
            </a:r>
            <a:r>
              <a:rPr kumimoji="1" lang="en-US" sz="2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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p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2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131" name="Group 21">
            <a:extLst>
              <a:ext uri="{FF2B5EF4-FFF2-40B4-BE49-F238E27FC236}">
                <a16:creationId xmlns:a16="http://schemas.microsoft.com/office/drawing/2014/main" id="{73859728-A7F4-4D9E-AFC4-A36CFD21902C}"/>
              </a:ext>
            </a:extLst>
          </p:cNvPr>
          <p:cNvGrpSpPr/>
          <p:nvPr/>
        </p:nvGrpSpPr>
        <p:grpSpPr>
          <a:xfrm>
            <a:off x="3784659" y="5775434"/>
            <a:ext cx="2645976" cy="974834"/>
            <a:chOff x="3784659" y="2377966"/>
            <a:chExt cx="2645976" cy="974834"/>
          </a:xfrm>
        </p:grpSpPr>
        <p:grpSp>
          <p:nvGrpSpPr>
            <p:cNvPr id="132" name="Group 51">
              <a:extLst>
                <a:ext uri="{FF2B5EF4-FFF2-40B4-BE49-F238E27FC236}">
                  <a16:creationId xmlns:a16="http://schemas.microsoft.com/office/drawing/2014/main" id="{650C286C-B620-4029-B950-37A06994A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8625" y="2438400"/>
              <a:ext cx="2393950" cy="914400"/>
              <a:chOff x="2206" y="3504"/>
              <a:chExt cx="1508" cy="576"/>
            </a:xfrm>
          </p:grpSpPr>
          <p:grpSp>
            <p:nvGrpSpPr>
              <p:cNvPr id="135" name="Group 52">
                <a:extLst>
                  <a:ext uri="{FF2B5EF4-FFF2-40B4-BE49-F238E27FC236}">
                    <a16:creationId xmlns:a16="http://schemas.microsoft.com/office/drawing/2014/main" id="{093A50FB-13AE-46B9-BE11-1BC5783B17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3504"/>
                <a:ext cx="1506" cy="576"/>
                <a:chOff x="2256" y="3506"/>
                <a:chExt cx="1506" cy="576"/>
              </a:xfrm>
            </p:grpSpPr>
            <p:grpSp>
              <p:nvGrpSpPr>
                <p:cNvPr id="137" name="Group 53">
                  <a:extLst>
                    <a:ext uri="{FF2B5EF4-FFF2-40B4-BE49-F238E27FC236}">
                      <a16:creationId xmlns:a16="http://schemas.microsoft.com/office/drawing/2014/main" id="{10EE2957-8FE1-44A0-A75F-796A0AAC12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56" y="3506"/>
                  <a:ext cx="1506" cy="576"/>
                  <a:chOff x="2256" y="3506"/>
                  <a:chExt cx="1506" cy="576"/>
                </a:xfrm>
              </p:grpSpPr>
              <p:grpSp>
                <p:nvGrpSpPr>
                  <p:cNvPr id="139" name="Group 54">
                    <a:extLst>
                      <a:ext uri="{FF2B5EF4-FFF2-40B4-BE49-F238E27FC236}">
                        <a16:creationId xmlns:a16="http://schemas.microsoft.com/office/drawing/2014/main" id="{F26392C5-44EC-4A0C-9899-182D26BCAEF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256" y="3506"/>
                    <a:ext cx="1506" cy="576"/>
                    <a:chOff x="2256" y="3506"/>
                    <a:chExt cx="1506" cy="576"/>
                  </a:xfrm>
                </p:grpSpPr>
                <p:grpSp>
                  <p:nvGrpSpPr>
                    <p:cNvPr id="141" name="Group 55">
                      <a:extLst>
                        <a:ext uri="{FF2B5EF4-FFF2-40B4-BE49-F238E27FC236}">
                          <a16:creationId xmlns:a16="http://schemas.microsoft.com/office/drawing/2014/main" id="{F8D9E1C1-D212-4B4F-BEDF-8D3A28D655E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63" y="3506"/>
                      <a:ext cx="1499" cy="576"/>
                      <a:chOff x="2263" y="3506"/>
                      <a:chExt cx="1499" cy="576"/>
                    </a:xfrm>
                  </p:grpSpPr>
                  <p:grpSp>
                    <p:nvGrpSpPr>
                      <p:cNvPr id="144" name="Group 56">
                        <a:extLst>
                          <a:ext uri="{FF2B5EF4-FFF2-40B4-BE49-F238E27FC236}">
                            <a16:creationId xmlns:a16="http://schemas.microsoft.com/office/drawing/2014/main" id="{0A3869DA-6FEE-482A-A70D-437838050054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63" y="3506"/>
                        <a:ext cx="1499" cy="576"/>
                        <a:chOff x="2263" y="3506"/>
                        <a:chExt cx="1499" cy="576"/>
                      </a:xfrm>
                    </p:grpSpPr>
                    <p:grpSp>
                      <p:nvGrpSpPr>
                        <p:cNvPr id="146" name="Group 57">
                          <a:extLst>
                            <a:ext uri="{FF2B5EF4-FFF2-40B4-BE49-F238E27FC236}">
                              <a16:creationId xmlns:a16="http://schemas.microsoft.com/office/drawing/2014/main" id="{A6A0E925-94C7-4259-91AC-EFCAEF0DD07A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263" y="3506"/>
                          <a:ext cx="1499" cy="576"/>
                          <a:chOff x="2263" y="3504"/>
                          <a:chExt cx="1499" cy="576"/>
                        </a:xfrm>
                      </p:grpSpPr>
                      <p:grpSp>
                        <p:nvGrpSpPr>
                          <p:cNvPr id="148" name="Group 58">
                            <a:extLst>
                              <a:ext uri="{FF2B5EF4-FFF2-40B4-BE49-F238E27FC236}">
                                <a16:creationId xmlns:a16="http://schemas.microsoft.com/office/drawing/2014/main" id="{12D5D87A-96CA-4D13-9AE1-A64BBFD73729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263" y="3504"/>
                            <a:ext cx="1499" cy="576"/>
                            <a:chOff x="2263" y="3504"/>
                            <a:chExt cx="1499" cy="576"/>
                          </a:xfrm>
                        </p:grpSpPr>
                        <p:sp>
                          <p:nvSpPr>
                            <p:cNvPr id="152" name="Line 59">
                              <a:extLst>
                                <a:ext uri="{FF2B5EF4-FFF2-40B4-BE49-F238E27FC236}">
                                  <a16:creationId xmlns:a16="http://schemas.microsoft.com/office/drawing/2014/main" id="{A2B64C4F-D0FB-4D33-B97C-F5802F4AB1A6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2263" y="4080"/>
                              <a:ext cx="1488" cy="0"/>
                            </a:xfrm>
                            <a:prstGeom prst="line">
                              <a:avLst/>
                            </a:pr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153" name="Freeform 60">
                              <a:extLst>
                                <a:ext uri="{FF2B5EF4-FFF2-40B4-BE49-F238E27FC236}">
                                  <a16:creationId xmlns:a16="http://schemas.microsoft.com/office/drawing/2014/main" id="{38EE2877-FCA8-4929-82BD-31AE6CDB7CED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263" y="3504"/>
                              <a:ext cx="1499" cy="525"/>
                            </a:xfrm>
                            <a:custGeom>
                              <a:avLst/>
                              <a:gdLst>
                                <a:gd name="T0" fmla="*/ 0 w 1499"/>
                                <a:gd name="T1" fmla="*/ 525 h 525"/>
                                <a:gd name="T2" fmla="*/ 269 w 1499"/>
                                <a:gd name="T3" fmla="*/ 483 h 525"/>
                                <a:gd name="T4" fmla="*/ 513 w 1499"/>
                                <a:gd name="T5" fmla="*/ 314 h 525"/>
                                <a:gd name="T6" fmla="*/ 665 w 1499"/>
                                <a:gd name="T7" fmla="*/ 70 h 525"/>
                                <a:gd name="T8" fmla="*/ 808 w 1499"/>
                                <a:gd name="T9" fmla="*/ 3 h 525"/>
                                <a:gd name="T10" fmla="*/ 943 w 1499"/>
                                <a:gd name="T11" fmla="*/ 87 h 525"/>
                                <a:gd name="T12" fmla="*/ 1069 w 1499"/>
                                <a:gd name="T13" fmla="*/ 348 h 525"/>
                                <a:gd name="T14" fmla="*/ 1196 w 1499"/>
                                <a:gd name="T15" fmla="*/ 457 h 525"/>
                                <a:gd name="T16" fmla="*/ 1339 w 1499"/>
                                <a:gd name="T17" fmla="*/ 491 h 525"/>
                                <a:gd name="T18" fmla="*/ 1499 w 1499"/>
                                <a:gd name="T19" fmla="*/ 516 h 525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  <a:gd name="T24" fmla="*/ 0 60000 65536"/>
                                <a:gd name="T25" fmla="*/ 0 60000 65536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w 1499"/>
                                <a:gd name="T31" fmla="*/ 0 h 525"/>
                                <a:gd name="T32" fmla="*/ 1499 w 1499"/>
                                <a:gd name="T33" fmla="*/ 525 h 525"/>
                              </a:gdLst>
                              <a:ahLst/>
                              <a:cxnLst>
                                <a:cxn ang="T20">
                                  <a:pos x="T0" y="T1"/>
                                </a:cxn>
                                <a:cxn ang="T21">
                                  <a:pos x="T2" y="T3"/>
                                </a:cxn>
                                <a:cxn ang="T22">
                                  <a:pos x="T4" y="T5"/>
                                </a:cxn>
                                <a:cxn ang="T23">
                                  <a:pos x="T6" y="T7"/>
                                </a:cxn>
                                <a:cxn ang="T24">
                                  <a:pos x="T8" y="T9"/>
                                </a:cxn>
                                <a:cxn ang="T25">
                                  <a:pos x="T10" y="T11"/>
                                </a:cxn>
                                <a:cxn ang="T26">
                                  <a:pos x="T12" y="T13"/>
                                </a:cxn>
                                <a:cxn ang="T27">
                                  <a:pos x="T14" y="T15"/>
                                </a:cxn>
                                <a:cxn ang="T28">
                                  <a:pos x="T16" y="T17"/>
                                </a:cxn>
                                <a:cxn ang="T29">
                                  <a:pos x="T18" y="T19"/>
                                </a:cxn>
                              </a:cxnLst>
                              <a:rect l="T30" t="T31" r="T32" b="T33"/>
                              <a:pathLst>
                                <a:path w="1499" h="525">
                                  <a:moveTo>
                                    <a:pt x="0" y="525"/>
                                  </a:moveTo>
                                  <a:cubicBezTo>
                                    <a:pt x="43" y="518"/>
                                    <a:pt x="184" y="518"/>
                                    <a:pt x="269" y="483"/>
                                  </a:cubicBezTo>
                                  <a:cubicBezTo>
                                    <a:pt x="354" y="448"/>
                                    <a:pt x="447" y="383"/>
                                    <a:pt x="513" y="314"/>
                                  </a:cubicBezTo>
                                  <a:cubicBezTo>
                                    <a:pt x="579" y="245"/>
                                    <a:pt x="616" y="122"/>
                                    <a:pt x="665" y="70"/>
                                  </a:cubicBezTo>
                                  <a:cubicBezTo>
                                    <a:pt x="714" y="18"/>
                                    <a:pt x="762" y="0"/>
                                    <a:pt x="808" y="3"/>
                                  </a:cubicBezTo>
                                  <a:cubicBezTo>
                                    <a:pt x="854" y="6"/>
                                    <a:pt x="899" y="29"/>
                                    <a:pt x="943" y="87"/>
                                  </a:cubicBezTo>
                                  <a:cubicBezTo>
                                    <a:pt x="987" y="145"/>
                                    <a:pt x="1027" y="286"/>
                                    <a:pt x="1069" y="348"/>
                                  </a:cubicBezTo>
                                  <a:cubicBezTo>
                                    <a:pt x="1111" y="410"/>
                                    <a:pt x="1151" y="433"/>
                                    <a:pt x="1196" y="457"/>
                                  </a:cubicBezTo>
                                  <a:cubicBezTo>
                                    <a:pt x="1241" y="481"/>
                                    <a:pt x="1289" y="481"/>
                                    <a:pt x="1339" y="491"/>
                                  </a:cubicBezTo>
                                  <a:cubicBezTo>
                                    <a:pt x="1389" y="501"/>
                                    <a:pt x="1466" y="511"/>
                                    <a:pt x="1499" y="516"/>
                                  </a:cubicBezTo>
                                </a:path>
                              </a:pathLst>
                            </a:cu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th-TH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154" name="Line 62">
                              <a:extLst>
                                <a:ext uri="{FF2B5EF4-FFF2-40B4-BE49-F238E27FC236}">
                                  <a16:creationId xmlns:a16="http://schemas.microsoft.com/office/drawing/2014/main" id="{DA815754-AA5D-41F0-8623-AF732303A528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360" y="4032"/>
                              <a:ext cx="240" cy="0"/>
                            </a:xfrm>
                            <a:prstGeom prst="line">
                              <a:avLst/>
                            </a:prstGeom>
                            <a:noFill/>
                            <a:ln w="7620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155" name="Line 63">
                              <a:extLst>
                                <a:ext uri="{FF2B5EF4-FFF2-40B4-BE49-F238E27FC236}">
                                  <a16:creationId xmlns:a16="http://schemas.microsoft.com/office/drawing/2014/main" id="{F3323D77-2DA9-4374-895D-00AE03019A7E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360" y="3936"/>
                              <a:ext cx="336" cy="96"/>
                            </a:xfrm>
                            <a:prstGeom prst="line">
                              <a:avLst/>
                            </a:prstGeom>
                            <a:noFill/>
                            <a:ln w="57150">
                              <a:solidFill>
                                <a:schemeClr val="tx1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  <p:sp>
                          <p:nvSpPr>
                            <p:cNvPr id="156" name="Line 64">
                              <a:extLst>
                                <a:ext uri="{FF2B5EF4-FFF2-40B4-BE49-F238E27FC236}">
                                  <a16:creationId xmlns:a16="http://schemas.microsoft.com/office/drawing/2014/main" id="{273263D6-2F89-45AC-B298-B3249E3F32BD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3523" y="3744"/>
                              <a:ext cx="102" cy="241"/>
                            </a:xfrm>
                            <a:prstGeom prst="line">
                              <a:avLst/>
                            </a:prstGeom>
                            <a:noFill/>
                            <a:ln w="28575">
                              <a:solidFill>
                                <a:srgbClr val="CC3399"/>
                              </a:solidFill>
                              <a:round/>
                              <a:headEnd/>
                              <a:tailEnd type="triangle" w="med" len="med"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wrap="none" anchor="ctr"/>
                            <a:lstStyle/>
                            <a:p>
                              <a:endParaRPr lang="en-US" sz="3200">
                                <a:latin typeface="Angsana New" panose="02020603050405020304" pitchFamily="18" charset="-34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49" name="Line 66">
                            <a:extLst>
                              <a:ext uri="{FF2B5EF4-FFF2-40B4-BE49-F238E27FC236}">
                                <a16:creationId xmlns:a16="http://schemas.microsoft.com/office/drawing/2014/main" id="{735AB840-F44C-49BA-BA5D-F8A98EACB233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504" y="3984"/>
                            <a:ext cx="192" cy="48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150" name="Line 67">
                            <a:extLst>
                              <a:ext uri="{FF2B5EF4-FFF2-40B4-BE49-F238E27FC236}">
                                <a16:creationId xmlns:a16="http://schemas.microsoft.com/office/drawing/2014/main" id="{6FF55238-7A7D-495D-99A3-B9BC06348802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360" y="4049"/>
                            <a:ext cx="358" cy="19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151" name="Line 68">
                            <a:extLst>
                              <a:ext uri="{FF2B5EF4-FFF2-40B4-BE49-F238E27FC236}">
                                <a16:creationId xmlns:a16="http://schemas.microsoft.com/office/drawing/2014/main" id="{DDCFBE45-B932-4D3B-A460-8F32C5ABCB5B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360" y="3984"/>
                            <a:ext cx="144" cy="0"/>
                          </a:xfrm>
                          <a:prstGeom prst="line">
                            <a:avLst/>
                          </a:prstGeom>
                          <a:noFill/>
                          <a:ln w="762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</p:grpSp>
                    <p:sp>
                      <p:nvSpPr>
                        <p:cNvPr id="147" name="Line 69">
                          <a:extLst>
                            <a:ext uri="{FF2B5EF4-FFF2-40B4-BE49-F238E27FC236}">
                              <a16:creationId xmlns:a16="http://schemas.microsoft.com/office/drawing/2014/main" id="{1051B9D5-814C-4E33-BA84-97F45F38181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360" y="3888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</p:grpSp>
                  <p:sp>
                    <p:nvSpPr>
                      <p:cNvPr id="145" name="Line 70">
                        <a:extLst>
                          <a:ext uri="{FF2B5EF4-FFF2-40B4-BE49-F238E27FC236}">
                            <a16:creationId xmlns:a16="http://schemas.microsoft.com/office/drawing/2014/main" id="{9B675E9D-7857-4295-A1C8-73CEB797E16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83" y="3746"/>
                        <a:ext cx="142" cy="241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rgbClr val="CC3399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sp>
                  <p:nvSpPr>
                    <p:cNvPr id="142" name="Line 71">
                      <a:extLst>
                        <a:ext uri="{FF2B5EF4-FFF2-40B4-BE49-F238E27FC236}">
                          <a16:creationId xmlns:a16="http://schemas.microsoft.com/office/drawing/2014/main" id="{B1B9FD1B-79AE-4B81-B2B0-E6284756B10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4080"/>
                      <a:ext cx="384" cy="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  <p:sp>
                  <p:nvSpPr>
                    <p:cNvPr id="143" name="Line 72">
                      <a:extLst>
                        <a:ext uri="{FF2B5EF4-FFF2-40B4-BE49-F238E27FC236}">
                          <a16:creationId xmlns:a16="http://schemas.microsoft.com/office/drawing/2014/main" id="{48ADE2C1-FBAD-4235-B7F5-C0B372D9D9C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636" y="3959"/>
                      <a:ext cx="4" cy="121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</p:grpSp>
              <p:sp>
                <p:nvSpPr>
                  <p:cNvPr id="140" name="Line 73">
                    <a:extLst>
                      <a:ext uri="{FF2B5EF4-FFF2-40B4-BE49-F238E27FC236}">
                        <a16:creationId xmlns:a16="http://schemas.microsoft.com/office/drawing/2014/main" id="{D074575C-7C6E-4E61-BAB8-EDAD45CFB18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411" y="4032"/>
                    <a:ext cx="229" cy="8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  <p:sp>
              <p:nvSpPr>
                <p:cNvPr id="138" name="Line 74">
                  <a:extLst>
                    <a:ext uri="{FF2B5EF4-FFF2-40B4-BE49-F238E27FC236}">
                      <a16:creationId xmlns:a16="http://schemas.microsoft.com/office/drawing/2014/main" id="{CF29E1DA-36E1-453F-9330-CFD2FB185E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544" y="3969"/>
                  <a:ext cx="96" cy="4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</p:grpSp>
          <p:sp>
            <p:nvSpPr>
              <p:cNvPr id="136" name="Line 75">
                <a:extLst>
                  <a:ext uri="{FF2B5EF4-FFF2-40B4-BE49-F238E27FC236}">
                    <a16:creationId xmlns:a16="http://schemas.microsoft.com/office/drawing/2014/main" id="{4B7A2676-CC96-4301-91E1-892BDA9733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6" y="4047"/>
                <a:ext cx="146" cy="1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</p:grpSp>
        <p:sp>
          <p:nvSpPr>
            <p:cNvPr id="133" name="Text Box 25">
              <a:extLst>
                <a:ext uri="{FF2B5EF4-FFF2-40B4-BE49-F238E27FC236}">
                  <a16:creationId xmlns:a16="http://schemas.microsoft.com/office/drawing/2014/main" id="{0EC5AE68-12A9-4A22-AC04-ED468C77B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4659" y="2384395"/>
              <a:ext cx="685801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r>
                <a:rPr kumimoji="1" lang="en-US" sz="32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/2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  <p:sp>
          <p:nvSpPr>
            <p:cNvPr id="134" name="Text Box 25">
              <a:extLst>
                <a:ext uri="{FF2B5EF4-FFF2-40B4-BE49-F238E27FC236}">
                  <a16:creationId xmlns:a16="http://schemas.microsoft.com/office/drawing/2014/main" id="{5212BFA1-5CF2-4A11-B46A-655F07355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44834" y="2377966"/>
              <a:ext cx="685801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r>
                <a:rPr kumimoji="1" lang="en-US" sz="32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/2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sp>
        <p:nvSpPr>
          <p:cNvPr id="157" name="Text Box 25">
            <a:extLst>
              <a:ext uri="{FF2B5EF4-FFF2-40B4-BE49-F238E27FC236}">
                <a16:creationId xmlns:a16="http://schemas.microsoft.com/office/drawing/2014/main" id="{E50CD933-A405-43C6-83C8-59EF4A327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5358825"/>
            <a:ext cx="167958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H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: p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1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  <a:sym typeface="Symbol"/>
              </a:rPr>
              <a:t> </a:t>
            </a:r>
            <a:r>
              <a:rPr kumimoji="1" lang="en-US" sz="3200" b="1" dirty="0">
                <a:solidFill>
                  <a:srgbClr val="0000FF"/>
                </a:solidFill>
                <a:latin typeface="Angsana New" pitchFamily="18" charset="-34"/>
              </a:rPr>
              <a:t>&gt; p</a:t>
            </a:r>
            <a:r>
              <a:rPr kumimoji="1" lang="en-US" sz="3200" b="1" baseline="-25000" dirty="0">
                <a:solidFill>
                  <a:srgbClr val="0000FF"/>
                </a:solidFill>
                <a:latin typeface="Angsana New" pitchFamily="18" charset="-34"/>
              </a:rPr>
              <a:t>2</a:t>
            </a:r>
            <a:endParaRPr kumimoji="1" lang="th-TH" sz="3200" b="1" dirty="0">
              <a:solidFill>
                <a:srgbClr val="FF0000"/>
              </a:solidFill>
              <a:latin typeface="Angsana New" pitchFamily="18" charset="-34"/>
            </a:endParaRPr>
          </a:p>
        </p:txBody>
      </p:sp>
      <p:grpSp>
        <p:nvGrpSpPr>
          <p:cNvPr id="158" name="Group 22">
            <a:extLst>
              <a:ext uri="{FF2B5EF4-FFF2-40B4-BE49-F238E27FC236}">
                <a16:creationId xmlns:a16="http://schemas.microsoft.com/office/drawing/2014/main" id="{08E6F780-C61D-49D9-9A49-52FB91EA8C81}"/>
              </a:ext>
            </a:extLst>
          </p:cNvPr>
          <p:cNvGrpSpPr/>
          <p:nvPr/>
        </p:nvGrpSpPr>
        <p:grpSpPr>
          <a:xfrm>
            <a:off x="6564639" y="5775434"/>
            <a:ext cx="2379663" cy="974834"/>
            <a:chOff x="6564639" y="2377966"/>
            <a:chExt cx="2379663" cy="974834"/>
          </a:xfrm>
        </p:grpSpPr>
        <p:grpSp>
          <p:nvGrpSpPr>
            <p:cNvPr id="159" name="Group 32">
              <a:extLst>
                <a:ext uri="{FF2B5EF4-FFF2-40B4-BE49-F238E27FC236}">
                  <a16:creationId xmlns:a16="http://schemas.microsoft.com/office/drawing/2014/main" id="{194D8A77-DBA2-4F8A-9633-3E1118D67F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64639" y="2438400"/>
              <a:ext cx="2379663" cy="914400"/>
              <a:chOff x="4128" y="3552"/>
              <a:chExt cx="1499" cy="576"/>
            </a:xfrm>
          </p:grpSpPr>
          <p:sp>
            <p:nvSpPr>
              <p:cNvPr id="161" name="Line 33">
                <a:extLst>
                  <a:ext uri="{FF2B5EF4-FFF2-40B4-BE49-F238E27FC236}">
                    <a16:creationId xmlns:a16="http://schemas.microsoft.com/office/drawing/2014/main" id="{B8E17A50-44CC-4253-B666-443462C06F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69" y="4032"/>
                <a:ext cx="192" cy="4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3200">
                  <a:latin typeface="Angsana New" panose="02020603050405020304" pitchFamily="18" charset="-34"/>
                </a:endParaRPr>
              </a:p>
            </p:txBody>
          </p:sp>
          <p:grpSp>
            <p:nvGrpSpPr>
              <p:cNvPr id="162" name="Group 34">
                <a:extLst>
                  <a:ext uri="{FF2B5EF4-FFF2-40B4-BE49-F238E27FC236}">
                    <a16:creationId xmlns:a16="http://schemas.microsoft.com/office/drawing/2014/main" id="{F3597411-41E6-4258-8959-152D257617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3552"/>
                <a:ext cx="1499" cy="576"/>
                <a:chOff x="4128" y="3456"/>
                <a:chExt cx="1499" cy="576"/>
              </a:xfrm>
            </p:grpSpPr>
            <p:sp>
              <p:nvSpPr>
                <p:cNvPr id="163" name="Line 35">
                  <a:extLst>
                    <a:ext uri="{FF2B5EF4-FFF2-40B4-BE49-F238E27FC236}">
                      <a16:creationId xmlns:a16="http://schemas.microsoft.com/office/drawing/2014/main" id="{7CAC6B35-D1C6-4A95-88CD-9ECEE325E6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28" y="4032"/>
                  <a:ext cx="1488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3200">
                    <a:latin typeface="Angsana New" panose="02020603050405020304" pitchFamily="18" charset="-34"/>
                  </a:endParaRPr>
                </a:p>
              </p:txBody>
            </p:sp>
            <p:grpSp>
              <p:nvGrpSpPr>
                <p:cNvPr id="164" name="Group 36">
                  <a:extLst>
                    <a:ext uri="{FF2B5EF4-FFF2-40B4-BE49-F238E27FC236}">
                      <a16:creationId xmlns:a16="http://schemas.microsoft.com/office/drawing/2014/main" id="{43028FE8-737E-4132-B005-EC1C9A245EC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28" y="3456"/>
                  <a:ext cx="1499" cy="576"/>
                  <a:chOff x="4128" y="3456"/>
                  <a:chExt cx="1499" cy="576"/>
                </a:xfrm>
              </p:grpSpPr>
              <p:grpSp>
                <p:nvGrpSpPr>
                  <p:cNvPr id="165" name="Group 37">
                    <a:extLst>
                      <a:ext uri="{FF2B5EF4-FFF2-40B4-BE49-F238E27FC236}">
                        <a16:creationId xmlns:a16="http://schemas.microsoft.com/office/drawing/2014/main" id="{385E8A5A-67E4-4AA9-B65C-EA64759E0E5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128" y="3456"/>
                    <a:ext cx="1499" cy="576"/>
                    <a:chOff x="4135" y="3456"/>
                    <a:chExt cx="1499" cy="576"/>
                  </a:xfrm>
                </p:grpSpPr>
                <p:grpSp>
                  <p:nvGrpSpPr>
                    <p:cNvPr id="167" name="Group 38">
                      <a:extLst>
                        <a:ext uri="{FF2B5EF4-FFF2-40B4-BE49-F238E27FC236}">
                          <a16:creationId xmlns:a16="http://schemas.microsoft.com/office/drawing/2014/main" id="{C89565BD-5A2F-4897-AE6E-AD94523EBFD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35" y="3456"/>
                      <a:ext cx="1499" cy="576"/>
                      <a:chOff x="4135" y="3456"/>
                      <a:chExt cx="1499" cy="576"/>
                    </a:xfrm>
                  </p:grpSpPr>
                  <p:grpSp>
                    <p:nvGrpSpPr>
                      <p:cNvPr id="169" name="Group 39">
                        <a:extLst>
                          <a:ext uri="{FF2B5EF4-FFF2-40B4-BE49-F238E27FC236}">
                            <a16:creationId xmlns:a16="http://schemas.microsoft.com/office/drawing/2014/main" id="{08F7908D-CF52-4EE5-A8DD-66F6E8F004F2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135" y="3456"/>
                        <a:ext cx="1499" cy="576"/>
                        <a:chOff x="4135" y="3456"/>
                        <a:chExt cx="1499" cy="576"/>
                      </a:xfrm>
                    </p:grpSpPr>
                    <p:grpSp>
                      <p:nvGrpSpPr>
                        <p:cNvPr id="171" name="Group 40">
                          <a:extLst>
                            <a:ext uri="{FF2B5EF4-FFF2-40B4-BE49-F238E27FC236}">
                              <a16:creationId xmlns:a16="http://schemas.microsoft.com/office/drawing/2014/main" id="{DB13FE4E-2642-426E-9D52-45541B3C12C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135" y="3456"/>
                          <a:ext cx="1499" cy="576"/>
                          <a:chOff x="4135" y="3456"/>
                          <a:chExt cx="1499" cy="576"/>
                        </a:xfrm>
                      </p:grpSpPr>
                      <p:sp>
                        <p:nvSpPr>
                          <p:cNvPr id="174" name="Freeform 41">
                            <a:extLst>
                              <a:ext uri="{FF2B5EF4-FFF2-40B4-BE49-F238E27FC236}">
                                <a16:creationId xmlns:a16="http://schemas.microsoft.com/office/drawing/2014/main" id="{8CFD55CE-3ED5-4791-A6BB-EEE433F3844C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4135" y="3456"/>
                            <a:ext cx="1499" cy="525"/>
                          </a:xfrm>
                          <a:custGeom>
                            <a:avLst/>
                            <a:gdLst>
                              <a:gd name="T0" fmla="*/ 0 w 1499"/>
                              <a:gd name="T1" fmla="*/ 525 h 525"/>
                              <a:gd name="T2" fmla="*/ 269 w 1499"/>
                              <a:gd name="T3" fmla="*/ 483 h 525"/>
                              <a:gd name="T4" fmla="*/ 513 w 1499"/>
                              <a:gd name="T5" fmla="*/ 314 h 525"/>
                              <a:gd name="T6" fmla="*/ 665 w 1499"/>
                              <a:gd name="T7" fmla="*/ 70 h 525"/>
                              <a:gd name="T8" fmla="*/ 808 w 1499"/>
                              <a:gd name="T9" fmla="*/ 3 h 525"/>
                              <a:gd name="T10" fmla="*/ 943 w 1499"/>
                              <a:gd name="T11" fmla="*/ 87 h 525"/>
                              <a:gd name="T12" fmla="*/ 1069 w 1499"/>
                              <a:gd name="T13" fmla="*/ 348 h 525"/>
                              <a:gd name="T14" fmla="*/ 1196 w 1499"/>
                              <a:gd name="T15" fmla="*/ 457 h 525"/>
                              <a:gd name="T16" fmla="*/ 1339 w 1499"/>
                              <a:gd name="T17" fmla="*/ 491 h 525"/>
                              <a:gd name="T18" fmla="*/ 1499 w 1499"/>
                              <a:gd name="T19" fmla="*/ 516 h 525"/>
                              <a:gd name="T20" fmla="*/ 0 60000 65536"/>
                              <a:gd name="T21" fmla="*/ 0 60000 65536"/>
                              <a:gd name="T22" fmla="*/ 0 60000 65536"/>
                              <a:gd name="T23" fmla="*/ 0 60000 65536"/>
                              <a:gd name="T24" fmla="*/ 0 60000 65536"/>
                              <a:gd name="T25" fmla="*/ 0 60000 65536"/>
                              <a:gd name="T26" fmla="*/ 0 60000 65536"/>
                              <a:gd name="T27" fmla="*/ 0 60000 65536"/>
                              <a:gd name="T28" fmla="*/ 0 60000 65536"/>
                              <a:gd name="T29" fmla="*/ 0 60000 65536"/>
                              <a:gd name="T30" fmla="*/ 0 w 1499"/>
                              <a:gd name="T31" fmla="*/ 0 h 525"/>
                              <a:gd name="T32" fmla="*/ 1499 w 1499"/>
                              <a:gd name="T33" fmla="*/ 525 h 525"/>
                            </a:gdLst>
                            <a:ahLst/>
                            <a:cxnLst>
                              <a:cxn ang="T20">
                                <a:pos x="T0" y="T1"/>
                              </a:cxn>
                              <a:cxn ang="T21">
                                <a:pos x="T2" y="T3"/>
                              </a:cxn>
                              <a:cxn ang="T22">
                                <a:pos x="T4" y="T5"/>
                              </a:cxn>
                              <a:cxn ang="T23">
                                <a:pos x="T6" y="T7"/>
                              </a:cxn>
                              <a:cxn ang="T24">
                                <a:pos x="T8" y="T9"/>
                              </a:cxn>
                              <a:cxn ang="T25">
                                <a:pos x="T10" y="T11"/>
                              </a:cxn>
                              <a:cxn ang="T26">
                                <a:pos x="T12" y="T13"/>
                              </a:cxn>
                              <a:cxn ang="T27">
                                <a:pos x="T14" y="T15"/>
                              </a:cxn>
                              <a:cxn ang="T28">
                                <a:pos x="T16" y="T17"/>
                              </a:cxn>
                              <a:cxn ang="T29">
                                <a:pos x="T18" y="T19"/>
                              </a:cxn>
                            </a:cxnLst>
                            <a:rect l="T30" t="T31" r="T32" b="T33"/>
                            <a:pathLst>
                              <a:path w="1499" h="525">
                                <a:moveTo>
                                  <a:pt x="0" y="525"/>
                                </a:moveTo>
                                <a:cubicBezTo>
                                  <a:pt x="43" y="518"/>
                                  <a:pt x="184" y="518"/>
                                  <a:pt x="269" y="483"/>
                                </a:cubicBezTo>
                                <a:cubicBezTo>
                                  <a:pt x="354" y="448"/>
                                  <a:pt x="447" y="383"/>
                                  <a:pt x="513" y="314"/>
                                </a:cubicBezTo>
                                <a:cubicBezTo>
                                  <a:pt x="579" y="245"/>
                                  <a:pt x="616" y="122"/>
                                  <a:pt x="665" y="70"/>
                                </a:cubicBezTo>
                                <a:cubicBezTo>
                                  <a:pt x="714" y="18"/>
                                  <a:pt x="762" y="0"/>
                                  <a:pt x="808" y="3"/>
                                </a:cubicBezTo>
                                <a:cubicBezTo>
                                  <a:pt x="854" y="6"/>
                                  <a:pt x="899" y="29"/>
                                  <a:pt x="943" y="87"/>
                                </a:cubicBezTo>
                                <a:cubicBezTo>
                                  <a:pt x="987" y="145"/>
                                  <a:pt x="1027" y="286"/>
                                  <a:pt x="1069" y="348"/>
                                </a:cubicBezTo>
                                <a:cubicBezTo>
                                  <a:pt x="1111" y="410"/>
                                  <a:pt x="1151" y="433"/>
                                  <a:pt x="1196" y="457"/>
                                </a:cubicBezTo>
                                <a:cubicBezTo>
                                  <a:pt x="1241" y="481"/>
                                  <a:pt x="1289" y="481"/>
                                  <a:pt x="1339" y="491"/>
                                </a:cubicBezTo>
                                <a:cubicBezTo>
                                  <a:pt x="1389" y="501"/>
                                  <a:pt x="1466" y="511"/>
                                  <a:pt x="1499" y="516"/>
                                </a:cubicBezTo>
                              </a:path>
                            </a:pathLst>
                          </a:custGeom>
                          <a:noFill/>
                          <a:ln w="5715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th-TH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  <p:sp>
                        <p:nvSpPr>
                          <p:cNvPr id="175" name="Line 43">
                            <a:extLst>
                              <a:ext uri="{FF2B5EF4-FFF2-40B4-BE49-F238E27FC236}">
                                <a16:creationId xmlns:a16="http://schemas.microsoft.com/office/drawing/2014/main" id="{DDB95F5C-A010-4052-9590-E7ADF4735D9C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232" y="3840"/>
                            <a:ext cx="0" cy="192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wrap="none" anchor="ctr"/>
                          <a:lstStyle/>
                          <a:p>
                            <a:endParaRPr lang="en-US" sz="3200">
                              <a:latin typeface="Angsana New" panose="02020603050405020304" pitchFamily="18" charset="-34"/>
                            </a:endParaRPr>
                          </a:p>
                        </p:txBody>
                      </p:sp>
                    </p:grpSp>
                    <p:sp>
                      <p:nvSpPr>
                        <p:cNvPr id="172" name="Line 44">
                          <a:extLst>
                            <a:ext uri="{FF2B5EF4-FFF2-40B4-BE49-F238E27FC236}">
                              <a16:creationId xmlns:a16="http://schemas.microsoft.com/office/drawing/2014/main" id="{648502CE-970E-45E7-95C2-3CF2E1A475F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32" y="4001"/>
                          <a:ext cx="358" cy="19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  <p:sp>
                      <p:nvSpPr>
                        <p:cNvPr id="173" name="Line 45">
                          <a:extLst>
                            <a:ext uri="{FF2B5EF4-FFF2-40B4-BE49-F238E27FC236}">
                              <a16:creationId xmlns:a16="http://schemas.microsoft.com/office/drawing/2014/main" id="{52CF3F95-6C16-498A-9FE8-87F65AA4FDB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32" y="3984"/>
                          <a:ext cx="240" cy="0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en-US" sz="3200">
                            <a:latin typeface="Angsana New" panose="02020603050405020304" pitchFamily="18" charset="-34"/>
                          </a:endParaRPr>
                        </a:p>
                      </p:txBody>
                    </p:sp>
                  </p:grpSp>
                  <p:sp>
                    <p:nvSpPr>
                      <p:cNvPr id="170" name="Line 46">
                        <a:extLst>
                          <a:ext uri="{FF2B5EF4-FFF2-40B4-BE49-F238E27FC236}">
                            <a16:creationId xmlns:a16="http://schemas.microsoft.com/office/drawing/2014/main" id="{BD7952CD-F2D1-416E-B948-09FDD7ACFE6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232" y="3936"/>
                        <a:ext cx="144" cy="0"/>
                      </a:xfrm>
                      <a:prstGeom prst="line">
                        <a:avLst/>
                      </a:prstGeom>
                      <a:noFill/>
                      <a:ln w="76200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 sz="3200">
                          <a:latin typeface="Angsana New" panose="02020603050405020304" pitchFamily="18" charset="-34"/>
                        </a:endParaRPr>
                      </a:p>
                    </p:txBody>
                  </p:sp>
                </p:grpSp>
                <p:sp>
                  <p:nvSpPr>
                    <p:cNvPr id="168" name="Line 47">
                      <a:extLst>
                        <a:ext uri="{FF2B5EF4-FFF2-40B4-BE49-F238E27FC236}">
                          <a16:creationId xmlns:a16="http://schemas.microsoft.com/office/drawing/2014/main" id="{19842B20-43A0-4077-BE50-7BA11205E42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232" y="3888"/>
                      <a:ext cx="336" cy="96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3200">
                        <a:latin typeface="Angsana New" panose="02020603050405020304" pitchFamily="18" charset="-34"/>
                      </a:endParaRPr>
                    </a:p>
                  </p:txBody>
                </p:sp>
              </p:grpSp>
              <p:sp>
                <p:nvSpPr>
                  <p:cNvPr id="166" name="Line 48">
                    <a:extLst>
                      <a:ext uri="{FF2B5EF4-FFF2-40B4-BE49-F238E27FC236}">
                        <a16:creationId xmlns:a16="http://schemas.microsoft.com/office/drawing/2014/main" id="{405126D8-FF2F-4945-94C8-B07637B4965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321" y="3668"/>
                    <a:ext cx="96" cy="240"/>
                  </a:xfrm>
                  <a:prstGeom prst="line">
                    <a:avLst/>
                  </a:prstGeom>
                  <a:noFill/>
                  <a:ln w="28575">
                    <a:solidFill>
                      <a:srgbClr val="CC3399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3200">
                      <a:latin typeface="Angsana New" panose="02020603050405020304" pitchFamily="18" charset="-34"/>
                    </a:endParaRPr>
                  </a:p>
                </p:txBody>
              </p:sp>
            </p:grpSp>
          </p:grpSp>
        </p:grpSp>
        <p:sp>
          <p:nvSpPr>
            <p:cNvPr id="160" name="Text Box 25">
              <a:extLst>
                <a:ext uri="{FF2B5EF4-FFF2-40B4-BE49-F238E27FC236}">
                  <a16:creationId xmlns:a16="http://schemas.microsoft.com/office/drawing/2014/main" id="{337A208B-B733-4AA9-8B8D-807164A18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6068" y="2377966"/>
              <a:ext cx="474991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2600" b="1" dirty="0">
                  <a:solidFill>
                    <a:srgbClr val="CC3399"/>
                  </a:solidFill>
                  <a:latin typeface="Angsana New" pitchFamily="18" charset="-34"/>
                  <a:sym typeface="Symbol"/>
                </a:rPr>
                <a:t></a:t>
              </a:r>
              <a:endParaRPr kumimoji="1" lang="th-TH" sz="3200" b="1" dirty="0">
                <a:solidFill>
                  <a:srgbClr val="CC3399"/>
                </a:solidFill>
                <a:latin typeface="Angsana New" pitchFamily="18" charset="-34"/>
              </a:endParaRPr>
            </a:p>
          </p:txBody>
        </p:sp>
      </p:grpSp>
      <p:grpSp>
        <p:nvGrpSpPr>
          <p:cNvPr id="176" name="Group 19">
            <a:extLst>
              <a:ext uri="{FF2B5EF4-FFF2-40B4-BE49-F238E27FC236}">
                <a16:creationId xmlns:a16="http://schemas.microsoft.com/office/drawing/2014/main" id="{5A66402E-CEB5-435D-86AD-1BFF4F85CF80}"/>
              </a:ext>
            </a:extLst>
          </p:cNvPr>
          <p:cNvGrpSpPr/>
          <p:nvPr/>
        </p:nvGrpSpPr>
        <p:grpSpPr>
          <a:xfrm>
            <a:off x="152400" y="3364824"/>
            <a:ext cx="7262722" cy="805246"/>
            <a:chOff x="152400" y="488732"/>
            <a:chExt cx="7262722" cy="805246"/>
          </a:xfrm>
        </p:grpSpPr>
        <p:grpSp>
          <p:nvGrpSpPr>
            <p:cNvPr id="177" name="Group 107">
              <a:extLst>
                <a:ext uri="{FF2B5EF4-FFF2-40B4-BE49-F238E27FC236}">
                  <a16:creationId xmlns:a16="http://schemas.microsoft.com/office/drawing/2014/main" id="{907BF259-81D4-4CB3-9CFE-79120A179721}"/>
                </a:ext>
              </a:extLst>
            </p:cNvPr>
            <p:cNvGrpSpPr/>
            <p:nvPr/>
          </p:nvGrpSpPr>
          <p:grpSpPr>
            <a:xfrm>
              <a:off x="3657600" y="488732"/>
              <a:ext cx="3757522" cy="805246"/>
              <a:chOff x="328522" y="672664"/>
              <a:chExt cx="3757522" cy="805246"/>
            </a:xfrm>
          </p:grpSpPr>
          <p:sp>
            <p:nvSpPr>
              <p:cNvPr id="179" name="Text Box 25">
                <a:extLst>
                  <a:ext uri="{FF2B5EF4-FFF2-40B4-BE49-F238E27FC236}">
                    <a16:creationId xmlns:a16="http://schemas.microsoft.com/office/drawing/2014/main" id="{0A43DDF9-F1BC-40BA-BF92-211378D1A7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522" y="672664"/>
                <a:ext cx="3757522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H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0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: p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 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= p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2</a:t>
                </a:r>
                <a:r>
                  <a:rPr kumimoji="1" lang="th-TH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 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r>
                  <a:rPr kumimoji="1" lang="en-US" sz="4000" b="1" dirty="0">
                    <a:solidFill>
                      <a:srgbClr val="FF0000"/>
                    </a:solidFill>
                    <a:latin typeface="Angsana New" pitchFamily="18" charset="-34"/>
                  </a:rPr>
                  <a:t>VS  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H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: p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1</a:t>
                </a: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      p</a:t>
                </a:r>
                <a:r>
                  <a:rPr kumimoji="1" lang="en-US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2</a:t>
                </a:r>
                <a:r>
                  <a:rPr kumimoji="1" lang="th-TH" sz="3200" b="1" baseline="-25000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endParaRPr kumimoji="1" lang="th-TH" sz="32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180" name="Text Box 25">
                <a:extLst>
                  <a:ext uri="{FF2B5EF4-FFF2-40B4-BE49-F238E27FC236}">
                    <a16:creationId xmlns:a16="http://schemas.microsoft.com/office/drawing/2014/main" id="{9BAB012F-EC0F-4165-90E5-9A0E0A1F12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19243" y="770024"/>
                <a:ext cx="457201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eaLnBrk="0" hangingPunct="0">
                  <a:lnSpc>
                    <a:spcPts val="1600"/>
                  </a:lnSpc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&lt;</a:t>
                </a:r>
              </a:p>
              <a:p>
                <a:pPr algn="ctr" eaLnBrk="0" hangingPunct="0">
                  <a:lnSpc>
                    <a:spcPts val="1600"/>
                  </a:lnSpc>
                  <a:spcBef>
                    <a:spcPts val="0"/>
                  </a:spcBef>
                  <a:defRPr/>
                </a:pPr>
                <a:r>
                  <a:rPr kumimoji="1" lang="en-US" sz="1800" b="1" dirty="0">
                    <a:solidFill>
                      <a:srgbClr val="0000FF"/>
                    </a:solidFill>
                    <a:latin typeface="Angsana New" pitchFamily="18" charset="-34"/>
                    <a:sym typeface="Symbol"/>
                  </a:rPr>
                  <a:t></a:t>
                </a:r>
                <a:r>
                  <a:rPr kumimoji="1" lang="en-US" sz="4000" b="1" dirty="0">
                    <a:solidFill>
                      <a:srgbClr val="0000FF"/>
                    </a:solidFill>
                    <a:latin typeface="Angsana New" pitchFamily="18" charset="-34"/>
                  </a:rPr>
                  <a:t> </a:t>
                </a:r>
                <a:endParaRPr kumimoji="1" lang="th-TH" sz="4000" b="1" dirty="0">
                  <a:solidFill>
                    <a:srgbClr val="0000FF"/>
                  </a:solidFill>
                  <a:latin typeface="Angsana New" pitchFamily="18" charset="-34"/>
                </a:endParaRPr>
              </a:p>
              <a:p>
                <a:pPr algn="ctr" eaLnBrk="0" hangingPunct="0">
                  <a:lnSpc>
                    <a:spcPts val="1600"/>
                  </a:lnSpc>
                  <a:spcBef>
                    <a:spcPts val="0"/>
                  </a:spcBef>
                  <a:defRPr/>
                </a:pPr>
                <a:r>
                  <a:rPr kumimoji="1" lang="en-US" sz="3200" b="1" dirty="0">
                    <a:solidFill>
                      <a:srgbClr val="0000FF"/>
                    </a:solidFill>
                    <a:latin typeface="Angsana New" pitchFamily="18" charset="-34"/>
                  </a:rPr>
                  <a:t>&gt;</a:t>
                </a:r>
                <a:endParaRPr kumimoji="1" lang="th-TH" sz="3200" b="1" dirty="0">
                  <a:solidFill>
                    <a:srgbClr val="FF0000"/>
                  </a:solidFill>
                  <a:latin typeface="Angsana New" pitchFamily="18" charset="-34"/>
                </a:endParaRPr>
              </a:p>
            </p:txBody>
          </p:sp>
        </p:grpSp>
        <p:sp>
          <p:nvSpPr>
            <p:cNvPr id="178" name="Rectangle 3">
              <a:extLst>
                <a:ext uri="{FF2B5EF4-FFF2-40B4-BE49-F238E27FC236}">
                  <a16:creationId xmlns:a16="http://schemas.microsoft.com/office/drawing/2014/main" id="{F3D9FA24-F959-4D29-B14A-AC6A5CBD0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583328"/>
              <a:ext cx="48768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rgbClr val="CC3399"/>
                  </a:solidFill>
                  <a:latin typeface="Angsana New" panose="02020603050405020304" pitchFamily="18" charset="-34"/>
                </a:rPr>
                <a:t>สมมุติฐานสำหรับการทดสอบ :</a:t>
              </a:r>
            </a:p>
          </p:txBody>
        </p:sp>
      </p:grpSp>
      <p:grpSp>
        <p:nvGrpSpPr>
          <p:cNvPr id="90129" name="กลุ่ม 90128">
            <a:extLst>
              <a:ext uri="{FF2B5EF4-FFF2-40B4-BE49-F238E27FC236}">
                <a16:creationId xmlns:a16="http://schemas.microsoft.com/office/drawing/2014/main" id="{44CF2AB2-05EC-4AEF-9644-5A2592B1AF11}"/>
              </a:ext>
            </a:extLst>
          </p:cNvPr>
          <p:cNvGrpSpPr/>
          <p:nvPr/>
        </p:nvGrpSpPr>
        <p:grpSpPr>
          <a:xfrm>
            <a:off x="164432" y="4460414"/>
            <a:ext cx="5896648" cy="1142298"/>
            <a:chOff x="164432" y="4460414"/>
            <a:chExt cx="5896648" cy="1142298"/>
          </a:xfrm>
        </p:grpSpPr>
        <p:sp>
          <p:nvSpPr>
            <p:cNvPr id="106" name="Rectangle 3">
              <a:extLst>
                <a:ext uri="{FF2B5EF4-FFF2-40B4-BE49-F238E27FC236}">
                  <a16:creationId xmlns:a16="http://schemas.microsoft.com/office/drawing/2014/main" id="{0AF237C7-D3C5-4EB4-8C70-61D55068B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9096" y="4515378"/>
              <a:ext cx="800100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3200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</a:rPr>
                <a:t> </a:t>
              </a:r>
              <a:r>
                <a:rPr lang="en-US" sz="3200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</a:rPr>
                <a:t>Z  =  </a:t>
              </a:r>
              <a:endParaRPr lang="th-TH" sz="3200" b="1" dirty="0">
                <a:solidFill>
                  <a:schemeClr val="accent1">
                    <a:lumMod val="50000"/>
                  </a:schemeClr>
                </a:solidFill>
                <a:latin typeface="Angsana New" pitchFamily="18" charset="-34"/>
              </a:endParaRPr>
            </a:p>
          </p:txBody>
        </p:sp>
        <p:grpSp>
          <p:nvGrpSpPr>
            <p:cNvPr id="90122" name="กลุ่ม 90121">
              <a:extLst>
                <a:ext uri="{FF2B5EF4-FFF2-40B4-BE49-F238E27FC236}">
                  <a16:creationId xmlns:a16="http://schemas.microsoft.com/office/drawing/2014/main" id="{C55AA913-E5EB-4068-8E23-4681582C7B4C}"/>
                </a:ext>
              </a:extLst>
            </p:cNvPr>
            <p:cNvGrpSpPr/>
            <p:nvPr/>
          </p:nvGrpSpPr>
          <p:grpSpPr>
            <a:xfrm>
              <a:off x="164432" y="4460414"/>
              <a:ext cx="5896648" cy="1142298"/>
              <a:chOff x="164432" y="4328062"/>
              <a:chExt cx="5896648" cy="1142298"/>
            </a:xfrm>
          </p:grpSpPr>
          <p:sp>
            <p:nvSpPr>
              <p:cNvPr id="105" name="Rectangle 3">
                <a:extLst>
                  <a:ext uri="{FF2B5EF4-FFF2-40B4-BE49-F238E27FC236}">
                    <a16:creationId xmlns:a16="http://schemas.microsoft.com/office/drawing/2014/main" id="{81153214-0F9C-44FD-8E71-A913A77685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432" y="4375480"/>
                <a:ext cx="4876800" cy="609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5000"/>
                  </a:lnSpc>
                  <a:defRPr/>
                </a:pPr>
                <a:r>
                  <a:rPr lang="th-TH" sz="3200" b="1" dirty="0">
                    <a:solidFill>
                      <a:srgbClr val="CC3399"/>
                    </a:solidFill>
                    <a:latin typeface="Angsana New" panose="02020603050405020304" pitchFamily="18" charset="-34"/>
                  </a:rPr>
                  <a:t>สถิติสำหรับการทดสอบ :</a:t>
                </a:r>
              </a:p>
            </p:txBody>
          </p:sp>
          <p:grpSp>
            <p:nvGrpSpPr>
              <p:cNvPr id="90121" name="กลุ่ม 90120">
                <a:extLst>
                  <a:ext uri="{FF2B5EF4-FFF2-40B4-BE49-F238E27FC236}">
                    <a16:creationId xmlns:a16="http://schemas.microsoft.com/office/drawing/2014/main" id="{54ADF8FA-60DF-49B8-95EA-A7A14D980F77}"/>
                  </a:ext>
                </a:extLst>
              </p:cNvPr>
              <p:cNvGrpSpPr/>
              <p:nvPr/>
            </p:nvGrpSpPr>
            <p:grpSpPr>
              <a:xfrm>
                <a:off x="3733800" y="4328062"/>
                <a:ext cx="2327280" cy="1142298"/>
                <a:chOff x="3733800" y="4328062"/>
                <a:chExt cx="2327280" cy="1142298"/>
              </a:xfrm>
            </p:grpSpPr>
            <p:grpSp>
              <p:nvGrpSpPr>
                <p:cNvPr id="90118" name="กลุ่ม 90117">
                  <a:extLst>
                    <a:ext uri="{FF2B5EF4-FFF2-40B4-BE49-F238E27FC236}">
                      <a16:creationId xmlns:a16="http://schemas.microsoft.com/office/drawing/2014/main" id="{C2AA457E-9A7B-4511-9CF8-AD96C2139232}"/>
                    </a:ext>
                  </a:extLst>
                </p:cNvPr>
                <p:cNvGrpSpPr/>
                <p:nvPr/>
              </p:nvGrpSpPr>
              <p:grpSpPr>
                <a:xfrm>
                  <a:off x="3733800" y="4328062"/>
                  <a:ext cx="2327280" cy="1142298"/>
                  <a:chOff x="3786249" y="4118816"/>
                  <a:chExt cx="2327280" cy="1142298"/>
                </a:xfrm>
              </p:grpSpPr>
              <p:grpSp>
                <p:nvGrpSpPr>
                  <p:cNvPr id="182" name="กลุ่ม 181">
                    <a:extLst>
                      <a:ext uri="{FF2B5EF4-FFF2-40B4-BE49-F238E27FC236}">
                        <a16:creationId xmlns:a16="http://schemas.microsoft.com/office/drawing/2014/main" id="{6D2E9F96-7876-47E0-938F-7C3A8F959CEF}"/>
                      </a:ext>
                    </a:extLst>
                  </p:cNvPr>
                  <p:cNvGrpSpPr/>
                  <p:nvPr/>
                </p:nvGrpSpPr>
                <p:grpSpPr>
                  <a:xfrm>
                    <a:off x="3786249" y="4118816"/>
                    <a:ext cx="2327280" cy="1138984"/>
                    <a:chOff x="3557648" y="1515984"/>
                    <a:chExt cx="2327280" cy="1138984"/>
                  </a:xfrm>
                </p:grpSpPr>
                <p:sp>
                  <p:nvSpPr>
                    <p:cNvPr id="183" name="Rectangle 3">
                      <a:extLst>
                        <a:ext uri="{FF2B5EF4-FFF2-40B4-BE49-F238E27FC236}">
                          <a16:creationId xmlns:a16="http://schemas.microsoft.com/office/drawing/2014/main" id="{F2EEBE5F-CCCF-4D23-BEF1-A39F0558C9B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57648" y="1515984"/>
                      <a:ext cx="2327280" cy="6096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anchor="ctr"/>
                    <a:lstStyle/>
                    <a:p>
                      <a:pPr eaLnBrk="0" hangingPunct="0">
                        <a:lnSpc>
                          <a:spcPct val="75000"/>
                        </a:lnSpc>
                        <a:defRPr/>
                      </a:pPr>
                      <a:r>
                        <a:rPr lang="en-US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(p</a:t>
                      </a:r>
                      <a:r>
                        <a:rPr lang="en-US" sz="3200" b="1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  <a:sym typeface="Symbol"/>
                        </a:rPr>
                        <a:t>1</a:t>
                      </a:r>
                      <a:r>
                        <a:rPr lang="en-US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 – p</a:t>
                      </a:r>
                      <a:r>
                        <a:rPr lang="en-US" sz="3200" b="1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  <a:sym typeface="Symbol"/>
                        </a:rPr>
                        <a:t>2</a:t>
                      </a:r>
                      <a:r>
                        <a:rPr lang="en-US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) – (p</a:t>
                      </a:r>
                      <a:r>
                        <a:rPr lang="en-US" sz="3200" b="1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  <a:sym typeface="Symbol"/>
                        </a:rPr>
                        <a:t>1</a:t>
                      </a:r>
                      <a:r>
                        <a:rPr lang="en-US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 – p</a:t>
                      </a:r>
                      <a:r>
                        <a:rPr lang="en-US" sz="3200" b="1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  <a:sym typeface="Symbol"/>
                        </a:rPr>
                        <a:t>2</a:t>
                      </a:r>
                      <a:r>
                        <a:rPr lang="en-US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)</a:t>
                      </a:r>
                      <a:endParaRPr lang="th-TH" sz="3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endParaRPr>
                    </a:p>
                  </p:txBody>
                </p:sp>
                <p:cxnSp>
                  <p:nvCxnSpPr>
                    <p:cNvPr id="184" name="Straight Connector 83">
                      <a:extLst>
                        <a:ext uri="{FF2B5EF4-FFF2-40B4-BE49-F238E27FC236}">
                          <a16:creationId xmlns:a16="http://schemas.microsoft.com/office/drawing/2014/main" id="{E9AD32BE-143A-4B99-B6DE-953426934776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3592652" y="1997786"/>
                      <a:ext cx="2194560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  <a:effectLst/>
                  </p:spPr>
                </p:cxnSp>
                <p:grpSp>
                  <p:nvGrpSpPr>
                    <p:cNvPr id="185" name="Group 7">
                      <a:extLst>
                        <a:ext uri="{FF2B5EF4-FFF2-40B4-BE49-F238E27FC236}">
                          <a16:creationId xmlns:a16="http://schemas.microsoft.com/office/drawing/2014/main" id="{ECD9F399-EE5F-4A42-BF9D-EBBC7674AD6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45568" y="2045368"/>
                      <a:ext cx="2057992" cy="609600"/>
                      <a:chOff x="4114199" y="2289193"/>
                      <a:chExt cx="2057992" cy="609600"/>
                    </a:xfrm>
                  </p:grpSpPr>
                  <p:sp>
                    <p:nvSpPr>
                      <p:cNvPr id="187" name="Rectangle 3">
                        <a:extLst>
                          <a:ext uri="{FF2B5EF4-FFF2-40B4-BE49-F238E27FC236}">
                            <a16:creationId xmlns:a16="http://schemas.microsoft.com/office/drawing/2014/main" id="{A7BE3AD2-DA0A-424D-BD1B-21B20409C46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20897" y="2289193"/>
                        <a:ext cx="1148333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anchor="ctr"/>
                      <a:lstStyle/>
                      <a:p>
                        <a:pPr eaLnBrk="0" hangingPunct="0">
                          <a:lnSpc>
                            <a:spcPct val="75000"/>
                          </a:lnSpc>
                          <a:defRPr/>
                        </a:pPr>
                        <a:r>
                          <a:rPr lang="en-US" sz="3200" b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Angsana New" pitchFamily="18" charset="-34"/>
                          </a:rPr>
                          <a:t> p(1 – p) </a:t>
                        </a:r>
                        <a:endParaRPr lang="th-TH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endParaRPr>
                      </a:p>
                    </p:txBody>
                  </p:sp>
                  <p:cxnSp>
                    <p:nvCxnSpPr>
                      <p:cNvPr id="188" name="Straight Connector 3">
                        <a:extLst>
                          <a:ext uri="{FF2B5EF4-FFF2-40B4-BE49-F238E27FC236}">
                            <a16:creationId xmlns:a16="http://schemas.microsoft.com/office/drawing/2014/main" id="{CC2C67AC-CCB4-470C-9E6F-8B3F25797054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4182523" y="2289739"/>
                        <a:ext cx="64008" cy="54864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28575" cap="flat" cmpd="sng" algn="ctr">
                        <a:solidFill>
                          <a:schemeClr val="accent1">
                            <a:lumMod val="50000"/>
                          </a:schemeClr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189" name="Straight Connector 82">
                        <a:extLst>
                          <a:ext uri="{FF2B5EF4-FFF2-40B4-BE49-F238E27FC236}">
                            <a16:creationId xmlns:a16="http://schemas.microsoft.com/office/drawing/2014/main" id="{6BC5E1EB-6F30-4026-AE7B-0C8B9668D40C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4251951" y="2301766"/>
                        <a:ext cx="1920240" cy="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28575" cap="flat" cmpd="sng" algn="ctr">
                        <a:solidFill>
                          <a:schemeClr val="accent1">
                            <a:lumMod val="50000"/>
                          </a:schemeClr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cxnSp>
                    <p:nvCxnSpPr>
                      <p:cNvPr id="190" name="Straight Connector 86">
                        <a:extLst>
                          <a:ext uri="{FF2B5EF4-FFF2-40B4-BE49-F238E27FC236}">
                            <a16:creationId xmlns:a16="http://schemas.microsoft.com/office/drawing/2014/main" id="{C87B1695-8646-4BF0-89D3-C0D2EEA084A5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>
                        <a:off x="4114199" y="2770617"/>
                        <a:ext cx="76200" cy="64008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28575" cap="flat" cmpd="sng" algn="ctr">
                        <a:solidFill>
                          <a:schemeClr val="accent1">
                            <a:lumMod val="50000"/>
                          </a:schemeClr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  <p:sp>
                  <p:nvSpPr>
                    <p:cNvPr id="186" name="Rectangle 3">
                      <a:extLst>
                        <a:ext uri="{FF2B5EF4-FFF2-40B4-BE49-F238E27FC236}">
                          <a16:creationId xmlns:a16="http://schemas.microsoft.com/office/drawing/2014/main" id="{3406CB86-F276-4AF3-A9EC-12D8670B96A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45776" y="1534129"/>
                      <a:ext cx="479940" cy="447071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anchor="ctr"/>
                    <a:lstStyle/>
                    <a:p>
                      <a:pPr eaLnBrk="0" hangingPunct="0">
                        <a:lnSpc>
                          <a:spcPct val="75000"/>
                        </a:lnSpc>
                        <a:defRPr/>
                      </a:pPr>
                      <a:r>
                        <a:rPr lang="en-US" sz="3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rPr>
                        <a:t>^</a:t>
                      </a:r>
                      <a:endParaRPr lang="th-TH" sz="3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endParaRPr>
                    </a:p>
                  </p:txBody>
                </p:sp>
              </p:grpSp>
              <p:sp>
                <p:nvSpPr>
                  <p:cNvPr id="193" name="Rectangle 3">
                    <a:extLst>
                      <a:ext uri="{FF2B5EF4-FFF2-40B4-BE49-F238E27FC236}">
                        <a16:creationId xmlns:a16="http://schemas.microsoft.com/office/drawing/2014/main" id="{C64424A2-07E6-4CAF-A62B-31B9EEB250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80820" y="4136961"/>
                    <a:ext cx="479940" cy="44707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anchor="ctr"/>
                  <a:lstStyle/>
                  <a:p>
                    <a:pPr eaLnBrk="0" hangingPunct="0">
                      <a:lnSpc>
                        <a:spcPct val="75000"/>
                      </a:lnSpc>
                      <a:defRPr/>
                    </a:pPr>
                    <a:r>
                      <a:rPr lang="en-US" sz="32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Angsana New" pitchFamily="18" charset="-34"/>
                      </a:rPr>
                      <a:t>^</a:t>
                    </a:r>
                    <a:endParaRPr lang="th-TH" sz="32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endParaRPr>
                  </a:p>
                </p:txBody>
              </p:sp>
              <p:grpSp>
                <p:nvGrpSpPr>
                  <p:cNvPr id="90117" name="กลุ่ม 90116">
                    <a:extLst>
                      <a:ext uri="{FF2B5EF4-FFF2-40B4-BE49-F238E27FC236}">
                        <a16:creationId xmlns:a16="http://schemas.microsoft.com/office/drawing/2014/main" id="{9F557C3A-A774-49C6-9205-98A9DB26DD79}"/>
                      </a:ext>
                    </a:extLst>
                  </p:cNvPr>
                  <p:cNvGrpSpPr/>
                  <p:nvPr/>
                </p:nvGrpSpPr>
                <p:grpSpPr>
                  <a:xfrm>
                    <a:off x="4946292" y="4649114"/>
                    <a:ext cx="979123" cy="612000"/>
                    <a:chOff x="7555277" y="3145864"/>
                    <a:chExt cx="979123" cy="612000"/>
                  </a:xfrm>
                </p:grpSpPr>
                <p:grpSp>
                  <p:nvGrpSpPr>
                    <p:cNvPr id="90112" name="กลุ่ม 90111">
                      <a:extLst>
                        <a:ext uri="{FF2B5EF4-FFF2-40B4-BE49-F238E27FC236}">
                          <a16:creationId xmlns:a16="http://schemas.microsoft.com/office/drawing/2014/main" id="{F9E0FA40-3D42-4B9C-8E07-F3D2FFADE0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579341" y="3145864"/>
                      <a:ext cx="433691" cy="609600"/>
                      <a:chOff x="7579341" y="3145864"/>
                      <a:chExt cx="433691" cy="609600"/>
                    </a:xfrm>
                  </p:grpSpPr>
                  <p:sp>
                    <p:nvSpPr>
                      <p:cNvPr id="194" name="Rectangle 3">
                        <a:extLst>
                          <a:ext uri="{FF2B5EF4-FFF2-40B4-BE49-F238E27FC236}">
                            <a16:creationId xmlns:a16="http://schemas.microsoft.com/office/drawing/2014/main" id="{B18C3FA7-E1C3-49A8-A074-FABD2C40E19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579341" y="3145864"/>
                        <a:ext cx="433691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anchor="ctr"/>
                      <a:lstStyle/>
                      <a:p>
                        <a:pPr eaLnBrk="0" hangingPunct="0">
                          <a:lnSpc>
                            <a:spcPts val="1600"/>
                          </a:lnSpc>
                          <a:defRPr/>
                        </a:pPr>
                        <a:r>
                          <a:rPr lang="en-US" b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Angsana New" pitchFamily="18" charset="-34"/>
                          </a:rPr>
                          <a:t>1</a:t>
                        </a:r>
                      </a:p>
                      <a:p>
                        <a:pPr eaLnBrk="0" hangingPunct="0">
                          <a:lnSpc>
                            <a:spcPts val="1600"/>
                          </a:lnSpc>
                          <a:defRPr/>
                        </a:pPr>
                        <a:r>
                          <a:rPr lang="en-US" b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Angsana New" pitchFamily="18" charset="-34"/>
                          </a:rPr>
                          <a:t>n</a:t>
                        </a:r>
                        <a:r>
                          <a:rPr lang="en-US" b="1" baseline="-2500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Angsana New" pitchFamily="18" charset="-34"/>
                          </a:rPr>
                          <a:t>1</a:t>
                        </a:r>
                        <a:endParaRPr lang="th-TH" b="1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endParaRPr>
                      </a:p>
                    </p:txBody>
                  </p:sp>
                  <p:cxnSp>
                    <p:nvCxnSpPr>
                      <p:cNvPr id="195" name="Straight Connector 82">
                        <a:extLst>
                          <a:ext uri="{FF2B5EF4-FFF2-40B4-BE49-F238E27FC236}">
                            <a16:creationId xmlns:a16="http://schemas.microsoft.com/office/drawing/2014/main" id="{1AFC10BC-7DCE-4E63-9C03-365D2FE2099B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7617919" y="3429000"/>
                        <a:ext cx="274320" cy="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28575" cap="flat" cmpd="sng" algn="ctr">
                        <a:solidFill>
                          <a:schemeClr val="accent1">
                            <a:lumMod val="50000"/>
                          </a:schemeClr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  <p:grpSp>
                  <p:nvGrpSpPr>
                    <p:cNvPr id="197" name="กลุ่ม 196">
                      <a:extLst>
                        <a:ext uri="{FF2B5EF4-FFF2-40B4-BE49-F238E27FC236}">
                          <a16:creationId xmlns:a16="http://schemas.microsoft.com/office/drawing/2014/main" id="{4820E936-D8BC-401A-8D99-8E524C8B33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100709" y="3148264"/>
                      <a:ext cx="433691" cy="609600"/>
                      <a:chOff x="7579341" y="3145864"/>
                      <a:chExt cx="433691" cy="609600"/>
                    </a:xfrm>
                  </p:grpSpPr>
                  <p:sp>
                    <p:nvSpPr>
                      <p:cNvPr id="198" name="Rectangle 3">
                        <a:extLst>
                          <a:ext uri="{FF2B5EF4-FFF2-40B4-BE49-F238E27FC236}">
                            <a16:creationId xmlns:a16="http://schemas.microsoft.com/office/drawing/2014/main" id="{73B7B0D1-7578-47CE-BA1C-8540CF9B348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579341" y="3145864"/>
                        <a:ext cx="433691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anchor="ctr"/>
                      <a:lstStyle/>
                      <a:p>
                        <a:pPr eaLnBrk="0" hangingPunct="0">
                          <a:lnSpc>
                            <a:spcPts val="1600"/>
                          </a:lnSpc>
                          <a:defRPr/>
                        </a:pPr>
                        <a:r>
                          <a:rPr lang="en-US" b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Angsana New" pitchFamily="18" charset="-34"/>
                          </a:rPr>
                          <a:t>1</a:t>
                        </a:r>
                      </a:p>
                      <a:p>
                        <a:pPr eaLnBrk="0" hangingPunct="0">
                          <a:lnSpc>
                            <a:spcPts val="1600"/>
                          </a:lnSpc>
                          <a:defRPr/>
                        </a:pPr>
                        <a:r>
                          <a:rPr lang="en-US" b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Angsana New" pitchFamily="18" charset="-34"/>
                          </a:rPr>
                          <a:t>n</a:t>
                        </a:r>
                        <a:r>
                          <a:rPr lang="en-US" b="1" baseline="-2500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Angsana New" pitchFamily="18" charset="-34"/>
                          </a:rPr>
                          <a:t>2</a:t>
                        </a:r>
                        <a:endParaRPr lang="th-TH" b="1" baseline="-250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itchFamily="18" charset="-34"/>
                        </a:endParaRPr>
                      </a:p>
                    </p:txBody>
                  </p:sp>
                  <p:cxnSp>
                    <p:nvCxnSpPr>
                      <p:cNvPr id="199" name="Straight Connector 82">
                        <a:extLst>
                          <a:ext uri="{FF2B5EF4-FFF2-40B4-BE49-F238E27FC236}">
                            <a16:creationId xmlns:a16="http://schemas.microsoft.com/office/drawing/2014/main" id="{6059F44D-48EF-41DF-81C6-DBB25E1FEA8C}"/>
                          </a:ext>
                        </a:extLst>
                      </p:cNvPr>
                      <p:cNvCxnSpPr/>
                      <p:nvPr/>
                    </p:nvCxnSpPr>
                    <p:spPr bwMode="auto">
                      <a:xfrm flipH="1">
                        <a:off x="7617919" y="3429000"/>
                        <a:ext cx="274320" cy="0"/>
                      </a:xfrm>
                      <a:prstGeom prst="line">
                        <a:avLst/>
                      </a:prstGeom>
                      <a:solidFill>
                        <a:schemeClr val="accent1"/>
                      </a:solidFill>
                      <a:ln w="28575" cap="flat" cmpd="sng" algn="ctr">
                        <a:solidFill>
                          <a:schemeClr val="accent1">
                            <a:lumMod val="50000"/>
                          </a:schemeClr>
                        </a:solidFill>
                        <a:prstDash val="solid"/>
                        <a:miter lim="800000"/>
                        <a:headEnd type="none" w="med" len="med"/>
                        <a:tailEnd type="none" w="med" len="med"/>
                      </a:ln>
                      <a:effectLst/>
                    </p:spPr>
                  </p:cxnSp>
                </p:grpSp>
                <p:sp>
                  <p:nvSpPr>
                    <p:cNvPr id="90113" name="กล่องข้อความ 90112">
                      <a:extLst>
                        <a:ext uri="{FF2B5EF4-FFF2-40B4-BE49-F238E27FC236}">
                          <a16:creationId xmlns:a16="http://schemas.microsoft.com/office/drawing/2014/main" id="{C4D24949-E671-4993-9C8E-AACF9BC586F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46448" y="3155077"/>
                      <a:ext cx="35908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ngsana New" panose="02020603050405020304" pitchFamily="18" charset="-34"/>
                        </a:rPr>
                        <a:t>+</a:t>
                      </a:r>
                    </a:p>
                  </p:txBody>
                </p:sp>
                <p:sp>
                  <p:nvSpPr>
                    <p:cNvPr id="90116" name="วงเล็บเหลี่ยมคู่ 90115">
                      <a:extLst>
                        <a:ext uri="{FF2B5EF4-FFF2-40B4-BE49-F238E27FC236}">
                          <a16:creationId xmlns:a16="http://schemas.microsoft.com/office/drawing/2014/main" id="{BF2F3D40-65AF-4A15-AEB3-41FF2B594BD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555277" y="3195386"/>
                      <a:ext cx="914400" cy="480610"/>
                    </a:xfrm>
                    <a:prstGeom prst="bracketPair">
                      <a:avLst>
                        <a:gd name="adj" fmla="val 9157"/>
                      </a:avLst>
                    </a:prstGeom>
                    <a:noFill/>
                    <a:ln w="28575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ngsana New" pitchFamily="18" charset="-34"/>
                      </a:endParaRPr>
                    </a:p>
                  </p:txBody>
                </p:sp>
              </p:grpSp>
            </p:grpSp>
            <p:sp>
              <p:nvSpPr>
                <p:cNvPr id="206" name="Rectangle 3">
                  <a:extLst>
                    <a:ext uri="{FF2B5EF4-FFF2-40B4-BE49-F238E27FC236}">
                      <a16:creationId xmlns:a16="http://schemas.microsoft.com/office/drawing/2014/main" id="{B12B723D-48A8-4131-A9E7-605E46E490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6200" y="4874897"/>
                  <a:ext cx="479940" cy="44707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eaLnBrk="0" hangingPunct="0">
                    <a:lnSpc>
                      <a:spcPct val="75000"/>
                    </a:lnSpc>
                    <a:defRPr/>
                  </a:pPr>
                  <a:r>
                    <a:rPr lang="en-US" sz="32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rPr>
                    <a:t>^</a:t>
                  </a:r>
                  <a:endParaRPr lang="th-TH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endParaRPr>
                </a:p>
              </p:txBody>
            </p:sp>
            <p:sp>
              <p:nvSpPr>
                <p:cNvPr id="207" name="Rectangle 3">
                  <a:extLst>
                    <a:ext uri="{FF2B5EF4-FFF2-40B4-BE49-F238E27FC236}">
                      <a16:creationId xmlns:a16="http://schemas.microsoft.com/office/drawing/2014/main" id="{3B0A3CF3-0F07-4CBD-9B59-F17A4C49D1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21188" y="4876800"/>
                  <a:ext cx="479940" cy="44707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pPr eaLnBrk="0" hangingPunct="0">
                    <a:lnSpc>
                      <a:spcPct val="75000"/>
                    </a:lnSpc>
                    <a:defRPr/>
                  </a:pPr>
                  <a:r>
                    <a:rPr lang="en-US" sz="3200" b="1" dirty="0">
                      <a:solidFill>
                        <a:schemeClr val="accent1">
                          <a:lumMod val="50000"/>
                        </a:schemeClr>
                      </a:solidFill>
                      <a:latin typeface="Angsana New" pitchFamily="18" charset="-34"/>
                    </a:rPr>
                    <a:t>^</a:t>
                  </a:r>
                  <a:endParaRPr lang="th-TH" sz="3200" b="1" dirty="0">
                    <a:solidFill>
                      <a:schemeClr val="accent1">
                        <a:lumMod val="50000"/>
                      </a:schemeClr>
                    </a:solidFill>
                    <a:latin typeface="Angsana New" pitchFamily="18" charset="-34"/>
                  </a:endParaRPr>
                </a:p>
              </p:txBody>
            </p:sp>
          </p:grpSp>
        </p:grpSp>
      </p:grpSp>
      <p:grpSp>
        <p:nvGrpSpPr>
          <p:cNvPr id="90123" name="กลุ่ม 90122">
            <a:extLst>
              <a:ext uri="{FF2B5EF4-FFF2-40B4-BE49-F238E27FC236}">
                <a16:creationId xmlns:a16="http://schemas.microsoft.com/office/drawing/2014/main" id="{66206520-576B-4596-847F-124E2BEED6D7}"/>
              </a:ext>
            </a:extLst>
          </p:cNvPr>
          <p:cNvGrpSpPr/>
          <p:nvPr/>
        </p:nvGrpSpPr>
        <p:grpSpPr>
          <a:xfrm>
            <a:off x="7162799" y="933449"/>
            <a:ext cx="1143001" cy="614615"/>
            <a:chOff x="7163126" y="859853"/>
            <a:chExt cx="1143001" cy="614615"/>
          </a:xfrm>
        </p:grpSpPr>
        <p:sp>
          <p:nvSpPr>
            <p:cNvPr id="210" name="Rectangle 3">
              <a:extLst>
                <a:ext uri="{FF2B5EF4-FFF2-40B4-BE49-F238E27FC236}">
                  <a16:creationId xmlns:a16="http://schemas.microsoft.com/office/drawing/2014/main" id="{760D8B5E-6E83-4F93-B9CB-FEF46A450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3126" y="864868"/>
              <a:ext cx="846044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en-US" sz="3200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</a:rPr>
                <a:t>;  </a:t>
              </a:r>
              <a:r>
                <a:rPr lang="en-US" sz="3200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  <a:sym typeface="Symbol"/>
                </a:rPr>
                <a:t>p = </a:t>
              </a:r>
              <a:endParaRPr lang="th-TH" sz="3200" b="1" dirty="0">
                <a:solidFill>
                  <a:schemeClr val="accent1">
                    <a:lumMod val="50000"/>
                  </a:schemeClr>
                </a:solidFill>
                <a:latin typeface="Angsana New" pitchFamily="18" charset="-34"/>
              </a:endParaRPr>
            </a:p>
          </p:txBody>
        </p:sp>
        <p:sp>
          <p:nvSpPr>
            <p:cNvPr id="211" name="Rectangle 3">
              <a:extLst>
                <a:ext uri="{FF2B5EF4-FFF2-40B4-BE49-F238E27FC236}">
                  <a16:creationId xmlns:a16="http://schemas.microsoft.com/office/drawing/2014/main" id="{011E96B4-3269-40C9-9B41-D12D5CC4B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8444" y="859853"/>
              <a:ext cx="447683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0" hangingPunct="0">
                <a:lnSpc>
                  <a:spcPts val="1800"/>
                </a:lnSpc>
                <a:defRPr/>
              </a:pPr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  <a:sym typeface="Symbol"/>
                </a:rPr>
                <a:t>X</a:t>
              </a:r>
            </a:p>
            <a:p>
              <a:pPr algn="ctr" eaLnBrk="0" hangingPunct="0">
                <a:lnSpc>
                  <a:spcPts val="1800"/>
                </a:lnSpc>
                <a:defRPr/>
              </a:pPr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  <a:sym typeface="Symbol"/>
                </a:rPr>
                <a:t>n</a:t>
              </a:r>
              <a:endParaRPr lang="th-TH" b="1" dirty="0">
                <a:solidFill>
                  <a:schemeClr val="accent1">
                    <a:lumMod val="50000"/>
                  </a:schemeClr>
                </a:solidFill>
                <a:latin typeface="Angsana New" pitchFamily="18" charset="-34"/>
              </a:endParaRPr>
            </a:p>
          </p:txBody>
        </p:sp>
        <p:sp>
          <p:nvSpPr>
            <p:cNvPr id="212" name="Rectangle 3">
              <a:extLst>
                <a:ext uri="{FF2B5EF4-FFF2-40B4-BE49-F238E27FC236}">
                  <a16:creationId xmlns:a16="http://schemas.microsoft.com/office/drawing/2014/main" id="{1D747339-3E0A-4430-9C95-CE92C432C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0692" y="886328"/>
              <a:ext cx="479940" cy="4470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en-US" sz="3200" b="1" dirty="0">
                  <a:solidFill>
                    <a:schemeClr val="accent1">
                      <a:lumMod val="50000"/>
                    </a:schemeClr>
                  </a:solidFill>
                  <a:latin typeface="Angsana New" pitchFamily="18" charset="-34"/>
                </a:rPr>
                <a:t>^</a:t>
              </a:r>
              <a:endParaRPr lang="th-TH" sz="3200" b="1" dirty="0">
                <a:solidFill>
                  <a:schemeClr val="accent1">
                    <a:lumMod val="50000"/>
                  </a:schemeClr>
                </a:solidFill>
                <a:latin typeface="Angsana New" pitchFamily="18" charset="-34"/>
              </a:endParaRPr>
            </a:p>
          </p:txBody>
        </p:sp>
        <p:cxnSp>
          <p:nvCxnSpPr>
            <p:cNvPr id="213" name="Straight Connector 83">
              <a:extLst>
                <a:ext uri="{FF2B5EF4-FFF2-40B4-BE49-F238E27FC236}">
                  <a16:creationId xmlns:a16="http://schemas.microsoft.com/office/drawing/2014/main" id="{0B966E08-33D3-45CA-8291-A4B5E850EB4A}"/>
                </a:ext>
              </a:extLst>
            </p:cNvPr>
            <p:cNvCxnSpPr/>
            <p:nvPr/>
          </p:nvCxnSpPr>
          <p:spPr bwMode="auto">
            <a:xfrm flipH="1">
              <a:off x="7931216" y="1143000"/>
              <a:ext cx="27432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90124" name="กลุ่ม 90123">
            <a:extLst>
              <a:ext uri="{FF2B5EF4-FFF2-40B4-BE49-F238E27FC236}">
                <a16:creationId xmlns:a16="http://schemas.microsoft.com/office/drawing/2014/main" id="{9C9C4C90-F2DF-46B7-B61B-31E756D4067C}"/>
              </a:ext>
            </a:extLst>
          </p:cNvPr>
          <p:cNvGrpSpPr/>
          <p:nvPr/>
        </p:nvGrpSpPr>
        <p:grpSpPr>
          <a:xfrm>
            <a:off x="533400" y="3962400"/>
            <a:ext cx="2837393" cy="638679"/>
            <a:chOff x="401434" y="4021553"/>
            <a:chExt cx="2837393" cy="638679"/>
          </a:xfrm>
        </p:grpSpPr>
        <p:grpSp>
          <p:nvGrpSpPr>
            <p:cNvPr id="215" name="กลุ่ม 214">
              <a:extLst>
                <a:ext uri="{FF2B5EF4-FFF2-40B4-BE49-F238E27FC236}">
                  <a16:creationId xmlns:a16="http://schemas.microsoft.com/office/drawing/2014/main" id="{10508522-6275-4DFA-86DB-8BFFEE776540}"/>
                </a:ext>
              </a:extLst>
            </p:cNvPr>
            <p:cNvGrpSpPr/>
            <p:nvPr/>
          </p:nvGrpSpPr>
          <p:grpSpPr>
            <a:xfrm>
              <a:off x="1295400" y="4021553"/>
              <a:ext cx="1943427" cy="638679"/>
              <a:chOff x="6972300" y="835789"/>
              <a:chExt cx="1943427" cy="638679"/>
            </a:xfrm>
          </p:grpSpPr>
          <p:sp>
            <p:nvSpPr>
              <p:cNvPr id="216" name="Rectangle 3">
                <a:extLst>
                  <a:ext uri="{FF2B5EF4-FFF2-40B4-BE49-F238E27FC236}">
                    <a16:creationId xmlns:a16="http://schemas.microsoft.com/office/drawing/2014/main" id="{E627B346-615F-49B0-B21C-836EAF466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72300" y="864868"/>
                <a:ext cx="1118642" cy="609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5000"/>
                  </a:lnSpc>
                  <a:defRPr/>
                </a:pPr>
                <a:r>
                  <a:rPr lang="en-US" sz="3200" b="1" dirty="0">
                    <a:solidFill>
                      <a:srgbClr val="00B050"/>
                    </a:solidFill>
                    <a:latin typeface="Angsana New" pitchFamily="18" charset="-34"/>
                  </a:rPr>
                  <a:t>=&gt; </a:t>
                </a:r>
                <a:r>
                  <a:rPr lang="en-US" sz="3200" b="1" dirty="0">
                    <a:solidFill>
                      <a:srgbClr val="9933FF"/>
                    </a:solidFill>
                    <a:latin typeface="Angsana New" pitchFamily="18" charset="-34"/>
                  </a:rPr>
                  <a:t> </a:t>
                </a:r>
                <a:r>
                  <a:rPr lang="en-US" sz="3200" b="1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p = </a:t>
                </a:r>
                <a:endParaRPr lang="th-TH" sz="3200" b="1" dirty="0">
                  <a:solidFill>
                    <a:srgbClr val="9933FF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217" name="Rectangle 3">
                <a:extLst>
                  <a:ext uri="{FF2B5EF4-FFF2-40B4-BE49-F238E27FC236}">
                    <a16:creationId xmlns:a16="http://schemas.microsoft.com/office/drawing/2014/main" id="{AA28E7E0-545B-44F1-949B-CDC2E1319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58444" y="835789"/>
                <a:ext cx="1057283" cy="609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0" hangingPunct="0">
                  <a:lnSpc>
                    <a:spcPts val="2200"/>
                  </a:lnSpc>
                  <a:defRPr/>
                </a:pPr>
                <a:r>
                  <a:rPr lang="en-US" b="1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X</a:t>
                </a:r>
                <a:r>
                  <a:rPr lang="en-US" b="1" baseline="-25000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1</a:t>
                </a:r>
                <a:r>
                  <a:rPr lang="en-US" b="1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 + X</a:t>
                </a:r>
                <a:r>
                  <a:rPr lang="en-US" b="1" baseline="-25000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2</a:t>
                </a:r>
              </a:p>
              <a:p>
                <a:pPr algn="ctr" eaLnBrk="0" hangingPunct="0">
                  <a:lnSpc>
                    <a:spcPts val="2200"/>
                  </a:lnSpc>
                  <a:defRPr/>
                </a:pPr>
                <a:r>
                  <a:rPr lang="en-US" b="1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n</a:t>
                </a:r>
                <a:r>
                  <a:rPr lang="en-US" b="1" baseline="-25000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1</a:t>
                </a:r>
                <a:r>
                  <a:rPr lang="en-US" b="1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 + n</a:t>
                </a:r>
                <a:r>
                  <a:rPr lang="en-US" b="1" baseline="-25000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2</a:t>
                </a:r>
                <a:endParaRPr lang="th-TH" b="1" baseline="-25000" dirty="0">
                  <a:solidFill>
                    <a:srgbClr val="9933FF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218" name="Rectangle 3">
                <a:extLst>
                  <a:ext uri="{FF2B5EF4-FFF2-40B4-BE49-F238E27FC236}">
                    <a16:creationId xmlns:a16="http://schemas.microsoft.com/office/drawing/2014/main" id="{4DBE14F2-2FB3-4450-B428-045AFE2DF3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1417" y="886328"/>
                <a:ext cx="404721" cy="4470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5000"/>
                  </a:lnSpc>
                  <a:defRPr/>
                </a:pPr>
                <a:r>
                  <a:rPr lang="en-US" sz="3200" b="1" dirty="0">
                    <a:solidFill>
                      <a:srgbClr val="9933FF"/>
                    </a:solidFill>
                    <a:latin typeface="Angsana New" pitchFamily="18" charset="-34"/>
                  </a:rPr>
                  <a:t>^</a:t>
                </a:r>
                <a:endParaRPr lang="th-TH" sz="3200" b="1" dirty="0">
                  <a:solidFill>
                    <a:srgbClr val="9933FF"/>
                  </a:solidFill>
                  <a:latin typeface="Angsana New" pitchFamily="18" charset="-34"/>
                </a:endParaRPr>
              </a:p>
            </p:txBody>
          </p:sp>
          <p:cxnSp>
            <p:nvCxnSpPr>
              <p:cNvPr id="219" name="Straight Connector 83">
                <a:extLst>
                  <a:ext uri="{FF2B5EF4-FFF2-40B4-BE49-F238E27FC236}">
                    <a16:creationId xmlns:a16="http://schemas.microsoft.com/office/drawing/2014/main" id="{AD301DAE-8E2A-4617-8AB9-8D8D6AD9EB84}"/>
                  </a:ext>
                </a:extLst>
              </p:cNvPr>
              <p:cNvCxnSpPr/>
              <p:nvPr/>
            </p:nvCxnSpPr>
            <p:spPr bwMode="auto">
              <a:xfrm flipH="1">
                <a:off x="7979344" y="1143000"/>
                <a:ext cx="822960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9933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20" name="Text Box 25">
              <a:extLst>
                <a:ext uri="{FF2B5EF4-FFF2-40B4-BE49-F238E27FC236}">
                  <a16:creationId xmlns:a16="http://schemas.microsoft.com/office/drawing/2014/main" id="{324F0971-8536-443D-8040-D6D3067E2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34" y="4047083"/>
              <a:ext cx="1116213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ts val="0"/>
                </a:spcBef>
                <a:defRPr/>
              </a:pPr>
              <a:r>
                <a:rPr kumimoji="1" lang="en-US" sz="3200" b="1" dirty="0">
                  <a:solidFill>
                    <a:srgbClr val="0000FF"/>
                  </a:solidFill>
                  <a:latin typeface="Angsana New" pitchFamily="18" charset="-34"/>
                </a:rPr>
                <a:t>p</a:t>
              </a:r>
              <a:r>
                <a:rPr kumimoji="1" lang="en-US" sz="3200" b="1" baseline="-25000" dirty="0">
                  <a:solidFill>
                    <a:srgbClr val="0000FF"/>
                  </a:solidFill>
                  <a:latin typeface="Angsana New" pitchFamily="18" charset="-34"/>
                </a:rPr>
                <a:t>1</a:t>
              </a:r>
              <a:r>
                <a:rPr kumimoji="1" lang="en-US" sz="3200" b="1" dirty="0">
                  <a:solidFill>
                    <a:srgbClr val="0000FF"/>
                  </a:solidFill>
                  <a:latin typeface="Angsana New" pitchFamily="18" charset="-34"/>
                  <a:sym typeface="Symbol"/>
                </a:rPr>
                <a:t> </a:t>
              </a:r>
              <a:r>
                <a:rPr kumimoji="1" lang="en-US" sz="3200" b="1" dirty="0">
                  <a:solidFill>
                    <a:srgbClr val="0000FF"/>
                  </a:solidFill>
                  <a:latin typeface="Angsana New" pitchFamily="18" charset="-34"/>
                </a:rPr>
                <a:t>= p</a:t>
              </a:r>
              <a:r>
                <a:rPr kumimoji="1" lang="en-US" sz="3200" b="1" baseline="-25000" dirty="0">
                  <a:solidFill>
                    <a:srgbClr val="0000FF"/>
                  </a:solidFill>
                  <a:latin typeface="Angsana New" pitchFamily="18" charset="-34"/>
                </a:rPr>
                <a:t>2 </a:t>
              </a:r>
              <a:endParaRPr kumimoji="1" lang="th-TH" sz="3200" b="1" dirty="0">
                <a:solidFill>
                  <a:srgbClr val="0000FF"/>
                </a:solidFill>
                <a:latin typeface="Angsana New" pitchFamily="18" charset="-34"/>
              </a:endParaRPr>
            </a:p>
          </p:txBody>
        </p:sp>
      </p:grpSp>
      <p:grpSp>
        <p:nvGrpSpPr>
          <p:cNvPr id="90125" name="กลุ่ม 90124">
            <a:extLst>
              <a:ext uri="{FF2B5EF4-FFF2-40B4-BE49-F238E27FC236}">
                <a16:creationId xmlns:a16="http://schemas.microsoft.com/office/drawing/2014/main" id="{45FCAFBE-3C87-4693-AECE-05DE1D219C9B}"/>
              </a:ext>
            </a:extLst>
          </p:cNvPr>
          <p:cNvGrpSpPr/>
          <p:nvPr/>
        </p:nvGrpSpPr>
        <p:grpSpPr>
          <a:xfrm>
            <a:off x="3352800" y="3946360"/>
            <a:ext cx="2738430" cy="650711"/>
            <a:chOff x="3352800" y="3946360"/>
            <a:chExt cx="2738430" cy="650711"/>
          </a:xfrm>
        </p:grpSpPr>
        <p:grpSp>
          <p:nvGrpSpPr>
            <p:cNvPr id="221" name="กลุ่ม 220">
              <a:extLst>
                <a:ext uri="{FF2B5EF4-FFF2-40B4-BE49-F238E27FC236}">
                  <a16:creationId xmlns:a16="http://schemas.microsoft.com/office/drawing/2014/main" id="{E572B807-C34D-4A52-8B15-98DA69BDE09E}"/>
                </a:ext>
              </a:extLst>
            </p:cNvPr>
            <p:cNvGrpSpPr/>
            <p:nvPr/>
          </p:nvGrpSpPr>
          <p:grpSpPr>
            <a:xfrm>
              <a:off x="3352800" y="3946360"/>
              <a:ext cx="1286998" cy="650711"/>
              <a:chOff x="7091194" y="823757"/>
              <a:chExt cx="1214933" cy="650711"/>
            </a:xfrm>
          </p:grpSpPr>
          <p:sp>
            <p:nvSpPr>
              <p:cNvPr id="222" name="Rectangle 3">
                <a:extLst>
                  <a:ext uri="{FF2B5EF4-FFF2-40B4-BE49-F238E27FC236}">
                    <a16:creationId xmlns:a16="http://schemas.microsoft.com/office/drawing/2014/main" id="{227B32D7-10E3-494E-8E0E-A3F2C2CD9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91194" y="864868"/>
                <a:ext cx="1021136" cy="609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5000"/>
                  </a:lnSpc>
                  <a:defRPr/>
                </a:pPr>
                <a:r>
                  <a:rPr lang="en-US" sz="3200" b="1" dirty="0">
                    <a:solidFill>
                      <a:srgbClr val="9933FF"/>
                    </a:solidFill>
                    <a:latin typeface="Angsana New" pitchFamily="18" charset="-34"/>
                  </a:rPr>
                  <a:t>;  </a:t>
                </a:r>
                <a:r>
                  <a:rPr lang="en-US" sz="3200" b="1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p</a:t>
                </a:r>
                <a:r>
                  <a:rPr lang="en-US" sz="3200" b="1" baseline="-25000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1</a:t>
                </a:r>
                <a:r>
                  <a:rPr lang="en-US" sz="3200" b="1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 = </a:t>
                </a:r>
                <a:endParaRPr lang="th-TH" sz="3200" b="1" dirty="0">
                  <a:solidFill>
                    <a:srgbClr val="9933FF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223" name="Rectangle 3">
                <a:extLst>
                  <a:ext uri="{FF2B5EF4-FFF2-40B4-BE49-F238E27FC236}">
                    <a16:creationId xmlns:a16="http://schemas.microsoft.com/office/drawing/2014/main" id="{FEE68F55-1213-456C-8FDF-EC2D6E115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58444" y="823757"/>
                <a:ext cx="447683" cy="609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0" hangingPunct="0">
                  <a:lnSpc>
                    <a:spcPts val="2200"/>
                  </a:lnSpc>
                  <a:defRPr/>
                </a:pPr>
                <a:r>
                  <a:rPr lang="en-US" b="1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X</a:t>
                </a:r>
                <a:r>
                  <a:rPr lang="en-US" b="1" baseline="-25000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1</a:t>
                </a:r>
              </a:p>
              <a:p>
                <a:pPr algn="ctr" eaLnBrk="0" hangingPunct="0">
                  <a:lnSpc>
                    <a:spcPts val="2200"/>
                  </a:lnSpc>
                  <a:defRPr/>
                </a:pPr>
                <a:r>
                  <a:rPr lang="en-US" b="1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n</a:t>
                </a:r>
                <a:r>
                  <a:rPr lang="en-US" b="1" baseline="-25000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1</a:t>
                </a:r>
                <a:endParaRPr lang="th-TH" b="1" baseline="-25000" dirty="0">
                  <a:solidFill>
                    <a:srgbClr val="9933FF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224" name="Rectangle 3">
                <a:extLst>
                  <a:ext uri="{FF2B5EF4-FFF2-40B4-BE49-F238E27FC236}">
                    <a16:creationId xmlns:a16="http://schemas.microsoft.com/office/drawing/2014/main" id="{82D6F118-93E6-4AB7-A1C1-0364C5C0F5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89825" y="886328"/>
                <a:ext cx="479940" cy="4470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5000"/>
                  </a:lnSpc>
                  <a:defRPr/>
                </a:pPr>
                <a:r>
                  <a:rPr lang="en-US" sz="3200" b="1" dirty="0">
                    <a:solidFill>
                      <a:srgbClr val="9933FF"/>
                    </a:solidFill>
                    <a:latin typeface="Angsana New" pitchFamily="18" charset="-34"/>
                  </a:rPr>
                  <a:t>^</a:t>
                </a:r>
                <a:endParaRPr lang="th-TH" sz="3200" b="1" dirty="0">
                  <a:solidFill>
                    <a:srgbClr val="9933FF"/>
                  </a:solidFill>
                  <a:latin typeface="Angsana New" pitchFamily="18" charset="-34"/>
                </a:endParaRPr>
              </a:p>
            </p:txBody>
          </p:sp>
          <p:cxnSp>
            <p:nvCxnSpPr>
              <p:cNvPr id="225" name="Straight Connector 83">
                <a:extLst>
                  <a:ext uri="{FF2B5EF4-FFF2-40B4-BE49-F238E27FC236}">
                    <a16:creationId xmlns:a16="http://schemas.microsoft.com/office/drawing/2014/main" id="{298E8817-F1ED-49BB-BC5E-243EA9429A00}"/>
                  </a:ext>
                </a:extLst>
              </p:cNvPr>
              <p:cNvCxnSpPr/>
              <p:nvPr/>
            </p:nvCxnSpPr>
            <p:spPr bwMode="auto">
              <a:xfrm flipH="1">
                <a:off x="7931216" y="1155032"/>
                <a:ext cx="345279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9933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226" name="กลุ่ม 225">
              <a:extLst>
                <a:ext uri="{FF2B5EF4-FFF2-40B4-BE49-F238E27FC236}">
                  <a16:creationId xmlns:a16="http://schemas.microsoft.com/office/drawing/2014/main" id="{162CBDE4-C44C-4B70-BCAA-AA227ACF6E60}"/>
                </a:ext>
              </a:extLst>
            </p:cNvPr>
            <p:cNvGrpSpPr/>
            <p:nvPr/>
          </p:nvGrpSpPr>
          <p:grpSpPr>
            <a:xfrm>
              <a:off x="4792200" y="3946360"/>
              <a:ext cx="1299030" cy="650711"/>
              <a:chOff x="7091194" y="823757"/>
              <a:chExt cx="1226291" cy="650711"/>
            </a:xfrm>
          </p:grpSpPr>
          <p:sp>
            <p:nvSpPr>
              <p:cNvPr id="227" name="Rectangle 3">
                <a:extLst>
                  <a:ext uri="{FF2B5EF4-FFF2-40B4-BE49-F238E27FC236}">
                    <a16:creationId xmlns:a16="http://schemas.microsoft.com/office/drawing/2014/main" id="{D00393AC-523D-4A68-96A1-FD2C659165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91194" y="864868"/>
                <a:ext cx="1021136" cy="609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5000"/>
                  </a:lnSpc>
                  <a:defRPr/>
                </a:pPr>
                <a:r>
                  <a:rPr lang="en-US" sz="3200" b="1" dirty="0">
                    <a:solidFill>
                      <a:srgbClr val="9933FF"/>
                    </a:solidFill>
                    <a:latin typeface="Angsana New" pitchFamily="18" charset="-34"/>
                  </a:rPr>
                  <a:t>;  </a:t>
                </a:r>
                <a:r>
                  <a:rPr lang="en-US" sz="3200" b="1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p</a:t>
                </a:r>
                <a:r>
                  <a:rPr lang="en-US" sz="3200" b="1" baseline="-25000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2</a:t>
                </a:r>
                <a:r>
                  <a:rPr lang="en-US" sz="3200" b="1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 = </a:t>
                </a:r>
                <a:endParaRPr lang="th-TH" sz="3200" b="1" dirty="0">
                  <a:solidFill>
                    <a:srgbClr val="9933FF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228" name="Rectangle 3">
                <a:extLst>
                  <a:ext uri="{FF2B5EF4-FFF2-40B4-BE49-F238E27FC236}">
                    <a16:creationId xmlns:a16="http://schemas.microsoft.com/office/drawing/2014/main" id="{4C2A535C-A114-42F3-A61D-93B2DF708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9802" y="823757"/>
                <a:ext cx="447683" cy="609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eaLnBrk="0" hangingPunct="0">
                  <a:lnSpc>
                    <a:spcPts val="2200"/>
                  </a:lnSpc>
                  <a:defRPr/>
                </a:pPr>
                <a:r>
                  <a:rPr lang="en-US" b="1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X</a:t>
                </a:r>
                <a:r>
                  <a:rPr lang="en-US" b="1" baseline="-25000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2</a:t>
                </a:r>
              </a:p>
              <a:p>
                <a:pPr algn="ctr" eaLnBrk="0" hangingPunct="0">
                  <a:lnSpc>
                    <a:spcPts val="2200"/>
                  </a:lnSpc>
                  <a:defRPr/>
                </a:pPr>
                <a:r>
                  <a:rPr lang="en-US" b="1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n</a:t>
                </a:r>
                <a:r>
                  <a:rPr lang="en-US" b="1" baseline="-25000" dirty="0">
                    <a:solidFill>
                      <a:srgbClr val="9933FF"/>
                    </a:solidFill>
                    <a:latin typeface="Angsana New" pitchFamily="18" charset="-34"/>
                    <a:sym typeface="Symbol"/>
                  </a:rPr>
                  <a:t>2</a:t>
                </a:r>
                <a:endParaRPr lang="th-TH" b="1" baseline="-25000" dirty="0">
                  <a:solidFill>
                    <a:srgbClr val="9933FF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229" name="Rectangle 3">
                <a:extLst>
                  <a:ext uri="{FF2B5EF4-FFF2-40B4-BE49-F238E27FC236}">
                    <a16:creationId xmlns:a16="http://schemas.microsoft.com/office/drawing/2014/main" id="{8C968024-C67A-4016-943D-6C0149A004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89825" y="886328"/>
                <a:ext cx="479940" cy="4470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eaLnBrk="0" hangingPunct="0">
                  <a:lnSpc>
                    <a:spcPct val="75000"/>
                  </a:lnSpc>
                  <a:defRPr/>
                </a:pPr>
                <a:r>
                  <a:rPr lang="en-US" sz="3200" b="1" dirty="0">
                    <a:solidFill>
                      <a:srgbClr val="9933FF"/>
                    </a:solidFill>
                    <a:latin typeface="Angsana New" pitchFamily="18" charset="-34"/>
                  </a:rPr>
                  <a:t>^</a:t>
                </a:r>
                <a:endParaRPr lang="th-TH" sz="3200" b="1" dirty="0">
                  <a:solidFill>
                    <a:srgbClr val="9933FF"/>
                  </a:solidFill>
                  <a:latin typeface="Angsana New" pitchFamily="18" charset="-34"/>
                </a:endParaRPr>
              </a:p>
            </p:txBody>
          </p:sp>
          <p:cxnSp>
            <p:nvCxnSpPr>
              <p:cNvPr id="230" name="Straight Connector 83">
                <a:extLst>
                  <a:ext uri="{FF2B5EF4-FFF2-40B4-BE49-F238E27FC236}">
                    <a16:creationId xmlns:a16="http://schemas.microsoft.com/office/drawing/2014/main" id="{DCA3EF6C-A447-46DB-83EF-CA9A2CB33FC0}"/>
                  </a:ext>
                </a:extLst>
              </p:cNvPr>
              <p:cNvCxnSpPr/>
              <p:nvPr/>
            </p:nvCxnSpPr>
            <p:spPr bwMode="auto">
              <a:xfrm flipH="1">
                <a:off x="7931216" y="1155032"/>
                <a:ext cx="345279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9933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235" name="Group 28">
            <a:extLst>
              <a:ext uri="{FF2B5EF4-FFF2-40B4-BE49-F238E27FC236}">
                <a16:creationId xmlns:a16="http://schemas.microsoft.com/office/drawing/2014/main" id="{EB22E52D-1F50-4BD8-96A5-CA3BA9D37CF7}"/>
              </a:ext>
            </a:extLst>
          </p:cNvPr>
          <p:cNvGrpSpPr/>
          <p:nvPr/>
        </p:nvGrpSpPr>
        <p:grpSpPr>
          <a:xfrm>
            <a:off x="4953000" y="4356269"/>
            <a:ext cx="1393356" cy="523220"/>
            <a:chOff x="5533539" y="1431760"/>
            <a:chExt cx="1393356" cy="523220"/>
          </a:xfrm>
        </p:grpSpPr>
        <p:cxnSp>
          <p:nvCxnSpPr>
            <p:cNvPr id="236" name="Straight Arrow Connector 16">
              <a:extLst>
                <a:ext uri="{FF2B5EF4-FFF2-40B4-BE49-F238E27FC236}">
                  <a16:creationId xmlns:a16="http://schemas.microsoft.com/office/drawing/2014/main" id="{68B698C4-12BC-4B9F-B8F3-8210535A6DA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533539" y="1722171"/>
              <a:ext cx="1066800" cy="23012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arrow"/>
            </a:ln>
            <a:effectLst/>
          </p:spPr>
        </p:cxnSp>
        <p:sp>
          <p:nvSpPr>
            <p:cNvPr id="237" name="TextBox 26">
              <a:extLst>
                <a:ext uri="{FF2B5EF4-FFF2-40B4-BE49-F238E27FC236}">
                  <a16:creationId xmlns:a16="http://schemas.microsoft.com/office/drawing/2014/main" id="{6EDAA2C4-5C82-4AA5-A7DA-395495D817AD}"/>
                </a:ext>
              </a:extLst>
            </p:cNvPr>
            <p:cNvSpPr txBox="1"/>
            <p:nvPr/>
          </p:nvSpPr>
          <p:spPr>
            <a:xfrm>
              <a:off x="6545732" y="1431760"/>
              <a:ext cx="3811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Angsana New" panose="02020603050405020304" pitchFamily="18" charset="-34"/>
                </a:rPr>
                <a:t>0</a:t>
              </a:r>
              <a:endParaRPr lang="th-TH" b="1" dirty="0">
                <a:solidFill>
                  <a:srgbClr val="FF0000"/>
                </a:solidFill>
                <a:latin typeface="Angsana New" panose="02020603050405020304" pitchFamily="18" charset="-34"/>
              </a:endParaRPr>
            </a:p>
          </p:txBody>
        </p:sp>
      </p:grpSp>
      <p:grpSp>
        <p:nvGrpSpPr>
          <p:cNvPr id="90130" name="กลุ่ม 90129">
            <a:extLst>
              <a:ext uri="{FF2B5EF4-FFF2-40B4-BE49-F238E27FC236}">
                <a16:creationId xmlns:a16="http://schemas.microsoft.com/office/drawing/2014/main" id="{F8561BCE-91B9-4BC7-AFE0-C3ADCE2F4B67}"/>
              </a:ext>
            </a:extLst>
          </p:cNvPr>
          <p:cNvGrpSpPr/>
          <p:nvPr/>
        </p:nvGrpSpPr>
        <p:grpSpPr>
          <a:xfrm>
            <a:off x="5532765" y="940250"/>
            <a:ext cx="1782435" cy="619118"/>
            <a:chOff x="5532765" y="940250"/>
            <a:chExt cx="1782435" cy="619118"/>
          </a:xfrm>
        </p:grpSpPr>
        <p:sp>
          <p:nvSpPr>
            <p:cNvPr id="101" name="Rectangle 3">
              <a:extLst>
                <a:ext uri="{FF2B5EF4-FFF2-40B4-BE49-F238E27FC236}">
                  <a16:creationId xmlns:a16="http://schemas.microsoft.com/office/drawing/2014/main" id="{3BF98052-0F68-4EE2-921F-A7798EFD6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2765" y="940250"/>
              <a:ext cx="1782435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2400" b="1" dirty="0">
                  <a:solidFill>
                    <a:srgbClr val="FF0000"/>
                  </a:solidFill>
                  <a:latin typeface="Angsana New" pitchFamily="18" charset="-34"/>
                </a:rPr>
                <a:t> </a:t>
              </a:r>
              <a:r>
                <a:rPr lang="th-TH" sz="2400" b="1" dirty="0">
                  <a:solidFill>
                    <a:srgbClr val="FF0000"/>
                  </a:solidFill>
                  <a:latin typeface="Angsana New" pitchFamily="18" charset="-34"/>
                  <a:sym typeface="Symbol"/>
                </a:rPr>
                <a:t></a:t>
              </a:r>
              <a:r>
                <a:rPr lang="en-US" sz="2400" b="1" dirty="0">
                  <a:solidFill>
                    <a:srgbClr val="FF0000"/>
                  </a:solidFill>
                  <a:latin typeface="Angsana New" pitchFamily="18" charset="-34"/>
                  <a:sym typeface="Symbol"/>
                </a:rPr>
                <a:t>  </a:t>
              </a:r>
              <a:r>
                <a:rPr lang="en-US" sz="3200" b="1" dirty="0">
                  <a:solidFill>
                    <a:srgbClr val="FF0000"/>
                  </a:solidFill>
                  <a:latin typeface="Angsana New" pitchFamily="18" charset="-34"/>
                </a:rPr>
                <a:t>N(0 , 1)</a:t>
              </a:r>
              <a:endParaRPr lang="th-TH" sz="3200" b="1" dirty="0">
                <a:solidFill>
                  <a:srgbClr val="FF0000"/>
                </a:solidFill>
                <a:latin typeface="Angsana New" pitchFamily="18" charset="-34"/>
              </a:endParaRPr>
            </a:p>
          </p:txBody>
        </p:sp>
        <p:sp>
          <p:nvSpPr>
            <p:cNvPr id="240" name="Rectangle 3">
              <a:extLst>
                <a:ext uri="{FF2B5EF4-FFF2-40B4-BE49-F238E27FC236}">
                  <a16:creationId xmlns:a16="http://schemas.microsoft.com/office/drawing/2014/main" id="{8507379D-4CC7-4542-82B2-B93FA84D0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3670" y="949768"/>
              <a:ext cx="260073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ts val="800"/>
                </a:lnSpc>
                <a:defRPr/>
              </a:pPr>
              <a:r>
                <a:rPr lang="en-US" sz="3400" b="1" dirty="0">
                  <a:solidFill>
                    <a:srgbClr val="FF0000"/>
                  </a:solidFill>
                  <a:latin typeface="Angsana New" pitchFamily="18" charset="-34"/>
                </a:rPr>
                <a:t>.</a:t>
              </a:r>
            </a:p>
            <a:p>
              <a:pPr eaLnBrk="0" hangingPunct="0">
                <a:lnSpc>
                  <a:spcPts val="800"/>
                </a:lnSpc>
                <a:defRPr/>
              </a:pPr>
              <a:r>
                <a:rPr lang="en-US" sz="3400" b="1" dirty="0">
                  <a:solidFill>
                    <a:srgbClr val="FF0000"/>
                  </a:solidFill>
                  <a:latin typeface="Angsana New" pitchFamily="18" charset="-34"/>
                </a:rPr>
                <a:t>.</a:t>
              </a:r>
              <a:endParaRPr lang="th-TH" sz="3400" b="1" dirty="0">
                <a:solidFill>
                  <a:srgbClr val="FF0000"/>
                </a:solidFill>
                <a:latin typeface="Angsana New" pitchFamily="18" charset="-34"/>
              </a:endParaRPr>
            </a:p>
          </p:txBody>
        </p:sp>
      </p:grpSp>
      <p:grpSp>
        <p:nvGrpSpPr>
          <p:cNvPr id="243" name="กลุ่ม 242">
            <a:extLst>
              <a:ext uri="{FF2B5EF4-FFF2-40B4-BE49-F238E27FC236}">
                <a16:creationId xmlns:a16="http://schemas.microsoft.com/office/drawing/2014/main" id="{25A4E580-0B56-422A-A8F7-50FC3407E600}"/>
              </a:ext>
            </a:extLst>
          </p:cNvPr>
          <p:cNvGrpSpPr/>
          <p:nvPr/>
        </p:nvGrpSpPr>
        <p:grpSpPr>
          <a:xfrm>
            <a:off x="6142365" y="4641659"/>
            <a:ext cx="1782435" cy="619118"/>
            <a:chOff x="5532765" y="940250"/>
            <a:chExt cx="1782435" cy="619118"/>
          </a:xfrm>
        </p:grpSpPr>
        <p:sp>
          <p:nvSpPr>
            <p:cNvPr id="244" name="Rectangle 3">
              <a:extLst>
                <a:ext uri="{FF2B5EF4-FFF2-40B4-BE49-F238E27FC236}">
                  <a16:creationId xmlns:a16="http://schemas.microsoft.com/office/drawing/2014/main" id="{3421CA3B-E1FE-4115-B7B5-D32059B81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2765" y="940250"/>
              <a:ext cx="1782435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ct val="75000"/>
                </a:lnSpc>
                <a:defRPr/>
              </a:pPr>
              <a:r>
                <a:rPr lang="th-TH" sz="2400" b="1" dirty="0">
                  <a:solidFill>
                    <a:srgbClr val="FF0000"/>
                  </a:solidFill>
                  <a:latin typeface="Angsana New" pitchFamily="18" charset="-34"/>
                </a:rPr>
                <a:t> </a:t>
              </a:r>
              <a:r>
                <a:rPr lang="th-TH" sz="2400" b="1" dirty="0">
                  <a:solidFill>
                    <a:srgbClr val="FF0000"/>
                  </a:solidFill>
                  <a:latin typeface="Angsana New" pitchFamily="18" charset="-34"/>
                  <a:sym typeface="Symbol"/>
                </a:rPr>
                <a:t></a:t>
              </a:r>
              <a:r>
                <a:rPr lang="en-US" sz="2400" b="1" dirty="0">
                  <a:solidFill>
                    <a:srgbClr val="FF0000"/>
                  </a:solidFill>
                  <a:latin typeface="Angsana New" pitchFamily="18" charset="-34"/>
                  <a:sym typeface="Symbol"/>
                </a:rPr>
                <a:t>  </a:t>
              </a:r>
              <a:r>
                <a:rPr lang="en-US" sz="3200" b="1" dirty="0">
                  <a:solidFill>
                    <a:srgbClr val="FF0000"/>
                  </a:solidFill>
                  <a:latin typeface="Angsana New" pitchFamily="18" charset="-34"/>
                </a:rPr>
                <a:t>N(0 , 1)</a:t>
              </a:r>
              <a:endParaRPr lang="th-TH" sz="3200" b="1" dirty="0">
                <a:solidFill>
                  <a:srgbClr val="FF0000"/>
                </a:solidFill>
                <a:latin typeface="Angsana New" pitchFamily="18" charset="-34"/>
              </a:endParaRPr>
            </a:p>
          </p:txBody>
        </p:sp>
        <p:sp>
          <p:nvSpPr>
            <p:cNvPr id="245" name="Rectangle 3">
              <a:extLst>
                <a:ext uri="{FF2B5EF4-FFF2-40B4-BE49-F238E27FC236}">
                  <a16:creationId xmlns:a16="http://schemas.microsoft.com/office/drawing/2014/main" id="{314CF06A-0E36-412A-B41B-613648B35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0607" y="949768"/>
              <a:ext cx="260073" cy="609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eaLnBrk="0" hangingPunct="0">
                <a:lnSpc>
                  <a:spcPts val="800"/>
                </a:lnSpc>
                <a:defRPr/>
              </a:pPr>
              <a:r>
                <a:rPr lang="en-US" sz="3400" b="1" dirty="0">
                  <a:solidFill>
                    <a:srgbClr val="FF0000"/>
                  </a:solidFill>
                  <a:latin typeface="Angsana New" pitchFamily="18" charset="-34"/>
                </a:rPr>
                <a:t>.</a:t>
              </a:r>
            </a:p>
            <a:p>
              <a:pPr eaLnBrk="0" hangingPunct="0">
                <a:lnSpc>
                  <a:spcPts val="800"/>
                </a:lnSpc>
                <a:defRPr/>
              </a:pPr>
              <a:r>
                <a:rPr lang="en-US" sz="3400" b="1" dirty="0">
                  <a:solidFill>
                    <a:srgbClr val="FF0000"/>
                  </a:solidFill>
                  <a:latin typeface="Angsana New" pitchFamily="18" charset="-34"/>
                </a:rPr>
                <a:t>.</a:t>
              </a:r>
              <a:endParaRPr lang="th-TH" sz="3400" b="1" dirty="0">
                <a:solidFill>
                  <a:srgbClr val="FF0000"/>
                </a:solidFill>
                <a:latin typeface="Angsana New" pitchFamily="18" charset="-34"/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8869E-7AB9-487D-89EC-BEB44737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3616EF-75E5-4690-856B-E2DE7F57532B}" type="slidenum">
              <a:rPr lang="en-US" smtClean="0"/>
              <a:pPr>
                <a:defRPr/>
              </a:pPr>
              <a:t>21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23487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0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/>
      <p:bldP spid="13" grpId="0" autoUpdateAnimBg="0"/>
      <p:bldP spid="27" grpId="0"/>
      <p:bldP spid="50" grpId="0"/>
      <p:bldP spid="77" grpId="0"/>
      <p:bldP spid="103" grpId="0"/>
      <p:bldP spid="104" grpId="0" autoUpdateAnimBg="0"/>
      <p:bldP spid="107" grpId="0"/>
      <p:bldP spid="130" grpId="0"/>
      <p:bldP spid="157" grpId="0"/>
    </p:bldLst>
  </p:timing>
</p:sld>
</file>

<file path=ppt/theme/theme1.xml><?xml version="1.0" encoding="utf-8"?>
<a:theme xmlns:a="http://schemas.openxmlformats.org/drawingml/2006/main" name="การออกแบบเริ่มต้น">
  <a:themeElements>
    <a:clrScheme name="การออกแบบเริ่มต้น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การออกแบบเริ่มต้น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ngsana New" pitchFamily="18" charset="-34"/>
          </a:defRPr>
        </a:defPPr>
      </a:lstStyle>
    </a:lnDef>
  </a:objectDefaults>
  <a:extraClrSchemeLst>
    <a:extraClrScheme>
      <a:clrScheme name="การออกแบบเริ่มต้น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การออกแบบเริ่มต้น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การออกแบบเริ่มต้น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การออกแบบเริ่มต้น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การออกแบบเริ่มต้น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การออกแบบเริ่มต้น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การออกแบบเริ่มต้น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การออกแบบเริ่มต้น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การออกแบบเริ่มต้น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การออกแบบเริ่มต้น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การออกแบบเริ่มต้น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การออกแบบเริ่มต้น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746246347D7F4792C1A3903781635D" ma:contentTypeVersion="3" ma:contentTypeDescription="Create a new document." ma:contentTypeScope="" ma:versionID="cb02b0854ccafec3bffed6dd44e163d6">
  <xsd:schema xmlns:xsd="http://www.w3.org/2001/XMLSchema" xmlns:xs="http://www.w3.org/2001/XMLSchema" xmlns:p="http://schemas.microsoft.com/office/2006/metadata/properties" xmlns:ns2="be450e9a-ef92-4cdb-a4ab-9ff71cad7892" targetNamespace="http://schemas.microsoft.com/office/2006/metadata/properties" ma:root="true" ma:fieldsID="f5ba5446dcdfb28e6b62b374b870fdb3" ns2:_="">
    <xsd:import namespace="be450e9a-ef92-4cdb-a4ab-9ff71cad78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450e9a-ef92-4cdb-a4ab-9ff71cad78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FCDB63-4A29-4DA1-8681-F5402B67F3BD}"/>
</file>

<file path=customXml/itemProps2.xml><?xml version="1.0" encoding="utf-8"?>
<ds:datastoreItem xmlns:ds="http://schemas.openxmlformats.org/officeDocument/2006/customXml" ds:itemID="{4482D176-1A6B-4483-BB7E-3DE14AB34C39}"/>
</file>

<file path=customXml/itemProps3.xml><?xml version="1.0" encoding="utf-8"?>
<ds:datastoreItem xmlns:ds="http://schemas.openxmlformats.org/officeDocument/2006/customXml" ds:itemID="{2893E3D8-977E-482B-B406-6B9DCA90CBC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4619</TotalTime>
  <Words>3053</Words>
  <Application>Microsoft Office PowerPoint</Application>
  <PresentationFormat>On-screen Show (4:3)</PresentationFormat>
  <Paragraphs>477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Angsana New</vt:lpstr>
      <vt:lpstr>Arial</vt:lpstr>
      <vt:lpstr>Monotype Sorts</vt:lpstr>
      <vt:lpstr>Symbol</vt:lpstr>
      <vt:lpstr>Times New Roman</vt:lpstr>
      <vt:lpstr>Verdana</vt:lpstr>
      <vt:lpstr>Webdings</vt:lpstr>
      <vt:lpstr>Wingdings</vt:lpstr>
      <vt:lpstr>การออกแบบเริ่มต้น</vt:lpstr>
      <vt:lpstr>PowerPoint Presentation</vt:lpstr>
      <vt:lpstr>PowerPoint Presentation</vt:lpstr>
      <vt:lpstr>Hypothesis (สมมุติฐาน)</vt:lpstr>
      <vt:lpstr>PowerPoint Presentation</vt:lpstr>
      <vt:lpstr>PowerPoint Presentation</vt:lpstr>
      <vt:lpstr>PowerPoint Presentation</vt:lpstr>
      <vt:lpstr>ปรัชญาของการทดสอบสมมุติฐานเชิงสถิติ</vt:lpstr>
      <vt:lpstr>Logic in Testing of Hypothesis</vt:lpstr>
      <vt:lpstr>PowerPoint Presentation</vt:lpstr>
      <vt:lpstr>PowerPoint Presentation</vt:lpstr>
      <vt:lpstr>PowerPoint Presentation</vt:lpstr>
      <vt:lpstr>ความคลาดเคลื่อน (Error)</vt:lpstr>
      <vt:lpstr>p – value  คือ ความน่าจะเป็นที่แสดงความเสี่ยงที่จะปฏิเสธ H0                                     เมื่อ H0  เป็นจริง</vt:lpstr>
      <vt:lpstr>การทดสอบค่าเฉลี่ยของประชากร</vt:lpstr>
      <vt:lpstr>1. การทดสอบค่าเฉลี่ย 1 ประชากร เมื่อไม่ทราบค่าความแปรปรวนประชากร 2</vt:lpstr>
      <vt:lpstr>PowerPoint Presentation</vt:lpstr>
      <vt:lpstr>PowerPoint Presentation</vt:lpstr>
      <vt:lpstr>PowerPoint Presentation</vt:lpstr>
      <vt:lpstr>PowerPoint Presentation</vt:lpstr>
      <vt:lpstr>การทดสอบสัดส่วนของประชากร</vt:lpstr>
      <vt:lpstr>1. การทดสอบสัดส่วนของประชากร 1 ประชากร </vt:lpstr>
    </vt:vector>
  </TitlesOfParts>
  <Company>NIDA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การทดสอบสมมุติฐาน (Testing of Hypothesis)</dc:title>
  <dc:creator>AS</dc:creator>
  <cp:lastModifiedBy>Ramidha Srihera</cp:lastModifiedBy>
  <cp:revision>178</cp:revision>
  <cp:lastPrinted>2019-08-13T04:26:24Z</cp:lastPrinted>
  <dcterms:created xsi:type="dcterms:W3CDTF">2002-04-27T13:30:26Z</dcterms:created>
  <dcterms:modified xsi:type="dcterms:W3CDTF">2026-09-02T04:41:30Z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0x010100D5746246347D7F4792C1A3903781635D</vt:lpwstr>
  </property>
</Properties>
</file>