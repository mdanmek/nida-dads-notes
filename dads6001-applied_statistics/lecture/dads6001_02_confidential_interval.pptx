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</p:sldMasterIdLst>
  <p:notesMasterIdLst>
    <p:notesMasterId r:id="rId19"/>
  </p:notesMasterIdLst>
  <p:handoutMasterIdLst>
    <p:handoutMasterId r:id="rId20"/>
  </p:handoutMasterIdLst>
  <p:sldIdLst>
    <p:sldId id="256" r:id="rId2"/>
    <p:sldId id="342" r:id="rId3"/>
    <p:sldId id="421" r:id="rId4"/>
    <p:sldId id="387" r:id="rId5"/>
    <p:sldId id="429" r:id="rId6"/>
    <p:sldId id="436" r:id="rId7"/>
    <p:sldId id="431" r:id="rId8"/>
    <p:sldId id="390" r:id="rId9"/>
    <p:sldId id="393" r:id="rId10"/>
    <p:sldId id="379" r:id="rId11"/>
    <p:sldId id="397" r:id="rId12"/>
    <p:sldId id="394" r:id="rId13"/>
    <p:sldId id="395" r:id="rId14"/>
    <p:sldId id="396" r:id="rId15"/>
    <p:sldId id="427" r:id="rId16"/>
    <p:sldId id="435" r:id="rId17"/>
    <p:sldId id="398" r:id="rId18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990000"/>
    <a:srgbClr val="FF33CC"/>
    <a:srgbClr val="AF423F"/>
    <a:srgbClr val="3A05A3"/>
    <a:srgbClr val="008080"/>
    <a:srgbClr val="34164A"/>
    <a:srgbClr val="7030A0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93" autoAdjust="0"/>
    <p:restoredTop sz="94610" autoAdjust="0"/>
  </p:normalViewPr>
  <p:slideViewPr>
    <p:cSldViewPr>
      <p:cViewPr varScale="1">
        <p:scale>
          <a:sx n="52" d="100"/>
          <a:sy n="52" d="100"/>
        </p:scale>
        <p:origin x="1760" y="264"/>
      </p:cViewPr>
      <p:guideLst>
        <p:guide orient="horz" pos="2160"/>
        <p:guide pos="283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2125"/>
    </p:cViewPr>
  </p:sorterViewPr>
  <p:notesViewPr>
    <p:cSldViewPr>
      <p:cViewPr varScale="1">
        <p:scale>
          <a:sx n="43" d="100"/>
          <a:sy n="43" d="100"/>
        </p:scale>
        <p:origin x="-1363" y="-58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9694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9694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B59DA00-E106-4AAF-A688-8187B550C876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172457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694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5790"/>
            <a:ext cx="5046663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noProof="0"/>
              <a:t>Click to edit Master text styles</a:t>
            </a:r>
          </a:p>
          <a:p>
            <a:pPr lvl="1"/>
            <a:r>
              <a:rPr lang="th-TH" noProof="0"/>
              <a:t>Second level</a:t>
            </a:r>
          </a:p>
          <a:p>
            <a:pPr lvl="2"/>
            <a:r>
              <a:rPr lang="th-TH" noProof="0"/>
              <a:t>Third level</a:t>
            </a:r>
          </a:p>
          <a:p>
            <a:pPr lvl="3"/>
            <a:r>
              <a:rPr lang="th-TH" noProof="0"/>
              <a:t>Fourth level</a:t>
            </a:r>
          </a:p>
          <a:p>
            <a:pPr lvl="4"/>
            <a:r>
              <a:rPr lang="th-TH" noProof="0"/>
              <a:t>Fifth level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694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17EE713C-12C7-4C69-BB2A-8B01965DE809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883228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E713C-12C7-4C69-BB2A-8B01965DE809}" type="slidenum">
              <a:rPr lang="en-US" smtClean="0"/>
              <a:pPr>
                <a:defRPr/>
              </a:pPr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33041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203EA1-3682-40A7-A64A-069CD215C4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6C73E-FBCA-4CF2-8E6A-3573AB9B48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7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AD454-B78B-4F6E-A02D-C7DAB4F3F4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5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D6BF8-F221-4BF2-B783-3C50E8EF15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46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8C85E-1E0E-4C6D-A6CD-041A88191A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81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64E22-69D3-4014-8F59-C213E1E617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2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652BB0-719E-4DDF-88B2-DE9B34D95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3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E1D6A-502D-4416-A3B7-357E6E9399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51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8B74FF-A8CF-4924-B536-7A0C5D82E5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1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434AA-CF8F-4580-80F7-1BA8073961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8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D4EF2-5B74-4987-B724-D909AF26FC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6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3A5CA14-4D5B-491D-8696-9C16D8D22A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38200" y="2286000"/>
            <a:ext cx="7848600" cy="838200"/>
          </a:xfrm>
        </p:spPr>
        <p:txBody>
          <a:bodyPr/>
          <a:lstStyle/>
          <a:p>
            <a:pPr eaLnBrk="1" hangingPunct="1">
              <a:lnSpc>
                <a:spcPct val="75000"/>
              </a:lnSpc>
            </a:pPr>
            <a:r>
              <a:rPr lang="th-TH" sz="4000" b="1" dirty="0">
                <a:solidFill>
                  <a:srgbClr val="0000CC"/>
                </a:solidFill>
                <a:latin typeface="Angsana New" pitchFamily="18" charset="-34"/>
                <a:cs typeface="Angsana New" panose="02020603050405020304" pitchFamily="18" charset="-34"/>
              </a:rPr>
              <a:t>การประมาณด้วยช่วง (</a:t>
            </a:r>
            <a:r>
              <a:rPr lang="en-US" sz="4000" b="1" dirty="0">
                <a:solidFill>
                  <a:srgbClr val="0000CC"/>
                </a:solidFill>
                <a:latin typeface="Angsana New" pitchFamily="18" charset="-34"/>
                <a:cs typeface="Angsana New" pitchFamily="18" charset="-34"/>
              </a:rPr>
              <a:t>Interval Estimation</a:t>
            </a:r>
            <a:r>
              <a:rPr lang="th-TH" sz="4000" b="1" dirty="0">
                <a:solidFill>
                  <a:srgbClr val="0000CC"/>
                </a:solidFill>
                <a:latin typeface="Angsana New" pitchFamily="18" charset="-34"/>
                <a:cs typeface="Angsana New" panose="02020603050405020304" pitchFamily="18" charset="-34"/>
              </a:rPr>
              <a:t>)</a:t>
            </a:r>
            <a:endParaRPr lang="th-TH" sz="4000" dirty="0">
              <a:latin typeface="Angsana New" pitchFamily="18" charset="-34"/>
              <a:cs typeface="Angsana New" panose="02020603050405020304" pitchFamily="18" charset="-34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5334000" y="3048000"/>
            <a:ext cx="3657600" cy="685800"/>
          </a:xfrm>
        </p:spPr>
        <p:txBody>
          <a:bodyPr rtlCol="0">
            <a:normAutofit/>
          </a:bodyPr>
          <a:lstStyle/>
          <a:p>
            <a:pPr algn="r" eaLnBrk="1" fontAlgn="auto" hangingPunct="1">
              <a:spcBef>
                <a:spcPct val="35000"/>
              </a:spcBef>
              <a:spcAft>
                <a:spcPct val="20000"/>
              </a:spcAft>
              <a:buFont typeface="Arial" pitchFamily="34" charset="0"/>
              <a:buNone/>
              <a:defRPr/>
            </a:pPr>
            <a:r>
              <a:rPr lang="th-TH" sz="3600" b="1" dirty="0">
                <a:solidFill>
                  <a:srgbClr val="CC0066"/>
                </a:solidFill>
                <a:latin typeface="Angsana New" pitchFamily="18" charset="-34"/>
                <a:cs typeface="Angsana New" pitchFamily="18" charset="-34"/>
              </a:rPr>
              <a:t>พาชิตชนัต  ศิริพานิช</a:t>
            </a:r>
            <a:endParaRPr lang="th-TH" sz="3600" b="1" dirty="0">
              <a:solidFill>
                <a:srgbClr val="006600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331185-6B7A-4BCF-BA44-E9A942EA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203EA1-3682-40A7-A64A-069CD215C48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410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152400"/>
            <a:ext cx="8763000" cy="7461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th-TH" b="1" dirty="0">
                <a:solidFill>
                  <a:srgbClr val="3333FF"/>
                </a:solidFill>
                <a:latin typeface="Angsana New" pitchFamily="18" charset="-34"/>
                <a:cs typeface="Angsana New" pitchFamily="18" charset="-34"/>
              </a:rPr>
              <a:t>การอนุมานเชิงสถิติ</a:t>
            </a:r>
            <a:r>
              <a:rPr lang="en-US" b="1" dirty="0">
                <a:solidFill>
                  <a:srgbClr val="3333FF"/>
                </a:solidFill>
                <a:latin typeface="Angsana New" pitchFamily="18" charset="-34"/>
                <a:cs typeface="Angsana New" pitchFamily="18" charset="-34"/>
              </a:rPr>
              <a:t> (Statistical Inference)</a:t>
            </a:r>
            <a:endParaRPr lang="th-TH" dirty="0">
              <a:solidFill>
                <a:srgbClr val="3333FF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399" y="914400"/>
            <a:ext cx="5712773" cy="716682"/>
          </a:xfrm>
        </p:spPr>
        <p:txBody>
          <a:bodyPr rtlCol="0" anchor="ctr">
            <a:noAutofit/>
          </a:bodyPr>
          <a:lstStyle/>
          <a:p>
            <a:pPr marL="234950" indent="-234950" algn="l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th-TH" sz="3600" b="1" dirty="0">
                <a:solidFill>
                  <a:srgbClr val="006600"/>
                </a:solidFill>
                <a:latin typeface="Angsana New" pitchFamily="18" charset="-34"/>
                <a:cs typeface="Angsana New" pitchFamily="18" charset="-34"/>
              </a:rPr>
              <a:t>การประมาณค่า (Estimation)</a:t>
            </a:r>
            <a:endParaRPr lang="th-TH" sz="3600" dirty="0">
              <a:solidFill>
                <a:srgbClr val="006600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126980" name="Rectangle 4"/>
          <p:cNvSpPr>
            <a:spLocks noChangeArrowheads="1"/>
          </p:cNvSpPr>
          <p:nvPr/>
        </p:nvSpPr>
        <p:spPr bwMode="auto">
          <a:xfrm>
            <a:off x="524476" y="5486400"/>
            <a:ext cx="6181124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173038" indent="-173038">
              <a:buFont typeface="Arial" charset="0"/>
              <a:buChar char="•"/>
            </a:pPr>
            <a:r>
              <a:rPr kumimoji="1" lang="th-TH" sz="3600" b="1" dirty="0">
                <a:solidFill>
                  <a:srgbClr val="006600"/>
                </a:solidFill>
              </a:rPr>
              <a:t> การทดสอบสมมุติฐาน (</a:t>
            </a:r>
            <a:r>
              <a:rPr kumimoji="1" lang="th-TH" sz="3600" b="1" dirty="0" err="1">
                <a:solidFill>
                  <a:srgbClr val="006600"/>
                </a:solidFill>
              </a:rPr>
              <a:t>Hypothesis</a:t>
            </a:r>
            <a:r>
              <a:rPr kumimoji="1" lang="th-TH" sz="3600" b="1" dirty="0">
                <a:solidFill>
                  <a:srgbClr val="006600"/>
                </a:solidFill>
              </a:rPr>
              <a:t> </a:t>
            </a:r>
            <a:r>
              <a:rPr kumimoji="1" lang="th-TH" sz="3600" b="1" dirty="0" err="1">
                <a:solidFill>
                  <a:srgbClr val="006600"/>
                </a:solidFill>
              </a:rPr>
              <a:t>Testing</a:t>
            </a:r>
            <a:r>
              <a:rPr kumimoji="1" lang="th-TH" sz="3600" b="1" dirty="0">
                <a:solidFill>
                  <a:srgbClr val="006600"/>
                </a:solidFill>
              </a:rPr>
              <a:t>)       </a:t>
            </a:r>
            <a:endParaRPr kumimoji="1" lang="th-TH" sz="3600" dirty="0">
              <a:solidFill>
                <a:srgbClr val="006600"/>
              </a:solidFill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101725" y="1631082"/>
            <a:ext cx="49180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8600" indent="-228600">
              <a:defRPr/>
            </a:pPr>
            <a:r>
              <a:rPr lang="th-TH" sz="2800" b="1" dirty="0">
                <a:solidFill>
                  <a:srgbClr val="7030A0"/>
                </a:solidFill>
              </a:rPr>
              <a:t>1. การประมาณค่าแบบจุด </a:t>
            </a:r>
            <a:r>
              <a:rPr lang="en-US" sz="2800" b="1" dirty="0">
                <a:solidFill>
                  <a:srgbClr val="7030A0"/>
                </a:solidFill>
              </a:rPr>
              <a:t>(Point Estimation)</a:t>
            </a:r>
            <a:endParaRPr lang="th-TH" sz="2800" b="1" dirty="0">
              <a:solidFill>
                <a:srgbClr val="7030A0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101725" y="3429000"/>
            <a:ext cx="5486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8600" indent="-228600">
              <a:defRPr/>
            </a:pPr>
            <a:r>
              <a:rPr lang="th-TH" sz="2800" b="1" dirty="0">
                <a:solidFill>
                  <a:srgbClr val="7030A0"/>
                </a:solidFill>
              </a:rPr>
              <a:t>2. การประมาณค่าแบบช่วง (</a:t>
            </a:r>
            <a:r>
              <a:rPr lang="en-US" sz="2800" b="1" dirty="0">
                <a:solidFill>
                  <a:srgbClr val="7030A0"/>
                </a:solidFill>
              </a:rPr>
              <a:t>Interval Estimation)</a:t>
            </a:r>
            <a:endParaRPr lang="th-TH" sz="2800" b="1" dirty="0">
              <a:solidFill>
                <a:srgbClr val="7030A0"/>
              </a:solidFill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663700" y="2164482"/>
            <a:ext cx="6032500" cy="533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571500" indent="-571500"/>
            <a:r>
              <a:rPr lang="en-US" sz="2800" b="1" dirty="0">
                <a:solidFill>
                  <a:srgbClr val="0000FF"/>
                </a:solidFill>
              </a:rPr>
              <a:t>  </a:t>
            </a:r>
            <a:r>
              <a:rPr lang="en-US" sz="2800" b="1" dirty="0" err="1">
                <a:solidFill>
                  <a:srgbClr val="0000FF"/>
                </a:solidFill>
              </a:rPr>
              <a:t>Estimand</a:t>
            </a:r>
            <a:r>
              <a:rPr lang="en-US" sz="2800" b="1" dirty="0">
                <a:solidFill>
                  <a:srgbClr val="0000FF"/>
                </a:solidFill>
              </a:rPr>
              <a:t> = </a:t>
            </a:r>
            <a:r>
              <a:rPr lang="th-TH" sz="2800" b="1" dirty="0">
                <a:solidFill>
                  <a:srgbClr val="0000FF"/>
                </a:solidFill>
              </a:rPr>
              <a:t>พารามิเตอร์  </a:t>
            </a:r>
            <a:r>
              <a:rPr lang="th-TH" sz="2200" b="1" dirty="0">
                <a:solidFill>
                  <a:srgbClr val="0000FF"/>
                </a:solidFill>
                <a:sym typeface="Symbol" pitchFamily="18" charset="2"/>
              </a:rPr>
              <a:t></a:t>
            </a:r>
            <a:r>
              <a:rPr lang="th-TH" sz="2800" b="1" dirty="0">
                <a:solidFill>
                  <a:srgbClr val="0000FF"/>
                </a:solidFill>
                <a:sym typeface="Symbol" pitchFamily="18" charset="2"/>
              </a:rPr>
              <a:t>  ที่ต้องการประมาณ</a:t>
            </a:r>
          </a:p>
        </p:txBody>
      </p:sp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635125" y="2660073"/>
            <a:ext cx="6035675" cy="683925"/>
            <a:chOff x="22" y="1749"/>
            <a:chExt cx="3802" cy="677"/>
          </a:xfrm>
          <a:noFill/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22" y="1898"/>
              <a:ext cx="3802" cy="5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571500" indent="-571500"/>
              <a:r>
                <a:rPr lang="en-US" sz="2800" b="1" dirty="0">
                  <a:solidFill>
                    <a:srgbClr val="0000FF"/>
                  </a:solidFill>
                </a:rPr>
                <a:t>  Estimator = </a:t>
              </a:r>
              <a:r>
                <a:rPr lang="th-TH" sz="2800" b="1" dirty="0">
                  <a:solidFill>
                    <a:srgbClr val="0000FF"/>
                  </a:solidFill>
                </a:rPr>
                <a:t>สถิติ  </a:t>
              </a:r>
              <a:r>
                <a:rPr lang="th-TH" sz="2200" b="1" dirty="0">
                  <a:solidFill>
                    <a:srgbClr val="0000FF"/>
                  </a:solidFill>
                  <a:sym typeface="Symbol" pitchFamily="18" charset="2"/>
                </a:rPr>
                <a:t></a:t>
              </a:r>
              <a:r>
                <a:rPr lang="en-US" sz="2800" b="1" dirty="0">
                  <a:solidFill>
                    <a:srgbClr val="0000FF"/>
                  </a:solidFill>
                  <a:sym typeface="Symbol" pitchFamily="18" charset="2"/>
                </a:rPr>
                <a:t>(X</a:t>
              </a:r>
              <a:r>
                <a:rPr lang="en-US" sz="2800" b="1" baseline="-25000" dirty="0">
                  <a:solidFill>
                    <a:srgbClr val="0000FF"/>
                  </a:solidFill>
                  <a:sym typeface="Symbol" pitchFamily="18" charset="2"/>
                </a:rPr>
                <a:t>1</a:t>
              </a:r>
              <a:r>
                <a:rPr lang="en-US" sz="2800" b="1" dirty="0">
                  <a:solidFill>
                    <a:srgbClr val="0000FF"/>
                  </a:solidFill>
                  <a:sym typeface="Symbol" pitchFamily="18" charset="2"/>
                </a:rPr>
                <a:t> , X</a:t>
              </a:r>
              <a:r>
                <a:rPr lang="en-US" sz="2800" b="1" baseline="-25000" dirty="0">
                  <a:solidFill>
                    <a:srgbClr val="0000FF"/>
                  </a:solidFill>
                  <a:sym typeface="Symbol" pitchFamily="18" charset="2"/>
                </a:rPr>
                <a:t>2</a:t>
              </a:r>
              <a:r>
                <a:rPr lang="en-US" sz="2800" b="1" dirty="0">
                  <a:solidFill>
                    <a:srgbClr val="0000FF"/>
                  </a:solidFill>
                  <a:sym typeface="Symbol" pitchFamily="18" charset="2"/>
                </a:rPr>
                <a:t> , … , </a:t>
              </a:r>
              <a:r>
                <a:rPr lang="en-US" sz="2800" b="1" dirty="0" err="1">
                  <a:solidFill>
                    <a:srgbClr val="0000FF"/>
                  </a:solidFill>
                  <a:sym typeface="Symbol" pitchFamily="18" charset="2"/>
                </a:rPr>
                <a:t>X</a:t>
              </a:r>
              <a:r>
                <a:rPr lang="en-US" sz="2800" b="1" baseline="-25000" dirty="0" err="1">
                  <a:solidFill>
                    <a:srgbClr val="0000FF"/>
                  </a:solidFill>
                  <a:sym typeface="Symbol" pitchFamily="18" charset="2"/>
                </a:rPr>
                <a:t>n</a:t>
              </a:r>
              <a:r>
                <a:rPr lang="en-US" sz="2800" b="1" dirty="0">
                  <a:solidFill>
                    <a:srgbClr val="0000FF"/>
                  </a:solidFill>
                  <a:sym typeface="Symbol" pitchFamily="18" charset="2"/>
                </a:rPr>
                <a:t>)</a:t>
              </a:r>
              <a:r>
                <a:rPr lang="th-TH" sz="2800" b="1" dirty="0">
                  <a:solidFill>
                    <a:srgbClr val="0000FF"/>
                  </a:solidFill>
                  <a:sym typeface="Symbol" pitchFamily="18" charset="2"/>
                </a:rPr>
                <a:t> ที่ใช้ประมาณ </a:t>
              </a:r>
              <a:r>
                <a:rPr lang="th-TH" sz="2200" b="1" dirty="0">
                  <a:solidFill>
                    <a:srgbClr val="0000FF"/>
                  </a:solidFill>
                  <a:sym typeface="Symbol" pitchFamily="18" charset="2"/>
                </a:rPr>
                <a:t>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248" y="1749"/>
              <a:ext cx="192" cy="3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b="1" dirty="0">
                  <a:solidFill>
                    <a:srgbClr val="0000FF"/>
                  </a:solidFill>
                </a:rPr>
                <a:t>^</a:t>
              </a:r>
              <a:endParaRPr lang="th-TH" sz="2800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1763497" y="3962400"/>
            <a:ext cx="6542303" cy="533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571500" indent="-571500"/>
            <a:r>
              <a:rPr lang="th-TH" sz="2800" b="1" dirty="0">
                <a:solidFill>
                  <a:srgbClr val="0000FF"/>
                </a:solidFill>
              </a:rPr>
              <a:t>ช่วงสุ่ม </a:t>
            </a:r>
            <a:r>
              <a:rPr lang="en-US" sz="2800" b="1" dirty="0">
                <a:solidFill>
                  <a:srgbClr val="0000FF"/>
                </a:solidFill>
              </a:rPr>
              <a:t>L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(X</a:t>
            </a:r>
            <a:r>
              <a:rPr lang="en-US" sz="2800" b="1" baseline="-25000" dirty="0">
                <a:solidFill>
                  <a:srgbClr val="0000FF"/>
                </a:solidFill>
                <a:sym typeface="Symbol" pitchFamily="18" charset="2"/>
              </a:rPr>
              <a:t>1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, X</a:t>
            </a:r>
            <a:r>
              <a:rPr lang="en-US" sz="2800" b="1" baseline="-25000" dirty="0">
                <a:solidFill>
                  <a:srgbClr val="0000FF"/>
                </a:solidFill>
                <a:sym typeface="Symbol" pitchFamily="18" charset="2"/>
              </a:rPr>
              <a:t>2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, … , </a:t>
            </a:r>
            <a:r>
              <a:rPr lang="en-US" sz="2800" b="1" dirty="0" err="1">
                <a:solidFill>
                  <a:srgbClr val="0000FF"/>
                </a:solidFill>
                <a:sym typeface="Symbol" pitchFamily="18" charset="2"/>
              </a:rPr>
              <a:t>X</a:t>
            </a:r>
            <a:r>
              <a:rPr lang="en-US" sz="2800" b="1" baseline="-25000" dirty="0" err="1">
                <a:solidFill>
                  <a:srgbClr val="0000FF"/>
                </a:solidFill>
                <a:sym typeface="Symbol" pitchFamily="18" charset="2"/>
              </a:rPr>
              <a:t>n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th-TH" sz="2800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u="sng" dirty="0">
                <a:solidFill>
                  <a:srgbClr val="0000FF"/>
                </a:solidFill>
                <a:sym typeface="Symbol" pitchFamily="18" charset="2"/>
              </a:rPr>
              <a:t>&lt;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th-TH" sz="2200" b="1" dirty="0">
                <a:solidFill>
                  <a:srgbClr val="0000FF"/>
                </a:solidFill>
                <a:sym typeface="Symbol" pitchFamily="18" charset="2"/>
              </a:rPr>
              <a:t>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u="sng" dirty="0">
                <a:solidFill>
                  <a:srgbClr val="0000FF"/>
                </a:solidFill>
                <a:sym typeface="Symbol" pitchFamily="18" charset="2"/>
              </a:rPr>
              <a:t>&lt;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U(X</a:t>
            </a:r>
            <a:r>
              <a:rPr lang="en-US" sz="2800" b="1" baseline="-25000" dirty="0">
                <a:solidFill>
                  <a:srgbClr val="0000FF"/>
                </a:solidFill>
                <a:sym typeface="Symbol" pitchFamily="18" charset="2"/>
              </a:rPr>
              <a:t>1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, X</a:t>
            </a:r>
            <a:r>
              <a:rPr lang="en-US" sz="2800" b="1" baseline="-25000" dirty="0">
                <a:solidFill>
                  <a:srgbClr val="0000FF"/>
                </a:solidFill>
                <a:sym typeface="Symbol" pitchFamily="18" charset="2"/>
              </a:rPr>
              <a:t>2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, … , </a:t>
            </a:r>
            <a:r>
              <a:rPr lang="en-US" sz="2800" b="1" dirty="0" err="1">
                <a:solidFill>
                  <a:srgbClr val="0000FF"/>
                </a:solidFill>
                <a:sym typeface="Symbol" pitchFamily="18" charset="2"/>
              </a:rPr>
              <a:t>X</a:t>
            </a:r>
            <a:r>
              <a:rPr lang="en-US" sz="2800" b="1" baseline="-25000" dirty="0" err="1">
                <a:solidFill>
                  <a:srgbClr val="0000FF"/>
                </a:solidFill>
                <a:sym typeface="Symbol" pitchFamily="18" charset="2"/>
              </a:rPr>
              <a:t>n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th-TH" sz="2800" b="1" dirty="0">
                <a:solidFill>
                  <a:srgbClr val="0000FF"/>
                </a:solidFill>
                <a:sym typeface="Symbol" pitchFamily="18" charset="2"/>
              </a:rPr>
              <a:t>  ที่ทำให้</a:t>
            </a:r>
            <a:r>
              <a:rPr lang="th-TH" sz="2800" dirty="0">
                <a:solidFill>
                  <a:srgbClr val="0000FF"/>
                </a:solidFill>
                <a:sym typeface="Symbol" pitchFamily="18" charset="2"/>
              </a:rPr>
              <a:t> </a:t>
            </a: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1766671" y="4586415"/>
            <a:ext cx="7148729" cy="533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571500" indent="-571500"/>
            <a:r>
              <a:rPr lang="th-TH" sz="2800" b="1" dirty="0">
                <a:solidFill>
                  <a:srgbClr val="0000FF"/>
                </a:solidFill>
              </a:rPr>
              <a:t>ความน่าจะเป็น </a:t>
            </a:r>
            <a:r>
              <a:rPr lang="en-US" sz="2800" b="1" dirty="0">
                <a:solidFill>
                  <a:srgbClr val="0000FF"/>
                </a:solidFill>
              </a:rPr>
              <a:t>P[L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(X</a:t>
            </a:r>
            <a:r>
              <a:rPr lang="en-US" sz="2800" b="1" baseline="-25000" dirty="0">
                <a:solidFill>
                  <a:srgbClr val="0000FF"/>
                </a:solidFill>
                <a:sym typeface="Symbol" pitchFamily="18" charset="2"/>
              </a:rPr>
              <a:t>1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, X</a:t>
            </a:r>
            <a:r>
              <a:rPr lang="en-US" sz="2800" b="1" baseline="-25000" dirty="0">
                <a:solidFill>
                  <a:srgbClr val="0000FF"/>
                </a:solidFill>
                <a:sym typeface="Symbol" pitchFamily="18" charset="2"/>
              </a:rPr>
              <a:t>2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, … , </a:t>
            </a:r>
            <a:r>
              <a:rPr lang="en-US" sz="2800" b="1" dirty="0" err="1">
                <a:solidFill>
                  <a:srgbClr val="0000FF"/>
                </a:solidFill>
                <a:sym typeface="Symbol" pitchFamily="18" charset="2"/>
              </a:rPr>
              <a:t>X</a:t>
            </a:r>
            <a:r>
              <a:rPr lang="en-US" sz="2800" b="1" baseline="-25000" dirty="0" err="1">
                <a:solidFill>
                  <a:srgbClr val="0000FF"/>
                </a:solidFill>
                <a:sym typeface="Symbol" pitchFamily="18" charset="2"/>
              </a:rPr>
              <a:t>n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th-TH" sz="2800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u="sng" dirty="0">
                <a:solidFill>
                  <a:srgbClr val="0000FF"/>
                </a:solidFill>
                <a:sym typeface="Symbol" pitchFamily="18" charset="2"/>
              </a:rPr>
              <a:t>&lt;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th-TH" sz="2200" b="1" dirty="0">
                <a:solidFill>
                  <a:srgbClr val="0000FF"/>
                </a:solidFill>
                <a:sym typeface="Symbol" pitchFamily="18" charset="2"/>
              </a:rPr>
              <a:t>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u="sng" dirty="0">
                <a:solidFill>
                  <a:srgbClr val="0000FF"/>
                </a:solidFill>
                <a:sym typeface="Symbol" pitchFamily="18" charset="2"/>
              </a:rPr>
              <a:t>&lt;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U(X</a:t>
            </a:r>
            <a:r>
              <a:rPr lang="en-US" sz="2800" b="1" baseline="-25000" dirty="0">
                <a:solidFill>
                  <a:srgbClr val="0000FF"/>
                </a:solidFill>
                <a:sym typeface="Symbol" pitchFamily="18" charset="2"/>
              </a:rPr>
              <a:t>1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, X</a:t>
            </a:r>
            <a:r>
              <a:rPr lang="en-US" sz="2800" b="1" baseline="-25000" dirty="0">
                <a:solidFill>
                  <a:srgbClr val="0000FF"/>
                </a:solidFill>
                <a:sym typeface="Symbol" pitchFamily="18" charset="2"/>
              </a:rPr>
              <a:t>2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, … , </a:t>
            </a:r>
            <a:r>
              <a:rPr lang="en-US" sz="2800" b="1" dirty="0" err="1">
                <a:solidFill>
                  <a:srgbClr val="0000FF"/>
                </a:solidFill>
                <a:sym typeface="Symbol" pitchFamily="18" charset="2"/>
              </a:rPr>
              <a:t>X</a:t>
            </a:r>
            <a:r>
              <a:rPr lang="en-US" sz="2800" b="1" baseline="-25000" dirty="0" err="1">
                <a:solidFill>
                  <a:srgbClr val="0000FF"/>
                </a:solidFill>
                <a:sym typeface="Symbol" pitchFamily="18" charset="2"/>
              </a:rPr>
              <a:t>n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)]</a:t>
            </a:r>
            <a:r>
              <a:rPr lang="th-TH" sz="2800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= 1–</a:t>
            </a:r>
            <a:r>
              <a:rPr lang="th-TH" sz="2800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th-TH" sz="2200" b="1" dirty="0">
                <a:solidFill>
                  <a:srgbClr val="0000FF"/>
                </a:solidFill>
                <a:sym typeface="Symbol" pitchFamily="18" charset="2"/>
              </a:rPr>
              <a:t></a:t>
            </a:r>
          </a:p>
        </p:txBody>
      </p:sp>
      <p:sp>
        <p:nvSpPr>
          <p:cNvPr id="2" name="Right Arrow 1"/>
          <p:cNvSpPr/>
          <p:nvPr/>
        </p:nvSpPr>
        <p:spPr>
          <a:xfrm>
            <a:off x="1418970" y="2310714"/>
            <a:ext cx="274320" cy="253135"/>
          </a:xfrm>
          <a:prstGeom prst="rightArrow">
            <a:avLst/>
          </a:prstGeom>
          <a:solidFill>
            <a:srgbClr val="FF33CC"/>
          </a:solidFill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Right Arrow 16"/>
          <p:cNvSpPr/>
          <p:nvPr/>
        </p:nvSpPr>
        <p:spPr>
          <a:xfrm>
            <a:off x="1434664" y="4100385"/>
            <a:ext cx="274320" cy="253135"/>
          </a:xfrm>
          <a:prstGeom prst="rightArrow">
            <a:avLst/>
          </a:prstGeom>
          <a:solidFill>
            <a:srgbClr val="FF33CC"/>
          </a:solidFill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5CBF5-46E4-4218-8641-533757350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203EA1-3682-40A7-A64A-069CD215C48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6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8" grpId="0" autoUpdateAnimBg="0"/>
      <p:bldP spid="126979" grpId="0" build="p" autoUpdateAnimBg="0" advAuto="0"/>
      <p:bldP spid="126980" grpId="0" build="p" autoUpdateAnimBg="0" advAuto="0"/>
      <p:bldP spid="7" grpId="0" build="p" autoUpdateAnimBg="0" advAuto="0"/>
      <p:bldP spid="8" grpId="0" build="p" autoUpdateAnimBg="0" advAuto="0"/>
      <p:bldP spid="9" grpId="0"/>
      <p:bldP spid="13" grpId="0"/>
      <p:bldP spid="14" grpId="0"/>
      <p:bldP spid="2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ChangeArrowheads="1"/>
          </p:cNvSpPr>
          <p:nvPr/>
        </p:nvSpPr>
        <p:spPr bwMode="auto">
          <a:xfrm>
            <a:off x="228600" y="76200"/>
            <a:ext cx="8686800" cy="739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kumimoji="1" lang="th-TH" sz="4400" b="1" dirty="0">
                <a:solidFill>
                  <a:srgbClr val="0000FF"/>
                </a:solidFill>
              </a:rPr>
              <a:t>การประมาณค่าแบบช่วง</a:t>
            </a:r>
            <a:endParaRPr kumimoji="1" lang="th-TH" sz="4400" dirty="0">
              <a:solidFill>
                <a:srgbClr val="0000FF"/>
              </a:solidFill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28599" y="762000"/>
            <a:ext cx="85990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2800" b="1" dirty="0">
                <a:solidFill>
                  <a:srgbClr val="006600"/>
                </a:solidFill>
              </a:rPr>
              <a:t>ให้ </a:t>
            </a:r>
            <a:r>
              <a:rPr lang="en-US" sz="2800" b="1" dirty="0">
                <a:solidFill>
                  <a:srgbClr val="006600"/>
                </a:solidFill>
              </a:rPr>
              <a:t>X</a:t>
            </a:r>
            <a:r>
              <a:rPr lang="en-US" sz="2800" b="1" baseline="-25000" dirty="0">
                <a:solidFill>
                  <a:srgbClr val="006600"/>
                </a:solidFill>
              </a:rPr>
              <a:t>1</a:t>
            </a:r>
            <a:r>
              <a:rPr lang="en-US" sz="2800" b="1" dirty="0">
                <a:solidFill>
                  <a:srgbClr val="006600"/>
                </a:solidFill>
              </a:rPr>
              <a:t> , X</a:t>
            </a:r>
            <a:r>
              <a:rPr lang="en-US" sz="2800" b="1" baseline="-25000" dirty="0">
                <a:solidFill>
                  <a:srgbClr val="006600"/>
                </a:solidFill>
              </a:rPr>
              <a:t>2</a:t>
            </a:r>
            <a:r>
              <a:rPr lang="en-US" sz="2800" b="1" dirty="0">
                <a:solidFill>
                  <a:srgbClr val="006600"/>
                </a:solidFill>
              </a:rPr>
              <a:t> , … , </a:t>
            </a:r>
            <a:r>
              <a:rPr lang="en-US" sz="2800" b="1" dirty="0" err="1">
                <a:solidFill>
                  <a:srgbClr val="006600"/>
                </a:solidFill>
              </a:rPr>
              <a:t>X</a:t>
            </a:r>
            <a:r>
              <a:rPr lang="en-US" sz="2800" b="1" baseline="-25000" dirty="0" err="1">
                <a:solidFill>
                  <a:srgbClr val="006600"/>
                </a:solidFill>
              </a:rPr>
              <a:t>n</a:t>
            </a:r>
            <a:r>
              <a:rPr lang="en-US" sz="2800" b="1" dirty="0">
                <a:solidFill>
                  <a:srgbClr val="006600"/>
                </a:solidFill>
              </a:rPr>
              <a:t> </a:t>
            </a:r>
            <a:r>
              <a:rPr lang="th-TH" sz="2800" b="1" dirty="0">
                <a:solidFill>
                  <a:srgbClr val="006600"/>
                </a:solidFill>
              </a:rPr>
              <a:t>เป็นตัวอย่างสุ่ม จากการแจกแจงที่มีพารามิเตอร์ </a:t>
            </a:r>
            <a:r>
              <a:rPr lang="th-TH" sz="2200" b="1" dirty="0">
                <a:solidFill>
                  <a:srgbClr val="006600"/>
                </a:solidFill>
                <a:sym typeface="Symbol" pitchFamily="18" charset="2"/>
              </a:rPr>
              <a:t></a:t>
            </a:r>
            <a:r>
              <a:rPr lang="th-TH" sz="2800" b="1" dirty="0">
                <a:solidFill>
                  <a:srgbClr val="006600"/>
                </a:solidFill>
              </a:rPr>
              <a:t> 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36897" y="1529689"/>
            <a:ext cx="43434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th-TH" sz="2800" b="1" dirty="0">
                <a:solidFill>
                  <a:schemeClr val="accent4">
                    <a:lumMod val="75000"/>
                  </a:schemeClr>
                </a:solidFill>
              </a:rPr>
              <a:t>ช่วงความเชื่อมั่น </a:t>
            </a:r>
            <a:r>
              <a:rPr lang="en-US" sz="2800" b="1" dirty="0">
                <a:solidFill>
                  <a:srgbClr val="FF0000"/>
                </a:solidFill>
              </a:rPr>
              <a:t>(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1–</a:t>
            </a:r>
            <a:r>
              <a:rPr lang="th-TH" sz="28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th-TH" sz="2200" b="1" dirty="0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en-US" sz="2800" b="1" dirty="0">
                <a:solidFill>
                  <a:srgbClr val="FF0000"/>
                </a:solidFill>
              </a:rPr>
              <a:t>)100%  </a:t>
            </a:r>
            <a:r>
              <a:rPr lang="th-TH" sz="2800" b="1" dirty="0">
                <a:solidFill>
                  <a:schemeClr val="accent4">
                    <a:lumMod val="75000"/>
                  </a:schemeClr>
                </a:solidFill>
              </a:rPr>
              <a:t>ของ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</a:t>
            </a:r>
            <a:endParaRPr lang="th-TH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sz="2800" b="1" dirty="0">
                <a:solidFill>
                  <a:srgbClr val="FF0000"/>
                </a:solidFill>
              </a:rPr>
              <a:t>(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1–</a:t>
            </a:r>
            <a:r>
              <a:rPr lang="th-TH" sz="28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th-TH" sz="2200" b="1" dirty="0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en-US" sz="2800" b="1" dirty="0">
                <a:solidFill>
                  <a:srgbClr val="FF0000"/>
                </a:solidFill>
              </a:rPr>
              <a:t>)100%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Confidence Interval for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</a:t>
            </a:r>
            <a:endParaRPr lang="th-TH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Rectangle 15"/>
          <p:cNvSpPr>
            <a:spLocks noChangeArrowheads="1"/>
          </p:cNvSpPr>
          <p:nvPr/>
        </p:nvSpPr>
        <p:spPr bwMode="auto">
          <a:xfrm>
            <a:off x="5410200" y="1468273"/>
            <a:ext cx="3581400" cy="100089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571500" indent="-571500" algn="ctr"/>
            <a:r>
              <a:rPr lang="th-TH" sz="2800" b="1" dirty="0">
                <a:solidFill>
                  <a:srgbClr val="0000FF"/>
                </a:solidFill>
              </a:rPr>
              <a:t>ช่วงสุ่ม </a:t>
            </a:r>
            <a:r>
              <a:rPr lang="en-US" sz="2800" b="1" dirty="0">
                <a:solidFill>
                  <a:srgbClr val="0000FF"/>
                </a:solidFill>
              </a:rPr>
              <a:t> 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L  </a:t>
            </a:r>
            <a:r>
              <a:rPr lang="en-US" sz="2800" b="1" u="sng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&lt;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</a:t>
            </a:r>
            <a:r>
              <a:rPr lang="th-TH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</a:t>
            </a:r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  </a:t>
            </a:r>
            <a:r>
              <a:rPr lang="en-US" sz="2800" b="1" u="sng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&lt;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  U</a:t>
            </a:r>
            <a:r>
              <a:rPr lang="th-TH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  </a:t>
            </a:r>
            <a:r>
              <a:rPr lang="th-TH" sz="2800" b="1" dirty="0">
                <a:solidFill>
                  <a:srgbClr val="0000FF"/>
                </a:solidFill>
                <a:sym typeface="Symbol" pitchFamily="18" charset="2"/>
              </a:rPr>
              <a:t>ที่ทำให้</a:t>
            </a:r>
            <a:r>
              <a:rPr lang="th-TH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endParaRPr lang="en-US" sz="2800" b="1" dirty="0">
              <a:solidFill>
                <a:schemeClr val="accent4">
                  <a:lumMod val="75000"/>
                </a:schemeClr>
              </a:solidFill>
              <a:sym typeface="Symbol" pitchFamily="18" charset="2"/>
            </a:endParaRPr>
          </a:p>
          <a:p>
            <a:pPr marL="571500" indent="-571500" algn="ctr"/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P(L</a:t>
            </a:r>
            <a:r>
              <a:rPr lang="th-TH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 </a:t>
            </a:r>
            <a:r>
              <a:rPr lang="en-US" sz="2800" b="1" u="sng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&lt;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</a:t>
            </a:r>
            <a:r>
              <a:rPr lang="th-TH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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</a:t>
            </a:r>
            <a:r>
              <a:rPr lang="en-US" sz="2800" b="1" u="sng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&lt;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 U)</a:t>
            </a:r>
            <a:r>
              <a:rPr lang="th-TH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= 1–</a:t>
            </a:r>
            <a:r>
              <a:rPr lang="th-TH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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35469" y="1447800"/>
            <a:ext cx="5046131" cy="1019488"/>
            <a:chOff x="135469" y="1417035"/>
            <a:chExt cx="5046131" cy="1019488"/>
          </a:xfrm>
        </p:grpSpPr>
        <p:sp>
          <p:nvSpPr>
            <p:cNvPr id="2" name="Pentagon 1"/>
            <p:cNvSpPr/>
            <p:nvPr/>
          </p:nvSpPr>
          <p:spPr>
            <a:xfrm>
              <a:off x="551725" y="1430683"/>
              <a:ext cx="4629875" cy="1005840"/>
            </a:xfrm>
            <a:prstGeom prst="homePlate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" name="Rectangle 2"/>
            <p:cNvSpPr/>
            <p:nvPr/>
          </p:nvSpPr>
          <p:spPr>
            <a:xfrm>
              <a:off x="135469" y="1417035"/>
              <a:ext cx="91440" cy="1005840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87869" y="1420504"/>
              <a:ext cx="182880" cy="1005840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40" name="Rectangle 39"/>
          <p:cNvSpPr/>
          <p:nvPr/>
        </p:nvSpPr>
        <p:spPr>
          <a:xfrm>
            <a:off x="5410200" y="1468273"/>
            <a:ext cx="3581400" cy="1005840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1" name="Rectangle 15"/>
          <p:cNvSpPr>
            <a:spLocks noChangeArrowheads="1"/>
          </p:cNvSpPr>
          <p:nvPr/>
        </p:nvSpPr>
        <p:spPr bwMode="auto">
          <a:xfrm>
            <a:off x="425560" y="3200401"/>
            <a:ext cx="871844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571500" indent="-571500">
              <a:lnSpc>
                <a:spcPct val="80000"/>
              </a:lnSpc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L = L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(X</a:t>
            </a:r>
            <a:r>
              <a:rPr lang="en-US" sz="2800" b="1" baseline="-25000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1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, X</a:t>
            </a:r>
            <a:r>
              <a:rPr lang="en-US" sz="2800" b="1" baseline="-25000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2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, … , </a:t>
            </a:r>
            <a:r>
              <a:rPr lang="en-US" sz="2800" b="1" dirty="0" err="1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X</a:t>
            </a:r>
            <a:r>
              <a:rPr lang="en-US" sz="2800" b="1" baseline="-25000" dirty="0" err="1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n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) </a:t>
            </a:r>
            <a:r>
              <a:rPr lang="th-TH" sz="2800" b="1" dirty="0">
                <a:solidFill>
                  <a:srgbClr val="006600"/>
                </a:solidFill>
                <a:sym typeface="Symbol" pitchFamily="18" charset="2"/>
              </a:rPr>
              <a:t>คือ </a:t>
            </a:r>
            <a:r>
              <a:rPr lang="th-TH" sz="2800" b="1" dirty="0">
                <a:solidFill>
                  <a:srgbClr val="FF00FF"/>
                </a:solidFill>
              </a:rPr>
              <a:t>ขีดจำกัดความเชื่อมั่นด้านล่าง</a:t>
            </a:r>
            <a:r>
              <a:rPr lang="en-US" sz="2800" b="1" dirty="0">
                <a:solidFill>
                  <a:srgbClr val="FF00FF"/>
                </a:solidFill>
              </a:rPr>
              <a:t> </a:t>
            </a:r>
            <a:r>
              <a:rPr lang="th-TH" sz="2800" b="1" dirty="0">
                <a:solidFill>
                  <a:srgbClr val="FF00FF"/>
                </a:solidFill>
              </a:rPr>
              <a:t>(</a:t>
            </a:r>
            <a:r>
              <a:rPr lang="en-US" sz="2800" b="1" dirty="0">
                <a:solidFill>
                  <a:srgbClr val="FF00FF"/>
                </a:solidFill>
              </a:rPr>
              <a:t>Lower Confidence Limit)</a:t>
            </a:r>
            <a:endParaRPr lang="th-TH" sz="2800" b="1" dirty="0">
              <a:solidFill>
                <a:srgbClr val="FF00FF"/>
              </a:solidFill>
            </a:endParaRPr>
          </a:p>
        </p:txBody>
      </p:sp>
      <p:sp>
        <p:nvSpPr>
          <p:cNvPr id="46" name="Rectangle 15"/>
          <p:cNvSpPr>
            <a:spLocks noChangeArrowheads="1"/>
          </p:cNvSpPr>
          <p:nvPr/>
        </p:nvSpPr>
        <p:spPr bwMode="auto">
          <a:xfrm>
            <a:off x="135469" y="2637458"/>
            <a:ext cx="1067808" cy="56294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571500" indent="-571500"/>
            <a:r>
              <a:rPr lang="th-TH" sz="2800" b="1" dirty="0">
                <a:solidFill>
                  <a:srgbClr val="006600"/>
                </a:solidFill>
              </a:rPr>
              <a:t>โดยที่</a:t>
            </a:r>
            <a:endParaRPr lang="th-TH" sz="2800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7" name="Rectangle 15"/>
          <p:cNvSpPr>
            <a:spLocks noChangeArrowheads="1"/>
          </p:cNvSpPr>
          <p:nvPr/>
        </p:nvSpPr>
        <p:spPr bwMode="auto">
          <a:xfrm>
            <a:off x="411912" y="3747448"/>
            <a:ext cx="871844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571500" indent="-571500">
              <a:lnSpc>
                <a:spcPct val="80000"/>
              </a:lnSpc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U = U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(X</a:t>
            </a:r>
            <a:r>
              <a:rPr lang="en-US" sz="2800" b="1" baseline="-25000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1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, X</a:t>
            </a:r>
            <a:r>
              <a:rPr lang="en-US" sz="2800" b="1" baseline="-25000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2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 , … , </a:t>
            </a:r>
            <a:r>
              <a:rPr lang="en-US" sz="2800" b="1" dirty="0" err="1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X</a:t>
            </a:r>
            <a:r>
              <a:rPr lang="en-US" sz="2800" b="1" baseline="-25000" dirty="0" err="1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n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) </a:t>
            </a:r>
            <a:r>
              <a:rPr lang="th-TH" sz="2800" b="1" dirty="0">
                <a:solidFill>
                  <a:srgbClr val="006600"/>
                </a:solidFill>
                <a:sym typeface="Symbol" pitchFamily="18" charset="2"/>
              </a:rPr>
              <a:t>คือ </a:t>
            </a:r>
            <a:r>
              <a:rPr lang="th-TH" sz="2800" b="1" dirty="0">
                <a:solidFill>
                  <a:srgbClr val="FF00FF"/>
                </a:solidFill>
              </a:rPr>
              <a:t>ขีดจำกัดความเชื่อมั่นด้านบน</a:t>
            </a:r>
            <a:r>
              <a:rPr lang="en-US" sz="2800" b="1" dirty="0">
                <a:solidFill>
                  <a:srgbClr val="FF00FF"/>
                </a:solidFill>
              </a:rPr>
              <a:t> </a:t>
            </a:r>
            <a:r>
              <a:rPr lang="th-TH" sz="2800" b="1" dirty="0">
                <a:solidFill>
                  <a:srgbClr val="FF00FF"/>
                </a:solidFill>
              </a:rPr>
              <a:t>(</a:t>
            </a:r>
            <a:r>
              <a:rPr lang="en-US" sz="2800" b="1" dirty="0">
                <a:solidFill>
                  <a:srgbClr val="FF00FF"/>
                </a:solidFill>
              </a:rPr>
              <a:t>Upper Confidence Limit)</a:t>
            </a:r>
            <a:endParaRPr lang="th-TH" sz="2800" b="1" dirty="0">
              <a:solidFill>
                <a:srgbClr val="FF00FF"/>
              </a:solidFill>
            </a:endParaRPr>
          </a:p>
        </p:txBody>
      </p:sp>
      <p:sp>
        <p:nvSpPr>
          <p:cNvPr id="48" name="Rectangle 15"/>
          <p:cNvSpPr>
            <a:spLocks noChangeArrowheads="1"/>
          </p:cNvSpPr>
          <p:nvPr/>
        </p:nvSpPr>
        <p:spPr bwMode="auto">
          <a:xfrm>
            <a:off x="178156" y="4368821"/>
            <a:ext cx="8305800" cy="68580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571500" indent="-571500">
              <a:lnSpc>
                <a:spcPct val="80000"/>
              </a:lnSpc>
            </a:pPr>
            <a:r>
              <a:rPr lang="en-US" sz="2800" b="1" dirty="0">
                <a:solidFill>
                  <a:srgbClr val="006600"/>
                </a:solidFill>
              </a:rPr>
              <a:t>    </a:t>
            </a:r>
            <a:r>
              <a:rPr lang="th-TH" sz="2800" b="1" dirty="0">
                <a:solidFill>
                  <a:schemeClr val="accent4">
                    <a:lumMod val="75000"/>
                  </a:schemeClr>
                </a:solidFill>
              </a:rPr>
              <a:t>1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</a:rPr>
              <a:t>–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 </a:t>
            </a:r>
            <a:r>
              <a:rPr lang="th-TH" sz="2800" b="1" dirty="0">
                <a:solidFill>
                  <a:srgbClr val="006600"/>
                </a:solidFill>
                <a:sym typeface="Symbol" pitchFamily="18" charset="2"/>
              </a:rPr>
              <a:t>คือ</a:t>
            </a:r>
            <a:r>
              <a:rPr lang="en-US" sz="2800" b="1" dirty="0">
                <a:solidFill>
                  <a:srgbClr val="FF00FF"/>
                </a:solidFill>
                <a:sym typeface="Symbol" pitchFamily="18" charset="2"/>
              </a:rPr>
              <a:t> </a:t>
            </a:r>
            <a:r>
              <a:rPr lang="th-TH" sz="2800" b="1" dirty="0">
                <a:solidFill>
                  <a:srgbClr val="FF00FF"/>
                </a:solidFill>
              </a:rPr>
              <a:t>สัมประสิทธิ์ความเชื่อมั่น</a:t>
            </a:r>
            <a:r>
              <a:rPr lang="en-US" sz="2800" b="1" dirty="0">
                <a:solidFill>
                  <a:srgbClr val="FF00FF"/>
                </a:solidFill>
              </a:rPr>
              <a:t> </a:t>
            </a:r>
            <a:r>
              <a:rPr lang="th-TH" sz="2800" b="1" dirty="0">
                <a:solidFill>
                  <a:srgbClr val="FF00FF"/>
                </a:solidFill>
              </a:rPr>
              <a:t>(</a:t>
            </a:r>
            <a:r>
              <a:rPr lang="en-US" sz="2800" b="1" dirty="0">
                <a:solidFill>
                  <a:srgbClr val="FF00FF"/>
                </a:solidFill>
              </a:rPr>
              <a:t>Confidence Coefficient)</a:t>
            </a:r>
            <a:endParaRPr lang="th-TH" sz="2800" b="1" dirty="0">
              <a:solidFill>
                <a:srgbClr val="006600"/>
              </a:solidFill>
            </a:endParaRPr>
          </a:p>
          <a:p>
            <a:pPr marL="571500" indent="-571500">
              <a:lnSpc>
                <a:spcPct val="80000"/>
              </a:lnSpc>
            </a:pPr>
            <a:r>
              <a:rPr lang="th-TH" sz="2800" b="1" dirty="0">
                <a:solidFill>
                  <a:srgbClr val="006600"/>
                </a:solidFill>
              </a:rPr>
              <a:t> </a:t>
            </a:r>
            <a:r>
              <a:rPr lang="en-US" sz="2800" b="1" dirty="0">
                <a:solidFill>
                  <a:srgbClr val="006600"/>
                </a:solidFill>
              </a:rPr>
              <a:t>   (</a:t>
            </a:r>
            <a:r>
              <a:rPr lang="th-TH" sz="3200" b="1" dirty="0">
                <a:solidFill>
                  <a:schemeClr val="accent4">
                    <a:lumMod val="75000"/>
                  </a:schemeClr>
                </a:solidFill>
              </a:rPr>
              <a:t>1 </a:t>
            </a:r>
            <a:r>
              <a:rPr lang="th-TH" sz="2800" b="1" dirty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</a:rPr>
              <a:t>–</a:t>
            </a:r>
            <a:r>
              <a:rPr lang="th-TH" sz="28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th-TH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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sym typeface="Symbol" pitchFamily="18" charset="2"/>
              </a:rPr>
              <a:t>)100%</a:t>
            </a:r>
            <a:r>
              <a:rPr lang="th-TH" sz="2800" b="1" dirty="0">
                <a:solidFill>
                  <a:srgbClr val="006600"/>
                </a:solidFill>
              </a:rPr>
              <a:t> </a:t>
            </a:r>
            <a:r>
              <a:rPr lang="th-TH" sz="2800" b="1" dirty="0">
                <a:solidFill>
                  <a:srgbClr val="006600"/>
                </a:solidFill>
                <a:sym typeface="Symbol" pitchFamily="18" charset="2"/>
              </a:rPr>
              <a:t>คือ</a:t>
            </a:r>
            <a:r>
              <a:rPr lang="th-TH" sz="2800" b="1" dirty="0">
                <a:solidFill>
                  <a:srgbClr val="006600"/>
                </a:solidFill>
              </a:rPr>
              <a:t>  </a:t>
            </a:r>
            <a:r>
              <a:rPr lang="th-TH" sz="2800" b="1" dirty="0">
                <a:solidFill>
                  <a:srgbClr val="FF00FF"/>
                </a:solidFill>
              </a:rPr>
              <a:t>ระดับความเชื่อมั่น (</a:t>
            </a:r>
            <a:r>
              <a:rPr lang="en-US" sz="2800" b="1" dirty="0">
                <a:solidFill>
                  <a:srgbClr val="FF00FF"/>
                </a:solidFill>
              </a:rPr>
              <a:t>Confidence Level)</a:t>
            </a:r>
            <a:endParaRPr lang="th-TH" sz="2800" b="1" dirty="0">
              <a:solidFill>
                <a:srgbClr val="FF00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F1AF4-6D8C-4743-898F-ED7412CE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4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2" grpId="0"/>
      <p:bldP spid="11" grpId="0"/>
      <p:bldP spid="37" grpId="0" uiExpand="1" build="p"/>
      <p:bldP spid="40" grpId="0" animBg="1"/>
      <p:bldP spid="41" grpId="0"/>
      <p:bldP spid="46" grpId="0"/>
      <p:bldP spid="47" grpId="0"/>
      <p:bldP spid="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99"/>
          <p:cNvSpPr>
            <a:spLocks noChangeShapeType="1"/>
          </p:cNvSpPr>
          <p:nvPr/>
        </p:nvSpPr>
        <p:spPr bwMode="auto">
          <a:xfrm>
            <a:off x="2438400" y="5819775"/>
            <a:ext cx="2286000" cy="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25"/>
          <p:cNvSpPr>
            <a:spLocks noChangeShapeType="1"/>
          </p:cNvSpPr>
          <p:nvPr/>
        </p:nvSpPr>
        <p:spPr bwMode="auto">
          <a:xfrm>
            <a:off x="2470150" y="5822950"/>
            <a:ext cx="2286000" cy="0"/>
          </a:xfrm>
          <a:prstGeom prst="line">
            <a:avLst/>
          </a:prstGeom>
          <a:noFill/>
          <a:ln w="48260" cap="rnd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93"/>
          <p:cNvSpPr>
            <a:spLocks noChangeShapeType="1"/>
          </p:cNvSpPr>
          <p:nvPr/>
        </p:nvSpPr>
        <p:spPr bwMode="auto">
          <a:xfrm>
            <a:off x="4543425" y="5365750"/>
            <a:ext cx="3048000" cy="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15"/>
          <p:cNvSpPr>
            <a:spLocks noChangeShapeType="1"/>
          </p:cNvSpPr>
          <p:nvPr/>
        </p:nvSpPr>
        <p:spPr bwMode="auto">
          <a:xfrm>
            <a:off x="4572000" y="5378450"/>
            <a:ext cx="3048000" cy="0"/>
          </a:xfrm>
          <a:prstGeom prst="line">
            <a:avLst/>
          </a:prstGeom>
          <a:noFill/>
          <a:ln w="57150" cap="rnd">
            <a:solidFill>
              <a:schemeClr val="fol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7" name="Group 114"/>
          <p:cNvGrpSpPr>
            <a:grpSpLocks/>
          </p:cNvGrpSpPr>
          <p:nvPr/>
        </p:nvGrpSpPr>
        <p:grpSpPr bwMode="auto">
          <a:xfrm>
            <a:off x="2778456" y="1600200"/>
            <a:ext cx="3289300" cy="2235200"/>
            <a:chOff x="1776" y="1008"/>
            <a:chExt cx="2072" cy="1408"/>
          </a:xfrm>
        </p:grpSpPr>
        <p:sp>
          <p:nvSpPr>
            <p:cNvPr id="28" name="Line 6"/>
            <p:cNvSpPr>
              <a:spLocks noChangeShapeType="1"/>
            </p:cNvSpPr>
            <p:nvPr/>
          </p:nvSpPr>
          <p:spPr bwMode="auto">
            <a:xfrm>
              <a:off x="2814" y="1008"/>
              <a:ext cx="0" cy="105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2818" y="1028"/>
              <a:ext cx="1030" cy="991"/>
            </a:xfrm>
            <a:custGeom>
              <a:avLst/>
              <a:gdLst>
                <a:gd name="T0" fmla="*/ 1029 w 1030"/>
                <a:gd name="T1" fmla="*/ 990 h 991"/>
                <a:gd name="T2" fmla="*/ 921 w 1030"/>
                <a:gd name="T3" fmla="*/ 980 h 991"/>
                <a:gd name="T4" fmla="*/ 866 w 1030"/>
                <a:gd name="T5" fmla="*/ 967 h 991"/>
                <a:gd name="T6" fmla="*/ 813 w 1030"/>
                <a:gd name="T7" fmla="*/ 952 h 991"/>
                <a:gd name="T8" fmla="*/ 758 w 1030"/>
                <a:gd name="T9" fmla="*/ 929 h 991"/>
                <a:gd name="T10" fmla="*/ 703 w 1030"/>
                <a:gd name="T11" fmla="*/ 897 h 991"/>
                <a:gd name="T12" fmla="*/ 651 w 1030"/>
                <a:gd name="T13" fmla="*/ 857 h 991"/>
                <a:gd name="T14" fmla="*/ 541 w 1030"/>
                <a:gd name="T15" fmla="*/ 743 h 991"/>
                <a:gd name="T16" fmla="*/ 433 w 1030"/>
                <a:gd name="T17" fmla="*/ 581 h 991"/>
                <a:gd name="T18" fmla="*/ 325 w 1030"/>
                <a:gd name="T19" fmla="*/ 386 h 991"/>
                <a:gd name="T20" fmla="*/ 270 w 1030"/>
                <a:gd name="T21" fmla="*/ 287 h 991"/>
                <a:gd name="T22" fmla="*/ 215 w 1030"/>
                <a:gd name="T23" fmla="*/ 196 h 991"/>
                <a:gd name="T24" fmla="*/ 163 w 1030"/>
                <a:gd name="T25" fmla="*/ 116 h 991"/>
                <a:gd name="T26" fmla="*/ 108 w 1030"/>
                <a:gd name="T27" fmla="*/ 53 h 991"/>
                <a:gd name="T28" fmla="*/ 53 w 1030"/>
                <a:gd name="T29" fmla="*/ 13 h 991"/>
                <a:gd name="T30" fmla="*/ 0 w 1030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0"/>
                <a:gd name="T49" fmla="*/ 0 h 991"/>
                <a:gd name="T50" fmla="*/ 1030 w 1030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0" h="991">
                  <a:moveTo>
                    <a:pt x="1029" y="990"/>
                  </a:moveTo>
                  <a:lnTo>
                    <a:pt x="921" y="980"/>
                  </a:lnTo>
                  <a:lnTo>
                    <a:pt x="866" y="967"/>
                  </a:lnTo>
                  <a:lnTo>
                    <a:pt x="813" y="952"/>
                  </a:lnTo>
                  <a:lnTo>
                    <a:pt x="758" y="929"/>
                  </a:lnTo>
                  <a:lnTo>
                    <a:pt x="703" y="897"/>
                  </a:lnTo>
                  <a:lnTo>
                    <a:pt x="651" y="857"/>
                  </a:lnTo>
                  <a:lnTo>
                    <a:pt x="541" y="743"/>
                  </a:lnTo>
                  <a:lnTo>
                    <a:pt x="433" y="581"/>
                  </a:lnTo>
                  <a:lnTo>
                    <a:pt x="325" y="386"/>
                  </a:lnTo>
                  <a:lnTo>
                    <a:pt x="270" y="287"/>
                  </a:lnTo>
                  <a:lnTo>
                    <a:pt x="215" y="196"/>
                  </a:lnTo>
                  <a:lnTo>
                    <a:pt x="163" y="116"/>
                  </a:lnTo>
                  <a:lnTo>
                    <a:pt x="108" y="53"/>
                  </a:lnTo>
                  <a:lnTo>
                    <a:pt x="53" y="13"/>
                  </a:lnTo>
                  <a:lnTo>
                    <a:pt x="0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0" name="Freeform 8"/>
            <p:cNvSpPr>
              <a:spLocks/>
            </p:cNvSpPr>
            <p:nvPr/>
          </p:nvSpPr>
          <p:spPr bwMode="auto">
            <a:xfrm>
              <a:off x="1778" y="1028"/>
              <a:ext cx="1041" cy="991"/>
            </a:xfrm>
            <a:custGeom>
              <a:avLst/>
              <a:gdLst>
                <a:gd name="T0" fmla="*/ 0 w 1032"/>
                <a:gd name="T1" fmla="*/ 990 h 991"/>
                <a:gd name="T2" fmla="*/ 109 w 1032"/>
                <a:gd name="T3" fmla="*/ 980 h 991"/>
                <a:gd name="T4" fmla="*/ 164 w 1032"/>
                <a:gd name="T5" fmla="*/ 967 h 991"/>
                <a:gd name="T6" fmla="*/ 220 w 1032"/>
                <a:gd name="T7" fmla="*/ 952 h 991"/>
                <a:gd name="T8" fmla="*/ 273 w 1032"/>
                <a:gd name="T9" fmla="*/ 929 h 991"/>
                <a:gd name="T10" fmla="*/ 329 w 1032"/>
                <a:gd name="T11" fmla="*/ 897 h 991"/>
                <a:gd name="T12" fmla="*/ 384 w 1032"/>
                <a:gd name="T13" fmla="*/ 857 h 991"/>
                <a:gd name="T14" fmla="*/ 492 w 1032"/>
                <a:gd name="T15" fmla="*/ 743 h 991"/>
                <a:gd name="T16" fmla="*/ 601 w 1032"/>
                <a:gd name="T17" fmla="*/ 581 h 991"/>
                <a:gd name="T18" fmla="*/ 712 w 1032"/>
                <a:gd name="T19" fmla="*/ 386 h 991"/>
                <a:gd name="T20" fmla="*/ 766 w 1032"/>
                <a:gd name="T21" fmla="*/ 287 h 991"/>
                <a:gd name="T22" fmla="*/ 821 w 1032"/>
                <a:gd name="T23" fmla="*/ 196 h 991"/>
                <a:gd name="T24" fmla="*/ 876 w 1032"/>
                <a:gd name="T25" fmla="*/ 116 h 991"/>
                <a:gd name="T26" fmla="*/ 929 w 1032"/>
                <a:gd name="T27" fmla="*/ 53 h 991"/>
                <a:gd name="T28" fmla="*/ 985 w 1032"/>
                <a:gd name="T29" fmla="*/ 13 h 991"/>
                <a:gd name="T30" fmla="*/ 1040 w 1032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2"/>
                <a:gd name="T49" fmla="*/ 0 h 991"/>
                <a:gd name="T50" fmla="*/ 1032 w 1032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2" h="991">
                  <a:moveTo>
                    <a:pt x="0" y="990"/>
                  </a:moveTo>
                  <a:lnTo>
                    <a:pt x="108" y="980"/>
                  </a:lnTo>
                  <a:lnTo>
                    <a:pt x="163" y="967"/>
                  </a:lnTo>
                  <a:lnTo>
                    <a:pt x="218" y="952"/>
                  </a:lnTo>
                  <a:lnTo>
                    <a:pt x="271" y="929"/>
                  </a:lnTo>
                  <a:lnTo>
                    <a:pt x="326" y="897"/>
                  </a:lnTo>
                  <a:lnTo>
                    <a:pt x="381" y="857"/>
                  </a:lnTo>
                  <a:lnTo>
                    <a:pt x="488" y="743"/>
                  </a:lnTo>
                  <a:lnTo>
                    <a:pt x="596" y="581"/>
                  </a:lnTo>
                  <a:lnTo>
                    <a:pt x="706" y="386"/>
                  </a:lnTo>
                  <a:lnTo>
                    <a:pt x="759" y="287"/>
                  </a:lnTo>
                  <a:lnTo>
                    <a:pt x="814" y="196"/>
                  </a:lnTo>
                  <a:lnTo>
                    <a:pt x="868" y="116"/>
                  </a:lnTo>
                  <a:lnTo>
                    <a:pt x="921" y="53"/>
                  </a:lnTo>
                  <a:lnTo>
                    <a:pt x="976" y="13"/>
                  </a:lnTo>
                  <a:lnTo>
                    <a:pt x="1031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5" name="Freeform 9"/>
            <p:cNvSpPr>
              <a:spLocks/>
            </p:cNvSpPr>
            <p:nvPr/>
          </p:nvSpPr>
          <p:spPr bwMode="auto">
            <a:xfrm>
              <a:off x="1776" y="2071"/>
              <a:ext cx="2072" cy="5"/>
            </a:xfrm>
            <a:custGeom>
              <a:avLst/>
              <a:gdLst>
                <a:gd name="T0" fmla="*/ 0 w 2072"/>
                <a:gd name="T1" fmla="*/ 5 h 5"/>
                <a:gd name="T2" fmla="*/ 12 w 2072"/>
                <a:gd name="T3" fmla="*/ 0 h 5"/>
                <a:gd name="T4" fmla="*/ 2072 w 2072"/>
                <a:gd name="T5" fmla="*/ 0 h 5"/>
                <a:gd name="T6" fmla="*/ 0 60000 65536"/>
                <a:gd name="T7" fmla="*/ 0 60000 65536"/>
                <a:gd name="T8" fmla="*/ 0 60000 65536"/>
                <a:gd name="T9" fmla="*/ 0 w 2072"/>
                <a:gd name="T10" fmla="*/ 0 h 5"/>
                <a:gd name="T11" fmla="*/ 2072 w 2072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2" h="5">
                  <a:moveTo>
                    <a:pt x="0" y="5"/>
                  </a:moveTo>
                  <a:lnTo>
                    <a:pt x="12" y="0"/>
                  </a:lnTo>
                  <a:lnTo>
                    <a:pt x="2072" y="0"/>
                  </a:lnTo>
                </a:path>
              </a:pathLst>
            </a:custGeom>
            <a:noFill/>
            <a:ln w="508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2630" y="2048"/>
              <a:ext cx="33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th-TH" sz="3200" b="1" dirty="0">
                  <a:sym typeface="Symbol" pitchFamily="18" charset="2"/>
                </a:rPr>
                <a:t></a:t>
              </a:r>
            </a:p>
          </p:txBody>
        </p:sp>
      </p:grpSp>
      <p:sp>
        <p:nvSpPr>
          <p:cNvPr id="40" name="Rectangle 20"/>
          <p:cNvSpPr>
            <a:spLocks noChangeArrowheads="1"/>
          </p:cNvSpPr>
          <p:nvPr/>
        </p:nvSpPr>
        <p:spPr bwMode="auto">
          <a:xfrm>
            <a:off x="5029200" y="1600200"/>
            <a:ext cx="381000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th-TH" sz="2800" b="1" dirty="0">
                <a:solidFill>
                  <a:srgbClr val="3366CC"/>
                </a:solidFill>
              </a:rPr>
              <a:t>ช่วงความเชื่อมั่น</a:t>
            </a:r>
            <a:r>
              <a:rPr lang="th-TH" sz="2800" b="1" dirty="0">
                <a:solidFill>
                  <a:srgbClr val="3366CC"/>
                </a:solidFill>
                <a:sym typeface="Symbol" pitchFamily="18" charset="2"/>
              </a:rPr>
              <a:t>ของ </a:t>
            </a:r>
            <a:r>
              <a:rPr lang="th-TH" sz="2200" b="1" dirty="0">
                <a:solidFill>
                  <a:srgbClr val="3366CC"/>
                </a:solidFill>
                <a:sym typeface="Symbol" pitchFamily="18" charset="2"/>
              </a:rPr>
              <a:t></a:t>
            </a:r>
          </a:p>
        </p:txBody>
      </p:sp>
      <p:sp>
        <p:nvSpPr>
          <p:cNvPr id="41" name="Line 69"/>
          <p:cNvSpPr>
            <a:spLocks noChangeShapeType="1"/>
          </p:cNvSpPr>
          <p:nvPr/>
        </p:nvSpPr>
        <p:spPr bwMode="auto">
          <a:xfrm>
            <a:off x="4435475" y="3810000"/>
            <a:ext cx="0" cy="2590800"/>
          </a:xfrm>
          <a:prstGeom prst="line">
            <a:avLst/>
          </a:prstGeom>
          <a:noFill/>
          <a:ln w="28575" cap="rnd">
            <a:solidFill>
              <a:srgbClr val="A400A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81"/>
          <p:cNvSpPr>
            <a:spLocks noChangeShapeType="1"/>
          </p:cNvSpPr>
          <p:nvPr/>
        </p:nvSpPr>
        <p:spPr bwMode="auto">
          <a:xfrm>
            <a:off x="5016500" y="5365750"/>
            <a:ext cx="2070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84"/>
          <p:cNvSpPr>
            <a:spLocks noChangeShapeType="1"/>
          </p:cNvSpPr>
          <p:nvPr/>
        </p:nvSpPr>
        <p:spPr bwMode="auto">
          <a:xfrm flipH="1">
            <a:off x="2819400" y="5822950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" name="Group 123"/>
          <p:cNvGrpSpPr>
            <a:grpSpLocks/>
          </p:cNvGrpSpPr>
          <p:nvPr/>
        </p:nvGrpSpPr>
        <p:grpSpPr bwMode="auto">
          <a:xfrm>
            <a:off x="2743200" y="3841750"/>
            <a:ext cx="4191000" cy="2514600"/>
            <a:chOff x="1728" y="2420"/>
            <a:chExt cx="2640" cy="1584"/>
          </a:xfrm>
        </p:grpSpPr>
        <p:sp>
          <p:nvSpPr>
            <p:cNvPr id="45" name="Line 70"/>
            <p:cNvSpPr>
              <a:spLocks noChangeShapeType="1"/>
            </p:cNvSpPr>
            <p:nvPr/>
          </p:nvSpPr>
          <p:spPr bwMode="auto">
            <a:xfrm>
              <a:off x="2112" y="2516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71"/>
            <p:cNvSpPr>
              <a:spLocks noChangeShapeType="1"/>
            </p:cNvSpPr>
            <p:nvPr/>
          </p:nvSpPr>
          <p:spPr bwMode="auto">
            <a:xfrm>
              <a:off x="2352" y="2612"/>
              <a:ext cx="15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72"/>
            <p:cNvSpPr>
              <a:spLocks noChangeShapeType="1"/>
            </p:cNvSpPr>
            <p:nvPr/>
          </p:nvSpPr>
          <p:spPr bwMode="auto">
            <a:xfrm>
              <a:off x="1872" y="2708"/>
              <a:ext cx="10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73"/>
            <p:cNvSpPr>
              <a:spLocks noChangeShapeType="1"/>
            </p:cNvSpPr>
            <p:nvPr/>
          </p:nvSpPr>
          <p:spPr bwMode="auto">
            <a:xfrm>
              <a:off x="2160" y="2804"/>
              <a:ext cx="15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74"/>
            <p:cNvSpPr>
              <a:spLocks noChangeShapeType="1"/>
            </p:cNvSpPr>
            <p:nvPr/>
          </p:nvSpPr>
          <p:spPr bwMode="auto">
            <a:xfrm>
              <a:off x="1776" y="2900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75"/>
            <p:cNvSpPr>
              <a:spLocks noChangeShapeType="1"/>
            </p:cNvSpPr>
            <p:nvPr/>
          </p:nvSpPr>
          <p:spPr bwMode="auto">
            <a:xfrm>
              <a:off x="2592" y="2996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76"/>
            <p:cNvSpPr>
              <a:spLocks noChangeShapeType="1"/>
            </p:cNvSpPr>
            <p:nvPr/>
          </p:nvSpPr>
          <p:spPr bwMode="auto">
            <a:xfrm>
              <a:off x="2544" y="2420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78"/>
            <p:cNvSpPr>
              <a:spLocks noChangeShapeType="1"/>
            </p:cNvSpPr>
            <p:nvPr/>
          </p:nvSpPr>
          <p:spPr bwMode="auto">
            <a:xfrm>
              <a:off x="1728" y="3092"/>
              <a:ext cx="1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79"/>
            <p:cNvSpPr>
              <a:spLocks noChangeShapeType="1"/>
            </p:cNvSpPr>
            <p:nvPr/>
          </p:nvSpPr>
          <p:spPr bwMode="auto">
            <a:xfrm>
              <a:off x="2544" y="3188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80"/>
            <p:cNvSpPr>
              <a:spLocks noChangeShapeType="1"/>
            </p:cNvSpPr>
            <p:nvPr/>
          </p:nvSpPr>
          <p:spPr bwMode="auto">
            <a:xfrm>
              <a:off x="2304" y="3284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82"/>
            <p:cNvSpPr>
              <a:spLocks noChangeShapeType="1"/>
            </p:cNvSpPr>
            <p:nvPr/>
          </p:nvSpPr>
          <p:spPr bwMode="auto">
            <a:xfrm>
              <a:off x="2112" y="3476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83"/>
            <p:cNvSpPr>
              <a:spLocks noChangeShapeType="1"/>
            </p:cNvSpPr>
            <p:nvPr/>
          </p:nvSpPr>
          <p:spPr bwMode="auto">
            <a:xfrm>
              <a:off x="1872" y="3572"/>
              <a:ext cx="10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85"/>
            <p:cNvSpPr>
              <a:spLocks noChangeShapeType="1"/>
            </p:cNvSpPr>
            <p:nvPr/>
          </p:nvSpPr>
          <p:spPr bwMode="auto">
            <a:xfrm>
              <a:off x="2688" y="3908"/>
              <a:ext cx="15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86"/>
            <p:cNvSpPr>
              <a:spLocks noChangeShapeType="1"/>
            </p:cNvSpPr>
            <p:nvPr/>
          </p:nvSpPr>
          <p:spPr bwMode="auto">
            <a:xfrm>
              <a:off x="1968" y="4004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121"/>
          <p:cNvGrpSpPr>
            <a:grpSpLocks/>
          </p:cNvGrpSpPr>
          <p:nvPr/>
        </p:nvGrpSpPr>
        <p:grpSpPr bwMode="auto">
          <a:xfrm>
            <a:off x="2286000" y="3841750"/>
            <a:ext cx="5257800" cy="2511425"/>
            <a:chOff x="1440" y="2420"/>
            <a:chExt cx="3312" cy="1582"/>
          </a:xfrm>
        </p:grpSpPr>
        <p:sp>
          <p:nvSpPr>
            <p:cNvPr id="60" name="Line 87"/>
            <p:cNvSpPr>
              <a:spLocks noChangeShapeType="1"/>
            </p:cNvSpPr>
            <p:nvPr/>
          </p:nvSpPr>
          <p:spPr bwMode="auto">
            <a:xfrm>
              <a:off x="2198" y="2420"/>
              <a:ext cx="2064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88"/>
            <p:cNvSpPr>
              <a:spLocks noChangeShapeType="1"/>
            </p:cNvSpPr>
            <p:nvPr/>
          </p:nvSpPr>
          <p:spPr bwMode="auto">
            <a:xfrm>
              <a:off x="1824" y="2516"/>
              <a:ext cx="1440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89"/>
            <p:cNvSpPr>
              <a:spLocks noChangeShapeType="1"/>
            </p:cNvSpPr>
            <p:nvPr/>
          </p:nvSpPr>
          <p:spPr bwMode="auto">
            <a:xfrm>
              <a:off x="1858" y="2612"/>
              <a:ext cx="2544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90"/>
            <p:cNvSpPr>
              <a:spLocks noChangeShapeType="1"/>
            </p:cNvSpPr>
            <p:nvPr/>
          </p:nvSpPr>
          <p:spPr bwMode="auto">
            <a:xfrm>
              <a:off x="1440" y="2708"/>
              <a:ext cx="1872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91"/>
            <p:cNvSpPr>
              <a:spLocks noChangeShapeType="1"/>
            </p:cNvSpPr>
            <p:nvPr/>
          </p:nvSpPr>
          <p:spPr bwMode="auto">
            <a:xfrm>
              <a:off x="2102" y="2994"/>
              <a:ext cx="2650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92"/>
            <p:cNvSpPr>
              <a:spLocks noChangeShapeType="1"/>
            </p:cNvSpPr>
            <p:nvPr/>
          </p:nvSpPr>
          <p:spPr bwMode="auto">
            <a:xfrm>
              <a:off x="1890" y="2804"/>
              <a:ext cx="2112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94"/>
            <p:cNvSpPr>
              <a:spLocks noChangeShapeType="1"/>
            </p:cNvSpPr>
            <p:nvPr/>
          </p:nvSpPr>
          <p:spPr bwMode="auto">
            <a:xfrm>
              <a:off x="1488" y="3092"/>
              <a:ext cx="2256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95"/>
            <p:cNvSpPr>
              <a:spLocks noChangeShapeType="1"/>
            </p:cNvSpPr>
            <p:nvPr/>
          </p:nvSpPr>
          <p:spPr bwMode="auto">
            <a:xfrm>
              <a:off x="2112" y="3188"/>
              <a:ext cx="1632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96"/>
            <p:cNvSpPr>
              <a:spLocks noChangeShapeType="1"/>
            </p:cNvSpPr>
            <p:nvPr/>
          </p:nvSpPr>
          <p:spPr bwMode="auto">
            <a:xfrm>
              <a:off x="1968" y="3284"/>
              <a:ext cx="1296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97"/>
            <p:cNvSpPr>
              <a:spLocks noChangeShapeType="1"/>
            </p:cNvSpPr>
            <p:nvPr/>
          </p:nvSpPr>
          <p:spPr bwMode="auto">
            <a:xfrm>
              <a:off x="1748" y="3476"/>
              <a:ext cx="2064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98"/>
            <p:cNvSpPr>
              <a:spLocks noChangeShapeType="1"/>
            </p:cNvSpPr>
            <p:nvPr/>
          </p:nvSpPr>
          <p:spPr bwMode="auto">
            <a:xfrm>
              <a:off x="1582" y="3572"/>
              <a:ext cx="1728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100"/>
            <p:cNvSpPr>
              <a:spLocks noChangeShapeType="1"/>
            </p:cNvSpPr>
            <p:nvPr/>
          </p:nvSpPr>
          <p:spPr bwMode="auto">
            <a:xfrm>
              <a:off x="2414" y="3908"/>
              <a:ext cx="2112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102"/>
            <p:cNvSpPr>
              <a:spLocks noChangeShapeType="1"/>
            </p:cNvSpPr>
            <p:nvPr/>
          </p:nvSpPr>
          <p:spPr bwMode="auto">
            <a:xfrm>
              <a:off x="1706" y="4002"/>
              <a:ext cx="1536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104"/>
            <p:cNvSpPr>
              <a:spLocks noChangeShapeType="1"/>
            </p:cNvSpPr>
            <p:nvPr/>
          </p:nvSpPr>
          <p:spPr bwMode="auto">
            <a:xfrm>
              <a:off x="1440" y="2900"/>
              <a:ext cx="2400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" name="Group 112"/>
          <p:cNvGrpSpPr>
            <a:grpSpLocks/>
          </p:cNvGrpSpPr>
          <p:nvPr/>
        </p:nvGrpSpPr>
        <p:grpSpPr bwMode="auto">
          <a:xfrm>
            <a:off x="6311900" y="2209800"/>
            <a:ext cx="2527300" cy="523875"/>
            <a:chOff x="3976" y="1392"/>
            <a:chExt cx="1592" cy="330"/>
          </a:xfrm>
        </p:grpSpPr>
        <p:sp>
          <p:nvSpPr>
            <p:cNvPr id="75" name="Text Box 107"/>
            <p:cNvSpPr txBox="1">
              <a:spLocks noChangeArrowheads="1"/>
            </p:cNvSpPr>
            <p:nvPr/>
          </p:nvSpPr>
          <p:spPr bwMode="auto">
            <a:xfrm>
              <a:off x="4416" y="1392"/>
              <a:ext cx="115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th-TH" sz="2800" b="1" dirty="0">
                  <a:solidFill>
                    <a:srgbClr val="3366CC"/>
                  </a:solidFill>
                </a:rPr>
                <a:t>ระดับ 95%</a:t>
              </a:r>
            </a:p>
          </p:txBody>
        </p:sp>
        <p:sp>
          <p:nvSpPr>
            <p:cNvPr id="76" name="Line 110"/>
            <p:cNvSpPr>
              <a:spLocks noChangeShapeType="1"/>
            </p:cNvSpPr>
            <p:nvPr/>
          </p:nvSpPr>
          <p:spPr bwMode="auto">
            <a:xfrm>
              <a:off x="3976" y="1614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600"/>
            </a:p>
          </p:txBody>
        </p:sp>
      </p:grpSp>
      <p:grpSp>
        <p:nvGrpSpPr>
          <p:cNvPr id="77" name="Group 113"/>
          <p:cNvGrpSpPr>
            <a:grpSpLocks/>
          </p:cNvGrpSpPr>
          <p:nvPr/>
        </p:nvGrpSpPr>
        <p:grpSpPr bwMode="auto">
          <a:xfrm>
            <a:off x="6324600" y="2635250"/>
            <a:ext cx="2514600" cy="523875"/>
            <a:chOff x="3984" y="1660"/>
            <a:chExt cx="1584" cy="330"/>
          </a:xfrm>
        </p:grpSpPr>
        <p:sp>
          <p:nvSpPr>
            <p:cNvPr id="78" name="Text Box 109"/>
            <p:cNvSpPr txBox="1">
              <a:spLocks noChangeArrowheads="1"/>
            </p:cNvSpPr>
            <p:nvPr/>
          </p:nvSpPr>
          <p:spPr bwMode="auto">
            <a:xfrm>
              <a:off x="4414" y="1660"/>
              <a:ext cx="115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th-TH" sz="2800" b="1" dirty="0">
                  <a:solidFill>
                    <a:srgbClr val="3366CC"/>
                  </a:solidFill>
                </a:rPr>
                <a:t>ระดับ 99%</a:t>
              </a:r>
            </a:p>
          </p:txBody>
        </p:sp>
        <p:sp>
          <p:nvSpPr>
            <p:cNvPr id="79" name="Line 111"/>
            <p:cNvSpPr>
              <a:spLocks noChangeShapeType="1"/>
            </p:cNvSpPr>
            <p:nvPr/>
          </p:nvSpPr>
          <p:spPr bwMode="auto">
            <a:xfrm>
              <a:off x="3984" y="1892"/>
              <a:ext cx="432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600"/>
            </a:p>
          </p:txBody>
        </p:sp>
      </p:grpSp>
      <p:sp>
        <p:nvSpPr>
          <p:cNvPr id="80" name="Line 116"/>
          <p:cNvSpPr>
            <a:spLocks noChangeShapeType="1"/>
          </p:cNvSpPr>
          <p:nvPr/>
        </p:nvSpPr>
        <p:spPr bwMode="auto">
          <a:xfrm>
            <a:off x="5013325" y="5378450"/>
            <a:ext cx="21336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Line 124"/>
          <p:cNvSpPr>
            <a:spLocks noChangeShapeType="1"/>
          </p:cNvSpPr>
          <p:nvPr/>
        </p:nvSpPr>
        <p:spPr bwMode="auto">
          <a:xfrm>
            <a:off x="2819400" y="5816600"/>
            <a:ext cx="1524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Rectangle 2"/>
          <p:cNvSpPr>
            <a:spLocks noChangeArrowheads="1"/>
          </p:cNvSpPr>
          <p:nvPr/>
        </p:nvSpPr>
        <p:spPr bwMode="auto">
          <a:xfrm>
            <a:off x="228600" y="76200"/>
            <a:ext cx="8686800" cy="739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kumimoji="1" lang="th-TH" sz="4400" b="1" dirty="0">
                <a:solidFill>
                  <a:srgbClr val="0000FF"/>
                </a:solidFill>
              </a:rPr>
              <a:t>การประมาณค่าแบบช่วง</a:t>
            </a:r>
            <a:endParaRPr kumimoji="1" lang="th-TH" sz="4400" dirty="0">
              <a:solidFill>
                <a:srgbClr val="0000FF"/>
              </a:solidFill>
            </a:endParaRPr>
          </a:p>
        </p:txBody>
      </p:sp>
      <p:sp>
        <p:nvSpPr>
          <p:cNvPr id="83" name="Text Box 11"/>
          <p:cNvSpPr txBox="1">
            <a:spLocks noChangeArrowheads="1"/>
          </p:cNvSpPr>
          <p:nvPr/>
        </p:nvSpPr>
        <p:spPr bwMode="auto">
          <a:xfrm>
            <a:off x="228599" y="762000"/>
            <a:ext cx="85990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2800" b="1" dirty="0">
                <a:solidFill>
                  <a:srgbClr val="006600"/>
                </a:solidFill>
              </a:rPr>
              <a:t>ให้ </a:t>
            </a:r>
            <a:r>
              <a:rPr lang="en-US" sz="2800" b="1" dirty="0">
                <a:solidFill>
                  <a:srgbClr val="006600"/>
                </a:solidFill>
              </a:rPr>
              <a:t>X</a:t>
            </a:r>
            <a:r>
              <a:rPr lang="en-US" sz="2800" b="1" baseline="-25000" dirty="0">
                <a:solidFill>
                  <a:srgbClr val="006600"/>
                </a:solidFill>
              </a:rPr>
              <a:t>1</a:t>
            </a:r>
            <a:r>
              <a:rPr lang="en-US" sz="2800" b="1" dirty="0">
                <a:solidFill>
                  <a:srgbClr val="006600"/>
                </a:solidFill>
              </a:rPr>
              <a:t> , X</a:t>
            </a:r>
            <a:r>
              <a:rPr lang="en-US" sz="2800" b="1" baseline="-25000" dirty="0">
                <a:solidFill>
                  <a:srgbClr val="006600"/>
                </a:solidFill>
              </a:rPr>
              <a:t>2</a:t>
            </a:r>
            <a:r>
              <a:rPr lang="en-US" sz="2800" b="1" dirty="0">
                <a:solidFill>
                  <a:srgbClr val="006600"/>
                </a:solidFill>
              </a:rPr>
              <a:t> , … , </a:t>
            </a:r>
            <a:r>
              <a:rPr lang="en-US" sz="2800" b="1" dirty="0" err="1">
                <a:solidFill>
                  <a:srgbClr val="006600"/>
                </a:solidFill>
              </a:rPr>
              <a:t>X</a:t>
            </a:r>
            <a:r>
              <a:rPr lang="en-US" sz="2800" b="1" baseline="-25000" dirty="0" err="1">
                <a:solidFill>
                  <a:srgbClr val="006600"/>
                </a:solidFill>
              </a:rPr>
              <a:t>n</a:t>
            </a:r>
            <a:r>
              <a:rPr lang="en-US" sz="2800" b="1" dirty="0">
                <a:solidFill>
                  <a:srgbClr val="006600"/>
                </a:solidFill>
              </a:rPr>
              <a:t> </a:t>
            </a:r>
            <a:r>
              <a:rPr lang="th-TH" sz="2800" b="1" dirty="0">
                <a:solidFill>
                  <a:srgbClr val="006600"/>
                </a:solidFill>
              </a:rPr>
              <a:t>เป็นตัวอย่างสุ่ม จาก</a:t>
            </a:r>
            <a:r>
              <a:rPr lang="th-TH" sz="2800" b="1" u="sng" dirty="0">
                <a:solidFill>
                  <a:srgbClr val="FF0000"/>
                </a:solidFill>
              </a:rPr>
              <a:t>การแจกแจงปกติ</a:t>
            </a:r>
            <a:r>
              <a:rPr lang="th-TH" sz="2800" b="1" dirty="0">
                <a:solidFill>
                  <a:srgbClr val="006600"/>
                </a:solidFill>
              </a:rPr>
              <a:t>ที่มีค่าเฉลี่ยเท่ากับ </a:t>
            </a:r>
            <a:r>
              <a:rPr lang="th-TH" sz="2200" b="1" dirty="0">
                <a:solidFill>
                  <a:srgbClr val="006600"/>
                </a:solidFill>
                <a:sym typeface="Symbol"/>
              </a:rPr>
              <a:t></a:t>
            </a:r>
            <a:endParaRPr lang="th-TH" sz="2800" b="1" dirty="0">
              <a:solidFill>
                <a:srgbClr val="0066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247AE9-3AC3-41B0-BD22-4CC3EAE1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animBg="1"/>
      <p:bldP spid="25" grpId="0" animBg="1"/>
      <p:bldP spid="25" grpId="1" animBg="1"/>
      <p:bldP spid="26" grpId="0" animBg="1"/>
      <p:bldP spid="40" grpId="0"/>
      <p:bldP spid="41" grpId="0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80" grpId="0" animBg="1"/>
      <p:bldP spid="81" grpId="0" animBg="1"/>
      <p:bldP spid="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07963" y="21608"/>
            <a:ext cx="8794750" cy="66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th-TH" sz="3600" b="1" dirty="0">
                <a:solidFill>
                  <a:srgbClr val="0000FF"/>
                </a:solidFill>
                <a:latin typeface="Angsana New" pitchFamily="18" charset="-34"/>
              </a:rPr>
              <a:t>Case: Bank Robberies (p 353 – 354, 388)</a:t>
            </a:r>
            <a:endParaRPr lang="th-TH" altLang="th-TH" sz="3600" b="1" dirty="0">
              <a:solidFill>
                <a:srgbClr val="0000FF"/>
              </a:solidFill>
              <a:latin typeface="Angsana New" pitchFamily="18" charset="-3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025" y="685800"/>
            <a:ext cx="90414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     The researchers concentrated on the factors that determine the amount of proceeds from bank</a:t>
            </a:r>
          </a:p>
          <a:p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robberies, and thus were  able to work out both th</a:t>
            </a:r>
            <a:r>
              <a:rPr lang="en-US" b="1" dirty="0">
                <a:solidFill>
                  <a:srgbClr val="0070C0"/>
                </a:solidFill>
              </a:rPr>
              <a:t>e economics of attempting one and of preventing one.</a:t>
            </a:r>
          </a:p>
          <a:p>
            <a:r>
              <a:rPr lang="en-US" b="1" dirty="0">
                <a:solidFill>
                  <a:srgbClr val="0070C0"/>
                </a:solidFill>
              </a:rPr>
              <a:t>In particular, the researchers revealed that the return on an average bank robbery per person per paid</a:t>
            </a:r>
          </a:p>
          <a:p>
            <a:r>
              <a:rPr lang="en-US" b="1" dirty="0">
                <a:solidFill>
                  <a:srgbClr val="0070C0"/>
                </a:solidFill>
              </a:rPr>
              <a:t>is modest that it is not worthwhile for the banks to spend too much money on such preventive measures</a:t>
            </a:r>
          </a:p>
          <a:p>
            <a:r>
              <a:rPr lang="en-US" b="1" dirty="0">
                <a:solidFill>
                  <a:srgbClr val="0070C0"/>
                </a:solidFill>
              </a:rPr>
              <a:t>as first-rising screens at teller’s windows.  </a:t>
            </a:r>
            <a:endParaRPr lang="en-US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6408" y="6354168"/>
            <a:ext cx="800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1775" indent="-231775"/>
            <a:r>
              <a:rPr lang="en-US" b="1" dirty="0">
                <a:solidFill>
                  <a:srgbClr val="FF0000"/>
                </a:solidFill>
              </a:rPr>
              <a:t>*</a:t>
            </a:r>
            <a:r>
              <a:rPr lang="en-US" sz="2000" b="1" dirty="0">
                <a:solidFill>
                  <a:srgbClr val="FF0000"/>
                </a:solidFill>
              </a:rPr>
              <a:t>  Reilly et al., Robbing Banks, </a:t>
            </a:r>
            <a:r>
              <a:rPr lang="en-US" sz="2000" b="1" i="1" dirty="0">
                <a:solidFill>
                  <a:srgbClr val="FF0000"/>
                </a:solidFill>
              </a:rPr>
              <a:t>Significance</a:t>
            </a:r>
            <a:r>
              <a:rPr lang="en-US" sz="2000" b="1" dirty="0">
                <a:solidFill>
                  <a:srgbClr val="FF0000"/>
                </a:solidFill>
              </a:rPr>
              <a:t>, Vol.9, Issue 3, pp. 17-21 </a:t>
            </a:r>
            <a:endParaRPr lang="th-TH" sz="2000" b="1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200" y="2685871"/>
            <a:ext cx="90414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     The researchers obtained exclusive data from the </a:t>
            </a:r>
            <a:r>
              <a:rPr lang="en-US" b="1" i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British Banker’s Association</a:t>
            </a:r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 In one aspect of</a:t>
            </a:r>
          </a:p>
          <a:p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their study, they analyzed the data from a sample of 364 bank raids over a several-year period in the</a:t>
            </a:r>
          </a:p>
          <a:p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United Kingdom. The following table repeats a portion of Table 1 on page 31 of the article</a:t>
            </a:r>
            <a:r>
              <a:rPr lang="en-US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*</a:t>
            </a:r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 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408295" y="4038600"/>
            <a:ext cx="8155672" cy="2378079"/>
            <a:chOff x="408295" y="4038600"/>
            <a:chExt cx="8155672" cy="2378079"/>
          </a:xfrm>
        </p:grpSpPr>
        <p:sp>
          <p:nvSpPr>
            <p:cNvPr id="18" name="Rectangle 17"/>
            <p:cNvSpPr/>
            <p:nvPr/>
          </p:nvSpPr>
          <p:spPr>
            <a:xfrm>
              <a:off x="408295" y="4038600"/>
              <a:ext cx="48463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FF33CC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Variable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08296" y="4473180"/>
              <a:ext cx="4846320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50000"/>
                    </a:schemeClr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Amount stolen (£)</a:t>
              </a:r>
            </a:p>
            <a:p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</a:rPr>
                <a:t>Number of bank staff present</a:t>
              </a:r>
            </a:p>
            <a:p>
              <a:r>
                <a:rPr lang="en-US" b="1" dirty="0">
                  <a:solidFill>
                    <a:srgbClr val="7030A0"/>
                  </a:solidFill>
                </a:rPr>
                <a:t>Number of customers present</a:t>
              </a:r>
            </a:p>
            <a:p>
              <a:r>
                <a:rPr lang="en-US" b="1" dirty="0">
                  <a:solidFill>
                    <a:srgbClr val="AF423F"/>
                  </a:solidFill>
                </a:rPr>
                <a:t>Number of bank raiders</a:t>
              </a:r>
            </a:p>
            <a:p>
              <a:r>
                <a:rPr lang="en-US" b="1" dirty="0">
                  <a:solidFill>
                    <a:srgbClr val="006600"/>
                  </a:solidFill>
                </a:rPr>
                <a:t>Travel time (min.) from bank to nearest police station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69855" y="4038600"/>
              <a:ext cx="13411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FF33CC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Mean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288280" y="4477687"/>
              <a:ext cx="1341120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3">
                      <a:lumMod val="50000"/>
                    </a:schemeClr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20,330.5</a:t>
              </a:r>
            </a:p>
            <a:p>
              <a:pPr algn="ctr"/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</a:rPr>
                <a:t>5.417</a:t>
              </a:r>
            </a:p>
            <a:p>
              <a:pPr algn="ctr"/>
              <a:r>
                <a:rPr lang="en-US" b="1" dirty="0">
                  <a:solidFill>
                    <a:srgbClr val="7030A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2.000</a:t>
              </a:r>
            </a:p>
            <a:p>
              <a:pPr algn="ctr"/>
              <a:r>
                <a:rPr lang="en-US" b="1" dirty="0">
                  <a:solidFill>
                    <a:srgbClr val="AF423F"/>
                  </a:solidFill>
                </a:rPr>
                <a:t>1.637</a:t>
              </a:r>
            </a:p>
            <a:p>
              <a:pPr algn="ctr"/>
              <a:r>
                <a:rPr lang="en-US" b="1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4.557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277967" y="4038600"/>
              <a:ext cx="226757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FF33CC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Standard Deviation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296392" y="4477687"/>
              <a:ext cx="2267575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3">
                      <a:lumMod val="50000"/>
                    </a:schemeClr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53,510.2</a:t>
              </a:r>
            </a:p>
            <a:p>
              <a:pPr algn="ctr"/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</a:rPr>
                <a:t>4.336</a:t>
              </a:r>
            </a:p>
            <a:p>
              <a:pPr algn="ctr"/>
              <a:r>
                <a:rPr lang="en-US" b="1" dirty="0">
                  <a:solidFill>
                    <a:srgbClr val="7030A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3.684</a:t>
              </a:r>
            </a:p>
            <a:p>
              <a:pPr algn="ctr"/>
              <a:r>
                <a:rPr lang="en-US" b="1" dirty="0">
                  <a:solidFill>
                    <a:srgbClr val="AF423F"/>
                  </a:solidFill>
                </a:rPr>
                <a:t>0.971</a:t>
              </a:r>
            </a:p>
            <a:p>
              <a:pPr algn="ctr"/>
              <a:r>
                <a:rPr lang="en-US" b="1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4.028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408296" y="4038600"/>
              <a:ext cx="7973704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408296" y="4531056"/>
              <a:ext cx="7973704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08296" y="6387152"/>
              <a:ext cx="7973704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BBA3BA-BE5C-4492-9BF6-7D620882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652BB0-719E-4DDF-88B2-DE9B34D955D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4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4" grpId="0" build="p"/>
      <p:bldP spid="15" grpId="0" build="p"/>
      <p:bldP spid="1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07963" y="21608"/>
            <a:ext cx="8794750" cy="66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th-TH" sz="3600" b="1" dirty="0">
                <a:solidFill>
                  <a:srgbClr val="0000FF"/>
                </a:solidFill>
                <a:latin typeface="Angsana New" pitchFamily="18" charset="-34"/>
              </a:rPr>
              <a:t>Case: Bank Robberies (p 353 – 354, 388)</a:t>
            </a:r>
            <a:endParaRPr lang="th-TH" altLang="th-TH" sz="3600" b="1" dirty="0">
              <a:solidFill>
                <a:srgbClr val="0000FF"/>
              </a:solidFill>
              <a:latin typeface="Angsana New" pitchFamily="18" charset="-3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90500" y="838200"/>
            <a:ext cx="8763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33CC"/>
                </a:solidFill>
              </a:rPr>
              <a:t>a. Identify and interpret a point estimate of the mean of each of the 5 </a:t>
            </a:r>
            <a:r>
              <a:rPr lang="en-US" b="1" dirty="0" err="1">
                <a:solidFill>
                  <a:srgbClr val="FF33CC"/>
                </a:solidFill>
              </a:rPr>
              <a:t>aforemetioned</a:t>
            </a:r>
            <a:r>
              <a:rPr lang="en-US" b="1" dirty="0">
                <a:solidFill>
                  <a:srgbClr val="FF33CC"/>
                </a:solidFill>
              </a:rPr>
              <a:t> variables</a:t>
            </a:r>
            <a:r>
              <a:rPr lang="en-US" b="1" dirty="0">
                <a:solidFill>
                  <a:srgbClr val="0070C0"/>
                </a:solidFill>
              </a:rPr>
              <a:t>.</a:t>
            </a:r>
          </a:p>
          <a:p>
            <a:r>
              <a:rPr lang="en-US" b="1" dirty="0">
                <a:solidFill>
                  <a:srgbClr val="0070C0"/>
                </a:solidFill>
              </a:rPr>
              <a:t>b. Find and interpret a 95% confidence interval for the mean </a:t>
            </a:r>
          </a:p>
          <a:p>
            <a:pPr>
              <a:tabLst>
                <a:tab pos="463550" algn="l"/>
              </a:tabLst>
            </a:pPr>
            <a:r>
              <a:rPr lang="en-US" b="1" dirty="0">
                <a:solidFill>
                  <a:srgbClr val="0070C0"/>
                </a:solidFill>
              </a:rPr>
              <a:t>	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- amount stolen.</a:t>
            </a:r>
          </a:p>
          <a:p>
            <a:pPr>
              <a:tabLst>
                <a:tab pos="463550" algn="l"/>
                <a:tab pos="914400" algn="l"/>
              </a:tabLst>
            </a:pPr>
            <a:r>
              <a:rPr lang="en-US" b="1" dirty="0">
                <a:solidFill>
                  <a:srgbClr val="0070C0"/>
                </a:solidFill>
              </a:rPr>
              <a:t>	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- number of bank staff present at the time of robberies.</a:t>
            </a:r>
          </a:p>
          <a:p>
            <a:pPr>
              <a:tabLst>
                <a:tab pos="463550" algn="l"/>
              </a:tabLst>
            </a:pPr>
            <a:r>
              <a:rPr lang="en-US" b="1" dirty="0">
                <a:solidFill>
                  <a:srgbClr val="0070C0"/>
                </a:solidFill>
              </a:rPr>
              <a:t>	</a:t>
            </a:r>
            <a:r>
              <a:rPr lang="en-US" b="1" dirty="0">
                <a:solidFill>
                  <a:srgbClr val="7030A0"/>
                </a:solidFill>
              </a:rPr>
              <a:t>- number of customers at the time of robberies.</a:t>
            </a:r>
          </a:p>
          <a:p>
            <a:pPr>
              <a:tabLst>
                <a:tab pos="463550" algn="l"/>
              </a:tabLst>
            </a:pPr>
            <a:r>
              <a:rPr lang="en-US" b="1" dirty="0">
                <a:solidFill>
                  <a:srgbClr val="0070C0"/>
                </a:solidFill>
              </a:rPr>
              <a:t>	</a:t>
            </a:r>
            <a:r>
              <a:rPr lang="en-US" b="1" dirty="0">
                <a:solidFill>
                  <a:srgbClr val="990000"/>
                </a:solidFill>
              </a:rPr>
              <a:t>- number of bank raiders</a:t>
            </a:r>
          </a:p>
          <a:p>
            <a:r>
              <a:rPr lang="en-US" b="1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c. Obtain </a:t>
            </a:r>
            <a:r>
              <a:rPr lang="en-US" b="1" dirty="0">
                <a:solidFill>
                  <a:srgbClr val="006600"/>
                </a:solidFill>
              </a:rPr>
              <a:t>and interpret a 95% confidence interval for the mean travel time from the nearest police</a:t>
            </a:r>
          </a:p>
          <a:p>
            <a:pPr>
              <a:tabLst>
                <a:tab pos="231775" algn="l"/>
              </a:tabLst>
            </a:pPr>
            <a:r>
              <a:rPr lang="en-US" b="1" dirty="0">
                <a:solidFill>
                  <a:srgbClr val="006600"/>
                </a:solidFill>
              </a:rPr>
              <a:t>	station to the bank outlet.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1AA27F-7A08-403B-BDC1-FD34570A3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652BB0-719E-4DDF-88B2-DE9B34D955D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1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9" name="Rectangle 7"/>
          <p:cNvSpPr>
            <a:spLocks noChangeArrowheads="1"/>
          </p:cNvSpPr>
          <p:nvPr/>
        </p:nvSpPr>
        <p:spPr bwMode="auto">
          <a:xfrm>
            <a:off x="131763" y="-36513"/>
            <a:ext cx="8780462" cy="79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kumimoji="1" lang="th-TH" sz="4400" b="1" dirty="0">
                <a:solidFill>
                  <a:srgbClr val="3333FF"/>
                </a:solidFill>
              </a:rPr>
              <a:t>การแจกแจงปกติและการแจกแจงของตัวสถิติ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432494" y="1798084"/>
            <a:ext cx="1752600" cy="920750"/>
            <a:chOff x="144" y="1148"/>
            <a:chExt cx="1104" cy="580"/>
          </a:xfrm>
        </p:grpSpPr>
        <p:grpSp>
          <p:nvGrpSpPr>
            <p:cNvPr id="7186" name="Group 21"/>
            <p:cNvGrpSpPr>
              <a:grpSpLocks/>
            </p:cNvGrpSpPr>
            <p:nvPr/>
          </p:nvGrpSpPr>
          <p:grpSpPr bwMode="auto">
            <a:xfrm>
              <a:off x="144" y="1148"/>
              <a:ext cx="1104" cy="580"/>
              <a:chOff x="144" y="1148"/>
              <a:chExt cx="1104" cy="580"/>
            </a:xfrm>
          </p:grpSpPr>
          <p:sp>
            <p:nvSpPr>
              <p:cNvPr id="7188" name="Rectangle 22"/>
              <p:cNvSpPr>
                <a:spLocks noChangeArrowheads="1"/>
              </p:cNvSpPr>
              <p:nvPr/>
            </p:nvSpPr>
            <p:spPr bwMode="auto">
              <a:xfrm>
                <a:off x="144" y="1200"/>
                <a:ext cx="1104" cy="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457200" indent="-457200">
                  <a:tabLst>
                    <a:tab pos="457200" algn="l"/>
                  </a:tabLst>
                </a:pPr>
                <a:r>
                  <a:rPr kumimoji="1" lang="en-US" sz="2800" b="1" dirty="0">
                    <a:solidFill>
                      <a:srgbClr val="990033"/>
                    </a:solidFill>
                  </a:rPr>
                  <a:t>X ~ N  </a:t>
                </a:r>
                <a:r>
                  <a:rPr kumimoji="1" lang="en-US" sz="2200" b="1" dirty="0">
                    <a:solidFill>
                      <a:srgbClr val="990033"/>
                    </a:solidFill>
                    <a:sym typeface="Symbol" pitchFamily="18" charset="2"/>
                  </a:rPr>
                  <a:t></a:t>
                </a:r>
                <a:r>
                  <a:rPr kumimoji="1" lang="en-US" sz="2800" b="1" dirty="0">
                    <a:solidFill>
                      <a:srgbClr val="990033"/>
                    </a:solidFill>
                  </a:rPr>
                  <a:t> , </a:t>
                </a:r>
              </a:p>
            </p:txBody>
          </p:sp>
          <p:grpSp>
            <p:nvGrpSpPr>
              <p:cNvPr id="7189" name="Group 23"/>
              <p:cNvGrpSpPr>
                <a:grpSpLocks/>
              </p:cNvGrpSpPr>
              <p:nvPr/>
            </p:nvGrpSpPr>
            <p:grpSpPr bwMode="auto">
              <a:xfrm>
                <a:off x="811" y="1148"/>
                <a:ext cx="284" cy="528"/>
                <a:chOff x="731" y="1148"/>
                <a:chExt cx="284" cy="528"/>
              </a:xfrm>
            </p:grpSpPr>
            <p:sp>
              <p:nvSpPr>
                <p:cNvPr id="7191" name="Rectangle 24"/>
                <p:cNvSpPr>
                  <a:spLocks noChangeArrowheads="1"/>
                </p:cNvSpPr>
                <p:nvPr/>
              </p:nvSpPr>
              <p:spPr bwMode="auto">
                <a:xfrm>
                  <a:off x="731" y="1148"/>
                  <a:ext cx="284" cy="5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457200" indent="-457200">
                    <a:tabLst>
                      <a:tab pos="457200" algn="l"/>
                    </a:tabLst>
                  </a:pPr>
                  <a:r>
                    <a:rPr kumimoji="1" lang="en-US" sz="2200" b="1" dirty="0">
                      <a:solidFill>
                        <a:srgbClr val="990033"/>
                      </a:solidFill>
                      <a:sym typeface="Symbol" pitchFamily="18" charset="2"/>
                    </a:rPr>
                    <a:t></a:t>
                  </a:r>
                  <a:r>
                    <a:rPr kumimoji="1" lang="en-US" sz="2800" b="1" baseline="30000" dirty="0">
                      <a:solidFill>
                        <a:srgbClr val="990033"/>
                      </a:solidFill>
                      <a:sym typeface="Symbol" pitchFamily="18" charset="2"/>
                    </a:rPr>
                    <a:t>2</a:t>
                  </a:r>
                  <a:endParaRPr kumimoji="1" lang="en-US" sz="2800" b="1" dirty="0">
                    <a:solidFill>
                      <a:srgbClr val="990033"/>
                    </a:solidFill>
                  </a:endParaRPr>
                </a:p>
              </p:txBody>
            </p:sp>
            <p:sp>
              <p:nvSpPr>
                <p:cNvPr id="7192" name="Line 25"/>
                <p:cNvSpPr>
                  <a:spLocks noChangeShapeType="1"/>
                </p:cNvSpPr>
                <p:nvPr/>
              </p:nvSpPr>
              <p:spPr bwMode="auto">
                <a:xfrm>
                  <a:off x="779" y="1393"/>
                  <a:ext cx="173" cy="0"/>
                </a:xfrm>
                <a:prstGeom prst="line">
                  <a:avLst/>
                </a:prstGeom>
                <a:noFill/>
                <a:ln w="28575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800"/>
                </a:p>
              </p:txBody>
            </p:sp>
            <p:sp>
              <p:nvSpPr>
                <p:cNvPr id="7193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741" y="1288"/>
                  <a:ext cx="211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2800" b="1" dirty="0">
                      <a:solidFill>
                        <a:srgbClr val="990033"/>
                      </a:solidFill>
                    </a:rPr>
                    <a:t>n</a:t>
                  </a:r>
                  <a:endParaRPr lang="th-TH" sz="2800" b="1" dirty="0">
                    <a:solidFill>
                      <a:srgbClr val="990033"/>
                    </a:solidFill>
                  </a:endParaRPr>
                </a:p>
              </p:txBody>
            </p:sp>
          </p:grpSp>
          <p:sp>
            <p:nvSpPr>
              <p:cNvPr id="7190" name="AutoShape 27"/>
              <p:cNvSpPr>
                <a:spLocks noChangeArrowheads="1"/>
              </p:cNvSpPr>
              <p:nvPr/>
            </p:nvSpPr>
            <p:spPr bwMode="auto">
              <a:xfrm>
                <a:off x="603" y="1216"/>
                <a:ext cx="492" cy="288"/>
              </a:xfrm>
              <a:prstGeom prst="bracketPair">
                <a:avLst>
                  <a:gd name="adj" fmla="val 9875"/>
                </a:avLst>
              </a:prstGeom>
              <a:noFill/>
              <a:ln w="28575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th-TH" sz="2800"/>
              </a:p>
            </p:txBody>
          </p:sp>
        </p:grpSp>
        <p:sp>
          <p:nvSpPr>
            <p:cNvPr id="7187" name="Line 28"/>
            <p:cNvSpPr>
              <a:spLocks noChangeShapeType="1"/>
            </p:cNvSpPr>
            <p:nvPr/>
          </p:nvSpPr>
          <p:spPr bwMode="auto">
            <a:xfrm>
              <a:off x="194" y="1285"/>
              <a:ext cx="115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800"/>
            </a:p>
          </p:txBody>
        </p:sp>
      </p:grpSp>
      <p:sp>
        <p:nvSpPr>
          <p:cNvPr id="105509" name="AutoShape 37"/>
          <p:cNvSpPr>
            <a:spLocks noChangeArrowheads="1"/>
          </p:cNvSpPr>
          <p:nvPr/>
        </p:nvSpPr>
        <p:spPr bwMode="auto">
          <a:xfrm>
            <a:off x="49696" y="1436686"/>
            <a:ext cx="2163417" cy="1369081"/>
          </a:xfrm>
          <a:custGeom>
            <a:avLst/>
            <a:gdLst>
              <a:gd name="T0" fmla="*/ 545193693 w 21600"/>
              <a:gd name="T1" fmla="*/ 0 h 21600"/>
              <a:gd name="T2" fmla="*/ 0 w 21600"/>
              <a:gd name="T3" fmla="*/ 71102003 h 21600"/>
              <a:gd name="T4" fmla="*/ 545193693 w 21600"/>
              <a:gd name="T5" fmla="*/ 142204006 h 21600"/>
              <a:gd name="T6" fmla="*/ 672041600 w 21600"/>
              <a:gd name="T7" fmla="*/ 7110200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3943 h 21600"/>
              <a:gd name="T14" fmla="*/ 19011 w 21600"/>
              <a:gd name="T15" fmla="*/ 1765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7523" y="0"/>
                </a:moveTo>
                <a:lnTo>
                  <a:pt x="17523" y="3943"/>
                </a:lnTo>
                <a:lnTo>
                  <a:pt x="3375" y="3943"/>
                </a:lnTo>
                <a:lnTo>
                  <a:pt x="3375" y="17657"/>
                </a:lnTo>
                <a:lnTo>
                  <a:pt x="17523" y="17657"/>
                </a:lnTo>
                <a:lnTo>
                  <a:pt x="17523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3943"/>
                </a:moveTo>
                <a:lnTo>
                  <a:pt x="1350" y="17657"/>
                </a:lnTo>
                <a:lnTo>
                  <a:pt x="2700" y="17657"/>
                </a:lnTo>
                <a:lnTo>
                  <a:pt x="2700" y="3943"/>
                </a:lnTo>
                <a:close/>
              </a:path>
              <a:path w="21600" h="21600">
                <a:moveTo>
                  <a:pt x="0" y="3943"/>
                </a:moveTo>
                <a:lnTo>
                  <a:pt x="0" y="17657"/>
                </a:lnTo>
                <a:lnTo>
                  <a:pt x="675" y="17657"/>
                </a:lnTo>
                <a:lnTo>
                  <a:pt x="675" y="3943"/>
                </a:lnTo>
                <a:close/>
              </a:path>
            </a:pathLst>
          </a:custGeom>
          <a:noFill/>
          <a:ln w="38100">
            <a:solidFill>
              <a:srgbClr val="AF423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th-TH" sz="400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105510" name="AutoShape 38"/>
          <p:cNvSpPr>
            <a:spLocks noChangeArrowheads="1"/>
          </p:cNvSpPr>
          <p:nvPr/>
        </p:nvSpPr>
        <p:spPr bwMode="auto">
          <a:xfrm>
            <a:off x="2335696" y="1648722"/>
            <a:ext cx="2004827" cy="949878"/>
          </a:xfrm>
          <a:prstGeom prst="roundRect">
            <a:avLst>
              <a:gd name="adj" fmla="val 7726"/>
            </a:avLst>
          </a:prstGeom>
          <a:noFill/>
          <a:ln w="38100">
            <a:solidFill>
              <a:srgbClr val="AF423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th-TH" sz="4000"/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2421835" y="1775859"/>
            <a:ext cx="1987550" cy="752475"/>
            <a:chOff x="3216" y="2692"/>
            <a:chExt cx="1252" cy="474"/>
          </a:xfrm>
        </p:grpSpPr>
        <p:sp>
          <p:nvSpPr>
            <p:cNvPr id="7178" name="Text Box 40"/>
            <p:cNvSpPr txBox="1">
              <a:spLocks noChangeArrowheads="1"/>
            </p:cNvSpPr>
            <p:nvPr/>
          </p:nvSpPr>
          <p:spPr bwMode="auto">
            <a:xfrm>
              <a:off x="3669" y="2775"/>
              <a:ext cx="79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 b="1" dirty="0">
                  <a:solidFill>
                    <a:srgbClr val="990033"/>
                  </a:solidFill>
                </a:rPr>
                <a:t>~  N(0 , 1)</a:t>
              </a:r>
              <a:endParaRPr lang="th-TH" sz="2800" b="1" dirty="0">
                <a:solidFill>
                  <a:srgbClr val="990033"/>
                </a:solidFill>
              </a:endParaRPr>
            </a:p>
          </p:txBody>
        </p:sp>
        <p:grpSp>
          <p:nvGrpSpPr>
            <p:cNvPr id="7179" name="Group 41"/>
            <p:cNvGrpSpPr>
              <a:grpSpLocks/>
            </p:cNvGrpSpPr>
            <p:nvPr/>
          </p:nvGrpSpPr>
          <p:grpSpPr bwMode="auto">
            <a:xfrm>
              <a:off x="3216" y="2692"/>
              <a:ext cx="576" cy="474"/>
              <a:chOff x="3166" y="2614"/>
              <a:chExt cx="576" cy="474"/>
            </a:xfrm>
          </p:grpSpPr>
          <p:sp>
            <p:nvSpPr>
              <p:cNvPr id="7180" name="Rectangle 42"/>
              <p:cNvSpPr>
                <a:spLocks noChangeArrowheads="1"/>
              </p:cNvSpPr>
              <p:nvPr/>
            </p:nvSpPr>
            <p:spPr bwMode="auto">
              <a:xfrm>
                <a:off x="3166" y="2614"/>
                <a:ext cx="576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2800" b="1" dirty="0">
                    <a:solidFill>
                      <a:srgbClr val="990033"/>
                    </a:solidFill>
                    <a:sym typeface="Symbol" pitchFamily="18" charset="2"/>
                  </a:rPr>
                  <a:t>X – </a:t>
                </a:r>
                <a:r>
                  <a:rPr kumimoji="1" lang="en-US" sz="2200" b="1" dirty="0">
                    <a:solidFill>
                      <a:srgbClr val="990033"/>
                    </a:solidFill>
                    <a:sym typeface="Symbol" pitchFamily="18" charset="2"/>
                  </a:rPr>
                  <a:t></a:t>
                </a:r>
              </a:p>
            </p:txBody>
          </p:sp>
          <p:sp>
            <p:nvSpPr>
              <p:cNvPr id="7181" name="Line 43"/>
              <p:cNvSpPr>
                <a:spLocks noChangeShapeType="1"/>
              </p:cNvSpPr>
              <p:nvPr/>
            </p:nvSpPr>
            <p:spPr bwMode="auto">
              <a:xfrm>
                <a:off x="3174" y="2870"/>
                <a:ext cx="461" cy="0"/>
              </a:xfrm>
              <a:prstGeom prst="line">
                <a:avLst/>
              </a:prstGeom>
              <a:noFill/>
              <a:ln w="28575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800"/>
              </a:p>
            </p:txBody>
          </p:sp>
          <p:grpSp>
            <p:nvGrpSpPr>
              <p:cNvPr id="7182" name="Group 44"/>
              <p:cNvGrpSpPr>
                <a:grpSpLocks/>
              </p:cNvGrpSpPr>
              <p:nvPr/>
            </p:nvGrpSpPr>
            <p:grpSpPr bwMode="auto">
              <a:xfrm>
                <a:off x="3168" y="2824"/>
                <a:ext cx="543" cy="264"/>
                <a:chOff x="3216" y="2908"/>
                <a:chExt cx="543" cy="264"/>
              </a:xfrm>
            </p:grpSpPr>
            <p:sp>
              <p:nvSpPr>
                <p:cNvPr id="7184" name="Rectangle 45"/>
                <p:cNvSpPr>
                  <a:spLocks noChangeArrowheads="1"/>
                </p:cNvSpPr>
                <p:nvPr/>
              </p:nvSpPr>
              <p:spPr bwMode="auto">
                <a:xfrm>
                  <a:off x="3216" y="2908"/>
                  <a:ext cx="543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2200" b="1" dirty="0">
                      <a:solidFill>
                        <a:srgbClr val="990033"/>
                      </a:solidFill>
                      <a:sym typeface="Symbol" pitchFamily="18" charset="2"/>
                    </a:rPr>
                    <a:t></a:t>
                  </a:r>
                  <a:r>
                    <a:rPr kumimoji="1" lang="en-US" sz="2800" b="1" dirty="0">
                      <a:solidFill>
                        <a:srgbClr val="990033"/>
                      </a:solidFill>
                      <a:sym typeface="Symbol" pitchFamily="18" charset="2"/>
                    </a:rPr>
                    <a:t>/</a:t>
                  </a:r>
                  <a:r>
                    <a:rPr kumimoji="1" lang="en-US" sz="1600" b="1" dirty="0">
                      <a:solidFill>
                        <a:srgbClr val="990033"/>
                      </a:solidFill>
                      <a:sym typeface="Symbol" pitchFamily="18" charset="2"/>
                    </a:rPr>
                    <a:t></a:t>
                  </a:r>
                  <a:r>
                    <a:rPr kumimoji="1" lang="en-US" sz="2800" b="1" dirty="0">
                      <a:solidFill>
                        <a:srgbClr val="990033"/>
                      </a:solidFill>
                      <a:sym typeface="Symbol" pitchFamily="18" charset="2"/>
                    </a:rPr>
                    <a:t>n</a:t>
                  </a:r>
                </a:p>
              </p:txBody>
            </p:sp>
            <p:sp>
              <p:nvSpPr>
                <p:cNvPr id="7185" name="Line 46"/>
                <p:cNvSpPr>
                  <a:spLocks noChangeShapeType="1"/>
                </p:cNvSpPr>
                <p:nvPr/>
              </p:nvSpPr>
              <p:spPr bwMode="auto">
                <a:xfrm>
                  <a:off x="3504" y="3010"/>
                  <a:ext cx="92" cy="0"/>
                </a:xfrm>
                <a:prstGeom prst="line">
                  <a:avLst/>
                </a:prstGeom>
                <a:noFill/>
                <a:ln w="28575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800"/>
                </a:p>
              </p:txBody>
            </p:sp>
          </p:grpSp>
          <p:sp>
            <p:nvSpPr>
              <p:cNvPr id="7183" name="Line 47"/>
              <p:cNvSpPr>
                <a:spLocks noChangeShapeType="1"/>
              </p:cNvSpPr>
              <p:nvPr/>
            </p:nvSpPr>
            <p:spPr bwMode="auto">
              <a:xfrm>
                <a:off x="3214" y="2686"/>
                <a:ext cx="115" cy="0"/>
              </a:xfrm>
              <a:prstGeom prst="line">
                <a:avLst/>
              </a:prstGeom>
              <a:noFill/>
              <a:ln w="28575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800"/>
              </a:p>
            </p:txBody>
          </p:sp>
        </p:grpSp>
      </p:grpSp>
      <p:sp>
        <p:nvSpPr>
          <p:cNvPr id="105520" name="Text Box 48"/>
          <p:cNvSpPr txBox="1">
            <a:spLocks noChangeArrowheads="1"/>
          </p:cNvSpPr>
          <p:nvPr/>
        </p:nvSpPr>
        <p:spPr bwMode="auto">
          <a:xfrm>
            <a:off x="76200" y="762000"/>
            <a:ext cx="7772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dirty="0">
                <a:solidFill>
                  <a:srgbClr val="006600"/>
                </a:solidFill>
              </a:rPr>
              <a:t>X</a:t>
            </a:r>
            <a:r>
              <a:rPr lang="en-US" sz="2800" b="1" baseline="-25000" dirty="0">
                <a:solidFill>
                  <a:srgbClr val="006600"/>
                </a:solidFill>
              </a:rPr>
              <a:t>1</a:t>
            </a:r>
            <a:r>
              <a:rPr lang="en-US" sz="2800" b="1" dirty="0">
                <a:solidFill>
                  <a:srgbClr val="006600"/>
                </a:solidFill>
              </a:rPr>
              <a:t> , X</a:t>
            </a:r>
            <a:r>
              <a:rPr lang="en-US" sz="2800" b="1" baseline="-25000" dirty="0">
                <a:solidFill>
                  <a:srgbClr val="006600"/>
                </a:solidFill>
              </a:rPr>
              <a:t>2</a:t>
            </a:r>
            <a:r>
              <a:rPr lang="en-US" sz="2800" b="1" dirty="0">
                <a:solidFill>
                  <a:srgbClr val="006600"/>
                </a:solidFill>
              </a:rPr>
              <a:t> , … , </a:t>
            </a:r>
            <a:r>
              <a:rPr lang="en-US" sz="2800" b="1" dirty="0" err="1">
                <a:solidFill>
                  <a:srgbClr val="006600"/>
                </a:solidFill>
              </a:rPr>
              <a:t>X</a:t>
            </a:r>
            <a:r>
              <a:rPr lang="en-US" sz="2800" b="1" baseline="-25000" dirty="0" err="1">
                <a:solidFill>
                  <a:srgbClr val="006600"/>
                </a:solidFill>
              </a:rPr>
              <a:t>n</a:t>
            </a:r>
            <a:r>
              <a:rPr lang="en-US" sz="2800" b="1" dirty="0">
                <a:solidFill>
                  <a:srgbClr val="006600"/>
                </a:solidFill>
              </a:rPr>
              <a:t> </a:t>
            </a:r>
            <a:r>
              <a:rPr lang="th-TH" sz="2800" b="1" dirty="0">
                <a:solidFill>
                  <a:srgbClr val="006600"/>
                </a:solidFill>
              </a:rPr>
              <a:t>เป็นตัวอย่างสุ่มจาก</a:t>
            </a:r>
            <a:r>
              <a:rPr lang="en-US" sz="2800" b="1" dirty="0">
                <a:solidFill>
                  <a:srgbClr val="006600"/>
                </a:solidFill>
              </a:rPr>
              <a:t> N (</a:t>
            </a:r>
            <a:r>
              <a:rPr lang="en-US" sz="2200" b="1" dirty="0">
                <a:solidFill>
                  <a:srgbClr val="006600"/>
                </a:solidFill>
                <a:sym typeface="Symbol" pitchFamily="18" charset="2"/>
              </a:rPr>
              <a:t></a:t>
            </a:r>
            <a:r>
              <a:rPr lang="en-US" sz="2200" b="1" dirty="0">
                <a:solidFill>
                  <a:srgbClr val="006600"/>
                </a:solidFill>
              </a:rPr>
              <a:t> </a:t>
            </a:r>
            <a:r>
              <a:rPr lang="en-US" sz="2800" b="1" dirty="0">
                <a:solidFill>
                  <a:srgbClr val="006600"/>
                </a:solidFill>
              </a:rPr>
              <a:t>, </a:t>
            </a:r>
            <a:r>
              <a:rPr lang="en-US" sz="2200" b="1" dirty="0">
                <a:solidFill>
                  <a:srgbClr val="006600"/>
                </a:solidFill>
                <a:sym typeface="Symbol" pitchFamily="18" charset="2"/>
              </a:rPr>
              <a:t></a:t>
            </a:r>
            <a:r>
              <a:rPr lang="en-US" sz="2800" b="1" baseline="30000" dirty="0">
                <a:solidFill>
                  <a:srgbClr val="006600"/>
                </a:solidFill>
                <a:sym typeface="Symbol" pitchFamily="18" charset="2"/>
              </a:rPr>
              <a:t>2</a:t>
            </a:r>
            <a:r>
              <a:rPr lang="en-US" sz="2800" b="1" dirty="0">
                <a:solidFill>
                  <a:srgbClr val="006600"/>
                </a:solidFill>
              </a:rPr>
              <a:t>)</a:t>
            </a:r>
            <a:r>
              <a:rPr lang="th-TH" sz="2800" b="1" dirty="0">
                <a:solidFill>
                  <a:srgbClr val="006600"/>
                </a:solidFill>
              </a:rPr>
              <a:t> </a:t>
            </a:r>
          </a:p>
        </p:txBody>
      </p:sp>
      <p:sp>
        <p:nvSpPr>
          <p:cNvPr id="26" name="Text Box 48"/>
          <p:cNvSpPr txBox="1">
            <a:spLocks noChangeArrowheads="1"/>
          </p:cNvSpPr>
          <p:nvPr/>
        </p:nvSpPr>
        <p:spPr bwMode="auto">
          <a:xfrm>
            <a:off x="76200" y="4810780"/>
            <a:ext cx="50537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dirty="0">
                <a:solidFill>
                  <a:srgbClr val="006600"/>
                </a:solidFill>
              </a:rPr>
              <a:t>X</a:t>
            </a:r>
            <a:r>
              <a:rPr lang="en-US" sz="2800" b="1" baseline="-25000" dirty="0">
                <a:solidFill>
                  <a:srgbClr val="006600"/>
                </a:solidFill>
              </a:rPr>
              <a:t>1</a:t>
            </a:r>
            <a:r>
              <a:rPr lang="en-US" sz="2800" b="1" dirty="0">
                <a:solidFill>
                  <a:srgbClr val="006600"/>
                </a:solidFill>
              </a:rPr>
              <a:t> , X</a:t>
            </a:r>
            <a:r>
              <a:rPr lang="en-US" sz="2800" b="1" baseline="-25000" dirty="0">
                <a:solidFill>
                  <a:srgbClr val="006600"/>
                </a:solidFill>
              </a:rPr>
              <a:t>2</a:t>
            </a:r>
            <a:r>
              <a:rPr lang="en-US" sz="2800" b="1" dirty="0">
                <a:solidFill>
                  <a:srgbClr val="006600"/>
                </a:solidFill>
              </a:rPr>
              <a:t> , … , </a:t>
            </a:r>
            <a:r>
              <a:rPr lang="en-US" sz="2800" b="1" dirty="0" err="1">
                <a:solidFill>
                  <a:srgbClr val="006600"/>
                </a:solidFill>
              </a:rPr>
              <a:t>X</a:t>
            </a:r>
            <a:r>
              <a:rPr lang="en-US" sz="2800" b="1" baseline="-25000" dirty="0" err="1">
                <a:solidFill>
                  <a:srgbClr val="006600"/>
                </a:solidFill>
              </a:rPr>
              <a:t>n</a:t>
            </a:r>
            <a:r>
              <a:rPr lang="en-US" sz="2800" b="1" dirty="0">
                <a:solidFill>
                  <a:srgbClr val="006600"/>
                </a:solidFill>
              </a:rPr>
              <a:t> </a:t>
            </a:r>
            <a:r>
              <a:rPr lang="th-TH" sz="2800" b="1" dirty="0">
                <a:solidFill>
                  <a:srgbClr val="006600"/>
                </a:solidFill>
              </a:rPr>
              <a:t>เป็นตัวอย่างสุ่มขนาด </a:t>
            </a:r>
            <a:r>
              <a:rPr lang="en-US" sz="2800" b="1" dirty="0">
                <a:solidFill>
                  <a:srgbClr val="006600"/>
                </a:solidFill>
              </a:rPr>
              <a:t>n</a:t>
            </a:r>
            <a:r>
              <a:rPr lang="th-TH" sz="2800" b="1" dirty="0">
                <a:solidFill>
                  <a:srgbClr val="006600"/>
                </a:solidFill>
              </a:rPr>
              <a:t> </a:t>
            </a:r>
            <a:r>
              <a:rPr lang="th-TH" sz="2200" b="1" dirty="0">
                <a:solidFill>
                  <a:srgbClr val="006600"/>
                </a:solidFill>
                <a:latin typeface="Times New Roman"/>
                <a:sym typeface="Symbol"/>
              </a:rPr>
              <a:t> </a:t>
            </a:r>
            <a:r>
              <a:rPr lang="th-TH" sz="2200" b="1" dirty="0">
                <a:solidFill>
                  <a:srgbClr val="006600"/>
                </a:solidFill>
                <a:latin typeface="Times New Roman"/>
              </a:rPr>
              <a:t>∞</a:t>
            </a:r>
            <a:endParaRPr lang="th-TH" sz="2200" b="1" dirty="0">
              <a:solidFill>
                <a:srgbClr val="006600"/>
              </a:solidFill>
            </a:endParaRPr>
          </a:p>
        </p:txBody>
      </p:sp>
      <p:sp>
        <p:nvSpPr>
          <p:cNvPr id="37" name="AutoShape 37"/>
          <p:cNvSpPr>
            <a:spLocks noChangeArrowheads="1"/>
          </p:cNvSpPr>
          <p:nvPr/>
        </p:nvSpPr>
        <p:spPr bwMode="auto">
          <a:xfrm>
            <a:off x="1428818" y="5278854"/>
            <a:ext cx="4564478" cy="1426746"/>
          </a:xfrm>
          <a:custGeom>
            <a:avLst/>
            <a:gdLst>
              <a:gd name="T0" fmla="*/ 545193693 w 21600"/>
              <a:gd name="T1" fmla="*/ 0 h 21600"/>
              <a:gd name="T2" fmla="*/ 0 w 21600"/>
              <a:gd name="T3" fmla="*/ 71102003 h 21600"/>
              <a:gd name="T4" fmla="*/ 545193693 w 21600"/>
              <a:gd name="T5" fmla="*/ 142204006 h 21600"/>
              <a:gd name="T6" fmla="*/ 672041600 w 21600"/>
              <a:gd name="T7" fmla="*/ 7110200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3943 h 21600"/>
              <a:gd name="T14" fmla="*/ 19011 w 21600"/>
              <a:gd name="T15" fmla="*/ 1765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7523" y="0"/>
                </a:moveTo>
                <a:lnTo>
                  <a:pt x="17523" y="3943"/>
                </a:lnTo>
                <a:lnTo>
                  <a:pt x="3375" y="3943"/>
                </a:lnTo>
                <a:lnTo>
                  <a:pt x="3375" y="17657"/>
                </a:lnTo>
                <a:lnTo>
                  <a:pt x="17523" y="17657"/>
                </a:lnTo>
                <a:lnTo>
                  <a:pt x="17523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3943"/>
                </a:moveTo>
                <a:lnTo>
                  <a:pt x="1350" y="17657"/>
                </a:lnTo>
                <a:lnTo>
                  <a:pt x="2700" y="17657"/>
                </a:lnTo>
                <a:lnTo>
                  <a:pt x="2700" y="3943"/>
                </a:lnTo>
                <a:close/>
              </a:path>
              <a:path w="21600" h="21600">
                <a:moveTo>
                  <a:pt x="0" y="3943"/>
                </a:moveTo>
                <a:lnTo>
                  <a:pt x="0" y="17657"/>
                </a:lnTo>
                <a:lnTo>
                  <a:pt x="675" y="17657"/>
                </a:lnTo>
                <a:lnTo>
                  <a:pt x="675" y="3943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th-TH" sz="400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66876" y="5638800"/>
            <a:ext cx="3537576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en-US" sz="2800" b="1" dirty="0">
                <a:solidFill>
                  <a:srgbClr val="FF0000"/>
                </a:solidFill>
              </a:rPr>
              <a:t>Central Limit Theorem (CLT)</a:t>
            </a:r>
          </a:p>
        </p:txBody>
      </p:sp>
      <p:sp>
        <p:nvSpPr>
          <p:cNvPr id="49" name="Text Box 26"/>
          <p:cNvSpPr txBox="1">
            <a:spLocks noChangeArrowheads="1"/>
          </p:cNvSpPr>
          <p:nvPr/>
        </p:nvSpPr>
        <p:spPr bwMode="auto">
          <a:xfrm>
            <a:off x="7116280" y="1611159"/>
            <a:ext cx="1875320" cy="1029513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 eaLnBrk="1" hangingPunct="1">
              <a:lnSpc>
                <a:spcPct val="70000"/>
              </a:lnSpc>
              <a:defRPr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Student – t </a:t>
            </a:r>
          </a:p>
          <a:p>
            <a:pPr algn="ctr" eaLnBrk="1" hangingPunct="1">
              <a:lnSpc>
                <a:spcPct val="70000"/>
              </a:lnSpc>
              <a:defRPr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distribution </a:t>
            </a:r>
          </a:p>
          <a:p>
            <a:pPr algn="ctr" eaLnBrk="1" hangingPunct="1">
              <a:lnSpc>
                <a:spcPct val="70000"/>
              </a:lnSpc>
              <a:defRPr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with (n – 1)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</a:rPr>
              <a:t>df</a:t>
            </a:r>
            <a:endParaRPr lang="th-TH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9" name="AutoShape 37"/>
          <p:cNvSpPr>
            <a:spLocks noChangeArrowheads="1"/>
          </p:cNvSpPr>
          <p:nvPr/>
        </p:nvSpPr>
        <p:spPr bwMode="auto">
          <a:xfrm>
            <a:off x="4570412" y="1427922"/>
            <a:ext cx="2392957" cy="1391478"/>
          </a:xfrm>
          <a:custGeom>
            <a:avLst/>
            <a:gdLst>
              <a:gd name="T0" fmla="*/ 545193693 w 21600"/>
              <a:gd name="T1" fmla="*/ 0 h 21600"/>
              <a:gd name="T2" fmla="*/ 0 w 21600"/>
              <a:gd name="T3" fmla="*/ 71102003 h 21600"/>
              <a:gd name="T4" fmla="*/ 545193693 w 21600"/>
              <a:gd name="T5" fmla="*/ 142204006 h 21600"/>
              <a:gd name="T6" fmla="*/ 672041600 w 21600"/>
              <a:gd name="T7" fmla="*/ 7110200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3943 h 21600"/>
              <a:gd name="T14" fmla="*/ 19011 w 21600"/>
              <a:gd name="T15" fmla="*/ 1765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7523" y="0"/>
                </a:moveTo>
                <a:lnTo>
                  <a:pt x="17523" y="3943"/>
                </a:lnTo>
                <a:lnTo>
                  <a:pt x="3375" y="3943"/>
                </a:lnTo>
                <a:lnTo>
                  <a:pt x="3375" y="17657"/>
                </a:lnTo>
                <a:lnTo>
                  <a:pt x="17523" y="17657"/>
                </a:lnTo>
                <a:lnTo>
                  <a:pt x="17523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3943"/>
                </a:moveTo>
                <a:lnTo>
                  <a:pt x="1350" y="17657"/>
                </a:lnTo>
                <a:lnTo>
                  <a:pt x="2700" y="17657"/>
                </a:lnTo>
                <a:lnTo>
                  <a:pt x="2700" y="3943"/>
                </a:lnTo>
                <a:close/>
              </a:path>
              <a:path w="21600" h="21600">
                <a:moveTo>
                  <a:pt x="0" y="3943"/>
                </a:moveTo>
                <a:lnTo>
                  <a:pt x="0" y="17657"/>
                </a:lnTo>
                <a:lnTo>
                  <a:pt x="675" y="17657"/>
                </a:lnTo>
                <a:lnTo>
                  <a:pt x="675" y="3943"/>
                </a:lnTo>
                <a:close/>
              </a:path>
            </a:pathLst>
          </a:custGeom>
          <a:noFill/>
          <a:ln w="3810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th-TH" sz="2800">
              <a:solidFill>
                <a:srgbClr val="0000FF"/>
              </a:solidFill>
              <a:latin typeface="Arial" charset="0"/>
            </a:endParaRPr>
          </a:p>
        </p:txBody>
      </p:sp>
      <p:grpSp>
        <p:nvGrpSpPr>
          <p:cNvPr id="60" name="Group 39"/>
          <p:cNvGrpSpPr>
            <a:grpSpLocks/>
          </p:cNvGrpSpPr>
          <p:nvPr/>
        </p:nvGrpSpPr>
        <p:grpSpPr bwMode="auto">
          <a:xfrm>
            <a:off x="5027612" y="1768542"/>
            <a:ext cx="1982788" cy="765175"/>
            <a:chOff x="3216" y="2684"/>
            <a:chExt cx="1249" cy="482"/>
          </a:xfrm>
        </p:grpSpPr>
        <p:sp>
          <p:nvSpPr>
            <p:cNvPr id="61" name="Text Box 40"/>
            <p:cNvSpPr txBox="1">
              <a:spLocks noChangeArrowheads="1"/>
            </p:cNvSpPr>
            <p:nvPr/>
          </p:nvSpPr>
          <p:spPr bwMode="auto">
            <a:xfrm>
              <a:off x="3669" y="2775"/>
              <a:ext cx="79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 b="1" dirty="0">
                  <a:solidFill>
                    <a:srgbClr val="008080"/>
                  </a:solidFill>
                </a:rPr>
                <a:t>~ t(n – 1 )</a:t>
              </a:r>
              <a:endParaRPr lang="th-TH" sz="2800" b="1" dirty="0">
                <a:solidFill>
                  <a:srgbClr val="008080"/>
                </a:solidFill>
              </a:endParaRPr>
            </a:p>
          </p:txBody>
        </p:sp>
        <p:grpSp>
          <p:nvGrpSpPr>
            <p:cNvPr id="62" name="Group 41"/>
            <p:cNvGrpSpPr>
              <a:grpSpLocks/>
            </p:cNvGrpSpPr>
            <p:nvPr/>
          </p:nvGrpSpPr>
          <p:grpSpPr bwMode="auto">
            <a:xfrm>
              <a:off x="3216" y="2684"/>
              <a:ext cx="576" cy="482"/>
              <a:chOff x="3166" y="2606"/>
              <a:chExt cx="576" cy="482"/>
            </a:xfrm>
          </p:grpSpPr>
          <p:sp>
            <p:nvSpPr>
              <p:cNvPr id="63" name="Rectangle 42"/>
              <p:cNvSpPr>
                <a:spLocks noChangeArrowheads="1"/>
              </p:cNvSpPr>
              <p:nvPr/>
            </p:nvSpPr>
            <p:spPr bwMode="auto">
              <a:xfrm>
                <a:off x="3166" y="2606"/>
                <a:ext cx="576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2800" b="1" dirty="0">
                    <a:solidFill>
                      <a:srgbClr val="008080"/>
                    </a:solidFill>
                    <a:sym typeface="Symbol" pitchFamily="18" charset="2"/>
                  </a:rPr>
                  <a:t>X – </a:t>
                </a:r>
                <a:r>
                  <a:rPr kumimoji="1" lang="en-US" sz="2200" b="1" dirty="0">
                    <a:solidFill>
                      <a:srgbClr val="008080"/>
                    </a:solidFill>
                    <a:sym typeface="Symbol" pitchFamily="18" charset="2"/>
                  </a:rPr>
                  <a:t></a:t>
                </a:r>
              </a:p>
            </p:txBody>
          </p:sp>
          <p:sp>
            <p:nvSpPr>
              <p:cNvPr id="64" name="Line 43"/>
              <p:cNvSpPr>
                <a:spLocks noChangeShapeType="1"/>
              </p:cNvSpPr>
              <p:nvPr/>
            </p:nvSpPr>
            <p:spPr bwMode="auto">
              <a:xfrm>
                <a:off x="3174" y="2878"/>
                <a:ext cx="461" cy="0"/>
              </a:xfrm>
              <a:prstGeom prst="line">
                <a:avLst/>
              </a:prstGeom>
              <a:noFill/>
              <a:ln w="2857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800">
                  <a:solidFill>
                    <a:srgbClr val="008080"/>
                  </a:solidFill>
                </a:endParaRPr>
              </a:p>
            </p:txBody>
          </p:sp>
          <p:grpSp>
            <p:nvGrpSpPr>
              <p:cNvPr id="65" name="Group 44"/>
              <p:cNvGrpSpPr>
                <a:grpSpLocks/>
              </p:cNvGrpSpPr>
              <p:nvPr/>
            </p:nvGrpSpPr>
            <p:grpSpPr bwMode="auto">
              <a:xfrm>
                <a:off x="3168" y="2824"/>
                <a:ext cx="543" cy="264"/>
                <a:chOff x="3216" y="2908"/>
                <a:chExt cx="543" cy="264"/>
              </a:xfrm>
            </p:grpSpPr>
            <p:sp>
              <p:nvSpPr>
                <p:cNvPr id="67" name="Rectangle 45"/>
                <p:cNvSpPr>
                  <a:spLocks noChangeArrowheads="1"/>
                </p:cNvSpPr>
                <p:nvPr/>
              </p:nvSpPr>
              <p:spPr bwMode="auto">
                <a:xfrm>
                  <a:off x="3216" y="2908"/>
                  <a:ext cx="543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2800" b="1" dirty="0">
                      <a:solidFill>
                        <a:srgbClr val="008080"/>
                      </a:solidFill>
                      <a:sym typeface="Symbol" pitchFamily="18" charset="2"/>
                    </a:rPr>
                    <a:t>S /</a:t>
                  </a:r>
                  <a:r>
                    <a:rPr kumimoji="1" lang="en-US" sz="1600" b="1" dirty="0">
                      <a:solidFill>
                        <a:srgbClr val="008080"/>
                      </a:solidFill>
                      <a:sym typeface="Symbol" pitchFamily="18" charset="2"/>
                    </a:rPr>
                    <a:t></a:t>
                  </a:r>
                  <a:r>
                    <a:rPr kumimoji="1" lang="en-US" sz="2800" b="1" dirty="0">
                      <a:solidFill>
                        <a:srgbClr val="008080"/>
                      </a:solidFill>
                      <a:sym typeface="Symbol" pitchFamily="18" charset="2"/>
                    </a:rPr>
                    <a:t>n</a:t>
                  </a:r>
                </a:p>
              </p:txBody>
            </p:sp>
            <p:sp>
              <p:nvSpPr>
                <p:cNvPr id="68" name="Line 46"/>
                <p:cNvSpPr>
                  <a:spLocks noChangeShapeType="1"/>
                </p:cNvSpPr>
                <p:nvPr/>
              </p:nvSpPr>
              <p:spPr bwMode="auto">
                <a:xfrm>
                  <a:off x="3504" y="3010"/>
                  <a:ext cx="92" cy="0"/>
                </a:xfrm>
                <a:prstGeom prst="line">
                  <a:avLst/>
                </a:prstGeom>
                <a:noFill/>
                <a:ln w="28575">
                  <a:solidFill>
                    <a:srgbClr val="0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800">
                    <a:solidFill>
                      <a:srgbClr val="008080"/>
                    </a:solidFill>
                  </a:endParaRPr>
                </a:p>
              </p:txBody>
            </p:sp>
          </p:grpSp>
          <p:sp>
            <p:nvSpPr>
              <p:cNvPr id="66" name="Line 47"/>
              <p:cNvSpPr>
                <a:spLocks noChangeShapeType="1"/>
              </p:cNvSpPr>
              <p:nvPr/>
            </p:nvSpPr>
            <p:spPr bwMode="auto">
              <a:xfrm>
                <a:off x="3214" y="2686"/>
                <a:ext cx="115" cy="0"/>
              </a:xfrm>
              <a:prstGeom prst="line">
                <a:avLst/>
              </a:prstGeom>
              <a:noFill/>
              <a:ln w="2857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800">
                  <a:solidFill>
                    <a:srgbClr val="008080"/>
                  </a:solidFill>
                </a:endParaRPr>
              </a:p>
            </p:txBody>
          </p:sp>
        </p:grpSp>
      </p:grpSp>
      <p:sp>
        <p:nvSpPr>
          <p:cNvPr id="69" name="Text Box 41"/>
          <p:cNvSpPr txBox="1">
            <a:spLocks noChangeArrowheads="1"/>
          </p:cNvSpPr>
          <p:nvPr/>
        </p:nvSpPr>
        <p:spPr bwMode="auto">
          <a:xfrm>
            <a:off x="6096000" y="3160644"/>
            <a:ext cx="2892425" cy="1005840"/>
          </a:xfrm>
          <a:prstGeom prst="rect">
            <a:avLst/>
          </a:prstGeom>
          <a:noFill/>
          <a:ln w="38100">
            <a:solidFill>
              <a:srgbClr val="3366FF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sz="2800" b="1" dirty="0">
                <a:solidFill>
                  <a:srgbClr val="3366FF"/>
                </a:solidFill>
              </a:rPr>
              <a:t>Chi – square distribution </a:t>
            </a:r>
          </a:p>
          <a:p>
            <a:pPr algn="ctr" eaLnBrk="1" hangingPunct="1">
              <a:lnSpc>
                <a:spcPct val="80000"/>
              </a:lnSpc>
            </a:pPr>
            <a:r>
              <a:rPr lang="en-US" sz="2800" b="1" dirty="0">
                <a:solidFill>
                  <a:srgbClr val="3366FF"/>
                </a:solidFill>
              </a:rPr>
              <a:t>with (n – 1) </a:t>
            </a:r>
            <a:r>
              <a:rPr lang="en-US" sz="2800" b="1" dirty="0" err="1">
                <a:solidFill>
                  <a:srgbClr val="3366FF"/>
                </a:solidFill>
              </a:rPr>
              <a:t>df</a:t>
            </a:r>
            <a:endParaRPr lang="th-TH" sz="2800" b="1" dirty="0">
              <a:solidFill>
                <a:srgbClr val="3366FF"/>
              </a:solidFill>
            </a:endParaRPr>
          </a:p>
        </p:txBody>
      </p:sp>
      <p:grpSp>
        <p:nvGrpSpPr>
          <p:cNvPr id="70" name="Group 52"/>
          <p:cNvGrpSpPr>
            <a:grpSpLocks/>
          </p:cNvGrpSpPr>
          <p:nvPr/>
        </p:nvGrpSpPr>
        <p:grpSpPr bwMode="auto">
          <a:xfrm>
            <a:off x="2162317" y="3266796"/>
            <a:ext cx="3611563" cy="819150"/>
            <a:chOff x="999" y="904"/>
            <a:chExt cx="2275" cy="516"/>
          </a:xfrm>
        </p:grpSpPr>
        <p:grpSp>
          <p:nvGrpSpPr>
            <p:cNvPr id="71" name="Group 35"/>
            <p:cNvGrpSpPr>
              <a:grpSpLocks/>
            </p:cNvGrpSpPr>
            <p:nvPr/>
          </p:nvGrpSpPr>
          <p:grpSpPr bwMode="auto">
            <a:xfrm>
              <a:off x="1895" y="904"/>
              <a:ext cx="1379" cy="516"/>
              <a:chOff x="983" y="2536"/>
              <a:chExt cx="1379" cy="516"/>
            </a:xfrm>
          </p:grpSpPr>
          <p:grpSp>
            <p:nvGrpSpPr>
              <p:cNvPr id="78" name="Group 36"/>
              <p:cNvGrpSpPr>
                <a:grpSpLocks/>
              </p:cNvGrpSpPr>
              <p:nvPr/>
            </p:nvGrpSpPr>
            <p:grpSpPr bwMode="auto">
              <a:xfrm>
                <a:off x="983" y="2536"/>
                <a:ext cx="683" cy="516"/>
                <a:chOff x="-361" y="2536"/>
                <a:chExt cx="683" cy="516"/>
              </a:xfrm>
            </p:grpSpPr>
            <p:sp>
              <p:nvSpPr>
                <p:cNvPr id="80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-361" y="2536"/>
                  <a:ext cx="683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2800" b="1" dirty="0">
                      <a:solidFill>
                        <a:srgbClr val="3366FF"/>
                      </a:solidFill>
                    </a:rPr>
                    <a:t>(n – 1)S</a:t>
                  </a:r>
                  <a:r>
                    <a:rPr lang="en-US" sz="2800" b="1" baseline="30000" dirty="0">
                      <a:solidFill>
                        <a:srgbClr val="3366FF"/>
                      </a:solidFill>
                    </a:rPr>
                    <a:t>2</a:t>
                  </a:r>
                  <a:endParaRPr lang="th-TH" sz="2800" b="1" baseline="30000" dirty="0">
                    <a:solidFill>
                      <a:srgbClr val="3366FF"/>
                    </a:solidFill>
                  </a:endParaRPr>
                </a:p>
              </p:txBody>
            </p:sp>
            <p:sp>
              <p:nvSpPr>
                <p:cNvPr id="81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-219" y="2781"/>
                  <a:ext cx="31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2200" b="1" dirty="0">
                      <a:solidFill>
                        <a:srgbClr val="3366FF"/>
                      </a:solidFill>
                      <a:sym typeface="Symbol" pitchFamily="18" charset="2"/>
                    </a:rPr>
                    <a:t></a:t>
                  </a:r>
                  <a:r>
                    <a:rPr lang="en-US" sz="2800" b="1" baseline="30000" dirty="0">
                      <a:solidFill>
                        <a:srgbClr val="3366FF"/>
                      </a:solidFill>
                    </a:rPr>
                    <a:t>2</a:t>
                  </a:r>
                  <a:endParaRPr lang="th-TH" sz="2800" b="1" baseline="30000" dirty="0">
                    <a:solidFill>
                      <a:srgbClr val="3366FF"/>
                    </a:solidFill>
                  </a:endParaRPr>
                </a:p>
              </p:txBody>
            </p:sp>
            <p:sp>
              <p:nvSpPr>
                <p:cNvPr id="82" name="Line 39"/>
                <p:cNvSpPr>
                  <a:spLocks noChangeShapeType="1"/>
                </p:cNvSpPr>
                <p:nvPr/>
              </p:nvSpPr>
              <p:spPr bwMode="auto">
                <a:xfrm>
                  <a:off x="-319" y="2806"/>
                  <a:ext cx="518" cy="0"/>
                </a:xfrm>
                <a:prstGeom prst="line">
                  <a:avLst/>
                </a:prstGeom>
                <a:noFill/>
                <a:ln w="28575">
                  <a:solidFill>
                    <a:srgbClr val="33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800">
                    <a:solidFill>
                      <a:srgbClr val="3366FF"/>
                    </a:solidFill>
                  </a:endParaRPr>
                </a:p>
              </p:txBody>
            </p:sp>
          </p:grpSp>
          <p:sp>
            <p:nvSpPr>
              <p:cNvPr id="79" name="Text Box 40"/>
              <p:cNvSpPr txBox="1">
                <a:spLocks noChangeArrowheads="1"/>
              </p:cNvSpPr>
              <p:nvPr/>
            </p:nvSpPr>
            <p:spPr bwMode="auto">
              <a:xfrm>
                <a:off x="1549" y="2626"/>
                <a:ext cx="813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800" b="1" dirty="0">
                    <a:solidFill>
                      <a:srgbClr val="3366FF"/>
                    </a:solidFill>
                  </a:rPr>
                  <a:t>~ </a:t>
                </a:r>
                <a:r>
                  <a:rPr lang="en-US" sz="2200" b="1" dirty="0">
                    <a:solidFill>
                      <a:srgbClr val="3366FF"/>
                    </a:solidFill>
                    <a:sym typeface="Symbol" pitchFamily="18" charset="2"/>
                  </a:rPr>
                  <a:t></a:t>
                </a:r>
                <a:r>
                  <a:rPr lang="en-US" sz="2800" b="1" baseline="30000" dirty="0">
                    <a:solidFill>
                      <a:srgbClr val="3366FF"/>
                    </a:solidFill>
                    <a:sym typeface="Symbol" pitchFamily="18" charset="2"/>
                  </a:rPr>
                  <a:t>2</a:t>
                </a:r>
                <a:r>
                  <a:rPr lang="en-US" sz="2800" b="1" dirty="0">
                    <a:solidFill>
                      <a:srgbClr val="3366FF"/>
                    </a:solidFill>
                  </a:rPr>
                  <a:t>(n – 1)</a:t>
                </a:r>
                <a:r>
                  <a:rPr lang="th-TH" sz="2800" b="1" dirty="0">
                    <a:solidFill>
                      <a:srgbClr val="3366FF"/>
                    </a:solidFill>
                  </a:rPr>
                  <a:t>  </a:t>
                </a:r>
              </a:p>
            </p:txBody>
          </p:sp>
        </p:grpSp>
        <p:grpSp>
          <p:nvGrpSpPr>
            <p:cNvPr id="72" name="Group 71"/>
            <p:cNvGrpSpPr>
              <a:grpSpLocks/>
            </p:cNvGrpSpPr>
            <p:nvPr/>
          </p:nvGrpSpPr>
          <p:grpSpPr bwMode="auto">
            <a:xfrm>
              <a:off x="999" y="904"/>
              <a:ext cx="870" cy="516"/>
              <a:chOff x="743" y="968"/>
              <a:chExt cx="870" cy="516"/>
            </a:xfrm>
          </p:grpSpPr>
          <p:sp>
            <p:nvSpPr>
              <p:cNvPr id="74" name="Text Box 45"/>
              <p:cNvSpPr txBox="1">
                <a:spLocks noChangeArrowheads="1"/>
              </p:cNvSpPr>
              <p:nvPr/>
            </p:nvSpPr>
            <p:spPr bwMode="auto">
              <a:xfrm>
                <a:off x="743" y="968"/>
                <a:ext cx="87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th-TH" sz="2200" b="1" dirty="0">
                    <a:solidFill>
                      <a:srgbClr val="3366FF"/>
                    </a:solidFill>
                    <a:sym typeface="Symbol" pitchFamily="18" charset="2"/>
                  </a:rPr>
                  <a:t></a:t>
                </a:r>
                <a:r>
                  <a:rPr lang="en-US" sz="2800" b="1" dirty="0">
                    <a:solidFill>
                      <a:srgbClr val="3366FF"/>
                    </a:solidFill>
                    <a:sym typeface="Symbol" pitchFamily="18" charset="2"/>
                  </a:rPr>
                  <a:t>(X – X )</a:t>
                </a:r>
                <a:r>
                  <a:rPr lang="en-US" sz="2800" b="1" baseline="30000" dirty="0">
                    <a:solidFill>
                      <a:srgbClr val="3366FF"/>
                    </a:solidFill>
                    <a:sym typeface="Symbol" pitchFamily="18" charset="2"/>
                  </a:rPr>
                  <a:t>2</a:t>
                </a:r>
                <a:endParaRPr lang="th-TH" sz="2800" b="1" baseline="30000" dirty="0">
                  <a:solidFill>
                    <a:srgbClr val="3366FF"/>
                  </a:solidFill>
                  <a:sym typeface="Symbol" pitchFamily="18" charset="2"/>
                </a:endParaRPr>
              </a:p>
            </p:txBody>
          </p:sp>
          <p:sp>
            <p:nvSpPr>
              <p:cNvPr id="75" name="Line 46"/>
              <p:cNvSpPr>
                <a:spLocks noChangeShapeType="1"/>
              </p:cNvSpPr>
              <p:nvPr/>
            </p:nvSpPr>
            <p:spPr bwMode="auto">
              <a:xfrm>
                <a:off x="1238" y="1045"/>
                <a:ext cx="115" cy="0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800">
                  <a:solidFill>
                    <a:srgbClr val="3366FF"/>
                  </a:solidFill>
                </a:endParaRPr>
              </a:p>
            </p:txBody>
          </p:sp>
          <p:sp>
            <p:nvSpPr>
              <p:cNvPr id="76" name="Line 48"/>
              <p:cNvSpPr>
                <a:spLocks noChangeShapeType="1"/>
              </p:cNvSpPr>
              <p:nvPr/>
            </p:nvSpPr>
            <p:spPr bwMode="auto">
              <a:xfrm>
                <a:off x="772" y="1237"/>
                <a:ext cx="691" cy="0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800">
                  <a:solidFill>
                    <a:srgbClr val="3366FF"/>
                  </a:solidFill>
                </a:endParaRPr>
              </a:p>
            </p:txBody>
          </p:sp>
          <p:sp>
            <p:nvSpPr>
              <p:cNvPr id="77" name="Text Box 49"/>
              <p:cNvSpPr txBox="1">
                <a:spLocks noChangeArrowheads="1"/>
              </p:cNvSpPr>
              <p:nvPr/>
            </p:nvSpPr>
            <p:spPr bwMode="auto">
              <a:xfrm>
                <a:off x="994" y="1213"/>
                <a:ext cx="33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>
                  <a:spcBef>
                    <a:spcPct val="2000"/>
                  </a:spcBef>
                  <a:spcAft>
                    <a:spcPct val="2000"/>
                  </a:spcAft>
                </a:pPr>
                <a:r>
                  <a:rPr lang="th-TH" sz="2200" b="1" dirty="0">
                    <a:solidFill>
                      <a:srgbClr val="3366FF"/>
                    </a:solidFill>
                    <a:sym typeface="Symbol" pitchFamily="18" charset="2"/>
                  </a:rPr>
                  <a:t></a:t>
                </a:r>
                <a:r>
                  <a:rPr lang="th-TH" sz="2800" b="1" baseline="30000" dirty="0">
                    <a:solidFill>
                      <a:srgbClr val="3366FF"/>
                    </a:solidFill>
                    <a:sym typeface="Symbol" pitchFamily="18" charset="2"/>
                  </a:rPr>
                  <a:t>2</a:t>
                </a:r>
              </a:p>
            </p:txBody>
          </p:sp>
        </p:grpSp>
        <p:sp>
          <p:nvSpPr>
            <p:cNvPr id="73" name="Text Box 51"/>
            <p:cNvSpPr txBox="1">
              <a:spLocks noChangeArrowheads="1"/>
            </p:cNvSpPr>
            <p:nvPr/>
          </p:nvSpPr>
          <p:spPr bwMode="auto">
            <a:xfrm>
              <a:off x="1727" y="1013"/>
              <a:ext cx="2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b="1" dirty="0">
                  <a:solidFill>
                    <a:srgbClr val="3366FF"/>
                  </a:solidFill>
                </a:rPr>
                <a:t>=</a:t>
              </a:r>
              <a:endParaRPr lang="th-TH" sz="2800" b="1" dirty="0">
                <a:solidFill>
                  <a:srgbClr val="3366FF"/>
                </a:solidFill>
              </a:endParaRPr>
            </a:p>
          </p:txBody>
        </p:sp>
      </p:grpSp>
      <p:sp>
        <p:nvSpPr>
          <p:cNvPr id="83" name="AutoShape 37"/>
          <p:cNvSpPr>
            <a:spLocks noChangeArrowheads="1"/>
          </p:cNvSpPr>
          <p:nvPr/>
        </p:nvSpPr>
        <p:spPr bwMode="auto">
          <a:xfrm>
            <a:off x="1427917" y="2962824"/>
            <a:ext cx="4565379" cy="1382714"/>
          </a:xfrm>
          <a:custGeom>
            <a:avLst/>
            <a:gdLst>
              <a:gd name="T0" fmla="*/ 545193693 w 21600"/>
              <a:gd name="T1" fmla="*/ 0 h 21600"/>
              <a:gd name="T2" fmla="*/ 0 w 21600"/>
              <a:gd name="T3" fmla="*/ 71102003 h 21600"/>
              <a:gd name="T4" fmla="*/ 545193693 w 21600"/>
              <a:gd name="T5" fmla="*/ 142204006 h 21600"/>
              <a:gd name="T6" fmla="*/ 672041600 w 21600"/>
              <a:gd name="T7" fmla="*/ 7110200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3943 h 21600"/>
              <a:gd name="T14" fmla="*/ 19011 w 21600"/>
              <a:gd name="T15" fmla="*/ 1765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7523" y="0"/>
                </a:moveTo>
                <a:lnTo>
                  <a:pt x="17523" y="3943"/>
                </a:lnTo>
                <a:lnTo>
                  <a:pt x="3375" y="3943"/>
                </a:lnTo>
                <a:lnTo>
                  <a:pt x="3375" y="17657"/>
                </a:lnTo>
                <a:lnTo>
                  <a:pt x="17523" y="17657"/>
                </a:lnTo>
                <a:lnTo>
                  <a:pt x="17523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3943"/>
                </a:moveTo>
                <a:lnTo>
                  <a:pt x="1350" y="17657"/>
                </a:lnTo>
                <a:lnTo>
                  <a:pt x="2700" y="17657"/>
                </a:lnTo>
                <a:lnTo>
                  <a:pt x="2700" y="3943"/>
                </a:lnTo>
                <a:close/>
              </a:path>
              <a:path w="21600" h="21600">
                <a:moveTo>
                  <a:pt x="0" y="3943"/>
                </a:moveTo>
                <a:lnTo>
                  <a:pt x="0" y="17657"/>
                </a:lnTo>
                <a:lnTo>
                  <a:pt x="675" y="17657"/>
                </a:lnTo>
                <a:lnTo>
                  <a:pt x="675" y="3943"/>
                </a:lnTo>
                <a:close/>
              </a:path>
            </a:pathLst>
          </a:custGeom>
          <a:noFill/>
          <a:ln w="38100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th-TH" sz="280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84" name="AutoShape 38"/>
          <p:cNvSpPr>
            <a:spLocks noChangeArrowheads="1"/>
          </p:cNvSpPr>
          <p:nvPr/>
        </p:nvSpPr>
        <p:spPr bwMode="auto">
          <a:xfrm>
            <a:off x="6096000" y="5489712"/>
            <a:ext cx="2882783" cy="1005840"/>
          </a:xfrm>
          <a:prstGeom prst="roundRect">
            <a:avLst>
              <a:gd name="adj" fmla="val 7726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th-TH" sz="4000"/>
          </a:p>
        </p:txBody>
      </p:sp>
      <p:grpSp>
        <p:nvGrpSpPr>
          <p:cNvPr id="9" name="Group 8"/>
          <p:cNvGrpSpPr/>
          <p:nvPr/>
        </p:nvGrpSpPr>
        <p:grpSpPr>
          <a:xfrm>
            <a:off x="6629400" y="5562185"/>
            <a:ext cx="1987550" cy="752475"/>
            <a:chOff x="7050156" y="5141429"/>
            <a:chExt cx="1987550" cy="752475"/>
          </a:xfrm>
        </p:grpSpPr>
        <p:grpSp>
          <p:nvGrpSpPr>
            <p:cNvPr id="85" name="Group 39"/>
            <p:cNvGrpSpPr>
              <a:grpSpLocks/>
            </p:cNvGrpSpPr>
            <p:nvPr/>
          </p:nvGrpSpPr>
          <p:grpSpPr bwMode="auto">
            <a:xfrm>
              <a:off x="7050156" y="5141429"/>
              <a:ext cx="1987550" cy="752475"/>
              <a:chOff x="3216" y="2692"/>
              <a:chExt cx="1252" cy="474"/>
            </a:xfrm>
          </p:grpSpPr>
          <p:sp>
            <p:nvSpPr>
              <p:cNvPr id="86" name="Text Box 40"/>
              <p:cNvSpPr txBox="1">
                <a:spLocks noChangeArrowheads="1"/>
              </p:cNvSpPr>
              <p:nvPr/>
            </p:nvSpPr>
            <p:spPr bwMode="auto">
              <a:xfrm>
                <a:off x="3669" y="2775"/>
                <a:ext cx="79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800" b="1" dirty="0">
                    <a:solidFill>
                      <a:srgbClr val="FF0000"/>
                    </a:solidFill>
                  </a:rPr>
                  <a:t>~  N(0 , 1)</a:t>
                </a:r>
                <a:endParaRPr lang="th-TH" sz="2800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87" name="Group 41"/>
              <p:cNvGrpSpPr>
                <a:grpSpLocks/>
              </p:cNvGrpSpPr>
              <p:nvPr/>
            </p:nvGrpSpPr>
            <p:grpSpPr bwMode="auto">
              <a:xfrm>
                <a:off x="3216" y="2692"/>
                <a:ext cx="576" cy="474"/>
                <a:chOff x="3166" y="2614"/>
                <a:chExt cx="576" cy="474"/>
              </a:xfrm>
            </p:grpSpPr>
            <p:sp>
              <p:nvSpPr>
                <p:cNvPr id="88" name="Rectangle 42"/>
                <p:cNvSpPr>
                  <a:spLocks noChangeArrowheads="1"/>
                </p:cNvSpPr>
                <p:nvPr/>
              </p:nvSpPr>
              <p:spPr bwMode="auto">
                <a:xfrm>
                  <a:off x="3166" y="2614"/>
                  <a:ext cx="576" cy="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2800" b="1" dirty="0">
                      <a:solidFill>
                        <a:srgbClr val="FF0000"/>
                      </a:solidFill>
                      <a:sym typeface="Symbol" pitchFamily="18" charset="2"/>
                    </a:rPr>
                    <a:t>X – </a:t>
                  </a:r>
                  <a:r>
                    <a:rPr kumimoji="1" lang="en-US" sz="2200" b="1" dirty="0">
                      <a:solidFill>
                        <a:srgbClr val="FF0000"/>
                      </a:solidFill>
                      <a:sym typeface="Symbol" pitchFamily="18" charset="2"/>
                    </a:rPr>
                    <a:t></a:t>
                  </a:r>
                </a:p>
              </p:txBody>
            </p:sp>
            <p:sp>
              <p:nvSpPr>
                <p:cNvPr id="89" name="Line 43"/>
                <p:cNvSpPr>
                  <a:spLocks noChangeShapeType="1"/>
                </p:cNvSpPr>
                <p:nvPr/>
              </p:nvSpPr>
              <p:spPr bwMode="auto">
                <a:xfrm>
                  <a:off x="3174" y="2870"/>
                  <a:ext cx="461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800">
                    <a:solidFill>
                      <a:srgbClr val="FF0000"/>
                    </a:solidFill>
                  </a:endParaRPr>
                </a:p>
              </p:txBody>
            </p:sp>
            <p:grpSp>
              <p:nvGrpSpPr>
                <p:cNvPr id="90" name="Group 44"/>
                <p:cNvGrpSpPr>
                  <a:grpSpLocks/>
                </p:cNvGrpSpPr>
                <p:nvPr/>
              </p:nvGrpSpPr>
              <p:grpSpPr bwMode="auto">
                <a:xfrm>
                  <a:off x="3168" y="2824"/>
                  <a:ext cx="543" cy="264"/>
                  <a:chOff x="3216" y="2908"/>
                  <a:chExt cx="543" cy="264"/>
                </a:xfrm>
              </p:grpSpPr>
              <p:sp>
                <p:nvSpPr>
                  <p:cNvPr id="92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2908"/>
                    <a:ext cx="543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sz="2200" b="1" dirty="0">
                        <a:solidFill>
                          <a:srgbClr val="FF0000"/>
                        </a:solidFill>
                        <a:sym typeface="Symbol" pitchFamily="18" charset="2"/>
                      </a:rPr>
                      <a:t></a:t>
                    </a:r>
                    <a:r>
                      <a:rPr kumimoji="1" lang="en-US" sz="2800" b="1" dirty="0">
                        <a:solidFill>
                          <a:srgbClr val="FF0000"/>
                        </a:solidFill>
                        <a:sym typeface="Symbol" pitchFamily="18" charset="2"/>
                      </a:rPr>
                      <a:t>/</a:t>
                    </a:r>
                    <a:r>
                      <a:rPr kumimoji="1" lang="en-US" sz="1600" b="1" dirty="0">
                        <a:solidFill>
                          <a:srgbClr val="FF0000"/>
                        </a:solidFill>
                        <a:sym typeface="Symbol" pitchFamily="18" charset="2"/>
                      </a:rPr>
                      <a:t></a:t>
                    </a:r>
                    <a:r>
                      <a:rPr kumimoji="1" lang="en-US" sz="2800" b="1" dirty="0">
                        <a:solidFill>
                          <a:srgbClr val="FF0000"/>
                        </a:solidFill>
                        <a:sym typeface="Symbol" pitchFamily="18" charset="2"/>
                      </a:rPr>
                      <a:t>n</a:t>
                    </a:r>
                  </a:p>
                </p:txBody>
              </p:sp>
              <p:sp>
                <p:nvSpPr>
                  <p:cNvPr id="93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3504" y="3010"/>
                    <a:ext cx="92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2800">
                      <a:solidFill>
                        <a:srgbClr val="FF0000"/>
                      </a:solidFill>
                    </a:endParaRPr>
                  </a:p>
                </p:txBody>
              </p:sp>
            </p:grpSp>
            <p:sp>
              <p:nvSpPr>
                <p:cNvPr id="91" name="Line 47"/>
                <p:cNvSpPr>
                  <a:spLocks noChangeShapeType="1"/>
                </p:cNvSpPr>
                <p:nvPr/>
              </p:nvSpPr>
              <p:spPr bwMode="auto">
                <a:xfrm>
                  <a:off x="3214" y="2686"/>
                  <a:ext cx="115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800">
                    <a:solidFill>
                      <a:srgbClr val="FF0000"/>
                    </a:solidFill>
                  </a:endParaRPr>
                </a:p>
              </p:txBody>
            </p:sp>
          </p:grpSp>
        </p:grpSp>
        <p:sp>
          <p:nvSpPr>
            <p:cNvPr id="94" name="TextBox 93"/>
            <p:cNvSpPr txBox="1"/>
            <p:nvPr/>
          </p:nvSpPr>
          <p:spPr>
            <a:xfrm>
              <a:off x="7788064" y="5257800"/>
              <a:ext cx="3132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: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5A5FC-0EAB-4EA6-99BC-37B57130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8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500"/>
                                        <p:tgtEl>
                                          <p:spTgt spid="105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9" grpId="0"/>
      <p:bldP spid="105509" grpId="0" animBg="1"/>
      <p:bldP spid="105510" grpId="0" animBg="1"/>
      <p:bldP spid="105520" grpId="0"/>
      <p:bldP spid="26" grpId="0"/>
      <p:bldP spid="37" grpId="0" animBg="1"/>
      <p:bldP spid="3" grpId="0"/>
      <p:bldP spid="49" grpId="0" animBg="1" autoUpdateAnimBg="0"/>
      <p:bldP spid="59" grpId="0" animBg="1"/>
      <p:bldP spid="69" grpId="0" animBg="1" autoUpdateAnimBg="0"/>
      <p:bldP spid="83" grpId="0" animBg="1"/>
      <p:bldP spid="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1" name="Freeform 15"/>
          <p:cNvSpPr>
            <a:spLocks/>
          </p:cNvSpPr>
          <p:nvPr/>
        </p:nvSpPr>
        <p:spPr bwMode="auto">
          <a:xfrm>
            <a:off x="4438650" y="1619250"/>
            <a:ext cx="1076325" cy="1638300"/>
          </a:xfrm>
          <a:custGeom>
            <a:avLst/>
            <a:gdLst>
              <a:gd name="T0" fmla="*/ 0 w 678"/>
              <a:gd name="T1" fmla="*/ 1638300 h 1032"/>
              <a:gd name="T2" fmla="*/ 0 w 678"/>
              <a:gd name="T3" fmla="*/ 0 h 1032"/>
              <a:gd name="T4" fmla="*/ 152400 w 678"/>
              <a:gd name="T5" fmla="*/ 57150 h 1032"/>
              <a:gd name="T6" fmla="*/ 333375 w 678"/>
              <a:gd name="T7" fmla="*/ 247650 h 1032"/>
              <a:gd name="T8" fmla="*/ 447675 w 678"/>
              <a:gd name="T9" fmla="*/ 457200 h 1032"/>
              <a:gd name="T10" fmla="*/ 581025 w 678"/>
              <a:gd name="T11" fmla="*/ 685800 h 1032"/>
              <a:gd name="T12" fmla="*/ 666750 w 678"/>
              <a:gd name="T13" fmla="*/ 857250 h 1032"/>
              <a:gd name="T14" fmla="*/ 752475 w 678"/>
              <a:gd name="T15" fmla="*/ 990600 h 1032"/>
              <a:gd name="T16" fmla="*/ 838200 w 678"/>
              <a:gd name="T17" fmla="*/ 1143000 h 1032"/>
              <a:gd name="T18" fmla="*/ 901700 w 678"/>
              <a:gd name="T19" fmla="*/ 1238250 h 1032"/>
              <a:gd name="T20" fmla="*/ 1027113 w 678"/>
              <a:gd name="T21" fmla="*/ 1352550 h 1032"/>
              <a:gd name="T22" fmla="*/ 1076325 w 678"/>
              <a:gd name="T23" fmla="*/ 1381125 h 1032"/>
              <a:gd name="T24" fmla="*/ 1076325 w 678"/>
              <a:gd name="T25" fmla="*/ 1638300 h 1032"/>
              <a:gd name="T26" fmla="*/ 0 w 678"/>
              <a:gd name="T27" fmla="*/ 1638300 h 103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78"/>
              <a:gd name="T43" fmla="*/ 0 h 1032"/>
              <a:gd name="T44" fmla="*/ 678 w 678"/>
              <a:gd name="T45" fmla="*/ 1032 h 103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78" h="1032">
                <a:moveTo>
                  <a:pt x="0" y="1032"/>
                </a:moveTo>
                <a:lnTo>
                  <a:pt x="0" y="0"/>
                </a:lnTo>
                <a:lnTo>
                  <a:pt x="96" y="36"/>
                </a:lnTo>
                <a:lnTo>
                  <a:pt x="210" y="156"/>
                </a:lnTo>
                <a:lnTo>
                  <a:pt x="282" y="288"/>
                </a:lnTo>
                <a:lnTo>
                  <a:pt x="366" y="432"/>
                </a:lnTo>
                <a:lnTo>
                  <a:pt x="420" y="540"/>
                </a:lnTo>
                <a:lnTo>
                  <a:pt x="474" y="624"/>
                </a:lnTo>
                <a:lnTo>
                  <a:pt x="528" y="720"/>
                </a:lnTo>
                <a:lnTo>
                  <a:pt x="568" y="780"/>
                </a:lnTo>
                <a:lnTo>
                  <a:pt x="647" y="852"/>
                </a:lnTo>
                <a:lnTo>
                  <a:pt x="678" y="870"/>
                </a:lnTo>
                <a:lnTo>
                  <a:pt x="67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137232" name="Freeform 16"/>
          <p:cNvSpPr>
            <a:spLocks/>
          </p:cNvSpPr>
          <p:nvPr/>
        </p:nvSpPr>
        <p:spPr bwMode="auto">
          <a:xfrm>
            <a:off x="3371850" y="1619250"/>
            <a:ext cx="1066800" cy="1657350"/>
          </a:xfrm>
          <a:custGeom>
            <a:avLst/>
            <a:gdLst>
              <a:gd name="T0" fmla="*/ 1066800 w 666"/>
              <a:gd name="T1" fmla="*/ 1657350 h 1044"/>
              <a:gd name="T2" fmla="*/ 1066800 w 666"/>
              <a:gd name="T3" fmla="*/ 0 h 1044"/>
              <a:gd name="T4" fmla="*/ 922638 w 666"/>
              <a:gd name="T5" fmla="*/ 95250 h 1044"/>
              <a:gd name="T6" fmla="*/ 759254 w 666"/>
              <a:gd name="T7" fmla="*/ 285750 h 1044"/>
              <a:gd name="T8" fmla="*/ 682368 w 666"/>
              <a:gd name="T9" fmla="*/ 514350 h 1044"/>
              <a:gd name="T10" fmla="*/ 528595 w 666"/>
              <a:gd name="T11" fmla="*/ 742950 h 1044"/>
              <a:gd name="T12" fmla="*/ 451708 w 666"/>
              <a:gd name="T13" fmla="*/ 895350 h 1044"/>
              <a:gd name="T14" fmla="*/ 336378 w 666"/>
              <a:gd name="T15" fmla="*/ 1047750 h 1044"/>
              <a:gd name="T16" fmla="*/ 221049 w 666"/>
              <a:gd name="T17" fmla="*/ 1200150 h 1044"/>
              <a:gd name="T18" fmla="*/ 172995 w 666"/>
              <a:gd name="T19" fmla="*/ 1257300 h 1044"/>
              <a:gd name="T20" fmla="*/ 48054 w 666"/>
              <a:gd name="T21" fmla="*/ 1371600 h 1044"/>
              <a:gd name="T22" fmla="*/ 0 w 666"/>
              <a:gd name="T23" fmla="*/ 1400175 h 1044"/>
              <a:gd name="T24" fmla="*/ 0 w 666"/>
              <a:gd name="T25" fmla="*/ 1657350 h 1044"/>
              <a:gd name="T26" fmla="*/ 1066800 w 666"/>
              <a:gd name="T27" fmla="*/ 1657350 h 104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66"/>
              <a:gd name="T43" fmla="*/ 0 h 1044"/>
              <a:gd name="T44" fmla="*/ 666 w 666"/>
              <a:gd name="T45" fmla="*/ 1044 h 104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66" h="1044">
                <a:moveTo>
                  <a:pt x="666" y="1044"/>
                </a:moveTo>
                <a:lnTo>
                  <a:pt x="666" y="0"/>
                </a:lnTo>
                <a:lnTo>
                  <a:pt x="576" y="60"/>
                </a:lnTo>
                <a:lnTo>
                  <a:pt x="474" y="180"/>
                </a:lnTo>
                <a:lnTo>
                  <a:pt x="426" y="324"/>
                </a:lnTo>
                <a:lnTo>
                  <a:pt x="330" y="468"/>
                </a:lnTo>
                <a:lnTo>
                  <a:pt x="282" y="564"/>
                </a:lnTo>
                <a:lnTo>
                  <a:pt x="210" y="660"/>
                </a:lnTo>
                <a:lnTo>
                  <a:pt x="138" y="756"/>
                </a:lnTo>
                <a:lnTo>
                  <a:pt x="108" y="792"/>
                </a:lnTo>
                <a:lnTo>
                  <a:pt x="30" y="864"/>
                </a:lnTo>
                <a:lnTo>
                  <a:pt x="0" y="882"/>
                </a:lnTo>
                <a:lnTo>
                  <a:pt x="0" y="1044"/>
                </a:lnTo>
                <a:lnTo>
                  <a:pt x="666" y="1044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grpSp>
        <p:nvGrpSpPr>
          <p:cNvPr id="2" name="Group 128"/>
          <p:cNvGrpSpPr>
            <a:grpSpLocks/>
          </p:cNvGrpSpPr>
          <p:nvPr/>
        </p:nvGrpSpPr>
        <p:grpSpPr bwMode="auto">
          <a:xfrm>
            <a:off x="3352800" y="3051175"/>
            <a:ext cx="2162175" cy="273050"/>
            <a:chOff x="2112" y="1922"/>
            <a:chExt cx="1362" cy="172"/>
          </a:xfrm>
        </p:grpSpPr>
        <p:sp>
          <p:nvSpPr>
            <p:cNvPr id="18500" name="Line 27"/>
            <p:cNvSpPr>
              <a:spLocks noChangeShapeType="1"/>
            </p:cNvSpPr>
            <p:nvPr/>
          </p:nvSpPr>
          <p:spPr bwMode="auto">
            <a:xfrm>
              <a:off x="2112" y="1968"/>
              <a:ext cx="0" cy="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Line 28"/>
            <p:cNvSpPr>
              <a:spLocks noChangeShapeType="1"/>
            </p:cNvSpPr>
            <p:nvPr/>
          </p:nvSpPr>
          <p:spPr bwMode="auto">
            <a:xfrm>
              <a:off x="3474" y="1922"/>
              <a:ext cx="0" cy="14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7"/>
          <p:cNvGrpSpPr>
            <a:grpSpLocks/>
          </p:cNvGrpSpPr>
          <p:nvPr/>
        </p:nvGrpSpPr>
        <p:grpSpPr bwMode="auto">
          <a:xfrm>
            <a:off x="3336925" y="2317750"/>
            <a:ext cx="2165350" cy="609600"/>
            <a:chOff x="2102" y="1460"/>
            <a:chExt cx="1364" cy="384"/>
          </a:xfrm>
        </p:grpSpPr>
        <p:sp>
          <p:nvSpPr>
            <p:cNvPr id="18495" name="Text Box 21"/>
            <p:cNvSpPr txBox="1">
              <a:spLocks noChangeArrowheads="1"/>
            </p:cNvSpPr>
            <p:nvPr/>
          </p:nvSpPr>
          <p:spPr bwMode="auto">
            <a:xfrm>
              <a:off x="2406" y="1460"/>
              <a:ext cx="77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400" b="1"/>
                <a:t>95%</a:t>
              </a:r>
            </a:p>
          </p:txBody>
        </p:sp>
        <p:sp>
          <p:nvSpPr>
            <p:cNvPr id="18496" name="Line 29"/>
            <p:cNvSpPr>
              <a:spLocks noChangeShapeType="1"/>
            </p:cNvSpPr>
            <p:nvPr/>
          </p:nvSpPr>
          <p:spPr bwMode="auto">
            <a:xfrm>
              <a:off x="2112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30"/>
            <p:cNvSpPr>
              <a:spLocks noChangeShapeType="1"/>
            </p:cNvSpPr>
            <p:nvPr/>
          </p:nvSpPr>
          <p:spPr bwMode="auto">
            <a:xfrm>
              <a:off x="3464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35"/>
            <p:cNvSpPr>
              <a:spLocks noChangeShapeType="1"/>
            </p:cNvSpPr>
            <p:nvPr/>
          </p:nvSpPr>
          <p:spPr bwMode="auto">
            <a:xfrm flipH="1">
              <a:off x="2102" y="1678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Line 36"/>
            <p:cNvSpPr>
              <a:spLocks noChangeShapeType="1"/>
            </p:cNvSpPr>
            <p:nvPr/>
          </p:nvSpPr>
          <p:spPr bwMode="auto">
            <a:xfrm>
              <a:off x="2986" y="168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2895600" y="3159125"/>
            <a:ext cx="1066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 dirty="0"/>
              <a:t>– 1.96</a:t>
            </a:r>
            <a:endParaRPr lang="th-TH" sz="3200" b="1" dirty="0"/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5165725" y="3155950"/>
            <a:ext cx="7016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200" b="1" dirty="0"/>
              <a:t>1.96</a:t>
            </a:r>
            <a:endParaRPr lang="th-TH" sz="3200" b="1" dirty="0"/>
          </a:p>
        </p:txBody>
      </p:sp>
      <p:grpSp>
        <p:nvGrpSpPr>
          <p:cNvPr id="4" name="Group 126"/>
          <p:cNvGrpSpPr>
            <a:grpSpLocks/>
          </p:cNvGrpSpPr>
          <p:nvPr/>
        </p:nvGrpSpPr>
        <p:grpSpPr bwMode="auto">
          <a:xfrm>
            <a:off x="2819400" y="1600200"/>
            <a:ext cx="3289300" cy="2141539"/>
            <a:chOff x="1776" y="1008"/>
            <a:chExt cx="2072" cy="1349"/>
          </a:xfrm>
        </p:grpSpPr>
        <p:sp>
          <p:nvSpPr>
            <p:cNvPr id="18490" name="Line 17"/>
            <p:cNvSpPr>
              <a:spLocks noChangeShapeType="1"/>
            </p:cNvSpPr>
            <p:nvPr/>
          </p:nvSpPr>
          <p:spPr bwMode="auto">
            <a:xfrm>
              <a:off x="2796" y="1008"/>
              <a:ext cx="0" cy="105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Freeform 18"/>
            <p:cNvSpPr>
              <a:spLocks/>
            </p:cNvSpPr>
            <p:nvPr/>
          </p:nvSpPr>
          <p:spPr bwMode="auto">
            <a:xfrm>
              <a:off x="2818" y="1028"/>
              <a:ext cx="1030" cy="991"/>
            </a:xfrm>
            <a:custGeom>
              <a:avLst/>
              <a:gdLst>
                <a:gd name="T0" fmla="*/ 1029 w 1030"/>
                <a:gd name="T1" fmla="*/ 990 h 991"/>
                <a:gd name="T2" fmla="*/ 921 w 1030"/>
                <a:gd name="T3" fmla="*/ 980 h 991"/>
                <a:gd name="T4" fmla="*/ 866 w 1030"/>
                <a:gd name="T5" fmla="*/ 967 h 991"/>
                <a:gd name="T6" fmla="*/ 813 w 1030"/>
                <a:gd name="T7" fmla="*/ 952 h 991"/>
                <a:gd name="T8" fmla="*/ 758 w 1030"/>
                <a:gd name="T9" fmla="*/ 929 h 991"/>
                <a:gd name="T10" fmla="*/ 703 w 1030"/>
                <a:gd name="T11" fmla="*/ 897 h 991"/>
                <a:gd name="T12" fmla="*/ 651 w 1030"/>
                <a:gd name="T13" fmla="*/ 857 h 991"/>
                <a:gd name="T14" fmla="*/ 541 w 1030"/>
                <a:gd name="T15" fmla="*/ 743 h 991"/>
                <a:gd name="T16" fmla="*/ 433 w 1030"/>
                <a:gd name="T17" fmla="*/ 581 h 991"/>
                <a:gd name="T18" fmla="*/ 325 w 1030"/>
                <a:gd name="T19" fmla="*/ 386 h 991"/>
                <a:gd name="T20" fmla="*/ 270 w 1030"/>
                <a:gd name="T21" fmla="*/ 287 h 991"/>
                <a:gd name="T22" fmla="*/ 215 w 1030"/>
                <a:gd name="T23" fmla="*/ 196 h 991"/>
                <a:gd name="T24" fmla="*/ 163 w 1030"/>
                <a:gd name="T25" fmla="*/ 116 h 991"/>
                <a:gd name="T26" fmla="*/ 108 w 1030"/>
                <a:gd name="T27" fmla="*/ 53 h 991"/>
                <a:gd name="T28" fmla="*/ 53 w 1030"/>
                <a:gd name="T29" fmla="*/ 13 h 991"/>
                <a:gd name="T30" fmla="*/ 0 w 1030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0"/>
                <a:gd name="T49" fmla="*/ 0 h 991"/>
                <a:gd name="T50" fmla="*/ 1030 w 1030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0" h="991">
                  <a:moveTo>
                    <a:pt x="1029" y="990"/>
                  </a:moveTo>
                  <a:lnTo>
                    <a:pt x="921" y="980"/>
                  </a:lnTo>
                  <a:lnTo>
                    <a:pt x="866" y="967"/>
                  </a:lnTo>
                  <a:lnTo>
                    <a:pt x="813" y="952"/>
                  </a:lnTo>
                  <a:lnTo>
                    <a:pt x="758" y="929"/>
                  </a:lnTo>
                  <a:lnTo>
                    <a:pt x="703" y="897"/>
                  </a:lnTo>
                  <a:lnTo>
                    <a:pt x="651" y="857"/>
                  </a:lnTo>
                  <a:lnTo>
                    <a:pt x="541" y="743"/>
                  </a:lnTo>
                  <a:lnTo>
                    <a:pt x="433" y="581"/>
                  </a:lnTo>
                  <a:lnTo>
                    <a:pt x="325" y="386"/>
                  </a:lnTo>
                  <a:lnTo>
                    <a:pt x="270" y="287"/>
                  </a:lnTo>
                  <a:lnTo>
                    <a:pt x="215" y="196"/>
                  </a:lnTo>
                  <a:lnTo>
                    <a:pt x="163" y="116"/>
                  </a:lnTo>
                  <a:lnTo>
                    <a:pt x="108" y="53"/>
                  </a:lnTo>
                  <a:lnTo>
                    <a:pt x="53" y="13"/>
                  </a:lnTo>
                  <a:lnTo>
                    <a:pt x="0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2" name="Freeform 19"/>
            <p:cNvSpPr>
              <a:spLocks/>
            </p:cNvSpPr>
            <p:nvPr/>
          </p:nvSpPr>
          <p:spPr bwMode="auto">
            <a:xfrm>
              <a:off x="1778" y="1028"/>
              <a:ext cx="1041" cy="991"/>
            </a:xfrm>
            <a:custGeom>
              <a:avLst/>
              <a:gdLst>
                <a:gd name="T0" fmla="*/ 0 w 1032"/>
                <a:gd name="T1" fmla="*/ 990 h 991"/>
                <a:gd name="T2" fmla="*/ 109 w 1032"/>
                <a:gd name="T3" fmla="*/ 980 h 991"/>
                <a:gd name="T4" fmla="*/ 164 w 1032"/>
                <a:gd name="T5" fmla="*/ 967 h 991"/>
                <a:gd name="T6" fmla="*/ 220 w 1032"/>
                <a:gd name="T7" fmla="*/ 952 h 991"/>
                <a:gd name="T8" fmla="*/ 273 w 1032"/>
                <a:gd name="T9" fmla="*/ 929 h 991"/>
                <a:gd name="T10" fmla="*/ 329 w 1032"/>
                <a:gd name="T11" fmla="*/ 897 h 991"/>
                <a:gd name="T12" fmla="*/ 384 w 1032"/>
                <a:gd name="T13" fmla="*/ 857 h 991"/>
                <a:gd name="T14" fmla="*/ 492 w 1032"/>
                <a:gd name="T15" fmla="*/ 743 h 991"/>
                <a:gd name="T16" fmla="*/ 601 w 1032"/>
                <a:gd name="T17" fmla="*/ 581 h 991"/>
                <a:gd name="T18" fmla="*/ 712 w 1032"/>
                <a:gd name="T19" fmla="*/ 386 h 991"/>
                <a:gd name="T20" fmla="*/ 766 w 1032"/>
                <a:gd name="T21" fmla="*/ 287 h 991"/>
                <a:gd name="T22" fmla="*/ 821 w 1032"/>
                <a:gd name="T23" fmla="*/ 196 h 991"/>
                <a:gd name="T24" fmla="*/ 876 w 1032"/>
                <a:gd name="T25" fmla="*/ 116 h 991"/>
                <a:gd name="T26" fmla="*/ 929 w 1032"/>
                <a:gd name="T27" fmla="*/ 53 h 991"/>
                <a:gd name="T28" fmla="*/ 985 w 1032"/>
                <a:gd name="T29" fmla="*/ 13 h 991"/>
                <a:gd name="T30" fmla="*/ 1040 w 1032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2"/>
                <a:gd name="T49" fmla="*/ 0 h 991"/>
                <a:gd name="T50" fmla="*/ 1032 w 1032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2" h="991">
                  <a:moveTo>
                    <a:pt x="0" y="990"/>
                  </a:moveTo>
                  <a:lnTo>
                    <a:pt x="108" y="980"/>
                  </a:lnTo>
                  <a:lnTo>
                    <a:pt x="163" y="967"/>
                  </a:lnTo>
                  <a:lnTo>
                    <a:pt x="218" y="952"/>
                  </a:lnTo>
                  <a:lnTo>
                    <a:pt x="271" y="929"/>
                  </a:lnTo>
                  <a:lnTo>
                    <a:pt x="326" y="897"/>
                  </a:lnTo>
                  <a:lnTo>
                    <a:pt x="381" y="857"/>
                  </a:lnTo>
                  <a:lnTo>
                    <a:pt x="488" y="743"/>
                  </a:lnTo>
                  <a:lnTo>
                    <a:pt x="596" y="581"/>
                  </a:lnTo>
                  <a:lnTo>
                    <a:pt x="706" y="386"/>
                  </a:lnTo>
                  <a:lnTo>
                    <a:pt x="759" y="287"/>
                  </a:lnTo>
                  <a:lnTo>
                    <a:pt x="814" y="196"/>
                  </a:lnTo>
                  <a:lnTo>
                    <a:pt x="868" y="116"/>
                  </a:lnTo>
                  <a:lnTo>
                    <a:pt x="921" y="53"/>
                  </a:lnTo>
                  <a:lnTo>
                    <a:pt x="976" y="13"/>
                  </a:lnTo>
                  <a:lnTo>
                    <a:pt x="1031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3" name="Freeform 20"/>
            <p:cNvSpPr>
              <a:spLocks/>
            </p:cNvSpPr>
            <p:nvPr/>
          </p:nvSpPr>
          <p:spPr bwMode="auto">
            <a:xfrm>
              <a:off x="1776" y="2071"/>
              <a:ext cx="2072" cy="5"/>
            </a:xfrm>
            <a:custGeom>
              <a:avLst/>
              <a:gdLst>
                <a:gd name="T0" fmla="*/ 0 w 2072"/>
                <a:gd name="T1" fmla="*/ 5 h 5"/>
                <a:gd name="T2" fmla="*/ 12 w 2072"/>
                <a:gd name="T3" fmla="*/ 0 h 5"/>
                <a:gd name="T4" fmla="*/ 2072 w 2072"/>
                <a:gd name="T5" fmla="*/ 0 h 5"/>
                <a:gd name="T6" fmla="*/ 0 60000 65536"/>
                <a:gd name="T7" fmla="*/ 0 60000 65536"/>
                <a:gd name="T8" fmla="*/ 0 60000 65536"/>
                <a:gd name="T9" fmla="*/ 0 w 2072"/>
                <a:gd name="T10" fmla="*/ 0 h 5"/>
                <a:gd name="T11" fmla="*/ 2072 w 2072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2" h="5">
                  <a:moveTo>
                    <a:pt x="0" y="5"/>
                  </a:moveTo>
                  <a:lnTo>
                    <a:pt x="12" y="0"/>
                  </a:lnTo>
                  <a:lnTo>
                    <a:pt x="2072" y="0"/>
                  </a:lnTo>
                </a:path>
              </a:pathLst>
            </a:custGeom>
            <a:noFill/>
            <a:ln w="508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4" name="Text Box 40"/>
            <p:cNvSpPr txBox="1">
              <a:spLocks noChangeArrowheads="1"/>
            </p:cNvSpPr>
            <p:nvPr/>
          </p:nvSpPr>
          <p:spPr bwMode="auto">
            <a:xfrm>
              <a:off x="2633" y="1989"/>
              <a:ext cx="33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200" b="1" dirty="0">
                  <a:sym typeface="Symbol" pitchFamily="18" charset="2"/>
                </a:rPr>
                <a:t>0</a:t>
              </a:r>
              <a:endParaRPr lang="th-TH" sz="3200" b="1" dirty="0">
                <a:sym typeface="Symbol" pitchFamily="18" charset="2"/>
              </a:endParaRPr>
            </a:p>
          </p:txBody>
        </p:sp>
      </p:grpSp>
      <p:sp>
        <p:nvSpPr>
          <p:cNvPr id="70" name="Rectangle 2"/>
          <p:cNvSpPr>
            <a:spLocks noChangeArrowheads="1"/>
          </p:cNvSpPr>
          <p:nvPr/>
        </p:nvSpPr>
        <p:spPr bwMode="auto">
          <a:xfrm>
            <a:off x="228600" y="118110"/>
            <a:ext cx="868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kumimoji="1" lang="th-TH" sz="4800" b="1" dirty="0">
                <a:solidFill>
                  <a:srgbClr val="0000FF"/>
                </a:solidFill>
              </a:rPr>
              <a:t>การประมาณช่วงความเชื่อมั่นของค่าเฉลี่ยประชากร</a:t>
            </a:r>
            <a:endParaRPr kumimoji="1" lang="th-TH" sz="4800" dirty="0">
              <a:solidFill>
                <a:srgbClr val="0000FF"/>
              </a:solidFill>
            </a:endParaRPr>
          </a:p>
        </p:txBody>
      </p:sp>
      <p:sp>
        <p:nvSpPr>
          <p:cNvPr id="71" name="Rectangle 43"/>
          <p:cNvSpPr>
            <a:spLocks noChangeArrowheads="1"/>
          </p:cNvSpPr>
          <p:nvPr/>
        </p:nvSpPr>
        <p:spPr bwMode="auto">
          <a:xfrm>
            <a:off x="228600" y="3581400"/>
            <a:ext cx="538734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th-TH" sz="4000" b="1" dirty="0">
                <a:solidFill>
                  <a:srgbClr val="660066"/>
                </a:solidFill>
              </a:rPr>
              <a:t>ช่วงความเชื่อมั่น </a:t>
            </a:r>
            <a:r>
              <a:rPr lang="en-US" sz="4000" b="1" dirty="0">
                <a:solidFill>
                  <a:srgbClr val="660066"/>
                </a:solidFill>
              </a:rPr>
              <a:t>95</a:t>
            </a:r>
            <a:r>
              <a:rPr lang="en-US" sz="4000" b="1" dirty="0">
                <a:solidFill>
                  <a:srgbClr val="660066"/>
                </a:solidFill>
                <a:sym typeface="Symbol" pitchFamily="18" charset="2"/>
              </a:rPr>
              <a:t>% </a:t>
            </a:r>
            <a:r>
              <a:rPr lang="th-TH" sz="4000" b="1" dirty="0">
                <a:solidFill>
                  <a:srgbClr val="660066"/>
                </a:solidFill>
                <a:sym typeface="Symbol" pitchFamily="18" charset="2"/>
              </a:rPr>
              <a:t>ของ </a:t>
            </a:r>
            <a:r>
              <a:rPr lang="th-TH" sz="3200" b="1" dirty="0">
                <a:solidFill>
                  <a:srgbClr val="660066"/>
                </a:solidFill>
                <a:sym typeface="Symbol" pitchFamily="18" charset="2"/>
              </a:rPr>
              <a:t></a:t>
            </a:r>
            <a:r>
              <a:rPr lang="th-TH" sz="4000" b="1" dirty="0">
                <a:solidFill>
                  <a:srgbClr val="660066"/>
                </a:solidFill>
                <a:sym typeface="Symbol" pitchFamily="18" charset="2"/>
              </a:rPr>
              <a:t> </a:t>
            </a:r>
            <a:r>
              <a:rPr lang="en-US" sz="4000" b="1" dirty="0">
                <a:solidFill>
                  <a:srgbClr val="660066"/>
                </a:solidFill>
                <a:sym typeface="Symbol" pitchFamily="18" charset="2"/>
              </a:rPr>
              <a:t> </a:t>
            </a:r>
            <a:endParaRPr lang="th-TH" sz="4000" b="1" dirty="0">
              <a:solidFill>
                <a:srgbClr val="660066"/>
              </a:solidFill>
              <a:sym typeface="Symbol" pitchFamily="18" charset="2"/>
            </a:endParaRPr>
          </a:p>
        </p:txBody>
      </p:sp>
      <p:sp>
        <p:nvSpPr>
          <p:cNvPr id="118" name="Text Box 11"/>
          <p:cNvSpPr txBox="1">
            <a:spLocks noChangeArrowheads="1"/>
          </p:cNvSpPr>
          <p:nvPr/>
        </p:nvSpPr>
        <p:spPr bwMode="auto">
          <a:xfrm>
            <a:off x="228600" y="704850"/>
            <a:ext cx="8763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000" b="1" dirty="0">
                <a:solidFill>
                  <a:srgbClr val="006600"/>
                </a:solidFill>
              </a:rPr>
              <a:t>X</a:t>
            </a:r>
            <a:r>
              <a:rPr lang="en-US" sz="4000" b="1" baseline="-25000" dirty="0">
                <a:solidFill>
                  <a:srgbClr val="006600"/>
                </a:solidFill>
              </a:rPr>
              <a:t>1</a:t>
            </a:r>
            <a:r>
              <a:rPr lang="en-US" sz="4000" b="1" dirty="0">
                <a:solidFill>
                  <a:srgbClr val="006600"/>
                </a:solidFill>
              </a:rPr>
              <a:t> , X</a:t>
            </a:r>
            <a:r>
              <a:rPr lang="en-US" sz="4000" b="1" baseline="-25000" dirty="0">
                <a:solidFill>
                  <a:srgbClr val="006600"/>
                </a:solidFill>
              </a:rPr>
              <a:t>2</a:t>
            </a:r>
            <a:r>
              <a:rPr lang="en-US" sz="4000" b="1" dirty="0">
                <a:solidFill>
                  <a:srgbClr val="006600"/>
                </a:solidFill>
              </a:rPr>
              <a:t> , … , </a:t>
            </a:r>
            <a:r>
              <a:rPr lang="en-US" sz="4000" b="1" dirty="0" err="1">
                <a:solidFill>
                  <a:srgbClr val="006600"/>
                </a:solidFill>
              </a:rPr>
              <a:t>X</a:t>
            </a:r>
            <a:r>
              <a:rPr lang="en-US" sz="4000" b="1" baseline="-25000" dirty="0" err="1">
                <a:solidFill>
                  <a:srgbClr val="006600"/>
                </a:solidFill>
              </a:rPr>
              <a:t>n</a:t>
            </a:r>
            <a:r>
              <a:rPr lang="en-US" sz="4000" b="1" dirty="0">
                <a:solidFill>
                  <a:srgbClr val="006600"/>
                </a:solidFill>
              </a:rPr>
              <a:t> </a:t>
            </a:r>
            <a:r>
              <a:rPr lang="th-TH" sz="4000" b="1" dirty="0">
                <a:solidFill>
                  <a:srgbClr val="006600"/>
                </a:solidFill>
              </a:rPr>
              <a:t>เป็นตัวอย่างสุ่มจากประชากรปกติ </a:t>
            </a:r>
            <a:r>
              <a:rPr lang="en-US" sz="4000" b="1" dirty="0">
                <a:solidFill>
                  <a:srgbClr val="006600"/>
                </a:solidFill>
              </a:rPr>
              <a:t>: N(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</a:t>
            </a:r>
            <a:r>
              <a:rPr lang="en-US" sz="4000" b="1" dirty="0">
                <a:solidFill>
                  <a:srgbClr val="006600"/>
                </a:solidFill>
                <a:sym typeface="Symbol"/>
              </a:rPr>
              <a:t> , 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</a:t>
            </a:r>
            <a:r>
              <a:rPr lang="en-US" sz="4000" b="1" baseline="30000" dirty="0">
                <a:solidFill>
                  <a:srgbClr val="006600"/>
                </a:solidFill>
                <a:sym typeface="Symbol"/>
              </a:rPr>
              <a:t>2</a:t>
            </a:r>
            <a:r>
              <a:rPr lang="en-US" sz="4000" b="1" dirty="0">
                <a:solidFill>
                  <a:srgbClr val="006600"/>
                </a:solidFill>
                <a:sym typeface="Symbol"/>
              </a:rPr>
              <a:t>)</a:t>
            </a:r>
            <a:endParaRPr lang="th-TH" sz="4000" b="1" dirty="0">
              <a:solidFill>
                <a:srgbClr val="006600"/>
              </a:solidFill>
            </a:endParaRPr>
          </a:p>
        </p:txBody>
      </p:sp>
      <p:sp>
        <p:nvSpPr>
          <p:cNvPr id="126" name="Rectangle 45"/>
          <p:cNvSpPr>
            <a:spLocks noChangeArrowheads="1"/>
          </p:cNvSpPr>
          <p:nvPr/>
        </p:nvSpPr>
        <p:spPr bwMode="auto">
          <a:xfrm>
            <a:off x="514350" y="4209740"/>
            <a:ext cx="5287962" cy="669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en-US" sz="4000" b="1" dirty="0">
                <a:solidFill>
                  <a:srgbClr val="660066"/>
                </a:solidFill>
              </a:rPr>
              <a:t>1 – </a:t>
            </a:r>
            <a:r>
              <a:rPr lang="en-US" sz="3200" b="1" dirty="0">
                <a:solidFill>
                  <a:srgbClr val="660066"/>
                </a:solidFill>
                <a:sym typeface="Symbol"/>
              </a:rPr>
              <a:t> </a:t>
            </a:r>
            <a:r>
              <a:rPr lang="en-US" sz="4000" b="1" dirty="0">
                <a:solidFill>
                  <a:srgbClr val="660066"/>
                </a:solidFill>
                <a:sym typeface="Symbol"/>
              </a:rPr>
              <a:t>=</a:t>
            </a:r>
            <a:r>
              <a:rPr lang="en-US" sz="4000" b="1" dirty="0">
                <a:solidFill>
                  <a:srgbClr val="660066"/>
                </a:solidFill>
              </a:rPr>
              <a:t> 0.95 = P(– 1.96 </a:t>
            </a:r>
            <a:r>
              <a:rPr lang="en-US" sz="4000" b="1" u="sng" dirty="0">
                <a:solidFill>
                  <a:srgbClr val="660066"/>
                </a:solidFill>
              </a:rPr>
              <a:t>&lt;</a:t>
            </a:r>
            <a:r>
              <a:rPr lang="en-US" sz="4000" b="1" dirty="0">
                <a:solidFill>
                  <a:srgbClr val="660066"/>
                </a:solidFill>
              </a:rPr>
              <a:t> </a:t>
            </a:r>
            <a:r>
              <a:rPr lang="en-US" sz="4000" b="1" dirty="0">
                <a:solidFill>
                  <a:srgbClr val="660066"/>
                </a:solidFill>
                <a:sym typeface="Symbol" pitchFamily="18" charset="2"/>
              </a:rPr>
              <a:t>Z </a:t>
            </a:r>
            <a:r>
              <a:rPr lang="en-US" sz="4000" b="1" u="sng" dirty="0">
                <a:solidFill>
                  <a:srgbClr val="660066"/>
                </a:solidFill>
                <a:sym typeface="Symbol" pitchFamily="18" charset="2"/>
              </a:rPr>
              <a:t>&lt;</a:t>
            </a:r>
            <a:r>
              <a:rPr lang="en-US" sz="4000" b="1" dirty="0">
                <a:solidFill>
                  <a:srgbClr val="660066"/>
                </a:solidFill>
                <a:sym typeface="Symbol" pitchFamily="18" charset="2"/>
              </a:rPr>
              <a:t>  1.96)</a:t>
            </a:r>
            <a:endParaRPr lang="th-TH" sz="4000" b="1" dirty="0">
              <a:solidFill>
                <a:srgbClr val="660066"/>
              </a:solidFill>
              <a:sym typeface="Symbol" pitchFamily="18" charset="2"/>
            </a:endParaRPr>
          </a:p>
        </p:txBody>
      </p:sp>
      <p:sp>
        <p:nvSpPr>
          <p:cNvPr id="130" name="Rectangle 43"/>
          <p:cNvSpPr>
            <a:spLocks noChangeArrowheads="1"/>
          </p:cNvSpPr>
          <p:nvPr/>
        </p:nvSpPr>
        <p:spPr bwMode="auto">
          <a:xfrm>
            <a:off x="4953000" y="1273792"/>
            <a:ext cx="2288541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th-TH" sz="3200" b="1" dirty="0">
                <a:solidFill>
                  <a:srgbClr val="660066"/>
                </a:solidFill>
              </a:rPr>
              <a:t>ให้  </a:t>
            </a:r>
            <a:r>
              <a:rPr lang="en-US" sz="3200" b="1" dirty="0">
                <a:solidFill>
                  <a:srgbClr val="660066"/>
                </a:solidFill>
              </a:rPr>
              <a:t>1 – </a:t>
            </a:r>
            <a:r>
              <a:rPr lang="en-US" sz="2600" b="1" dirty="0">
                <a:solidFill>
                  <a:srgbClr val="660066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660066"/>
                </a:solidFill>
                <a:sym typeface="Symbol"/>
              </a:rPr>
              <a:t> =</a:t>
            </a:r>
            <a:r>
              <a:rPr lang="en-US" sz="3200" b="1" dirty="0">
                <a:solidFill>
                  <a:srgbClr val="660066"/>
                </a:solidFill>
              </a:rPr>
              <a:t> 0.95 </a:t>
            </a:r>
            <a:endParaRPr lang="th-TH" sz="3200" b="1" dirty="0">
              <a:solidFill>
                <a:srgbClr val="660066"/>
              </a:solidFill>
              <a:sym typeface="Symbol" pitchFamily="18" charset="2"/>
            </a:endParaRPr>
          </a:p>
        </p:txBody>
      </p:sp>
      <p:sp>
        <p:nvSpPr>
          <p:cNvPr id="131" name="Rectangle 43"/>
          <p:cNvSpPr>
            <a:spLocks noChangeArrowheads="1"/>
          </p:cNvSpPr>
          <p:nvPr/>
        </p:nvSpPr>
        <p:spPr bwMode="auto">
          <a:xfrm>
            <a:off x="1140778" y="267652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2" name="Rectangle 43"/>
          <p:cNvSpPr>
            <a:spLocks noChangeArrowheads="1"/>
          </p:cNvSpPr>
          <p:nvPr/>
        </p:nvSpPr>
        <p:spPr bwMode="auto">
          <a:xfrm>
            <a:off x="6067266" y="267144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667000" y="2966408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 flipH="1">
            <a:off x="5615940" y="2983230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2312352" y="4678370"/>
            <a:ext cx="4256088" cy="1131570"/>
            <a:chOff x="480060" y="4776789"/>
            <a:chExt cx="4256088" cy="1131570"/>
          </a:xfrm>
        </p:grpSpPr>
        <p:sp>
          <p:nvSpPr>
            <p:cNvPr id="6" name="Double Bracket 5"/>
            <p:cNvSpPr/>
            <p:nvPr/>
          </p:nvSpPr>
          <p:spPr>
            <a:xfrm>
              <a:off x="1060291" y="4984753"/>
              <a:ext cx="3456780" cy="659130"/>
            </a:xfrm>
            <a:prstGeom prst="bracketPair">
              <a:avLst>
                <a:gd name="adj" fmla="val 8994"/>
              </a:avLst>
            </a:prstGeom>
            <a:ln w="28575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266792" y="4776789"/>
              <a:ext cx="1074420" cy="1131570"/>
              <a:chOff x="1026478" y="4583430"/>
              <a:chExt cx="1074420" cy="1131570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026478" y="4583430"/>
                <a:ext cx="1074420" cy="1131570"/>
                <a:chOff x="1026478" y="4583430"/>
                <a:chExt cx="1074420" cy="1131570"/>
              </a:xfrm>
            </p:grpSpPr>
            <p:sp>
              <p:nvSpPr>
                <p:cNvPr id="135" name="Rectangle 45"/>
                <p:cNvSpPr>
                  <a:spLocks noChangeArrowheads="1"/>
                </p:cNvSpPr>
                <p:nvPr/>
              </p:nvSpPr>
              <p:spPr bwMode="auto">
                <a:xfrm>
                  <a:off x="1061721" y="4583430"/>
                  <a:ext cx="1039177" cy="6699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571500" indent="-571500"/>
                  <a:r>
                    <a:rPr lang="en-US" sz="4000" b="1" dirty="0">
                      <a:solidFill>
                        <a:srgbClr val="660066"/>
                      </a:solidFill>
                    </a:rPr>
                    <a:t>X – </a:t>
                  </a:r>
                  <a:r>
                    <a:rPr lang="th-TH" sz="3200" b="1" dirty="0">
                      <a:solidFill>
                        <a:srgbClr val="660066"/>
                      </a:solidFill>
                      <a:sym typeface="Symbol" pitchFamily="18" charset="2"/>
                    </a:rPr>
                    <a:t></a:t>
                  </a:r>
                  <a:endParaRPr lang="th-TH" sz="4000" b="1" dirty="0">
                    <a:solidFill>
                      <a:srgbClr val="660066"/>
                    </a:solidFill>
                    <a:sym typeface="Symbol" pitchFamily="18" charset="2"/>
                  </a:endParaRPr>
                </a:p>
              </p:txBody>
            </p:sp>
            <p:sp>
              <p:nvSpPr>
                <p:cNvPr id="136" name="Rectangle 46"/>
                <p:cNvSpPr>
                  <a:spLocks noChangeArrowheads="1"/>
                </p:cNvSpPr>
                <p:nvPr/>
              </p:nvSpPr>
              <p:spPr bwMode="auto">
                <a:xfrm>
                  <a:off x="1026478" y="5045074"/>
                  <a:ext cx="533400" cy="6699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571500" indent="-571500" algn="ctr"/>
                  <a:r>
                    <a:rPr lang="th-TH" sz="3200" b="1" dirty="0">
                      <a:solidFill>
                        <a:srgbClr val="660066"/>
                      </a:solidFill>
                      <a:sym typeface="Symbol" pitchFamily="18" charset="2"/>
                    </a:rPr>
                    <a:t></a:t>
                  </a:r>
                </a:p>
              </p:txBody>
            </p:sp>
            <p:sp>
              <p:nvSpPr>
                <p:cNvPr id="137" name="Rectangle 49"/>
                <p:cNvSpPr>
                  <a:spLocks noChangeArrowheads="1"/>
                </p:cNvSpPr>
                <p:nvPr/>
              </p:nvSpPr>
              <p:spPr bwMode="auto">
                <a:xfrm>
                  <a:off x="1510348" y="4972050"/>
                  <a:ext cx="533400" cy="6699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571500" indent="-571500" algn="ctr"/>
                  <a:r>
                    <a:rPr lang="en-US" sz="4000" b="1" dirty="0">
                      <a:solidFill>
                        <a:srgbClr val="660066"/>
                      </a:solidFill>
                      <a:sym typeface="Symbol" pitchFamily="18" charset="2"/>
                    </a:rPr>
                    <a:t>n</a:t>
                  </a:r>
                  <a:endParaRPr lang="th-TH" sz="4000" b="1" dirty="0">
                    <a:solidFill>
                      <a:srgbClr val="660066"/>
                    </a:solidFill>
                    <a:sym typeface="Symbol" pitchFamily="18" charset="2"/>
                  </a:endParaRPr>
                </a:p>
              </p:txBody>
            </p:sp>
            <p:sp>
              <p:nvSpPr>
                <p:cNvPr id="138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1426528" y="5266056"/>
                  <a:ext cx="104775" cy="214948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4000"/>
                </a:p>
              </p:txBody>
            </p:sp>
            <p:sp>
              <p:nvSpPr>
                <p:cNvPr id="139" name="Line 48"/>
                <p:cNvSpPr>
                  <a:spLocks noChangeShapeType="1"/>
                </p:cNvSpPr>
                <p:nvPr/>
              </p:nvSpPr>
              <p:spPr bwMode="auto">
                <a:xfrm>
                  <a:off x="1125538" y="5143819"/>
                  <a:ext cx="914400" cy="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4000"/>
                </a:p>
              </p:txBody>
            </p:sp>
          </p:grpSp>
          <p:sp>
            <p:nvSpPr>
              <p:cNvPr id="141" name="Line 61"/>
              <p:cNvSpPr>
                <a:spLocks noChangeShapeType="1"/>
              </p:cNvSpPr>
              <p:nvPr/>
            </p:nvSpPr>
            <p:spPr bwMode="auto">
              <a:xfrm>
                <a:off x="1167448" y="4770120"/>
                <a:ext cx="182880" cy="0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</p:grpSp>
        <p:sp>
          <p:nvSpPr>
            <p:cNvPr id="143" name="Rectangle 45"/>
            <p:cNvSpPr>
              <a:spLocks noChangeArrowheads="1"/>
            </p:cNvSpPr>
            <p:nvPr/>
          </p:nvSpPr>
          <p:spPr bwMode="auto">
            <a:xfrm>
              <a:off x="480060" y="4913632"/>
              <a:ext cx="4256088" cy="669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571500" indent="-571500"/>
              <a:r>
                <a:rPr lang="en-US" sz="4000" b="1" dirty="0">
                  <a:solidFill>
                    <a:srgbClr val="660066"/>
                  </a:solidFill>
                </a:rPr>
                <a:t>= P – 1.96 </a:t>
              </a:r>
              <a:r>
                <a:rPr lang="en-US" sz="4000" b="1" u="sng" dirty="0">
                  <a:solidFill>
                    <a:srgbClr val="660066"/>
                  </a:solidFill>
                </a:rPr>
                <a:t>&lt;</a:t>
              </a:r>
              <a:r>
                <a:rPr lang="en-US" sz="4000" b="1" dirty="0">
                  <a:solidFill>
                    <a:srgbClr val="660066"/>
                  </a:solidFill>
                </a:rPr>
                <a:t>              </a:t>
              </a:r>
              <a:r>
                <a:rPr lang="en-US" sz="4000" b="1" u="sng" dirty="0">
                  <a:solidFill>
                    <a:srgbClr val="660066"/>
                  </a:solidFill>
                  <a:sym typeface="Symbol" pitchFamily="18" charset="2"/>
                </a:rPr>
                <a:t>&lt;</a:t>
              </a:r>
              <a:r>
                <a:rPr lang="en-US" sz="4000" b="1" dirty="0">
                  <a:solidFill>
                    <a:srgbClr val="660066"/>
                  </a:solidFill>
                  <a:sym typeface="Symbol" pitchFamily="18" charset="2"/>
                </a:rPr>
                <a:t>  1.96</a:t>
              </a:r>
              <a:endParaRPr lang="th-TH" sz="4000" b="1" dirty="0">
                <a:solidFill>
                  <a:srgbClr val="660066"/>
                </a:solidFill>
                <a:sym typeface="Symbol" pitchFamily="18" charset="2"/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770505" y="5433060"/>
              <a:ext cx="367343" cy="234433"/>
              <a:chOff x="1621157" y="2349183"/>
              <a:chExt cx="367343" cy="234433"/>
            </a:xfrm>
          </p:grpSpPr>
          <p:sp>
            <p:nvSpPr>
              <p:cNvPr id="144" name="Line 50"/>
              <p:cNvSpPr>
                <a:spLocks noChangeShapeType="1"/>
              </p:cNvSpPr>
              <p:nvPr/>
            </p:nvSpPr>
            <p:spPr bwMode="auto">
              <a:xfrm>
                <a:off x="1759900" y="2353628"/>
                <a:ext cx="228600" cy="0"/>
              </a:xfrm>
              <a:prstGeom prst="line">
                <a:avLst/>
              </a:prstGeom>
              <a:noFill/>
              <a:ln w="1905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  <p:sp>
            <p:nvSpPr>
              <p:cNvPr id="145" name="Line 51"/>
              <p:cNvSpPr>
                <a:spLocks noChangeShapeType="1"/>
              </p:cNvSpPr>
              <p:nvPr/>
            </p:nvSpPr>
            <p:spPr bwMode="auto">
              <a:xfrm flipH="1">
                <a:off x="1674497" y="2349183"/>
                <a:ext cx="76200" cy="228600"/>
              </a:xfrm>
              <a:prstGeom prst="line">
                <a:avLst/>
              </a:prstGeom>
              <a:noFill/>
              <a:ln w="1905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  <p:sp>
            <p:nvSpPr>
              <p:cNvPr id="146" name="Line 52"/>
              <p:cNvSpPr>
                <a:spLocks noChangeShapeType="1"/>
              </p:cNvSpPr>
              <p:nvPr/>
            </p:nvSpPr>
            <p:spPr bwMode="auto">
              <a:xfrm>
                <a:off x="1621157" y="2510464"/>
                <a:ext cx="45720" cy="73152"/>
              </a:xfrm>
              <a:prstGeom prst="line">
                <a:avLst/>
              </a:prstGeom>
              <a:noFill/>
              <a:ln w="1905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76200" y="1371600"/>
            <a:ext cx="3581400" cy="1131570"/>
            <a:chOff x="295911" y="1535430"/>
            <a:chExt cx="3581400" cy="1131570"/>
          </a:xfrm>
        </p:grpSpPr>
        <p:grpSp>
          <p:nvGrpSpPr>
            <p:cNvPr id="12" name="Group 11"/>
            <p:cNvGrpSpPr/>
            <p:nvPr/>
          </p:nvGrpSpPr>
          <p:grpSpPr>
            <a:xfrm>
              <a:off x="295911" y="1535430"/>
              <a:ext cx="3581400" cy="1131570"/>
              <a:chOff x="228600" y="1295400"/>
              <a:chExt cx="3581400" cy="1131570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874078" y="1295400"/>
                <a:ext cx="1074420" cy="1131570"/>
                <a:chOff x="2065020" y="4419600"/>
                <a:chExt cx="1074420" cy="1131570"/>
              </a:xfrm>
            </p:grpSpPr>
            <p:grpSp>
              <p:nvGrpSpPr>
                <p:cNvPr id="10" name="Group 9"/>
                <p:cNvGrpSpPr/>
                <p:nvPr/>
              </p:nvGrpSpPr>
              <p:grpSpPr>
                <a:xfrm>
                  <a:off x="2100263" y="4419600"/>
                  <a:ext cx="1039177" cy="669926"/>
                  <a:chOff x="2100263" y="4419600"/>
                  <a:chExt cx="1039177" cy="669926"/>
                </a:xfrm>
              </p:grpSpPr>
              <p:sp>
                <p:nvSpPr>
                  <p:cNvPr id="73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2100263" y="4419600"/>
                    <a:ext cx="1039177" cy="66992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571500" indent="-571500"/>
                    <a:r>
                      <a:rPr lang="en-US" sz="4000" b="1" dirty="0">
                        <a:solidFill>
                          <a:srgbClr val="660066"/>
                        </a:solidFill>
                      </a:rPr>
                      <a:t>X – </a:t>
                    </a:r>
                    <a:r>
                      <a:rPr lang="th-TH" sz="3200" b="1" dirty="0">
                        <a:solidFill>
                          <a:srgbClr val="660066"/>
                        </a:solidFill>
                        <a:sym typeface="Symbol" pitchFamily="18" charset="2"/>
                      </a:rPr>
                      <a:t></a:t>
                    </a:r>
                    <a:endParaRPr lang="th-TH" sz="4000" b="1" dirty="0">
                      <a:solidFill>
                        <a:srgbClr val="660066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76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2205990" y="4604068"/>
                    <a:ext cx="182880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660066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4000"/>
                  </a:p>
                </p:txBody>
              </p:sp>
            </p:grpSp>
            <p:grpSp>
              <p:nvGrpSpPr>
                <p:cNvPr id="9" name="Group 8"/>
                <p:cNvGrpSpPr/>
                <p:nvPr/>
              </p:nvGrpSpPr>
              <p:grpSpPr>
                <a:xfrm>
                  <a:off x="2065020" y="4819650"/>
                  <a:ext cx="997901" cy="731520"/>
                  <a:chOff x="2133600" y="4819650"/>
                  <a:chExt cx="997901" cy="731520"/>
                </a:xfrm>
              </p:grpSpPr>
              <p:sp>
                <p:nvSpPr>
                  <p:cNvPr id="84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2133600" y="4881244"/>
                    <a:ext cx="533400" cy="66992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571500" indent="-571500" algn="ctr"/>
                    <a:r>
                      <a:rPr lang="th-TH" sz="3200" b="1" dirty="0">
                        <a:solidFill>
                          <a:srgbClr val="660066"/>
                        </a:solidFill>
                        <a:sym typeface="Symbol" pitchFamily="18" charset="2"/>
                      </a:rPr>
                      <a:t></a:t>
                    </a:r>
                  </a:p>
                </p:txBody>
              </p:sp>
              <p:sp>
                <p:nvSpPr>
                  <p:cNvPr id="86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2598101" y="4819650"/>
                    <a:ext cx="533400" cy="66992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571500" indent="-571500" algn="ctr"/>
                    <a:r>
                      <a:rPr lang="en-US" sz="4000" b="1" dirty="0">
                        <a:solidFill>
                          <a:srgbClr val="660066"/>
                        </a:solidFill>
                        <a:sym typeface="Symbol" pitchFamily="18" charset="2"/>
                      </a:rPr>
                      <a:t>n</a:t>
                    </a:r>
                    <a:endParaRPr lang="th-TH" sz="4000" b="1" dirty="0">
                      <a:solidFill>
                        <a:srgbClr val="660066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122" name="Line 4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33650" y="5102226"/>
                    <a:ext cx="104775" cy="214948"/>
                  </a:xfrm>
                  <a:prstGeom prst="line">
                    <a:avLst/>
                  </a:prstGeom>
                  <a:noFill/>
                  <a:ln w="19050">
                    <a:solidFill>
                      <a:srgbClr val="660066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4000"/>
                  </a:p>
                </p:txBody>
              </p:sp>
            </p:grpSp>
            <p:sp>
              <p:nvSpPr>
                <p:cNvPr id="85" name="Line 48"/>
                <p:cNvSpPr>
                  <a:spLocks noChangeShapeType="1"/>
                </p:cNvSpPr>
                <p:nvPr/>
              </p:nvSpPr>
              <p:spPr bwMode="auto">
                <a:xfrm>
                  <a:off x="2164080" y="4979989"/>
                  <a:ext cx="914400" cy="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4000"/>
                </a:p>
              </p:txBody>
            </p:sp>
          </p:grpSp>
          <p:sp>
            <p:nvSpPr>
              <p:cNvPr id="127" name="Rectangle 43"/>
              <p:cNvSpPr>
                <a:spLocks noChangeArrowheads="1"/>
              </p:cNvSpPr>
              <p:nvPr/>
            </p:nvSpPr>
            <p:spPr bwMode="auto">
              <a:xfrm>
                <a:off x="228600" y="1499235"/>
                <a:ext cx="877888" cy="669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571500" indent="-571500"/>
                <a:r>
                  <a:rPr lang="en-US" sz="4000" b="1" dirty="0">
                    <a:solidFill>
                      <a:srgbClr val="660066"/>
                    </a:solidFill>
                  </a:rPr>
                  <a:t>Z =</a:t>
                </a:r>
                <a:endParaRPr lang="th-TH" sz="4000" b="1" dirty="0">
                  <a:solidFill>
                    <a:srgbClr val="660066"/>
                  </a:solidFill>
                  <a:sym typeface="Symbol" pitchFamily="18" charset="2"/>
                </a:endParaRPr>
              </a:p>
            </p:txBody>
          </p:sp>
          <p:sp>
            <p:nvSpPr>
              <p:cNvPr id="128" name="Rectangle 43"/>
              <p:cNvSpPr>
                <a:spLocks noChangeArrowheads="1"/>
              </p:cNvSpPr>
              <p:nvPr/>
            </p:nvSpPr>
            <p:spPr bwMode="auto">
              <a:xfrm>
                <a:off x="2017711" y="1501140"/>
                <a:ext cx="1792289" cy="669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571500" indent="-571500"/>
                <a:r>
                  <a:rPr lang="en-US" sz="3200" b="1" dirty="0">
                    <a:solidFill>
                      <a:srgbClr val="660066"/>
                    </a:solidFill>
                    <a:sym typeface="Symbol"/>
                  </a:rPr>
                  <a:t></a:t>
                </a:r>
                <a:r>
                  <a:rPr lang="en-US" sz="4000" b="1" dirty="0">
                    <a:solidFill>
                      <a:srgbClr val="660066"/>
                    </a:solidFill>
                  </a:rPr>
                  <a:t>  N(0 , 1</a:t>
                </a:r>
                <a:r>
                  <a:rPr lang="en-US" sz="4000" b="1" dirty="0">
                    <a:solidFill>
                      <a:srgbClr val="660066"/>
                    </a:solidFill>
                    <a:sym typeface="Symbol" pitchFamily="18" charset="2"/>
                  </a:rPr>
                  <a:t>)</a:t>
                </a:r>
                <a:endParaRPr lang="th-TH" sz="4000" b="1" dirty="0">
                  <a:solidFill>
                    <a:srgbClr val="660066"/>
                  </a:solidFill>
                  <a:sym typeface="Symbol" pitchFamily="18" charset="2"/>
                </a:endParaRPr>
              </a:p>
              <a:p>
                <a:pPr marL="571500" indent="-571500"/>
                <a:endParaRPr lang="th-TH" sz="4000" b="1" baseline="30000" dirty="0">
                  <a:solidFill>
                    <a:srgbClr val="660066"/>
                  </a:solidFill>
                  <a:sym typeface="Symbol" pitchFamily="18" charset="2"/>
                </a:endParaRPr>
              </a:p>
              <a:p>
                <a:pPr marL="571500" indent="-571500"/>
                <a:r>
                  <a:rPr lang="en-US" sz="4000" b="1" dirty="0">
                    <a:solidFill>
                      <a:srgbClr val="660066"/>
                    </a:solidFill>
                    <a:sym typeface="Symbol" pitchFamily="18" charset="2"/>
                  </a:rPr>
                  <a:t> </a:t>
                </a:r>
                <a:endParaRPr lang="th-TH" sz="4000" b="1" dirty="0">
                  <a:solidFill>
                    <a:srgbClr val="660066"/>
                  </a:solidFill>
                  <a:sym typeface="Symbol" pitchFamily="18" charset="2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434784" y="2192405"/>
              <a:ext cx="367343" cy="241486"/>
              <a:chOff x="2922905" y="5576257"/>
              <a:chExt cx="367343" cy="241486"/>
            </a:xfrm>
          </p:grpSpPr>
          <p:sp>
            <p:nvSpPr>
              <p:cNvPr id="148" name="Line 50"/>
              <p:cNvSpPr>
                <a:spLocks noChangeShapeType="1"/>
              </p:cNvSpPr>
              <p:nvPr/>
            </p:nvSpPr>
            <p:spPr bwMode="auto">
              <a:xfrm>
                <a:off x="3061648" y="5576257"/>
                <a:ext cx="228600" cy="0"/>
              </a:xfrm>
              <a:prstGeom prst="line">
                <a:avLst/>
              </a:prstGeom>
              <a:noFill/>
              <a:ln w="1905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  <p:sp>
            <p:nvSpPr>
              <p:cNvPr id="149" name="Line 51"/>
              <p:cNvSpPr>
                <a:spLocks noChangeShapeType="1"/>
              </p:cNvSpPr>
              <p:nvPr/>
            </p:nvSpPr>
            <p:spPr bwMode="auto">
              <a:xfrm flipH="1">
                <a:off x="2976245" y="5585460"/>
                <a:ext cx="76200" cy="228600"/>
              </a:xfrm>
              <a:prstGeom prst="line">
                <a:avLst/>
              </a:prstGeom>
              <a:noFill/>
              <a:ln w="1905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  <p:sp>
            <p:nvSpPr>
              <p:cNvPr id="150" name="Line 52"/>
              <p:cNvSpPr>
                <a:spLocks noChangeShapeType="1"/>
              </p:cNvSpPr>
              <p:nvPr/>
            </p:nvSpPr>
            <p:spPr bwMode="auto">
              <a:xfrm>
                <a:off x="2922905" y="5708015"/>
                <a:ext cx="45720" cy="109728"/>
              </a:xfrm>
              <a:prstGeom prst="line">
                <a:avLst/>
              </a:prstGeom>
              <a:noFill/>
              <a:ln w="1905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2281556" y="5583237"/>
            <a:ext cx="5567044" cy="969963"/>
            <a:chOff x="1058546" y="5488297"/>
            <a:chExt cx="5567044" cy="969963"/>
          </a:xfrm>
        </p:grpSpPr>
        <p:grpSp>
          <p:nvGrpSpPr>
            <p:cNvPr id="154" name="Group 129"/>
            <p:cNvGrpSpPr>
              <a:grpSpLocks/>
            </p:cNvGrpSpPr>
            <p:nvPr/>
          </p:nvGrpSpPr>
          <p:grpSpPr bwMode="auto">
            <a:xfrm>
              <a:off x="1672590" y="5488297"/>
              <a:ext cx="4953000" cy="969963"/>
              <a:chOff x="1284" y="2864"/>
              <a:chExt cx="3120" cy="611"/>
            </a:xfrm>
          </p:grpSpPr>
          <p:sp>
            <p:nvSpPr>
              <p:cNvPr id="155" name="Rectangle 45"/>
              <p:cNvSpPr>
                <a:spLocks noChangeArrowheads="1"/>
              </p:cNvSpPr>
              <p:nvPr/>
            </p:nvSpPr>
            <p:spPr bwMode="auto">
              <a:xfrm>
                <a:off x="1284" y="2918"/>
                <a:ext cx="3120" cy="4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571500" indent="-571500"/>
                <a:r>
                  <a:rPr lang="en-US" sz="4000" b="1" dirty="0">
                    <a:solidFill>
                      <a:srgbClr val="660066"/>
                    </a:solidFill>
                  </a:rPr>
                  <a:t>X – 1.96</a:t>
                </a:r>
                <a:r>
                  <a:rPr lang="th-TH" sz="4000" b="1" dirty="0">
                    <a:solidFill>
                      <a:srgbClr val="660066"/>
                    </a:solidFill>
                  </a:rPr>
                  <a:t>    </a:t>
                </a:r>
                <a:r>
                  <a:rPr lang="en-US" sz="4000" b="1" dirty="0">
                    <a:solidFill>
                      <a:srgbClr val="660066"/>
                    </a:solidFill>
                  </a:rPr>
                  <a:t>    </a:t>
                </a:r>
                <a:r>
                  <a:rPr lang="en-US" sz="4000" b="1" u="sng" dirty="0">
                    <a:solidFill>
                      <a:srgbClr val="660066"/>
                    </a:solidFill>
                  </a:rPr>
                  <a:t>&lt;</a:t>
                </a:r>
                <a:r>
                  <a:rPr lang="en-US" sz="4000" b="1" dirty="0">
                    <a:solidFill>
                      <a:srgbClr val="660066"/>
                    </a:solidFill>
                  </a:rPr>
                  <a:t> </a:t>
                </a:r>
                <a:r>
                  <a:rPr lang="th-TH" sz="4000" b="1" dirty="0">
                    <a:solidFill>
                      <a:srgbClr val="660066"/>
                    </a:solidFill>
                    <a:sym typeface="Symbol" pitchFamily="18" charset="2"/>
                  </a:rPr>
                  <a:t> </a:t>
                </a:r>
                <a:r>
                  <a:rPr lang="th-TH" sz="3200" b="1" dirty="0">
                    <a:solidFill>
                      <a:srgbClr val="660066"/>
                    </a:solidFill>
                    <a:sym typeface="Symbol" pitchFamily="18" charset="2"/>
                  </a:rPr>
                  <a:t></a:t>
                </a:r>
                <a:r>
                  <a:rPr lang="th-TH" sz="4000" b="1" dirty="0">
                    <a:solidFill>
                      <a:srgbClr val="660066"/>
                    </a:solidFill>
                    <a:sym typeface="Symbol" pitchFamily="18" charset="2"/>
                  </a:rPr>
                  <a:t> </a:t>
                </a:r>
                <a:r>
                  <a:rPr lang="en-US" sz="4000" b="1" dirty="0">
                    <a:solidFill>
                      <a:srgbClr val="660066"/>
                    </a:solidFill>
                    <a:sym typeface="Symbol" pitchFamily="18" charset="2"/>
                  </a:rPr>
                  <a:t> </a:t>
                </a:r>
                <a:r>
                  <a:rPr lang="en-US" sz="4000" b="1" u="sng" dirty="0">
                    <a:solidFill>
                      <a:srgbClr val="660066"/>
                    </a:solidFill>
                    <a:sym typeface="Symbol" pitchFamily="18" charset="2"/>
                  </a:rPr>
                  <a:t>&lt;</a:t>
                </a:r>
                <a:r>
                  <a:rPr lang="en-US" sz="4000" b="1" dirty="0">
                    <a:solidFill>
                      <a:srgbClr val="660066"/>
                    </a:solidFill>
                    <a:sym typeface="Symbol" pitchFamily="18" charset="2"/>
                  </a:rPr>
                  <a:t>  X + 1.96</a:t>
                </a:r>
                <a:endParaRPr lang="th-TH" sz="4000" b="1" dirty="0">
                  <a:solidFill>
                    <a:srgbClr val="660066"/>
                  </a:solidFill>
                  <a:sym typeface="Symbol" pitchFamily="18" charset="2"/>
                </a:endParaRPr>
              </a:p>
            </p:txBody>
          </p:sp>
          <p:grpSp>
            <p:nvGrpSpPr>
              <p:cNvPr id="156" name="Group 53"/>
              <p:cNvGrpSpPr>
                <a:grpSpLocks/>
              </p:cNvGrpSpPr>
              <p:nvPr/>
            </p:nvGrpSpPr>
            <p:grpSpPr bwMode="auto">
              <a:xfrm>
                <a:off x="2093" y="2864"/>
                <a:ext cx="345" cy="611"/>
                <a:chOff x="4177" y="2970"/>
                <a:chExt cx="345" cy="611"/>
              </a:xfrm>
            </p:grpSpPr>
            <p:sp>
              <p:nvSpPr>
                <p:cNvPr id="166" name="Rectangle 46"/>
                <p:cNvSpPr>
                  <a:spLocks noChangeArrowheads="1"/>
                </p:cNvSpPr>
                <p:nvPr/>
              </p:nvSpPr>
              <p:spPr bwMode="auto">
                <a:xfrm>
                  <a:off x="4177" y="2970"/>
                  <a:ext cx="336" cy="4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571500" indent="-571500" algn="ctr"/>
                  <a:r>
                    <a:rPr lang="th-TH" sz="3200" b="1" dirty="0">
                      <a:solidFill>
                        <a:srgbClr val="660066"/>
                      </a:solidFill>
                      <a:sym typeface="Symbol" pitchFamily="18" charset="2"/>
                    </a:rPr>
                    <a:t></a:t>
                  </a:r>
                </a:p>
              </p:txBody>
            </p:sp>
            <p:sp>
              <p:nvSpPr>
                <p:cNvPr id="167" name="Line 48"/>
                <p:cNvSpPr>
                  <a:spLocks noChangeShapeType="1"/>
                </p:cNvSpPr>
                <p:nvPr/>
              </p:nvSpPr>
              <p:spPr bwMode="auto">
                <a:xfrm>
                  <a:off x="4232" y="3264"/>
                  <a:ext cx="240" cy="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4000"/>
                </a:p>
              </p:txBody>
            </p:sp>
            <p:sp>
              <p:nvSpPr>
                <p:cNvPr id="168" name="Rectangle 49"/>
                <p:cNvSpPr>
                  <a:spLocks noChangeArrowheads="1"/>
                </p:cNvSpPr>
                <p:nvPr/>
              </p:nvSpPr>
              <p:spPr bwMode="auto">
                <a:xfrm>
                  <a:off x="4186" y="3159"/>
                  <a:ext cx="336" cy="4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571500" indent="-571500" algn="ctr"/>
                  <a:r>
                    <a:rPr lang="en-US" sz="4000" b="1" dirty="0">
                      <a:solidFill>
                        <a:srgbClr val="660066"/>
                      </a:solidFill>
                      <a:sym typeface="Symbol" pitchFamily="18" charset="2"/>
                    </a:rPr>
                    <a:t>n</a:t>
                  </a:r>
                  <a:endParaRPr lang="th-TH" sz="4000" b="1" dirty="0">
                    <a:solidFill>
                      <a:srgbClr val="660066"/>
                    </a:solidFill>
                    <a:sym typeface="Symbol" pitchFamily="18" charset="2"/>
                  </a:endParaRPr>
                </a:p>
              </p:txBody>
            </p:sp>
            <p:sp>
              <p:nvSpPr>
                <p:cNvPr id="169" name="Line 50"/>
                <p:cNvSpPr>
                  <a:spLocks noChangeShapeType="1"/>
                </p:cNvSpPr>
                <p:nvPr/>
              </p:nvSpPr>
              <p:spPr bwMode="auto">
                <a:xfrm>
                  <a:off x="4298" y="3312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4000"/>
                </a:p>
              </p:txBody>
            </p:sp>
            <p:sp>
              <p:nvSpPr>
                <p:cNvPr id="170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4253" y="3316"/>
                  <a:ext cx="48" cy="144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4000"/>
                </a:p>
              </p:txBody>
            </p:sp>
            <p:sp>
              <p:nvSpPr>
                <p:cNvPr id="171" name="Line 52"/>
                <p:cNvSpPr>
                  <a:spLocks noChangeShapeType="1"/>
                </p:cNvSpPr>
                <p:nvPr/>
              </p:nvSpPr>
              <p:spPr bwMode="auto">
                <a:xfrm>
                  <a:off x="4219" y="3417"/>
                  <a:ext cx="29" cy="4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4000"/>
                </a:p>
              </p:txBody>
            </p:sp>
          </p:grpSp>
          <p:grpSp>
            <p:nvGrpSpPr>
              <p:cNvPr id="157" name="Group 54"/>
              <p:cNvGrpSpPr>
                <a:grpSpLocks/>
              </p:cNvGrpSpPr>
              <p:nvPr/>
            </p:nvGrpSpPr>
            <p:grpSpPr bwMode="auto">
              <a:xfrm>
                <a:off x="3945" y="2866"/>
                <a:ext cx="336" cy="422"/>
                <a:chOff x="3927" y="2972"/>
                <a:chExt cx="336" cy="422"/>
              </a:xfrm>
            </p:grpSpPr>
            <p:sp>
              <p:nvSpPr>
                <p:cNvPr id="160" name="Rectangle 55"/>
                <p:cNvSpPr>
                  <a:spLocks noChangeArrowheads="1"/>
                </p:cNvSpPr>
                <p:nvPr/>
              </p:nvSpPr>
              <p:spPr bwMode="auto">
                <a:xfrm>
                  <a:off x="3927" y="2972"/>
                  <a:ext cx="336" cy="4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571500" indent="-571500" algn="ctr"/>
                  <a:r>
                    <a:rPr lang="th-TH" sz="3200" b="1" dirty="0">
                      <a:solidFill>
                        <a:srgbClr val="660066"/>
                      </a:solidFill>
                      <a:sym typeface="Symbol" pitchFamily="18" charset="2"/>
                    </a:rPr>
                    <a:t></a:t>
                  </a:r>
                </a:p>
              </p:txBody>
            </p:sp>
            <p:sp>
              <p:nvSpPr>
                <p:cNvPr id="161" name="Line 56"/>
                <p:cNvSpPr>
                  <a:spLocks noChangeShapeType="1"/>
                </p:cNvSpPr>
                <p:nvPr/>
              </p:nvSpPr>
              <p:spPr bwMode="auto">
                <a:xfrm>
                  <a:off x="3982" y="3264"/>
                  <a:ext cx="240" cy="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4000"/>
                </a:p>
              </p:txBody>
            </p:sp>
          </p:grpSp>
          <p:sp>
            <p:nvSpPr>
              <p:cNvPr id="158" name="Line 61"/>
              <p:cNvSpPr>
                <a:spLocks noChangeShapeType="1"/>
              </p:cNvSpPr>
              <p:nvPr/>
            </p:nvSpPr>
            <p:spPr bwMode="auto">
              <a:xfrm>
                <a:off x="1332" y="3037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  <p:sp>
            <p:nvSpPr>
              <p:cNvPr id="159" name="Line 62"/>
              <p:cNvSpPr>
                <a:spLocks noChangeShapeType="1"/>
              </p:cNvSpPr>
              <p:nvPr/>
            </p:nvSpPr>
            <p:spPr bwMode="auto">
              <a:xfrm>
                <a:off x="3199" y="3027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</p:grpSp>
        <p:sp>
          <p:nvSpPr>
            <p:cNvPr id="172" name="Double Bracket 171"/>
            <p:cNvSpPr/>
            <p:nvPr/>
          </p:nvSpPr>
          <p:spPr>
            <a:xfrm>
              <a:off x="1651319" y="5654994"/>
              <a:ext cx="4837112" cy="627696"/>
            </a:xfrm>
            <a:prstGeom prst="bracketPair">
              <a:avLst>
                <a:gd name="adj" fmla="val 8994"/>
              </a:avLst>
            </a:prstGeom>
            <a:ln w="28575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45"/>
            <p:cNvSpPr>
              <a:spLocks noChangeArrowheads="1"/>
            </p:cNvSpPr>
            <p:nvPr/>
          </p:nvSpPr>
          <p:spPr bwMode="auto">
            <a:xfrm>
              <a:off x="1058546" y="5578474"/>
              <a:ext cx="775335" cy="669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571500" indent="-571500"/>
              <a:r>
                <a:rPr lang="en-US" sz="4000" b="1" dirty="0">
                  <a:solidFill>
                    <a:srgbClr val="660066"/>
                  </a:solidFill>
                </a:rPr>
                <a:t>= P</a:t>
              </a:r>
              <a:endParaRPr lang="th-TH" sz="4000" b="1" dirty="0">
                <a:solidFill>
                  <a:srgbClr val="660066"/>
                </a:solidFill>
                <a:sym typeface="Symbol" pitchFamily="18" charset="2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5955030" y="5762943"/>
              <a:ext cx="533400" cy="669926"/>
              <a:chOff x="3270250" y="5940743"/>
              <a:chExt cx="533400" cy="669926"/>
            </a:xfrm>
          </p:grpSpPr>
          <p:sp>
            <p:nvSpPr>
              <p:cNvPr id="174" name="Rectangle 49"/>
              <p:cNvSpPr>
                <a:spLocks noChangeArrowheads="1"/>
              </p:cNvSpPr>
              <p:nvPr/>
            </p:nvSpPr>
            <p:spPr bwMode="auto">
              <a:xfrm>
                <a:off x="3270250" y="5940743"/>
                <a:ext cx="533400" cy="6699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571500" indent="-571500" algn="ctr"/>
                <a:r>
                  <a:rPr lang="en-US" sz="4000" b="1" dirty="0">
                    <a:solidFill>
                      <a:srgbClr val="660066"/>
                    </a:solidFill>
                    <a:sym typeface="Symbol" pitchFamily="18" charset="2"/>
                  </a:rPr>
                  <a:t>n</a:t>
                </a:r>
                <a:endParaRPr lang="th-TH" sz="4000" b="1" dirty="0">
                  <a:solidFill>
                    <a:srgbClr val="660066"/>
                  </a:solidFill>
                  <a:sym typeface="Symbol" pitchFamily="18" charset="2"/>
                </a:endParaRPr>
              </a:p>
            </p:txBody>
          </p:sp>
          <p:sp>
            <p:nvSpPr>
              <p:cNvPr id="175" name="Line 50"/>
              <p:cNvSpPr>
                <a:spLocks noChangeShapeType="1"/>
              </p:cNvSpPr>
              <p:nvPr/>
            </p:nvSpPr>
            <p:spPr bwMode="auto">
              <a:xfrm>
                <a:off x="3414713" y="6179195"/>
                <a:ext cx="228600" cy="0"/>
              </a:xfrm>
              <a:prstGeom prst="line">
                <a:avLst/>
              </a:prstGeom>
              <a:noFill/>
              <a:ln w="1905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  <p:sp>
            <p:nvSpPr>
              <p:cNvPr id="176" name="Line 51"/>
              <p:cNvSpPr>
                <a:spLocks noChangeShapeType="1"/>
              </p:cNvSpPr>
              <p:nvPr/>
            </p:nvSpPr>
            <p:spPr bwMode="auto">
              <a:xfrm flipH="1">
                <a:off x="3342958" y="6189981"/>
                <a:ext cx="76200" cy="228600"/>
              </a:xfrm>
              <a:prstGeom prst="line">
                <a:avLst/>
              </a:prstGeom>
              <a:noFill/>
              <a:ln w="1905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  <p:sp>
            <p:nvSpPr>
              <p:cNvPr id="177" name="Line 52"/>
              <p:cNvSpPr>
                <a:spLocks noChangeShapeType="1"/>
              </p:cNvSpPr>
              <p:nvPr/>
            </p:nvSpPr>
            <p:spPr bwMode="auto">
              <a:xfrm>
                <a:off x="3289300" y="6348414"/>
                <a:ext cx="46038" cy="73152"/>
              </a:xfrm>
              <a:prstGeom prst="line">
                <a:avLst/>
              </a:prstGeom>
              <a:noFill/>
              <a:ln w="1905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27A3B-C0E1-478F-B82D-F25F58F7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8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7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31" grpId="0" animBg="1"/>
      <p:bldP spid="137232" grpId="0" animBg="1"/>
      <p:bldP spid="137253" grpId="0"/>
      <p:bldP spid="137254" grpId="0"/>
      <p:bldP spid="70" grpId="0"/>
      <p:bldP spid="71" grpId="0"/>
      <p:bldP spid="118" grpId="0"/>
      <p:bldP spid="126" grpId="0"/>
      <p:bldP spid="130" grpId="0"/>
      <p:bldP spid="131" grpId="0"/>
      <p:bldP spid="132" grpId="0"/>
      <p:bldP spid="13" grpId="0" animBg="1"/>
      <p:bldP spid="1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1" name="Freeform 15"/>
          <p:cNvSpPr>
            <a:spLocks/>
          </p:cNvSpPr>
          <p:nvPr/>
        </p:nvSpPr>
        <p:spPr bwMode="auto">
          <a:xfrm>
            <a:off x="4438650" y="1619250"/>
            <a:ext cx="1076325" cy="1638300"/>
          </a:xfrm>
          <a:custGeom>
            <a:avLst/>
            <a:gdLst>
              <a:gd name="T0" fmla="*/ 0 w 678"/>
              <a:gd name="T1" fmla="*/ 1638300 h 1032"/>
              <a:gd name="T2" fmla="*/ 0 w 678"/>
              <a:gd name="T3" fmla="*/ 0 h 1032"/>
              <a:gd name="T4" fmla="*/ 152400 w 678"/>
              <a:gd name="T5" fmla="*/ 57150 h 1032"/>
              <a:gd name="T6" fmla="*/ 333375 w 678"/>
              <a:gd name="T7" fmla="*/ 247650 h 1032"/>
              <a:gd name="T8" fmla="*/ 447675 w 678"/>
              <a:gd name="T9" fmla="*/ 457200 h 1032"/>
              <a:gd name="T10" fmla="*/ 581025 w 678"/>
              <a:gd name="T11" fmla="*/ 685800 h 1032"/>
              <a:gd name="T12" fmla="*/ 666750 w 678"/>
              <a:gd name="T13" fmla="*/ 857250 h 1032"/>
              <a:gd name="T14" fmla="*/ 752475 w 678"/>
              <a:gd name="T15" fmla="*/ 990600 h 1032"/>
              <a:gd name="T16" fmla="*/ 838200 w 678"/>
              <a:gd name="T17" fmla="*/ 1143000 h 1032"/>
              <a:gd name="T18" fmla="*/ 901700 w 678"/>
              <a:gd name="T19" fmla="*/ 1238250 h 1032"/>
              <a:gd name="T20" fmla="*/ 1027113 w 678"/>
              <a:gd name="T21" fmla="*/ 1352550 h 1032"/>
              <a:gd name="T22" fmla="*/ 1076325 w 678"/>
              <a:gd name="T23" fmla="*/ 1381125 h 1032"/>
              <a:gd name="T24" fmla="*/ 1076325 w 678"/>
              <a:gd name="T25" fmla="*/ 1638300 h 1032"/>
              <a:gd name="T26" fmla="*/ 0 w 678"/>
              <a:gd name="T27" fmla="*/ 1638300 h 103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78"/>
              <a:gd name="T43" fmla="*/ 0 h 1032"/>
              <a:gd name="T44" fmla="*/ 678 w 678"/>
              <a:gd name="T45" fmla="*/ 1032 h 103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78" h="1032">
                <a:moveTo>
                  <a:pt x="0" y="1032"/>
                </a:moveTo>
                <a:lnTo>
                  <a:pt x="0" y="0"/>
                </a:lnTo>
                <a:lnTo>
                  <a:pt x="96" y="36"/>
                </a:lnTo>
                <a:lnTo>
                  <a:pt x="210" y="156"/>
                </a:lnTo>
                <a:lnTo>
                  <a:pt x="282" y="288"/>
                </a:lnTo>
                <a:lnTo>
                  <a:pt x="366" y="432"/>
                </a:lnTo>
                <a:lnTo>
                  <a:pt x="420" y="540"/>
                </a:lnTo>
                <a:lnTo>
                  <a:pt x="474" y="624"/>
                </a:lnTo>
                <a:lnTo>
                  <a:pt x="528" y="720"/>
                </a:lnTo>
                <a:lnTo>
                  <a:pt x="568" y="780"/>
                </a:lnTo>
                <a:lnTo>
                  <a:pt x="647" y="852"/>
                </a:lnTo>
                <a:lnTo>
                  <a:pt x="678" y="870"/>
                </a:lnTo>
                <a:lnTo>
                  <a:pt x="67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137232" name="Freeform 16"/>
          <p:cNvSpPr>
            <a:spLocks/>
          </p:cNvSpPr>
          <p:nvPr/>
        </p:nvSpPr>
        <p:spPr bwMode="auto">
          <a:xfrm>
            <a:off x="3371850" y="1619250"/>
            <a:ext cx="1066800" cy="1657350"/>
          </a:xfrm>
          <a:custGeom>
            <a:avLst/>
            <a:gdLst>
              <a:gd name="T0" fmla="*/ 1066800 w 666"/>
              <a:gd name="T1" fmla="*/ 1657350 h 1044"/>
              <a:gd name="T2" fmla="*/ 1066800 w 666"/>
              <a:gd name="T3" fmla="*/ 0 h 1044"/>
              <a:gd name="T4" fmla="*/ 922638 w 666"/>
              <a:gd name="T5" fmla="*/ 95250 h 1044"/>
              <a:gd name="T6" fmla="*/ 759254 w 666"/>
              <a:gd name="T7" fmla="*/ 285750 h 1044"/>
              <a:gd name="T8" fmla="*/ 682368 w 666"/>
              <a:gd name="T9" fmla="*/ 514350 h 1044"/>
              <a:gd name="T10" fmla="*/ 528595 w 666"/>
              <a:gd name="T11" fmla="*/ 742950 h 1044"/>
              <a:gd name="T12" fmla="*/ 451708 w 666"/>
              <a:gd name="T13" fmla="*/ 895350 h 1044"/>
              <a:gd name="T14" fmla="*/ 336378 w 666"/>
              <a:gd name="T15" fmla="*/ 1047750 h 1044"/>
              <a:gd name="T16" fmla="*/ 221049 w 666"/>
              <a:gd name="T17" fmla="*/ 1200150 h 1044"/>
              <a:gd name="T18" fmla="*/ 172995 w 666"/>
              <a:gd name="T19" fmla="*/ 1257300 h 1044"/>
              <a:gd name="T20" fmla="*/ 48054 w 666"/>
              <a:gd name="T21" fmla="*/ 1371600 h 1044"/>
              <a:gd name="T22" fmla="*/ 0 w 666"/>
              <a:gd name="T23" fmla="*/ 1400175 h 1044"/>
              <a:gd name="T24" fmla="*/ 0 w 666"/>
              <a:gd name="T25" fmla="*/ 1657350 h 1044"/>
              <a:gd name="T26" fmla="*/ 1066800 w 666"/>
              <a:gd name="T27" fmla="*/ 1657350 h 104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66"/>
              <a:gd name="T43" fmla="*/ 0 h 1044"/>
              <a:gd name="T44" fmla="*/ 666 w 666"/>
              <a:gd name="T45" fmla="*/ 1044 h 104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66" h="1044">
                <a:moveTo>
                  <a:pt x="666" y="1044"/>
                </a:moveTo>
                <a:lnTo>
                  <a:pt x="666" y="0"/>
                </a:lnTo>
                <a:lnTo>
                  <a:pt x="576" y="60"/>
                </a:lnTo>
                <a:lnTo>
                  <a:pt x="474" y="180"/>
                </a:lnTo>
                <a:lnTo>
                  <a:pt x="426" y="324"/>
                </a:lnTo>
                <a:lnTo>
                  <a:pt x="330" y="468"/>
                </a:lnTo>
                <a:lnTo>
                  <a:pt x="282" y="564"/>
                </a:lnTo>
                <a:lnTo>
                  <a:pt x="210" y="660"/>
                </a:lnTo>
                <a:lnTo>
                  <a:pt x="138" y="756"/>
                </a:lnTo>
                <a:lnTo>
                  <a:pt x="108" y="792"/>
                </a:lnTo>
                <a:lnTo>
                  <a:pt x="30" y="864"/>
                </a:lnTo>
                <a:lnTo>
                  <a:pt x="0" y="882"/>
                </a:lnTo>
                <a:lnTo>
                  <a:pt x="0" y="1044"/>
                </a:lnTo>
                <a:lnTo>
                  <a:pt x="666" y="1044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grpSp>
        <p:nvGrpSpPr>
          <p:cNvPr id="2" name="Group 128"/>
          <p:cNvGrpSpPr>
            <a:grpSpLocks/>
          </p:cNvGrpSpPr>
          <p:nvPr/>
        </p:nvGrpSpPr>
        <p:grpSpPr bwMode="auto">
          <a:xfrm>
            <a:off x="3352800" y="3051175"/>
            <a:ext cx="2162175" cy="273050"/>
            <a:chOff x="2112" y="1922"/>
            <a:chExt cx="1362" cy="172"/>
          </a:xfrm>
        </p:grpSpPr>
        <p:sp>
          <p:nvSpPr>
            <p:cNvPr id="18500" name="Line 27"/>
            <p:cNvSpPr>
              <a:spLocks noChangeShapeType="1"/>
            </p:cNvSpPr>
            <p:nvPr/>
          </p:nvSpPr>
          <p:spPr bwMode="auto">
            <a:xfrm>
              <a:off x="2112" y="1968"/>
              <a:ext cx="0" cy="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Line 28"/>
            <p:cNvSpPr>
              <a:spLocks noChangeShapeType="1"/>
            </p:cNvSpPr>
            <p:nvPr/>
          </p:nvSpPr>
          <p:spPr bwMode="auto">
            <a:xfrm>
              <a:off x="3474" y="1922"/>
              <a:ext cx="0" cy="14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7"/>
          <p:cNvGrpSpPr>
            <a:grpSpLocks/>
          </p:cNvGrpSpPr>
          <p:nvPr/>
        </p:nvGrpSpPr>
        <p:grpSpPr bwMode="auto">
          <a:xfrm>
            <a:off x="3336925" y="2317750"/>
            <a:ext cx="2165350" cy="609600"/>
            <a:chOff x="2102" y="1460"/>
            <a:chExt cx="1364" cy="384"/>
          </a:xfrm>
        </p:grpSpPr>
        <p:sp>
          <p:nvSpPr>
            <p:cNvPr id="18495" name="Text Box 21"/>
            <p:cNvSpPr txBox="1">
              <a:spLocks noChangeArrowheads="1"/>
            </p:cNvSpPr>
            <p:nvPr/>
          </p:nvSpPr>
          <p:spPr bwMode="auto">
            <a:xfrm>
              <a:off x="2406" y="1460"/>
              <a:ext cx="77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400" b="1" dirty="0"/>
                <a:t>95%</a:t>
              </a:r>
            </a:p>
          </p:txBody>
        </p:sp>
        <p:sp>
          <p:nvSpPr>
            <p:cNvPr id="18496" name="Line 29"/>
            <p:cNvSpPr>
              <a:spLocks noChangeShapeType="1"/>
            </p:cNvSpPr>
            <p:nvPr/>
          </p:nvSpPr>
          <p:spPr bwMode="auto">
            <a:xfrm>
              <a:off x="2112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30"/>
            <p:cNvSpPr>
              <a:spLocks noChangeShapeType="1"/>
            </p:cNvSpPr>
            <p:nvPr/>
          </p:nvSpPr>
          <p:spPr bwMode="auto">
            <a:xfrm>
              <a:off x="3464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35"/>
            <p:cNvSpPr>
              <a:spLocks noChangeShapeType="1"/>
            </p:cNvSpPr>
            <p:nvPr/>
          </p:nvSpPr>
          <p:spPr bwMode="auto">
            <a:xfrm flipH="1">
              <a:off x="2102" y="1678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Line 36"/>
            <p:cNvSpPr>
              <a:spLocks noChangeShapeType="1"/>
            </p:cNvSpPr>
            <p:nvPr/>
          </p:nvSpPr>
          <p:spPr bwMode="auto">
            <a:xfrm>
              <a:off x="2986" y="168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3003549" y="3159125"/>
            <a:ext cx="98171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 dirty="0"/>
              <a:t>– t</a:t>
            </a:r>
            <a:r>
              <a:rPr lang="en-US" sz="3200" b="1" baseline="-25000" dirty="0"/>
              <a:t>0.025</a:t>
            </a:r>
            <a:endParaRPr lang="th-TH" sz="3200" b="1" baseline="-25000" dirty="0"/>
          </a:p>
        </p:txBody>
      </p:sp>
      <p:grpSp>
        <p:nvGrpSpPr>
          <p:cNvPr id="4" name="Group 126"/>
          <p:cNvGrpSpPr>
            <a:grpSpLocks/>
          </p:cNvGrpSpPr>
          <p:nvPr/>
        </p:nvGrpSpPr>
        <p:grpSpPr bwMode="auto">
          <a:xfrm>
            <a:off x="2819400" y="1600200"/>
            <a:ext cx="3289300" cy="2141539"/>
            <a:chOff x="1776" y="1008"/>
            <a:chExt cx="2072" cy="1349"/>
          </a:xfrm>
        </p:grpSpPr>
        <p:sp>
          <p:nvSpPr>
            <p:cNvPr id="18490" name="Line 17"/>
            <p:cNvSpPr>
              <a:spLocks noChangeShapeType="1"/>
            </p:cNvSpPr>
            <p:nvPr/>
          </p:nvSpPr>
          <p:spPr bwMode="auto">
            <a:xfrm>
              <a:off x="2796" y="1008"/>
              <a:ext cx="0" cy="105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Freeform 18"/>
            <p:cNvSpPr>
              <a:spLocks/>
            </p:cNvSpPr>
            <p:nvPr/>
          </p:nvSpPr>
          <p:spPr bwMode="auto">
            <a:xfrm>
              <a:off x="2818" y="1028"/>
              <a:ext cx="1030" cy="991"/>
            </a:xfrm>
            <a:custGeom>
              <a:avLst/>
              <a:gdLst>
                <a:gd name="T0" fmla="*/ 1029 w 1030"/>
                <a:gd name="T1" fmla="*/ 990 h 991"/>
                <a:gd name="T2" fmla="*/ 921 w 1030"/>
                <a:gd name="T3" fmla="*/ 980 h 991"/>
                <a:gd name="T4" fmla="*/ 866 w 1030"/>
                <a:gd name="T5" fmla="*/ 967 h 991"/>
                <a:gd name="T6" fmla="*/ 813 w 1030"/>
                <a:gd name="T7" fmla="*/ 952 h 991"/>
                <a:gd name="T8" fmla="*/ 758 w 1030"/>
                <a:gd name="T9" fmla="*/ 929 h 991"/>
                <a:gd name="T10" fmla="*/ 703 w 1030"/>
                <a:gd name="T11" fmla="*/ 897 h 991"/>
                <a:gd name="T12" fmla="*/ 651 w 1030"/>
                <a:gd name="T13" fmla="*/ 857 h 991"/>
                <a:gd name="T14" fmla="*/ 541 w 1030"/>
                <a:gd name="T15" fmla="*/ 743 h 991"/>
                <a:gd name="T16" fmla="*/ 433 w 1030"/>
                <a:gd name="T17" fmla="*/ 581 h 991"/>
                <a:gd name="T18" fmla="*/ 325 w 1030"/>
                <a:gd name="T19" fmla="*/ 386 h 991"/>
                <a:gd name="T20" fmla="*/ 270 w 1030"/>
                <a:gd name="T21" fmla="*/ 287 h 991"/>
                <a:gd name="T22" fmla="*/ 215 w 1030"/>
                <a:gd name="T23" fmla="*/ 196 h 991"/>
                <a:gd name="T24" fmla="*/ 163 w 1030"/>
                <a:gd name="T25" fmla="*/ 116 h 991"/>
                <a:gd name="T26" fmla="*/ 108 w 1030"/>
                <a:gd name="T27" fmla="*/ 53 h 991"/>
                <a:gd name="T28" fmla="*/ 53 w 1030"/>
                <a:gd name="T29" fmla="*/ 13 h 991"/>
                <a:gd name="T30" fmla="*/ 0 w 1030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0"/>
                <a:gd name="T49" fmla="*/ 0 h 991"/>
                <a:gd name="T50" fmla="*/ 1030 w 1030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0" h="991">
                  <a:moveTo>
                    <a:pt x="1029" y="990"/>
                  </a:moveTo>
                  <a:lnTo>
                    <a:pt x="921" y="980"/>
                  </a:lnTo>
                  <a:lnTo>
                    <a:pt x="866" y="967"/>
                  </a:lnTo>
                  <a:lnTo>
                    <a:pt x="813" y="952"/>
                  </a:lnTo>
                  <a:lnTo>
                    <a:pt x="758" y="929"/>
                  </a:lnTo>
                  <a:lnTo>
                    <a:pt x="703" y="897"/>
                  </a:lnTo>
                  <a:lnTo>
                    <a:pt x="651" y="857"/>
                  </a:lnTo>
                  <a:lnTo>
                    <a:pt x="541" y="743"/>
                  </a:lnTo>
                  <a:lnTo>
                    <a:pt x="433" y="581"/>
                  </a:lnTo>
                  <a:lnTo>
                    <a:pt x="325" y="386"/>
                  </a:lnTo>
                  <a:lnTo>
                    <a:pt x="270" y="287"/>
                  </a:lnTo>
                  <a:lnTo>
                    <a:pt x="215" y="196"/>
                  </a:lnTo>
                  <a:lnTo>
                    <a:pt x="163" y="116"/>
                  </a:lnTo>
                  <a:lnTo>
                    <a:pt x="108" y="53"/>
                  </a:lnTo>
                  <a:lnTo>
                    <a:pt x="53" y="13"/>
                  </a:lnTo>
                  <a:lnTo>
                    <a:pt x="0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2" name="Freeform 19"/>
            <p:cNvSpPr>
              <a:spLocks/>
            </p:cNvSpPr>
            <p:nvPr/>
          </p:nvSpPr>
          <p:spPr bwMode="auto">
            <a:xfrm>
              <a:off x="1778" y="1028"/>
              <a:ext cx="1041" cy="991"/>
            </a:xfrm>
            <a:custGeom>
              <a:avLst/>
              <a:gdLst>
                <a:gd name="T0" fmla="*/ 0 w 1032"/>
                <a:gd name="T1" fmla="*/ 990 h 991"/>
                <a:gd name="T2" fmla="*/ 109 w 1032"/>
                <a:gd name="T3" fmla="*/ 980 h 991"/>
                <a:gd name="T4" fmla="*/ 164 w 1032"/>
                <a:gd name="T5" fmla="*/ 967 h 991"/>
                <a:gd name="T6" fmla="*/ 220 w 1032"/>
                <a:gd name="T7" fmla="*/ 952 h 991"/>
                <a:gd name="T8" fmla="*/ 273 w 1032"/>
                <a:gd name="T9" fmla="*/ 929 h 991"/>
                <a:gd name="T10" fmla="*/ 329 w 1032"/>
                <a:gd name="T11" fmla="*/ 897 h 991"/>
                <a:gd name="T12" fmla="*/ 384 w 1032"/>
                <a:gd name="T13" fmla="*/ 857 h 991"/>
                <a:gd name="T14" fmla="*/ 492 w 1032"/>
                <a:gd name="T15" fmla="*/ 743 h 991"/>
                <a:gd name="T16" fmla="*/ 601 w 1032"/>
                <a:gd name="T17" fmla="*/ 581 h 991"/>
                <a:gd name="T18" fmla="*/ 712 w 1032"/>
                <a:gd name="T19" fmla="*/ 386 h 991"/>
                <a:gd name="T20" fmla="*/ 766 w 1032"/>
                <a:gd name="T21" fmla="*/ 287 h 991"/>
                <a:gd name="T22" fmla="*/ 821 w 1032"/>
                <a:gd name="T23" fmla="*/ 196 h 991"/>
                <a:gd name="T24" fmla="*/ 876 w 1032"/>
                <a:gd name="T25" fmla="*/ 116 h 991"/>
                <a:gd name="T26" fmla="*/ 929 w 1032"/>
                <a:gd name="T27" fmla="*/ 53 h 991"/>
                <a:gd name="T28" fmla="*/ 985 w 1032"/>
                <a:gd name="T29" fmla="*/ 13 h 991"/>
                <a:gd name="T30" fmla="*/ 1040 w 1032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2"/>
                <a:gd name="T49" fmla="*/ 0 h 991"/>
                <a:gd name="T50" fmla="*/ 1032 w 1032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2" h="991">
                  <a:moveTo>
                    <a:pt x="0" y="990"/>
                  </a:moveTo>
                  <a:lnTo>
                    <a:pt x="108" y="980"/>
                  </a:lnTo>
                  <a:lnTo>
                    <a:pt x="163" y="967"/>
                  </a:lnTo>
                  <a:lnTo>
                    <a:pt x="218" y="952"/>
                  </a:lnTo>
                  <a:lnTo>
                    <a:pt x="271" y="929"/>
                  </a:lnTo>
                  <a:lnTo>
                    <a:pt x="326" y="897"/>
                  </a:lnTo>
                  <a:lnTo>
                    <a:pt x="381" y="857"/>
                  </a:lnTo>
                  <a:lnTo>
                    <a:pt x="488" y="743"/>
                  </a:lnTo>
                  <a:lnTo>
                    <a:pt x="596" y="581"/>
                  </a:lnTo>
                  <a:lnTo>
                    <a:pt x="706" y="386"/>
                  </a:lnTo>
                  <a:lnTo>
                    <a:pt x="759" y="287"/>
                  </a:lnTo>
                  <a:lnTo>
                    <a:pt x="814" y="196"/>
                  </a:lnTo>
                  <a:lnTo>
                    <a:pt x="868" y="116"/>
                  </a:lnTo>
                  <a:lnTo>
                    <a:pt x="921" y="53"/>
                  </a:lnTo>
                  <a:lnTo>
                    <a:pt x="976" y="13"/>
                  </a:lnTo>
                  <a:lnTo>
                    <a:pt x="1031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3" name="Freeform 20"/>
            <p:cNvSpPr>
              <a:spLocks/>
            </p:cNvSpPr>
            <p:nvPr/>
          </p:nvSpPr>
          <p:spPr bwMode="auto">
            <a:xfrm>
              <a:off x="1776" y="2071"/>
              <a:ext cx="2072" cy="5"/>
            </a:xfrm>
            <a:custGeom>
              <a:avLst/>
              <a:gdLst>
                <a:gd name="T0" fmla="*/ 0 w 2072"/>
                <a:gd name="T1" fmla="*/ 5 h 5"/>
                <a:gd name="T2" fmla="*/ 12 w 2072"/>
                <a:gd name="T3" fmla="*/ 0 h 5"/>
                <a:gd name="T4" fmla="*/ 2072 w 2072"/>
                <a:gd name="T5" fmla="*/ 0 h 5"/>
                <a:gd name="T6" fmla="*/ 0 60000 65536"/>
                <a:gd name="T7" fmla="*/ 0 60000 65536"/>
                <a:gd name="T8" fmla="*/ 0 60000 65536"/>
                <a:gd name="T9" fmla="*/ 0 w 2072"/>
                <a:gd name="T10" fmla="*/ 0 h 5"/>
                <a:gd name="T11" fmla="*/ 2072 w 2072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2" h="5">
                  <a:moveTo>
                    <a:pt x="0" y="5"/>
                  </a:moveTo>
                  <a:lnTo>
                    <a:pt x="12" y="0"/>
                  </a:lnTo>
                  <a:lnTo>
                    <a:pt x="2072" y="0"/>
                  </a:lnTo>
                </a:path>
              </a:pathLst>
            </a:custGeom>
            <a:noFill/>
            <a:ln w="508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4" name="Text Box 40"/>
            <p:cNvSpPr txBox="1">
              <a:spLocks noChangeArrowheads="1"/>
            </p:cNvSpPr>
            <p:nvPr/>
          </p:nvSpPr>
          <p:spPr bwMode="auto">
            <a:xfrm>
              <a:off x="2633" y="1989"/>
              <a:ext cx="33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200" b="1" dirty="0">
                  <a:sym typeface="Symbol" pitchFamily="18" charset="2"/>
                </a:rPr>
                <a:t>0</a:t>
              </a:r>
              <a:endParaRPr lang="th-TH" sz="3200" b="1" dirty="0">
                <a:sym typeface="Symbol" pitchFamily="18" charset="2"/>
              </a:endParaRPr>
            </a:p>
          </p:txBody>
        </p:sp>
      </p:grpSp>
      <p:sp>
        <p:nvSpPr>
          <p:cNvPr id="70" name="Rectangle 2"/>
          <p:cNvSpPr>
            <a:spLocks noChangeArrowheads="1"/>
          </p:cNvSpPr>
          <p:nvPr/>
        </p:nvSpPr>
        <p:spPr bwMode="auto">
          <a:xfrm>
            <a:off x="228600" y="118110"/>
            <a:ext cx="868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kumimoji="1" lang="th-TH" sz="4800" b="1" dirty="0">
                <a:solidFill>
                  <a:srgbClr val="0000FF"/>
                </a:solidFill>
              </a:rPr>
              <a:t>การประมาณช่วงความเชื่อมั่นของค่าเฉลี่ยประชากร</a:t>
            </a:r>
            <a:endParaRPr kumimoji="1" lang="th-TH" sz="4800" dirty="0">
              <a:solidFill>
                <a:srgbClr val="0000FF"/>
              </a:solidFill>
            </a:endParaRPr>
          </a:p>
        </p:txBody>
      </p:sp>
      <p:sp>
        <p:nvSpPr>
          <p:cNvPr id="71" name="Rectangle 43"/>
          <p:cNvSpPr>
            <a:spLocks noChangeArrowheads="1"/>
          </p:cNvSpPr>
          <p:nvPr/>
        </p:nvSpPr>
        <p:spPr bwMode="auto">
          <a:xfrm>
            <a:off x="228600" y="3581400"/>
            <a:ext cx="538734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th-TH" sz="4000" b="1" dirty="0">
                <a:solidFill>
                  <a:srgbClr val="A400A4"/>
                </a:solidFill>
              </a:rPr>
              <a:t>ช่วงความเชื่อมั่น </a:t>
            </a:r>
            <a:r>
              <a:rPr lang="en-US" sz="4000" b="1" dirty="0">
                <a:solidFill>
                  <a:srgbClr val="A400A4"/>
                </a:solidFill>
              </a:rPr>
              <a:t>95</a:t>
            </a:r>
            <a:r>
              <a:rPr lang="en-US" sz="4000" b="1" dirty="0">
                <a:solidFill>
                  <a:srgbClr val="A400A4"/>
                </a:solidFill>
                <a:sym typeface="Symbol" pitchFamily="18" charset="2"/>
              </a:rPr>
              <a:t>% </a:t>
            </a:r>
            <a:r>
              <a:rPr lang="th-TH" sz="4000" b="1" dirty="0">
                <a:solidFill>
                  <a:srgbClr val="A400A4"/>
                </a:solidFill>
                <a:sym typeface="Symbol" pitchFamily="18" charset="2"/>
              </a:rPr>
              <a:t>ของ </a:t>
            </a:r>
            <a:r>
              <a:rPr lang="th-TH" sz="3200" b="1" dirty="0">
                <a:solidFill>
                  <a:srgbClr val="A400A4"/>
                </a:solidFill>
                <a:sym typeface="Symbol" pitchFamily="18" charset="2"/>
              </a:rPr>
              <a:t></a:t>
            </a:r>
            <a:r>
              <a:rPr lang="th-TH" sz="4000" b="1" dirty="0">
                <a:solidFill>
                  <a:srgbClr val="A400A4"/>
                </a:solidFill>
                <a:sym typeface="Symbol" pitchFamily="18" charset="2"/>
              </a:rPr>
              <a:t> </a:t>
            </a:r>
            <a:r>
              <a:rPr lang="en-US" sz="4000" b="1" dirty="0">
                <a:solidFill>
                  <a:srgbClr val="A400A4"/>
                </a:solidFill>
                <a:sym typeface="Symbol" pitchFamily="18" charset="2"/>
              </a:rPr>
              <a:t> </a:t>
            </a:r>
            <a:r>
              <a:rPr lang="th-TH" sz="4000" b="1" dirty="0">
                <a:solidFill>
                  <a:srgbClr val="A400A4"/>
                </a:solidFill>
                <a:sym typeface="Symbol" pitchFamily="18" charset="2"/>
              </a:rPr>
              <a:t>คือ</a:t>
            </a:r>
          </a:p>
        </p:txBody>
      </p:sp>
      <p:sp>
        <p:nvSpPr>
          <p:cNvPr id="118" name="Text Box 11"/>
          <p:cNvSpPr txBox="1">
            <a:spLocks noChangeArrowheads="1"/>
          </p:cNvSpPr>
          <p:nvPr/>
        </p:nvSpPr>
        <p:spPr bwMode="auto">
          <a:xfrm>
            <a:off x="228600" y="704850"/>
            <a:ext cx="8763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000" b="1" dirty="0">
                <a:solidFill>
                  <a:srgbClr val="006600"/>
                </a:solidFill>
              </a:rPr>
              <a:t>X</a:t>
            </a:r>
            <a:r>
              <a:rPr lang="en-US" sz="4000" b="1" baseline="-25000" dirty="0">
                <a:solidFill>
                  <a:srgbClr val="006600"/>
                </a:solidFill>
              </a:rPr>
              <a:t>1</a:t>
            </a:r>
            <a:r>
              <a:rPr lang="en-US" sz="4000" b="1" dirty="0">
                <a:solidFill>
                  <a:srgbClr val="006600"/>
                </a:solidFill>
              </a:rPr>
              <a:t> , X</a:t>
            </a:r>
            <a:r>
              <a:rPr lang="en-US" sz="4000" b="1" baseline="-25000" dirty="0">
                <a:solidFill>
                  <a:srgbClr val="006600"/>
                </a:solidFill>
              </a:rPr>
              <a:t>2</a:t>
            </a:r>
            <a:r>
              <a:rPr lang="en-US" sz="4000" b="1" dirty="0">
                <a:solidFill>
                  <a:srgbClr val="006600"/>
                </a:solidFill>
              </a:rPr>
              <a:t> , … , </a:t>
            </a:r>
            <a:r>
              <a:rPr lang="en-US" sz="4000" b="1" dirty="0" err="1">
                <a:solidFill>
                  <a:srgbClr val="006600"/>
                </a:solidFill>
              </a:rPr>
              <a:t>X</a:t>
            </a:r>
            <a:r>
              <a:rPr lang="en-US" sz="4000" b="1" baseline="-25000" dirty="0" err="1">
                <a:solidFill>
                  <a:srgbClr val="006600"/>
                </a:solidFill>
              </a:rPr>
              <a:t>n</a:t>
            </a:r>
            <a:r>
              <a:rPr lang="en-US" sz="4000" b="1" dirty="0">
                <a:solidFill>
                  <a:srgbClr val="006600"/>
                </a:solidFill>
              </a:rPr>
              <a:t> </a:t>
            </a:r>
            <a:r>
              <a:rPr lang="th-TH" sz="4000" b="1" dirty="0">
                <a:solidFill>
                  <a:srgbClr val="006600"/>
                </a:solidFill>
              </a:rPr>
              <a:t>เป็นตัวอย่างสุ่มจากประชากรปกติ </a:t>
            </a:r>
            <a:r>
              <a:rPr lang="en-US" sz="4000" b="1" dirty="0">
                <a:solidFill>
                  <a:srgbClr val="006600"/>
                </a:solidFill>
              </a:rPr>
              <a:t>: N(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</a:t>
            </a:r>
            <a:r>
              <a:rPr lang="en-US" sz="4000" b="1" dirty="0">
                <a:solidFill>
                  <a:srgbClr val="006600"/>
                </a:solidFill>
                <a:sym typeface="Symbol"/>
              </a:rPr>
              <a:t> , 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</a:t>
            </a:r>
            <a:r>
              <a:rPr lang="en-US" sz="4000" b="1" baseline="30000" dirty="0">
                <a:solidFill>
                  <a:srgbClr val="006600"/>
                </a:solidFill>
                <a:sym typeface="Symbol"/>
              </a:rPr>
              <a:t>2</a:t>
            </a:r>
            <a:r>
              <a:rPr lang="en-US" sz="4000" b="1" dirty="0">
                <a:solidFill>
                  <a:srgbClr val="006600"/>
                </a:solidFill>
                <a:sym typeface="Symbol"/>
              </a:rPr>
              <a:t>)</a:t>
            </a:r>
            <a:endParaRPr lang="th-TH" sz="4000" b="1" dirty="0">
              <a:solidFill>
                <a:srgbClr val="006600"/>
              </a:solidFill>
            </a:endParaRPr>
          </a:p>
        </p:txBody>
      </p:sp>
      <p:sp>
        <p:nvSpPr>
          <p:cNvPr id="131" name="Rectangle 43"/>
          <p:cNvSpPr>
            <a:spLocks noChangeArrowheads="1"/>
          </p:cNvSpPr>
          <p:nvPr/>
        </p:nvSpPr>
        <p:spPr bwMode="auto">
          <a:xfrm>
            <a:off x="1140778" y="267652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2" name="Rectangle 43"/>
          <p:cNvSpPr>
            <a:spLocks noChangeArrowheads="1"/>
          </p:cNvSpPr>
          <p:nvPr/>
        </p:nvSpPr>
        <p:spPr bwMode="auto">
          <a:xfrm>
            <a:off x="6067266" y="267144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667000" y="2966408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 flipH="1">
            <a:off x="5615940" y="2983230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289312" y="1758040"/>
            <a:ext cx="3581400" cy="1069976"/>
            <a:chOff x="295911" y="1535430"/>
            <a:chExt cx="3581400" cy="1069976"/>
          </a:xfrm>
        </p:grpSpPr>
        <p:grpSp>
          <p:nvGrpSpPr>
            <p:cNvPr id="12" name="Group 11"/>
            <p:cNvGrpSpPr/>
            <p:nvPr/>
          </p:nvGrpSpPr>
          <p:grpSpPr>
            <a:xfrm>
              <a:off x="295911" y="1535430"/>
              <a:ext cx="3581400" cy="1069976"/>
              <a:chOff x="228600" y="1295400"/>
              <a:chExt cx="3581400" cy="1069976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908049" y="1295400"/>
                <a:ext cx="1040449" cy="1069976"/>
                <a:chOff x="2098991" y="4419600"/>
                <a:chExt cx="1040449" cy="1069976"/>
              </a:xfrm>
            </p:grpSpPr>
            <p:grpSp>
              <p:nvGrpSpPr>
                <p:cNvPr id="10" name="Group 9"/>
                <p:cNvGrpSpPr/>
                <p:nvPr/>
              </p:nvGrpSpPr>
              <p:grpSpPr>
                <a:xfrm>
                  <a:off x="2100263" y="4419600"/>
                  <a:ext cx="1039177" cy="669926"/>
                  <a:chOff x="2100263" y="4419600"/>
                  <a:chExt cx="1039177" cy="669926"/>
                </a:xfrm>
              </p:grpSpPr>
              <p:sp>
                <p:nvSpPr>
                  <p:cNvPr id="73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2100263" y="4419600"/>
                    <a:ext cx="1039177" cy="66992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571500" indent="-571500"/>
                    <a:r>
                      <a:rPr lang="en-US" sz="4000" b="1" dirty="0">
                        <a:solidFill>
                          <a:srgbClr val="660066"/>
                        </a:solidFill>
                      </a:rPr>
                      <a:t>X – </a:t>
                    </a:r>
                    <a:r>
                      <a:rPr lang="th-TH" sz="3200" b="1" dirty="0">
                        <a:solidFill>
                          <a:srgbClr val="660066"/>
                        </a:solidFill>
                        <a:sym typeface="Symbol" pitchFamily="18" charset="2"/>
                      </a:rPr>
                      <a:t></a:t>
                    </a:r>
                    <a:endParaRPr lang="th-TH" sz="4000" b="1" dirty="0">
                      <a:solidFill>
                        <a:srgbClr val="660066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76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2205990" y="4604068"/>
                    <a:ext cx="182880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660066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4000"/>
                  </a:p>
                </p:txBody>
              </p:sp>
            </p:grpSp>
            <p:grpSp>
              <p:nvGrpSpPr>
                <p:cNvPr id="9" name="Group 8"/>
                <p:cNvGrpSpPr/>
                <p:nvPr/>
              </p:nvGrpSpPr>
              <p:grpSpPr>
                <a:xfrm>
                  <a:off x="2098991" y="4816474"/>
                  <a:ext cx="963930" cy="673102"/>
                  <a:chOff x="2167571" y="4816474"/>
                  <a:chExt cx="963930" cy="673102"/>
                </a:xfrm>
              </p:grpSpPr>
              <p:sp>
                <p:nvSpPr>
                  <p:cNvPr id="84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2167571" y="4816474"/>
                    <a:ext cx="533400" cy="66992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571500" indent="-571500" algn="ctr"/>
                    <a:r>
                      <a:rPr lang="en-US" sz="4000" b="1" dirty="0">
                        <a:solidFill>
                          <a:srgbClr val="660066"/>
                        </a:solidFill>
                        <a:sym typeface="Symbol" pitchFamily="18" charset="2"/>
                      </a:rPr>
                      <a:t>S</a:t>
                    </a:r>
                    <a:endParaRPr lang="th-TH" sz="4000" b="1" dirty="0">
                      <a:solidFill>
                        <a:srgbClr val="660066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86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2598101" y="4819650"/>
                    <a:ext cx="533400" cy="66992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571500" indent="-571500" algn="ctr"/>
                    <a:r>
                      <a:rPr lang="en-US" sz="4000" b="1" dirty="0">
                        <a:solidFill>
                          <a:srgbClr val="660066"/>
                        </a:solidFill>
                        <a:sym typeface="Symbol" pitchFamily="18" charset="2"/>
                      </a:rPr>
                      <a:t>n</a:t>
                    </a:r>
                    <a:endParaRPr lang="th-TH" sz="4000" b="1" dirty="0">
                      <a:solidFill>
                        <a:srgbClr val="660066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122" name="Line 4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33650" y="5102226"/>
                    <a:ext cx="104775" cy="214948"/>
                  </a:xfrm>
                  <a:prstGeom prst="line">
                    <a:avLst/>
                  </a:prstGeom>
                  <a:noFill/>
                  <a:ln w="19050">
                    <a:solidFill>
                      <a:srgbClr val="660066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4000"/>
                  </a:p>
                </p:txBody>
              </p:sp>
            </p:grpSp>
            <p:sp>
              <p:nvSpPr>
                <p:cNvPr id="85" name="Line 48"/>
                <p:cNvSpPr>
                  <a:spLocks noChangeShapeType="1"/>
                </p:cNvSpPr>
                <p:nvPr/>
              </p:nvSpPr>
              <p:spPr bwMode="auto">
                <a:xfrm>
                  <a:off x="2164080" y="4979989"/>
                  <a:ext cx="914400" cy="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4000"/>
                </a:p>
              </p:txBody>
            </p:sp>
          </p:grpSp>
          <p:sp>
            <p:nvSpPr>
              <p:cNvPr id="127" name="Rectangle 43"/>
              <p:cNvSpPr>
                <a:spLocks noChangeArrowheads="1"/>
              </p:cNvSpPr>
              <p:nvPr/>
            </p:nvSpPr>
            <p:spPr bwMode="auto">
              <a:xfrm>
                <a:off x="228600" y="1499235"/>
                <a:ext cx="877888" cy="669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571500" indent="-571500"/>
                <a:r>
                  <a:rPr lang="en-US" sz="4000" b="1" dirty="0">
                    <a:solidFill>
                      <a:srgbClr val="660066"/>
                    </a:solidFill>
                  </a:rPr>
                  <a:t>t =</a:t>
                </a:r>
                <a:endParaRPr lang="th-TH" sz="4000" b="1" dirty="0">
                  <a:solidFill>
                    <a:srgbClr val="660066"/>
                  </a:solidFill>
                  <a:sym typeface="Symbol" pitchFamily="18" charset="2"/>
                </a:endParaRPr>
              </a:p>
            </p:txBody>
          </p:sp>
          <p:sp>
            <p:nvSpPr>
              <p:cNvPr id="128" name="Rectangle 43"/>
              <p:cNvSpPr>
                <a:spLocks noChangeArrowheads="1"/>
              </p:cNvSpPr>
              <p:nvPr/>
            </p:nvSpPr>
            <p:spPr bwMode="auto">
              <a:xfrm>
                <a:off x="2017711" y="1501140"/>
                <a:ext cx="1792289" cy="669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571500" indent="-571500"/>
                <a:r>
                  <a:rPr lang="en-US" sz="3200" b="1" dirty="0">
                    <a:solidFill>
                      <a:srgbClr val="660066"/>
                    </a:solidFill>
                    <a:sym typeface="Symbol"/>
                  </a:rPr>
                  <a:t></a:t>
                </a:r>
                <a:r>
                  <a:rPr lang="en-US" sz="4000" b="1" dirty="0">
                    <a:solidFill>
                      <a:srgbClr val="660066"/>
                    </a:solidFill>
                  </a:rPr>
                  <a:t>  t(n – 1</a:t>
                </a:r>
                <a:r>
                  <a:rPr lang="en-US" sz="4000" b="1" dirty="0">
                    <a:solidFill>
                      <a:srgbClr val="660066"/>
                    </a:solidFill>
                    <a:sym typeface="Symbol" pitchFamily="18" charset="2"/>
                  </a:rPr>
                  <a:t>)</a:t>
                </a:r>
                <a:endParaRPr lang="th-TH" sz="4000" b="1" dirty="0">
                  <a:solidFill>
                    <a:srgbClr val="660066"/>
                  </a:solidFill>
                  <a:sym typeface="Symbol" pitchFamily="18" charset="2"/>
                </a:endParaRPr>
              </a:p>
              <a:p>
                <a:pPr marL="571500" indent="-571500"/>
                <a:endParaRPr lang="th-TH" sz="4000" b="1" baseline="30000" dirty="0">
                  <a:solidFill>
                    <a:srgbClr val="660066"/>
                  </a:solidFill>
                  <a:sym typeface="Symbol" pitchFamily="18" charset="2"/>
                </a:endParaRPr>
              </a:p>
              <a:p>
                <a:pPr marL="571500" indent="-571500"/>
                <a:r>
                  <a:rPr lang="en-US" sz="4000" b="1" dirty="0">
                    <a:solidFill>
                      <a:srgbClr val="660066"/>
                    </a:solidFill>
                    <a:sym typeface="Symbol" pitchFamily="18" charset="2"/>
                  </a:rPr>
                  <a:t> </a:t>
                </a:r>
                <a:endParaRPr lang="th-TH" sz="4000" b="1" dirty="0">
                  <a:solidFill>
                    <a:srgbClr val="660066"/>
                  </a:solidFill>
                  <a:sym typeface="Symbol" pitchFamily="18" charset="2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434784" y="2201608"/>
              <a:ext cx="353695" cy="232283"/>
              <a:chOff x="2922905" y="5585460"/>
              <a:chExt cx="353695" cy="232283"/>
            </a:xfrm>
          </p:grpSpPr>
          <p:sp>
            <p:nvSpPr>
              <p:cNvPr id="148" name="Line 50"/>
              <p:cNvSpPr>
                <a:spLocks noChangeShapeType="1"/>
              </p:cNvSpPr>
              <p:nvPr/>
            </p:nvSpPr>
            <p:spPr bwMode="auto">
              <a:xfrm>
                <a:off x="3048000" y="5589905"/>
                <a:ext cx="228600" cy="0"/>
              </a:xfrm>
              <a:prstGeom prst="line">
                <a:avLst/>
              </a:prstGeom>
              <a:noFill/>
              <a:ln w="1905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  <p:sp>
            <p:nvSpPr>
              <p:cNvPr id="149" name="Line 51"/>
              <p:cNvSpPr>
                <a:spLocks noChangeShapeType="1"/>
              </p:cNvSpPr>
              <p:nvPr/>
            </p:nvSpPr>
            <p:spPr bwMode="auto">
              <a:xfrm flipH="1">
                <a:off x="2976245" y="5585460"/>
                <a:ext cx="76200" cy="228600"/>
              </a:xfrm>
              <a:prstGeom prst="line">
                <a:avLst/>
              </a:prstGeom>
              <a:noFill/>
              <a:ln w="1905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  <p:sp>
            <p:nvSpPr>
              <p:cNvPr id="150" name="Line 52"/>
              <p:cNvSpPr>
                <a:spLocks noChangeShapeType="1"/>
              </p:cNvSpPr>
              <p:nvPr/>
            </p:nvSpPr>
            <p:spPr bwMode="auto">
              <a:xfrm>
                <a:off x="2922905" y="5708015"/>
                <a:ext cx="45720" cy="109728"/>
              </a:xfrm>
              <a:prstGeom prst="line">
                <a:avLst/>
              </a:prstGeom>
              <a:noFill/>
              <a:ln w="1905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/>
              </a:p>
            </p:txBody>
          </p:sp>
        </p:grpSp>
      </p:grpSp>
      <p:sp>
        <p:nvSpPr>
          <p:cNvPr id="156" name="Text Box 37"/>
          <p:cNvSpPr txBox="1">
            <a:spLocks noChangeArrowheads="1"/>
          </p:cNvSpPr>
          <p:nvPr/>
        </p:nvSpPr>
        <p:spPr bwMode="auto">
          <a:xfrm>
            <a:off x="5384799" y="3158490"/>
            <a:ext cx="98171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 dirty="0"/>
              <a:t>t</a:t>
            </a:r>
            <a:r>
              <a:rPr lang="en-US" sz="3200" b="1" baseline="-25000" dirty="0"/>
              <a:t>0.025</a:t>
            </a:r>
            <a:endParaRPr lang="th-TH" sz="3200" b="1" baseline="-25000" dirty="0"/>
          </a:p>
        </p:txBody>
      </p:sp>
      <p:sp>
        <p:nvSpPr>
          <p:cNvPr id="157" name="Rectangle 45"/>
          <p:cNvSpPr>
            <a:spLocks noChangeArrowheads="1"/>
          </p:cNvSpPr>
          <p:nvPr/>
        </p:nvSpPr>
        <p:spPr bwMode="auto">
          <a:xfrm>
            <a:off x="514350" y="4209740"/>
            <a:ext cx="6652466" cy="669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en-US" sz="4000" b="1" dirty="0">
                <a:solidFill>
                  <a:srgbClr val="A400A4"/>
                </a:solidFill>
              </a:rPr>
              <a:t>1 – </a:t>
            </a:r>
            <a:r>
              <a:rPr lang="en-US" sz="3200" b="1" dirty="0">
                <a:solidFill>
                  <a:srgbClr val="A400A4"/>
                </a:solidFill>
                <a:sym typeface="Symbol"/>
              </a:rPr>
              <a:t> </a:t>
            </a:r>
            <a:r>
              <a:rPr lang="en-US" sz="4000" b="1" dirty="0">
                <a:solidFill>
                  <a:srgbClr val="A400A4"/>
                </a:solidFill>
                <a:sym typeface="Symbol"/>
              </a:rPr>
              <a:t>=</a:t>
            </a:r>
            <a:r>
              <a:rPr lang="en-US" sz="4000" b="1" dirty="0">
                <a:solidFill>
                  <a:srgbClr val="A400A4"/>
                </a:solidFill>
              </a:rPr>
              <a:t> 0.95 = P(– t</a:t>
            </a:r>
            <a:r>
              <a:rPr lang="en-US" sz="4000" b="1" baseline="-25000" dirty="0">
                <a:solidFill>
                  <a:srgbClr val="A400A4"/>
                </a:solidFill>
              </a:rPr>
              <a:t>0.025,(n-1)</a:t>
            </a:r>
            <a:r>
              <a:rPr lang="en-US" sz="4000" b="1" dirty="0">
                <a:solidFill>
                  <a:srgbClr val="A400A4"/>
                </a:solidFill>
              </a:rPr>
              <a:t> </a:t>
            </a:r>
            <a:r>
              <a:rPr lang="en-US" sz="4000" b="1" u="sng" dirty="0">
                <a:solidFill>
                  <a:srgbClr val="A400A4"/>
                </a:solidFill>
              </a:rPr>
              <a:t>&lt;</a:t>
            </a:r>
            <a:r>
              <a:rPr lang="en-US" sz="4000" b="1" dirty="0">
                <a:solidFill>
                  <a:srgbClr val="A400A4"/>
                </a:solidFill>
              </a:rPr>
              <a:t>  </a:t>
            </a:r>
            <a:r>
              <a:rPr lang="en-US" sz="4000" b="1" dirty="0">
                <a:solidFill>
                  <a:srgbClr val="A400A4"/>
                </a:solidFill>
                <a:sym typeface="Symbol" pitchFamily="18" charset="2"/>
              </a:rPr>
              <a:t>t  </a:t>
            </a:r>
            <a:r>
              <a:rPr lang="en-US" sz="4000" b="1" u="sng" dirty="0">
                <a:solidFill>
                  <a:srgbClr val="A400A4"/>
                </a:solidFill>
                <a:sym typeface="Symbol" pitchFamily="18" charset="2"/>
              </a:rPr>
              <a:t>&lt;</a:t>
            </a:r>
            <a:r>
              <a:rPr lang="en-US" sz="4000" b="1" dirty="0">
                <a:solidFill>
                  <a:srgbClr val="A400A4"/>
                </a:solidFill>
                <a:sym typeface="Symbol" pitchFamily="18" charset="2"/>
              </a:rPr>
              <a:t>  </a:t>
            </a:r>
            <a:r>
              <a:rPr lang="en-US" sz="4000" b="1" dirty="0">
                <a:solidFill>
                  <a:srgbClr val="A400A4"/>
                </a:solidFill>
              </a:rPr>
              <a:t>t</a:t>
            </a:r>
            <a:r>
              <a:rPr lang="en-US" sz="4000" b="1" baseline="-25000" dirty="0">
                <a:solidFill>
                  <a:srgbClr val="A400A4"/>
                </a:solidFill>
              </a:rPr>
              <a:t>0.025,(n-1)</a:t>
            </a:r>
            <a:r>
              <a:rPr lang="en-US" sz="4000" b="1" dirty="0">
                <a:solidFill>
                  <a:srgbClr val="A400A4"/>
                </a:solidFill>
                <a:sym typeface="Symbol" pitchFamily="18" charset="2"/>
              </a:rPr>
              <a:t>)</a:t>
            </a:r>
            <a:endParaRPr lang="th-TH" sz="4000" b="1" dirty="0">
              <a:solidFill>
                <a:srgbClr val="A400A4"/>
              </a:solidFill>
              <a:sym typeface="Symbol" pitchFamily="18" charset="2"/>
            </a:endParaRPr>
          </a:p>
        </p:txBody>
      </p:sp>
      <p:grpSp>
        <p:nvGrpSpPr>
          <p:cNvPr id="158" name="Group 157"/>
          <p:cNvGrpSpPr/>
          <p:nvPr/>
        </p:nvGrpSpPr>
        <p:grpSpPr>
          <a:xfrm>
            <a:off x="2312352" y="4732654"/>
            <a:ext cx="4256088" cy="1058546"/>
            <a:chOff x="480060" y="4776789"/>
            <a:chExt cx="4256088" cy="1058546"/>
          </a:xfrm>
        </p:grpSpPr>
        <p:sp>
          <p:nvSpPr>
            <p:cNvPr id="161" name="Rectangle 45"/>
            <p:cNvSpPr>
              <a:spLocks noChangeArrowheads="1"/>
            </p:cNvSpPr>
            <p:nvPr/>
          </p:nvSpPr>
          <p:spPr bwMode="auto">
            <a:xfrm>
              <a:off x="480060" y="4913632"/>
              <a:ext cx="4256088" cy="669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571500" indent="-571500"/>
              <a:r>
                <a:rPr lang="en-US" sz="4000" b="1" dirty="0">
                  <a:solidFill>
                    <a:srgbClr val="A400A4"/>
                  </a:solidFill>
                </a:rPr>
                <a:t>= P – t</a:t>
              </a:r>
              <a:r>
                <a:rPr lang="en-US" sz="4000" b="1" baseline="-25000" dirty="0">
                  <a:solidFill>
                    <a:srgbClr val="A400A4"/>
                  </a:solidFill>
                </a:rPr>
                <a:t>0.025 </a:t>
              </a:r>
              <a:r>
                <a:rPr lang="en-US" sz="4000" b="1" dirty="0">
                  <a:solidFill>
                    <a:srgbClr val="A400A4"/>
                  </a:solidFill>
                </a:rPr>
                <a:t> </a:t>
              </a:r>
              <a:r>
                <a:rPr lang="en-US" sz="4000" b="1" u="sng" dirty="0">
                  <a:solidFill>
                    <a:srgbClr val="A400A4"/>
                  </a:solidFill>
                </a:rPr>
                <a:t>&lt;</a:t>
              </a:r>
              <a:r>
                <a:rPr lang="en-US" sz="4000" b="1" dirty="0">
                  <a:solidFill>
                    <a:srgbClr val="A400A4"/>
                  </a:solidFill>
                </a:rPr>
                <a:t>               </a:t>
              </a:r>
              <a:r>
                <a:rPr lang="en-US" sz="4000" b="1" u="sng" dirty="0">
                  <a:solidFill>
                    <a:srgbClr val="A400A4"/>
                  </a:solidFill>
                  <a:sym typeface="Symbol" pitchFamily="18" charset="2"/>
                </a:rPr>
                <a:t>&lt;</a:t>
              </a:r>
              <a:r>
                <a:rPr lang="en-US" sz="4000" b="1" dirty="0">
                  <a:solidFill>
                    <a:srgbClr val="A400A4"/>
                  </a:solidFill>
                  <a:sym typeface="Symbol" pitchFamily="18" charset="2"/>
                </a:rPr>
                <a:t>  </a:t>
              </a:r>
              <a:r>
                <a:rPr lang="en-US" sz="4000" b="1" dirty="0">
                  <a:solidFill>
                    <a:srgbClr val="A400A4"/>
                  </a:solidFill>
                </a:rPr>
                <a:t>t</a:t>
              </a:r>
              <a:r>
                <a:rPr lang="en-US" sz="4000" b="1" baseline="-25000" dirty="0">
                  <a:solidFill>
                    <a:srgbClr val="A400A4"/>
                  </a:solidFill>
                </a:rPr>
                <a:t>0.025</a:t>
              </a:r>
              <a:endParaRPr lang="th-TH" sz="4000" b="1" dirty="0">
                <a:solidFill>
                  <a:srgbClr val="A400A4"/>
                </a:solidFill>
                <a:sym typeface="Symbol" pitchFamily="18" charset="2"/>
              </a:endParaRPr>
            </a:p>
          </p:txBody>
        </p:sp>
        <p:sp>
          <p:nvSpPr>
            <p:cNvPr id="159" name="Double Bracket 158"/>
            <p:cNvSpPr/>
            <p:nvPr/>
          </p:nvSpPr>
          <p:spPr>
            <a:xfrm>
              <a:off x="1060291" y="4984753"/>
              <a:ext cx="3633948" cy="659130"/>
            </a:xfrm>
            <a:prstGeom prst="bracketPair">
              <a:avLst>
                <a:gd name="adj" fmla="val 8994"/>
              </a:avLst>
            </a:prstGeom>
            <a:ln w="28575">
              <a:solidFill>
                <a:srgbClr val="A400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A400A4"/>
                </a:solidFill>
              </a:endParaRPr>
            </a:p>
          </p:txBody>
        </p:sp>
        <p:grpSp>
          <p:nvGrpSpPr>
            <p:cNvPr id="160" name="Group 159"/>
            <p:cNvGrpSpPr/>
            <p:nvPr/>
          </p:nvGrpSpPr>
          <p:grpSpPr>
            <a:xfrm>
              <a:off x="2443004" y="4776789"/>
              <a:ext cx="1058704" cy="1058546"/>
              <a:chOff x="1202690" y="4583430"/>
              <a:chExt cx="1058704" cy="1058546"/>
            </a:xfrm>
          </p:grpSpPr>
          <p:grpSp>
            <p:nvGrpSpPr>
              <p:cNvPr id="169" name="Group 168"/>
              <p:cNvGrpSpPr/>
              <p:nvPr/>
            </p:nvGrpSpPr>
            <p:grpSpPr>
              <a:xfrm>
                <a:off x="1202690" y="4583430"/>
                <a:ext cx="1058704" cy="1058546"/>
                <a:chOff x="1202690" y="4583430"/>
                <a:chExt cx="1058704" cy="1058546"/>
              </a:xfrm>
            </p:grpSpPr>
            <p:sp>
              <p:nvSpPr>
                <p:cNvPr id="171" name="Rectangle 45"/>
                <p:cNvSpPr>
                  <a:spLocks noChangeArrowheads="1"/>
                </p:cNvSpPr>
                <p:nvPr/>
              </p:nvSpPr>
              <p:spPr bwMode="auto">
                <a:xfrm>
                  <a:off x="1222217" y="4583430"/>
                  <a:ext cx="1039177" cy="6699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571500" indent="-571500"/>
                  <a:r>
                    <a:rPr lang="en-US" sz="4000" b="1" dirty="0">
                      <a:solidFill>
                        <a:srgbClr val="A400A4"/>
                      </a:solidFill>
                    </a:rPr>
                    <a:t>X – </a:t>
                  </a:r>
                  <a:r>
                    <a:rPr lang="th-TH" sz="3200" b="1" dirty="0">
                      <a:solidFill>
                        <a:srgbClr val="A400A4"/>
                      </a:solidFill>
                      <a:sym typeface="Symbol" pitchFamily="18" charset="2"/>
                    </a:rPr>
                    <a:t></a:t>
                  </a:r>
                  <a:endParaRPr lang="th-TH" sz="4000" b="1" dirty="0">
                    <a:solidFill>
                      <a:srgbClr val="A400A4"/>
                    </a:solidFill>
                    <a:sym typeface="Symbol" pitchFamily="18" charset="2"/>
                  </a:endParaRPr>
                </a:p>
              </p:txBody>
            </p:sp>
            <p:sp>
              <p:nvSpPr>
                <p:cNvPr id="172" name="Rectangle 46"/>
                <p:cNvSpPr>
                  <a:spLocks noChangeArrowheads="1"/>
                </p:cNvSpPr>
                <p:nvPr/>
              </p:nvSpPr>
              <p:spPr bwMode="auto">
                <a:xfrm>
                  <a:off x="1202690" y="4964740"/>
                  <a:ext cx="533400" cy="6699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571500" indent="-571500" algn="ctr"/>
                  <a:r>
                    <a:rPr lang="en-US" sz="4000" b="1" dirty="0">
                      <a:solidFill>
                        <a:srgbClr val="A400A4"/>
                      </a:solidFill>
                      <a:sym typeface="Symbol" pitchFamily="18" charset="2"/>
                    </a:rPr>
                    <a:t>S</a:t>
                  </a:r>
                  <a:endParaRPr lang="th-TH" sz="4000" b="1" dirty="0">
                    <a:solidFill>
                      <a:srgbClr val="A400A4"/>
                    </a:solidFill>
                    <a:sym typeface="Symbol" pitchFamily="18" charset="2"/>
                  </a:endParaRPr>
                </a:p>
              </p:txBody>
            </p:sp>
            <p:sp>
              <p:nvSpPr>
                <p:cNvPr id="173" name="Rectangle 49"/>
                <p:cNvSpPr>
                  <a:spLocks noChangeArrowheads="1"/>
                </p:cNvSpPr>
                <p:nvPr/>
              </p:nvSpPr>
              <p:spPr bwMode="auto">
                <a:xfrm>
                  <a:off x="1670844" y="4972050"/>
                  <a:ext cx="533400" cy="6699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571500" indent="-571500" algn="ctr"/>
                  <a:r>
                    <a:rPr lang="en-US" sz="4000" b="1" dirty="0">
                      <a:solidFill>
                        <a:srgbClr val="A400A4"/>
                      </a:solidFill>
                      <a:sym typeface="Symbol" pitchFamily="18" charset="2"/>
                    </a:rPr>
                    <a:t>n</a:t>
                  </a:r>
                  <a:endParaRPr lang="th-TH" sz="4000" b="1" dirty="0">
                    <a:solidFill>
                      <a:srgbClr val="A400A4"/>
                    </a:solidFill>
                    <a:sym typeface="Symbol" pitchFamily="18" charset="2"/>
                  </a:endParaRPr>
                </a:p>
              </p:txBody>
            </p:sp>
            <p:sp>
              <p:nvSpPr>
                <p:cNvPr id="174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1587024" y="5231766"/>
                  <a:ext cx="104775" cy="214948"/>
                </a:xfrm>
                <a:prstGeom prst="line">
                  <a:avLst/>
                </a:prstGeom>
                <a:noFill/>
                <a:ln w="19050">
                  <a:solidFill>
                    <a:srgbClr val="A400A4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4000">
                    <a:solidFill>
                      <a:srgbClr val="A400A4"/>
                    </a:solidFill>
                  </a:endParaRPr>
                </a:p>
              </p:txBody>
            </p:sp>
            <p:sp>
              <p:nvSpPr>
                <p:cNvPr id="175" name="Line 48"/>
                <p:cNvSpPr>
                  <a:spLocks noChangeShapeType="1"/>
                </p:cNvSpPr>
                <p:nvPr/>
              </p:nvSpPr>
              <p:spPr bwMode="auto">
                <a:xfrm>
                  <a:off x="1286034" y="5143819"/>
                  <a:ext cx="914400" cy="0"/>
                </a:xfrm>
                <a:prstGeom prst="line">
                  <a:avLst/>
                </a:prstGeom>
                <a:noFill/>
                <a:ln w="19050">
                  <a:solidFill>
                    <a:srgbClr val="A400A4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4000">
                    <a:solidFill>
                      <a:srgbClr val="A400A4"/>
                    </a:solidFill>
                  </a:endParaRPr>
                </a:p>
              </p:txBody>
            </p:sp>
          </p:grpSp>
          <p:sp>
            <p:nvSpPr>
              <p:cNvPr id="170" name="Line 61"/>
              <p:cNvSpPr>
                <a:spLocks noChangeShapeType="1"/>
              </p:cNvSpPr>
              <p:nvPr/>
            </p:nvSpPr>
            <p:spPr bwMode="auto">
              <a:xfrm>
                <a:off x="1327944" y="4758690"/>
                <a:ext cx="182880" cy="0"/>
              </a:xfrm>
              <a:prstGeom prst="line">
                <a:avLst/>
              </a:prstGeom>
              <a:noFill/>
              <a:ln w="28575">
                <a:solidFill>
                  <a:srgbClr val="A400A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>
                  <a:solidFill>
                    <a:srgbClr val="A400A4"/>
                  </a:solidFill>
                </a:endParaRPr>
              </a:p>
            </p:txBody>
          </p:sp>
        </p:grpSp>
        <p:grpSp>
          <p:nvGrpSpPr>
            <p:cNvPr id="165" name="Group 164"/>
            <p:cNvGrpSpPr/>
            <p:nvPr/>
          </p:nvGrpSpPr>
          <p:grpSpPr>
            <a:xfrm>
              <a:off x="2944649" y="5433060"/>
              <a:ext cx="353695" cy="234433"/>
              <a:chOff x="1795301" y="2349183"/>
              <a:chExt cx="353695" cy="234433"/>
            </a:xfrm>
          </p:grpSpPr>
          <p:sp>
            <p:nvSpPr>
              <p:cNvPr id="166" name="Line 50"/>
              <p:cNvSpPr>
                <a:spLocks noChangeShapeType="1"/>
              </p:cNvSpPr>
              <p:nvPr/>
            </p:nvSpPr>
            <p:spPr bwMode="auto">
              <a:xfrm>
                <a:off x="1920396" y="2353628"/>
                <a:ext cx="228600" cy="0"/>
              </a:xfrm>
              <a:prstGeom prst="line">
                <a:avLst/>
              </a:prstGeom>
              <a:noFill/>
              <a:ln w="19050">
                <a:solidFill>
                  <a:srgbClr val="A400A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>
                  <a:solidFill>
                    <a:srgbClr val="A400A4"/>
                  </a:solidFill>
                </a:endParaRPr>
              </a:p>
            </p:txBody>
          </p:sp>
          <p:sp>
            <p:nvSpPr>
              <p:cNvPr id="167" name="Line 51"/>
              <p:cNvSpPr>
                <a:spLocks noChangeShapeType="1"/>
              </p:cNvSpPr>
              <p:nvPr/>
            </p:nvSpPr>
            <p:spPr bwMode="auto">
              <a:xfrm flipH="1">
                <a:off x="1834993" y="2349183"/>
                <a:ext cx="76200" cy="228600"/>
              </a:xfrm>
              <a:prstGeom prst="line">
                <a:avLst/>
              </a:prstGeom>
              <a:noFill/>
              <a:ln w="19050">
                <a:solidFill>
                  <a:srgbClr val="A400A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>
                  <a:solidFill>
                    <a:srgbClr val="A400A4"/>
                  </a:solidFill>
                </a:endParaRPr>
              </a:p>
            </p:txBody>
          </p:sp>
          <p:sp>
            <p:nvSpPr>
              <p:cNvPr id="168" name="Line 52"/>
              <p:cNvSpPr>
                <a:spLocks noChangeShapeType="1"/>
              </p:cNvSpPr>
              <p:nvPr/>
            </p:nvSpPr>
            <p:spPr bwMode="auto">
              <a:xfrm>
                <a:off x="1795301" y="2510464"/>
                <a:ext cx="45720" cy="73152"/>
              </a:xfrm>
              <a:prstGeom prst="line">
                <a:avLst/>
              </a:prstGeom>
              <a:noFill/>
              <a:ln w="19050">
                <a:solidFill>
                  <a:srgbClr val="A400A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4000">
                  <a:solidFill>
                    <a:srgbClr val="A400A4"/>
                  </a:solidFill>
                </a:endParaRP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2308788" y="5495607"/>
            <a:ext cx="5398842" cy="1065213"/>
            <a:chOff x="1653540" y="5564187"/>
            <a:chExt cx="5398842" cy="1065213"/>
          </a:xfrm>
        </p:grpSpPr>
        <p:sp>
          <p:nvSpPr>
            <p:cNvPr id="99" name="Rectangle 65"/>
            <p:cNvSpPr>
              <a:spLocks noChangeArrowheads="1"/>
            </p:cNvSpPr>
            <p:nvPr/>
          </p:nvSpPr>
          <p:spPr bwMode="auto">
            <a:xfrm>
              <a:off x="2252267" y="5786437"/>
              <a:ext cx="4800115" cy="669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571500" indent="-571500"/>
              <a:r>
                <a:rPr lang="en-US" sz="4000" b="1" dirty="0">
                  <a:solidFill>
                    <a:srgbClr val="A400A4"/>
                  </a:solidFill>
                </a:rPr>
                <a:t>X – t</a:t>
              </a:r>
              <a:r>
                <a:rPr lang="en-US" sz="4000" b="1" baseline="-25000" dirty="0">
                  <a:solidFill>
                    <a:srgbClr val="A400A4"/>
                  </a:solidFill>
                </a:rPr>
                <a:t>0.025</a:t>
              </a:r>
              <a:r>
                <a:rPr lang="th-TH" sz="4000" b="1" baseline="-25000" dirty="0">
                  <a:solidFill>
                    <a:srgbClr val="A400A4"/>
                  </a:solidFill>
                </a:rPr>
                <a:t> </a:t>
              </a:r>
              <a:r>
                <a:rPr lang="th-TH" sz="4000" b="1" dirty="0">
                  <a:solidFill>
                    <a:srgbClr val="A400A4"/>
                  </a:solidFill>
                </a:rPr>
                <a:t>   </a:t>
              </a:r>
              <a:r>
                <a:rPr lang="en-US" sz="4000" b="1" dirty="0">
                  <a:solidFill>
                    <a:srgbClr val="A400A4"/>
                  </a:solidFill>
                </a:rPr>
                <a:t>   </a:t>
              </a:r>
              <a:r>
                <a:rPr lang="en-US" sz="4000" b="1" u="sng" dirty="0">
                  <a:solidFill>
                    <a:srgbClr val="A400A4"/>
                  </a:solidFill>
                </a:rPr>
                <a:t>&lt;</a:t>
              </a:r>
              <a:r>
                <a:rPr lang="en-US" sz="4000" b="1" dirty="0">
                  <a:solidFill>
                    <a:srgbClr val="A400A4"/>
                  </a:solidFill>
                </a:rPr>
                <a:t> </a:t>
              </a:r>
              <a:r>
                <a:rPr lang="th-TH" sz="4000" b="1" dirty="0">
                  <a:solidFill>
                    <a:srgbClr val="A400A4"/>
                  </a:solidFill>
                  <a:sym typeface="Symbol" pitchFamily="18" charset="2"/>
                </a:rPr>
                <a:t> </a:t>
              </a:r>
              <a:r>
                <a:rPr lang="th-TH" sz="3200" b="1" dirty="0">
                  <a:solidFill>
                    <a:srgbClr val="A400A4"/>
                  </a:solidFill>
                  <a:sym typeface="Symbol" pitchFamily="18" charset="2"/>
                </a:rPr>
                <a:t></a:t>
              </a:r>
              <a:r>
                <a:rPr lang="th-TH" sz="4000" b="1" dirty="0">
                  <a:solidFill>
                    <a:srgbClr val="A400A4"/>
                  </a:solidFill>
                  <a:sym typeface="Symbol" pitchFamily="18" charset="2"/>
                </a:rPr>
                <a:t> </a:t>
              </a:r>
              <a:r>
                <a:rPr lang="en-US" sz="4000" b="1" dirty="0">
                  <a:solidFill>
                    <a:srgbClr val="A400A4"/>
                  </a:solidFill>
                  <a:sym typeface="Symbol" pitchFamily="18" charset="2"/>
                </a:rPr>
                <a:t> </a:t>
              </a:r>
              <a:r>
                <a:rPr lang="en-US" sz="4000" b="1" u="sng" dirty="0">
                  <a:solidFill>
                    <a:srgbClr val="A400A4"/>
                  </a:solidFill>
                  <a:sym typeface="Symbol" pitchFamily="18" charset="2"/>
                </a:rPr>
                <a:t>&lt;</a:t>
              </a:r>
              <a:r>
                <a:rPr lang="en-US" sz="4000" b="1" dirty="0">
                  <a:solidFill>
                    <a:srgbClr val="A400A4"/>
                  </a:solidFill>
                  <a:sym typeface="Symbol" pitchFamily="18" charset="2"/>
                </a:rPr>
                <a:t>  X + t</a:t>
              </a:r>
              <a:r>
                <a:rPr lang="en-US" sz="4000" b="1" baseline="-25000" dirty="0">
                  <a:solidFill>
                    <a:srgbClr val="A400A4"/>
                  </a:solidFill>
                </a:rPr>
                <a:t>0.025</a:t>
              </a:r>
              <a:endParaRPr lang="th-TH" sz="4000" b="1" dirty="0">
                <a:solidFill>
                  <a:srgbClr val="A400A4"/>
                </a:solidFill>
                <a:sym typeface="Symbol" pitchFamily="18" charset="2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1653540" y="5564187"/>
              <a:ext cx="5398842" cy="1065213"/>
              <a:chOff x="1645315" y="5564187"/>
              <a:chExt cx="5398842" cy="1065213"/>
            </a:xfrm>
          </p:grpSpPr>
          <p:sp>
            <p:nvSpPr>
              <p:cNvPr id="219" name="Double Bracket 218"/>
              <p:cNvSpPr/>
              <p:nvPr/>
            </p:nvSpPr>
            <p:spPr>
              <a:xfrm>
                <a:off x="2229408" y="5832167"/>
                <a:ext cx="4745401" cy="659130"/>
              </a:xfrm>
              <a:prstGeom prst="bracketPair">
                <a:avLst>
                  <a:gd name="adj" fmla="val 8994"/>
                </a:avLst>
              </a:prstGeom>
              <a:ln w="28575">
                <a:solidFill>
                  <a:srgbClr val="A400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A400A4"/>
                  </a:solidFill>
                </a:endParaRPr>
              </a:p>
            </p:txBody>
          </p:sp>
          <p:grpSp>
            <p:nvGrpSpPr>
              <p:cNvPr id="100" name="Group 99"/>
              <p:cNvGrpSpPr>
                <a:grpSpLocks/>
              </p:cNvGrpSpPr>
              <p:nvPr/>
            </p:nvGrpSpPr>
            <p:grpSpPr bwMode="auto">
              <a:xfrm>
                <a:off x="6477000" y="5575300"/>
                <a:ext cx="567157" cy="1054100"/>
                <a:chOff x="4365" y="3443"/>
                <a:chExt cx="366" cy="664"/>
              </a:xfrm>
            </p:grpSpPr>
            <p:sp>
              <p:nvSpPr>
                <p:cNvPr id="139" name="Rectangle 74"/>
                <p:cNvSpPr>
                  <a:spLocks noChangeArrowheads="1"/>
                </p:cNvSpPr>
                <p:nvPr/>
              </p:nvSpPr>
              <p:spPr bwMode="auto">
                <a:xfrm>
                  <a:off x="4365" y="3443"/>
                  <a:ext cx="336" cy="4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571500" indent="-571500" algn="ctr"/>
                  <a:r>
                    <a:rPr lang="en-US" sz="4400" b="1" dirty="0">
                      <a:solidFill>
                        <a:srgbClr val="A400A4"/>
                      </a:solidFill>
                      <a:sym typeface="Symbol" pitchFamily="18" charset="2"/>
                    </a:rPr>
                    <a:t>S</a:t>
                  </a:r>
                  <a:endParaRPr lang="th-TH" sz="4400" b="1" dirty="0">
                    <a:solidFill>
                      <a:srgbClr val="A400A4"/>
                    </a:solidFill>
                    <a:sym typeface="Symbol" pitchFamily="18" charset="2"/>
                  </a:endParaRPr>
                </a:p>
              </p:txBody>
            </p:sp>
            <p:grpSp>
              <p:nvGrpSpPr>
                <p:cNvPr id="141" name="Group 100"/>
                <p:cNvGrpSpPr>
                  <a:grpSpLocks/>
                </p:cNvGrpSpPr>
                <p:nvPr/>
              </p:nvGrpSpPr>
              <p:grpSpPr bwMode="auto">
                <a:xfrm>
                  <a:off x="4382" y="3685"/>
                  <a:ext cx="349" cy="422"/>
                  <a:chOff x="4382" y="3685"/>
                  <a:chExt cx="349" cy="422"/>
                </a:xfrm>
              </p:grpSpPr>
              <p:sp>
                <p:nvSpPr>
                  <p:cNvPr id="143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4395" y="3685"/>
                    <a:ext cx="336" cy="42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571500" indent="-571500" algn="ctr"/>
                    <a:r>
                      <a:rPr lang="en-US" sz="4400" b="1" dirty="0">
                        <a:solidFill>
                          <a:srgbClr val="A400A4"/>
                        </a:solidFill>
                        <a:sym typeface="Symbol" pitchFamily="18" charset="2"/>
                      </a:rPr>
                      <a:t>n</a:t>
                    </a:r>
                    <a:endParaRPr lang="th-TH" sz="4400" b="1" dirty="0">
                      <a:solidFill>
                        <a:srgbClr val="A400A4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144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4477" y="3858"/>
                    <a:ext cx="148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A400A4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45" name="Line 7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423" y="3864"/>
                    <a:ext cx="48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A400A4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46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4382" y="3949"/>
                    <a:ext cx="47" cy="58"/>
                  </a:xfrm>
                  <a:prstGeom prst="line">
                    <a:avLst/>
                  </a:prstGeom>
                  <a:noFill/>
                  <a:ln w="19050">
                    <a:solidFill>
                      <a:srgbClr val="A400A4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4437" y="3809"/>
                    <a:ext cx="177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A400A4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01" name="Line 80"/>
              <p:cNvSpPr>
                <a:spLocks noChangeShapeType="1"/>
              </p:cNvSpPr>
              <p:nvPr/>
            </p:nvSpPr>
            <p:spPr bwMode="auto">
              <a:xfrm>
                <a:off x="2334396" y="5962650"/>
                <a:ext cx="223144" cy="0"/>
              </a:xfrm>
              <a:prstGeom prst="line">
                <a:avLst/>
              </a:prstGeom>
              <a:noFill/>
              <a:ln w="28575">
                <a:solidFill>
                  <a:srgbClr val="A400A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Line 81"/>
              <p:cNvSpPr>
                <a:spLocks noChangeShapeType="1"/>
              </p:cNvSpPr>
              <p:nvPr/>
            </p:nvSpPr>
            <p:spPr bwMode="auto">
              <a:xfrm>
                <a:off x="5202242" y="5970905"/>
                <a:ext cx="201168" cy="0"/>
              </a:xfrm>
              <a:prstGeom prst="line">
                <a:avLst/>
              </a:prstGeom>
              <a:noFill/>
              <a:ln w="28575">
                <a:solidFill>
                  <a:srgbClr val="A400A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" name="Group 108"/>
              <p:cNvGrpSpPr>
                <a:grpSpLocks/>
              </p:cNvGrpSpPr>
              <p:nvPr/>
            </p:nvGrpSpPr>
            <p:grpSpPr bwMode="auto">
              <a:xfrm>
                <a:off x="3581400" y="5564187"/>
                <a:ext cx="545463" cy="1054100"/>
                <a:chOff x="4864" y="3436"/>
                <a:chExt cx="352" cy="664"/>
              </a:xfrm>
            </p:grpSpPr>
            <p:sp>
              <p:nvSpPr>
                <p:cNvPr id="104" name="Rectangle 109"/>
                <p:cNvSpPr>
                  <a:spLocks noChangeArrowheads="1"/>
                </p:cNvSpPr>
                <p:nvPr/>
              </p:nvSpPr>
              <p:spPr bwMode="auto">
                <a:xfrm>
                  <a:off x="4864" y="3436"/>
                  <a:ext cx="336" cy="4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571500" indent="-571500" algn="ctr"/>
                  <a:r>
                    <a:rPr lang="en-US" sz="4400" b="1" dirty="0">
                      <a:solidFill>
                        <a:srgbClr val="A400A4"/>
                      </a:solidFill>
                      <a:sym typeface="Symbol" pitchFamily="18" charset="2"/>
                    </a:rPr>
                    <a:t>S</a:t>
                  </a:r>
                  <a:endParaRPr lang="th-TH" sz="4400" b="1" dirty="0">
                    <a:solidFill>
                      <a:srgbClr val="A400A4"/>
                    </a:solidFill>
                    <a:sym typeface="Symbol" pitchFamily="18" charset="2"/>
                  </a:endParaRPr>
                </a:p>
              </p:txBody>
            </p:sp>
            <p:grpSp>
              <p:nvGrpSpPr>
                <p:cNvPr id="105" name="Group 110"/>
                <p:cNvGrpSpPr>
                  <a:grpSpLocks/>
                </p:cNvGrpSpPr>
                <p:nvPr/>
              </p:nvGrpSpPr>
              <p:grpSpPr bwMode="auto">
                <a:xfrm>
                  <a:off x="4867" y="3678"/>
                  <a:ext cx="349" cy="422"/>
                  <a:chOff x="4867" y="3678"/>
                  <a:chExt cx="349" cy="422"/>
                </a:xfrm>
              </p:grpSpPr>
              <p:sp>
                <p:nvSpPr>
                  <p:cNvPr id="126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4880" y="3678"/>
                    <a:ext cx="336" cy="42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571500" indent="-571500" algn="ctr"/>
                    <a:r>
                      <a:rPr lang="en-US" sz="4400" b="1" dirty="0">
                        <a:solidFill>
                          <a:srgbClr val="A400A4"/>
                        </a:solidFill>
                        <a:sym typeface="Symbol" pitchFamily="18" charset="2"/>
                      </a:rPr>
                      <a:t>n</a:t>
                    </a:r>
                    <a:endParaRPr lang="th-TH" sz="4400" b="1" dirty="0">
                      <a:solidFill>
                        <a:srgbClr val="A400A4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135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969" y="3858"/>
                    <a:ext cx="148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A400A4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6" name="Line 1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915" y="3864"/>
                    <a:ext cx="48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A400A4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7" name="Line 115"/>
                  <p:cNvSpPr>
                    <a:spLocks noChangeShapeType="1"/>
                  </p:cNvSpPr>
                  <p:nvPr/>
                </p:nvSpPr>
                <p:spPr bwMode="auto">
                  <a:xfrm>
                    <a:off x="4867" y="3949"/>
                    <a:ext cx="48" cy="58"/>
                  </a:xfrm>
                  <a:prstGeom prst="line">
                    <a:avLst/>
                  </a:prstGeom>
                  <a:noFill/>
                  <a:ln w="19050">
                    <a:solidFill>
                      <a:srgbClr val="A400A4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8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4920" y="3802"/>
                    <a:ext cx="177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A400A4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20" name="Rectangle 45"/>
              <p:cNvSpPr>
                <a:spLocks noChangeArrowheads="1"/>
              </p:cNvSpPr>
              <p:nvPr/>
            </p:nvSpPr>
            <p:spPr bwMode="auto">
              <a:xfrm>
                <a:off x="1645315" y="5788024"/>
                <a:ext cx="705455" cy="6699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571500" indent="-571500"/>
                <a:r>
                  <a:rPr lang="en-US" sz="4000" b="1" dirty="0">
                    <a:solidFill>
                      <a:srgbClr val="A400A4"/>
                    </a:solidFill>
                  </a:rPr>
                  <a:t>= P</a:t>
                </a:r>
                <a:endParaRPr lang="th-TH" sz="4000" b="1" dirty="0">
                  <a:solidFill>
                    <a:srgbClr val="A400A4"/>
                  </a:solidFill>
                  <a:sym typeface="Symbol" pitchFamily="18" charset="2"/>
                </a:endParaRPr>
              </a:p>
            </p:txBody>
          </p:sp>
        </p:grpSp>
      </p:grp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4953000" y="1273792"/>
            <a:ext cx="2288541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th-TH" sz="3200" b="1" dirty="0">
                <a:solidFill>
                  <a:srgbClr val="660066"/>
                </a:solidFill>
              </a:rPr>
              <a:t>ให้  </a:t>
            </a:r>
            <a:r>
              <a:rPr lang="en-US" sz="3200" b="1" dirty="0">
                <a:solidFill>
                  <a:srgbClr val="660066"/>
                </a:solidFill>
              </a:rPr>
              <a:t>1 – </a:t>
            </a:r>
            <a:r>
              <a:rPr lang="en-US" sz="2600" b="1" dirty="0">
                <a:solidFill>
                  <a:srgbClr val="660066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660066"/>
                </a:solidFill>
                <a:sym typeface="Symbol"/>
              </a:rPr>
              <a:t> =</a:t>
            </a:r>
            <a:r>
              <a:rPr lang="en-US" sz="3200" b="1" dirty="0">
                <a:solidFill>
                  <a:srgbClr val="660066"/>
                </a:solidFill>
              </a:rPr>
              <a:t> 0.95 </a:t>
            </a:r>
            <a:endParaRPr lang="th-TH" sz="3200" b="1" dirty="0">
              <a:solidFill>
                <a:srgbClr val="660066"/>
              </a:solidFill>
              <a:sym typeface="Symbol" pitchFamily="18" charset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3D0EA-030D-4FC0-BBD7-031DD21F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id="{8F2D69EC-70BF-F953-D4F7-52C9787EF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786" y="1266512"/>
            <a:ext cx="3552796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th-TH" sz="4000" b="1" dirty="0">
                <a:solidFill>
                  <a:srgbClr val="A400A4"/>
                </a:solidFill>
              </a:rPr>
              <a:t>ถ้าไม่ทราบค่าของ </a:t>
            </a:r>
            <a:r>
              <a:rPr lang="th-TH" sz="3200" b="1" dirty="0">
                <a:solidFill>
                  <a:srgbClr val="A400A4"/>
                </a:solidFill>
                <a:sym typeface="Symbol"/>
              </a:rPr>
              <a:t></a:t>
            </a:r>
            <a:r>
              <a:rPr lang="en-US" sz="4000" b="1" baseline="30000" dirty="0">
                <a:solidFill>
                  <a:srgbClr val="A400A4"/>
                </a:solidFill>
                <a:sym typeface="Symbol"/>
              </a:rPr>
              <a:t>2</a:t>
            </a:r>
            <a:r>
              <a:rPr lang="en-US" sz="3600" b="1" baseline="30000" dirty="0">
                <a:solidFill>
                  <a:srgbClr val="A400A4"/>
                </a:solidFill>
                <a:sym typeface="Symbol"/>
              </a:rPr>
              <a:t>  </a:t>
            </a:r>
            <a:endParaRPr lang="th-TH" sz="3600" b="1" dirty="0">
              <a:solidFill>
                <a:srgbClr val="A400A4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9340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53" grpId="0"/>
      <p:bldP spid="71" grpId="0"/>
      <p:bldP spid="156" grpId="0"/>
      <p:bldP spid="1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0"/>
          <p:cNvSpPr>
            <a:spLocks noChangeArrowheads="1"/>
          </p:cNvSpPr>
          <p:nvPr/>
        </p:nvSpPr>
        <p:spPr bwMode="auto">
          <a:xfrm>
            <a:off x="344489" y="1061974"/>
            <a:ext cx="722312" cy="538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en-US" sz="2800" b="1" dirty="0">
                <a:solidFill>
                  <a:srgbClr val="6600CC"/>
                </a:solidFill>
                <a:sym typeface="Wingdings" pitchFamily="2" charset="2"/>
              </a:rPr>
              <a:t>X</a:t>
            </a:r>
            <a:r>
              <a:rPr kumimoji="1" lang="en-US" sz="2800" b="1" dirty="0">
                <a:solidFill>
                  <a:srgbClr val="6600CC"/>
                </a:solidFill>
              </a:rPr>
              <a:t> </a:t>
            </a:r>
          </a:p>
        </p:txBody>
      </p:sp>
      <p:sp>
        <p:nvSpPr>
          <p:cNvPr id="198" name="Rectangle 10"/>
          <p:cNvSpPr>
            <a:spLocks noChangeArrowheads="1"/>
          </p:cNvSpPr>
          <p:nvPr/>
        </p:nvSpPr>
        <p:spPr bwMode="auto">
          <a:xfrm>
            <a:off x="967956" y="1624064"/>
            <a:ext cx="1535574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th-TH" sz="2800" b="1" dirty="0">
                <a:solidFill>
                  <a:srgbClr val="6600CC"/>
                </a:solidFill>
                <a:sym typeface="Wingdings" pitchFamily="2" charset="2"/>
              </a:rPr>
              <a:t>โดยที่ </a:t>
            </a:r>
            <a:r>
              <a:rPr kumimoji="1" lang="en-US" sz="2800" b="1" dirty="0">
                <a:solidFill>
                  <a:srgbClr val="6600CC"/>
                </a:solidFill>
                <a:sym typeface="Wingdings" pitchFamily="2" charset="2"/>
              </a:rPr>
              <a:t>p</a:t>
            </a:r>
            <a:endParaRPr kumimoji="1" lang="en-US" sz="2800" b="1" dirty="0">
              <a:solidFill>
                <a:srgbClr val="6600CC"/>
              </a:solidFill>
            </a:endParaRPr>
          </a:p>
        </p:txBody>
      </p:sp>
      <p:sp>
        <p:nvSpPr>
          <p:cNvPr id="199" name="Rectangle 10"/>
          <p:cNvSpPr>
            <a:spLocks noChangeArrowheads="1"/>
          </p:cNvSpPr>
          <p:nvPr/>
        </p:nvSpPr>
        <p:spPr bwMode="auto">
          <a:xfrm>
            <a:off x="775096" y="1024761"/>
            <a:ext cx="769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en-US" sz="2800" b="1" dirty="0">
                <a:solidFill>
                  <a:srgbClr val="6600CC"/>
                </a:solidFill>
                <a:sym typeface="Wingdings" pitchFamily="2" charset="2"/>
              </a:rPr>
              <a:t>= </a:t>
            </a:r>
            <a:r>
              <a:rPr kumimoji="1" lang="th-TH" sz="2800" b="1" dirty="0">
                <a:solidFill>
                  <a:srgbClr val="6600CC"/>
                </a:solidFill>
                <a:sym typeface="Wingdings" pitchFamily="2" charset="2"/>
              </a:rPr>
              <a:t>จำนวนครั้งที่เกิด </a:t>
            </a:r>
            <a:r>
              <a:rPr kumimoji="1" lang="en-US" sz="2800" b="1" dirty="0">
                <a:solidFill>
                  <a:srgbClr val="6600CC"/>
                </a:solidFill>
              </a:rPr>
              <a:t>s </a:t>
            </a:r>
            <a:r>
              <a:rPr kumimoji="1" lang="th-TH" sz="2800" b="1" dirty="0">
                <a:solidFill>
                  <a:srgbClr val="6600CC"/>
                </a:solidFill>
              </a:rPr>
              <a:t>ในการลอง</a:t>
            </a:r>
            <a:r>
              <a:rPr kumimoji="1" lang="th-TH" sz="2800" b="1" dirty="0" err="1">
                <a:solidFill>
                  <a:srgbClr val="6600CC"/>
                </a:solidFill>
              </a:rPr>
              <a:t>แบร์นูลลิ</a:t>
            </a:r>
            <a:r>
              <a:rPr kumimoji="1" lang="th-TH" sz="2800" b="1" dirty="0">
                <a:solidFill>
                  <a:srgbClr val="6600CC"/>
                </a:solidFill>
              </a:rPr>
              <a:t>อิสระ </a:t>
            </a:r>
            <a:r>
              <a:rPr kumimoji="1" lang="en-US" sz="2800" b="1" dirty="0">
                <a:solidFill>
                  <a:srgbClr val="6600CC"/>
                </a:solidFill>
              </a:rPr>
              <a:t>n </a:t>
            </a:r>
          </a:p>
        </p:txBody>
      </p:sp>
      <p:sp>
        <p:nvSpPr>
          <p:cNvPr id="200" name="Rectangle 10"/>
          <p:cNvSpPr>
            <a:spLocks noChangeArrowheads="1"/>
          </p:cNvSpPr>
          <p:nvPr/>
        </p:nvSpPr>
        <p:spPr bwMode="auto">
          <a:xfrm>
            <a:off x="5438747" y="1050561"/>
            <a:ext cx="838200" cy="52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th-TH" sz="2800" b="1" dirty="0">
                <a:solidFill>
                  <a:srgbClr val="6600CC"/>
                </a:solidFill>
              </a:rPr>
              <a:t>ครั้ง</a:t>
            </a:r>
            <a:r>
              <a:rPr kumimoji="1" lang="en-US" sz="2800" b="1" dirty="0">
                <a:solidFill>
                  <a:srgbClr val="6600CC"/>
                </a:solidFill>
              </a:rPr>
              <a:t> </a:t>
            </a:r>
          </a:p>
        </p:txBody>
      </p:sp>
      <p:sp>
        <p:nvSpPr>
          <p:cNvPr id="201" name="Rectangle 10"/>
          <p:cNvSpPr>
            <a:spLocks noChangeArrowheads="1"/>
          </p:cNvSpPr>
          <p:nvPr/>
        </p:nvSpPr>
        <p:spPr bwMode="auto">
          <a:xfrm>
            <a:off x="1839872" y="1606255"/>
            <a:ext cx="4800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en-US" sz="2800" b="1" dirty="0">
                <a:solidFill>
                  <a:srgbClr val="6600CC"/>
                </a:solidFill>
                <a:sym typeface="Wingdings" pitchFamily="2" charset="2"/>
              </a:rPr>
              <a:t>= </a:t>
            </a:r>
            <a:r>
              <a:rPr kumimoji="1" lang="th-TH" sz="2800" b="1" dirty="0">
                <a:solidFill>
                  <a:srgbClr val="6600CC"/>
                </a:solidFill>
                <a:sym typeface="Wingdings" pitchFamily="2" charset="2"/>
              </a:rPr>
              <a:t>ความน่าจะเป็นของการเกิด </a:t>
            </a:r>
            <a:r>
              <a:rPr kumimoji="1" lang="en-US" sz="2800" b="1" dirty="0">
                <a:solidFill>
                  <a:srgbClr val="6600CC"/>
                </a:solidFill>
              </a:rPr>
              <a:t>s</a:t>
            </a:r>
          </a:p>
        </p:txBody>
      </p:sp>
      <p:sp>
        <p:nvSpPr>
          <p:cNvPr id="204" name="Rectangle 12"/>
          <p:cNvSpPr>
            <a:spLocks noChangeArrowheads="1"/>
          </p:cNvSpPr>
          <p:nvPr/>
        </p:nvSpPr>
        <p:spPr bwMode="auto">
          <a:xfrm>
            <a:off x="574875" y="2408744"/>
            <a:ext cx="1025325" cy="5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tabLst>
                <a:tab pos="457200" algn="l"/>
              </a:tabLst>
            </a:pPr>
            <a:r>
              <a:rPr kumimoji="1" lang="en-US" sz="2800" b="1" dirty="0">
                <a:solidFill>
                  <a:srgbClr val="7030A0"/>
                </a:solidFill>
                <a:sym typeface="Wingdings" pitchFamily="2" charset="2"/>
              </a:rPr>
              <a:t>X</a:t>
            </a:r>
          </a:p>
        </p:txBody>
      </p:sp>
      <p:sp>
        <p:nvSpPr>
          <p:cNvPr id="205" name="Text Box 33"/>
          <p:cNvSpPr txBox="1">
            <a:spLocks noChangeArrowheads="1"/>
          </p:cNvSpPr>
          <p:nvPr/>
        </p:nvSpPr>
        <p:spPr bwMode="auto">
          <a:xfrm>
            <a:off x="466725" y="3074966"/>
            <a:ext cx="4114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2800" b="1" dirty="0">
                <a:solidFill>
                  <a:srgbClr val="006600"/>
                </a:solidFill>
              </a:rPr>
              <a:t>เมื่อ </a:t>
            </a:r>
            <a:r>
              <a:rPr lang="en-US" sz="2800" b="1" dirty="0">
                <a:solidFill>
                  <a:srgbClr val="006600"/>
                </a:solidFill>
              </a:rPr>
              <a:t>n  </a:t>
            </a:r>
            <a:r>
              <a:rPr lang="en-US" sz="2200" b="1" dirty="0">
                <a:solidFill>
                  <a:srgbClr val="006600"/>
                </a:solidFill>
                <a:sym typeface="Symbol" pitchFamily="18" charset="2"/>
              </a:rPr>
              <a:t>  </a:t>
            </a:r>
            <a:r>
              <a:rPr lang="en-US" sz="2200" b="1" dirty="0">
                <a:solidFill>
                  <a:srgbClr val="006600"/>
                </a:solidFill>
              </a:rPr>
              <a:t> </a:t>
            </a:r>
            <a:r>
              <a:rPr lang="th-TH" sz="2800" b="1" dirty="0">
                <a:solidFill>
                  <a:srgbClr val="006600"/>
                </a:solidFill>
              </a:rPr>
              <a:t>และ </a:t>
            </a:r>
            <a:r>
              <a:rPr lang="en-US" sz="2800" b="1" dirty="0">
                <a:solidFill>
                  <a:srgbClr val="006600"/>
                </a:solidFill>
              </a:rPr>
              <a:t>p  </a:t>
            </a:r>
            <a:r>
              <a:rPr lang="en-US" sz="2200" b="1" dirty="0">
                <a:solidFill>
                  <a:srgbClr val="006600"/>
                </a:solidFill>
                <a:sym typeface="Symbol" pitchFamily="18" charset="2"/>
              </a:rPr>
              <a:t>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 0.5</a:t>
            </a:r>
            <a:endParaRPr lang="th-TH" sz="2800" b="1" dirty="0">
              <a:solidFill>
                <a:srgbClr val="006600"/>
              </a:solidFill>
              <a:sym typeface="Symbol" pitchFamily="18" charset="2"/>
            </a:endParaRPr>
          </a:p>
        </p:txBody>
      </p:sp>
      <p:grpSp>
        <p:nvGrpSpPr>
          <p:cNvPr id="206" name="Group 34"/>
          <p:cNvGrpSpPr>
            <a:grpSpLocks/>
          </p:cNvGrpSpPr>
          <p:nvPr/>
        </p:nvGrpSpPr>
        <p:grpSpPr bwMode="auto">
          <a:xfrm>
            <a:off x="2133996" y="4112514"/>
            <a:ext cx="3551238" cy="960438"/>
            <a:chOff x="711" y="2140"/>
            <a:chExt cx="2237" cy="605"/>
          </a:xfrm>
        </p:grpSpPr>
        <p:grpSp>
          <p:nvGrpSpPr>
            <p:cNvPr id="207" name="Group 35"/>
            <p:cNvGrpSpPr>
              <a:grpSpLocks/>
            </p:cNvGrpSpPr>
            <p:nvPr/>
          </p:nvGrpSpPr>
          <p:grpSpPr bwMode="auto">
            <a:xfrm>
              <a:off x="711" y="2140"/>
              <a:ext cx="2237" cy="605"/>
              <a:chOff x="327" y="1624"/>
              <a:chExt cx="2237" cy="605"/>
            </a:xfrm>
          </p:grpSpPr>
          <p:grpSp>
            <p:nvGrpSpPr>
              <p:cNvPr id="209" name="Group 36"/>
              <p:cNvGrpSpPr>
                <a:grpSpLocks/>
              </p:cNvGrpSpPr>
              <p:nvPr/>
            </p:nvGrpSpPr>
            <p:grpSpPr bwMode="auto">
              <a:xfrm>
                <a:off x="327" y="1624"/>
                <a:ext cx="1139" cy="597"/>
                <a:chOff x="327" y="1624"/>
                <a:chExt cx="1139" cy="597"/>
              </a:xfrm>
            </p:grpSpPr>
            <p:sp>
              <p:nvSpPr>
                <p:cNvPr id="217" name="Rectangle 37"/>
                <p:cNvSpPr>
                  <a:spLocks noChangeArrowheads="1"/>
                </p:cNvSpPr>
                <p:nvPr/>
              </p:nvSpPr>
              <p:spPr bwMode="auto">
                <a:xfrm>
                  <a:off x="528" y="1624"/>
                  <a:ext cx="649" cy="3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2800" b="1" dirty="0">
                      <a:solidFill>
                        <a:srgbClr val="990033"/>
                      </a:solidFill>
                      <a:sym typeface="Symbol" pitchFamily="18" charset="2"/>
                    </a:rPr>
                    <a:t>X/n – p</a:t>
                  </a:r>
                </a:p>
              </p:txBody>
            </p:sp>
            <p:grpSp>
              <p:nvGrpSpPr>
                <p:cNvPr id="218" name="Group 38"/>
                <p:cNvGrpSpPr>
                  <a:grpSpLocks/>
                </p:cNvGrpSpPr>
                <p:nvPr/>
              </p:nvGrpSpPr>
              <p:grpSpPr bwMode="auto">
                <a:xfrm>
                  <a:off x="327" y="1867"/>
                  <a:ext cx="1139" cy="354"/>
                  <a:chOff x="579" y="1903"/>
                  <a:chExt cx="1139" cy="354"/>
                </a:xfrm>
              </p:grpSpPr>
              <p:sp>
                <p:nvSpPr>
                  <p:cNvPr id="220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579" y="1960"/>
                    <a:ext cx="352" cy="2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dirty="0">
                        <a:solidFill>
                          <a:srgbClr val="990033"/>
                        </a:solidFill>
                        <a:sym typeface="Symbol" pitchFamily="18" charset="2"/>
                      </a:rPr>
                      <a:t></a:t>
                    </a:r>
                    <a:endParaRPr kumimoji="1" lang="en-US" b="1" dirty="0">
                      <a:solidFill>
                        <a:srgbClr val="990033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221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738" y="1982"/>
                    <a:ext cx="691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99003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2800"/>
                  </a:p>
                </p:txBody>
              </p:sp>
              <p:sp>
                <p:nvSpPr>
                  <p:cNvPr id="222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710" y="1903"/>
                    <a:ext cx="1008" cy="3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sz="2800" b="1" dirty="0">
                        <a:solidFill>
                          <a:srgbClr val="990033"/>
                        </a:solidFill>
                        <a:sym typeface="Symbol" pitchFamily="18" charset="2"/>
                      </a:rPr>
                      <a:t>p(1 – p)/n</a:t>
                    </a:r>
                  </a:p>
                </p:txBody>
              </p:sp>
            </p:grpSp>
            <p:sp>
              <p:nvSpPr>
                <p:cNvPr id="219" name="Line 45"/>
                <p:cNvSpPr>
                  <a:spLocks noChangeShapeType="1"/>
                </p:cNvSpPr>
                <p:nvPr/>
              </p:nvSpPr>
              <p:spPr bwMode="auto">
                <a:xfrm>
                  <a:off x="416" y="1898"/>
                  <a:ext cx="806" cy="0"/>
                </a:xfrm>
                <a:prstGeom prst="line">
                  <a:avLst/>
                </a:prstGeom>
                <a:noFill/>
                <a:ln w="28575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800"/>
                </a:p>
              </p:txBody>
            </p:sp>
          </p:grpSp>
          <p:grpSp>
            <p:nvGrpSpPr>
              <p:cNvPr id="210" name="Group 46"/>
              <p:cNvGrpSpPr>
                <a:grpSpLocks/>
              </p:cNvGrpSpPr>
              <p:nvPr/>
            </p:nvGrpSpPr>
            <p:grpSpPr bwMode="auto">
              <a:xfrm>
                <a:off x="1463" y="1624"/>
                <a:ext cx="1101" cy="605"/>
                <a:chOff x="1463" y="1624"/>
                <a:chExt cx="1101" cy="605"/>
              </a:xfrm>
            </p:grpSpPr>
            <p:sp>
              <p:nvSpPr>
                <p:cNvPr id="211" name="Rectangle 47"/>
                <p:cNvSpPr>
                  <a:spLocks noChangeArrowheads="1"/>
                </p:cNvSpPr>
                <p:nvPr/>
              </p:nvSpPr>
              <p:spPr bwMode="auto">
                <a:xfrm>
                  <a:off x="1674" y="1624"/>
                  <a:ext cx="650" cy="3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2800" b="1" dirty="0">
                      <a:solidFill>
                        <a:srgbClr val="990033"/>
                      </a:solidFill>
                      <a:sym typeface="Symbol" pitchFamily="18" charset="2"/>
                    </a:rPr>
                    <a:t>X – </a:t>
                  </a:r>
                  <a:r>
                    <a:rPr kumimoji="1" lang="en-US" sz="2800" b="1" dirty="0" err="1">
                      <a:solidFill>
                        <a:srgbClr val="990033"/>
                      </a:solidFill>
                      <a:sym typeface="Symbol" pitchFamily="18" charset="2"/>
                    </a:rPr>
                    <a:t>np</a:t>
                  </a:r>
                  <a:endParaRPr kumimoji="1" lang="en-US" sz="2800" b="1" dirty="0">
                    <a:solidFill>
                      <a:srgbClr val="990033"/>
                    </a:solidFill>
                    <a:sym typeface="Symbol" pitchFamily="18" charset="2"/>
                  </a:endParaRPr>
                </a:p>
              </p:txBody>
            </p:sp>
            <p:sp>
              <p:nvSpPr>
                <p:cNvPr id="212" name="Line 48"/>
                <p:cNvSpPr>
                  <a:spLocks noChangeShapeType="1"/>
                </p:cNvSpPr>
                <p:nvPr/>
              </p:nvSpPr>
              <p:spPr bwMode="auto">
                <a:xfrm>
                  <a:off x="1528" y="1898"/>
                  <a:ext cx="806" cy="0"/>
                </a:xfrm>
                <a:prstGeom prst="line">
                  <a:avLst/>
                </a:prstGeom>
                <a:noFill/>
                <a:ln w="28575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800"/>
                </a:p>
              </p:txBody>
            </p:sp>
            <p:grpSp>
              <p:nvGrpSpPr>
                <p:cNvPr id="213" name="Group 49"/>
                <p:cNvGrpSpPr>
                  <a:grpSpLocks/>
                </p:cNvGrpSpPr>
                <p:nvPr/>
              </p:nvGrpSpPr>
              <p:grpSpPr bwMode="auto">
                <a:xfrm>
                  <a:off x="1463" y="1866"/>
                  <a:ext cx="1101" cy="363"/>
                  <a:chOff x="1445" y="1902"/>
                  <a:chExt cx="1101" cy="363"/>
                </a:xfrm>
              </p:grpSpPr>
              <p:sp>
                <p:nvSpPr>
                  <p:cNvPr id="214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1445" y="1969"/>
                    <a:ext cx="432" cy="29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dirty="0">
                        <a:solidFill>
                          <a:srgbClr val="990033"/>
                        </a:solidFill>
                        <a:sym typeface="Symbol" pitchFamily="18" charset="2"/>
                      </a:rPr>
                      <a:t></a:t>
                    </a:r>
                  </a:p>
                </p:txBody>
              </p:sp>
              <p:sp>
                <p:nvSpPr>
                  <p:cNvPr id="215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1562" y="1902"/>
                    <a:ext cx="984" cy="339"/>
                  </a:xfrm>
                  <a:prstGeom prst="rect">
                    <a:avLst/>
                  </a:prstGeom>
                  <a:noFill/>
                  <a:ln w="28575"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sz="2800" b="1" dirty="0" err="1">
                        <a:solidFill>
                          <a:srgbClr val="990033"/>
                        </a:solidFill>
                        <a:sym typeface="Symbol" pitchFamily="18" charset="2"/>
                      </a:rPr>
                      <a:t>np</a:t>
                    </a:r>
                    <a:r>
                      <a:rPr kumimoji="1" lang="en-US" sz="2800" b="1" dirty="0">
                        <a:solidFill>
                          <a:srgbClr val="990033"/>
                        </a:solidFill>
                        <a:sym typeface="Symbol" pitchFamily="18" charset="2"/>
                      </a:rPr>
                      <a:t>(1 – p)</a:t>
                    </a:r>
                  </a:p>
                </p:txBody>
              </p:sp>
              <p:sp>
                <p:nvSpPr>
                  <p:cNvPr id="216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1600" y="1985"/>
                    <a:ext cx="634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99003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2800"/>
                  </a:p>
                </p:txBody>
              </p:sp>
            </p:grpSp>
          </p:grpSp>
        </p:grpSp>
        <p:sp>
          <p:nvSpPr>
            <p:cNvPr id="208" name="Text Box 53"/>
            <p:cNvSpPr txBox="1">
              <a:spLocks noChangeArrowheads="1"/>
            </p:cNvSpPr>
            <p:nvPr/>
          </p:nvSpPr>
          <p:spPr bwMode="auto">
            <a:xfrm>
              <a:off x="1661" y="2244"/>
              <a:ext cx="28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 b="1" dirty="0">
                  <a:solidFill>
                    <a:srgbClr val="990033"/>
                  </a:solidFill>
                </a:rPr>
                <a:t>=</a:t>
              </a:r>
              <a:endParaRPr lang="th-TH" sz="2800" b="1" dirty="0">
                <a:solidFill>
                  <a:srgbClr val="990033"/>
                </a:solidFill>
              </a:endParaRPr>
            </a:p>
          </p:txBody>
        </p:sp>
      </p:grpSp>
      <p:grpSp>
        <p:nvGrpSpPr>
          <p:cNvPr id="223" name="Group 57"/>
          <p:cNvGrpSpPr>
            <a:grpSpLocks/>
          </p:cNvGrpSpPr>
          <p:nvPr/>
        </p:nvGrpSpPr>
        <p:grpSpPr bwMode="auto">
          <a:xfrm>
            <a:off x="5501084" y="4274438"/>
            <a:ext cx="1247310" cy="530225"/>
            <a:chOff x="3936" y="2286"/>
            <a:chExt cx="916" cy="334"/>
          </a:xfrm>
        </p:grpSpPr>
        <p:sp>
          <p:nvSpPr>
            <p:cNvPr id="224" name="Text Box 55"/>
            <p:cNvSpPr txBox="1">
              <a:spLocks noChangeArrowheads="1"/>
            </p:cNvSpPr>
            <p:nvPr/>
          </p:nvSpPr>
          <p:spPr bwMode="auto">
            <a:xfrm>
              <a:off x="3936" y="2290"/>
              <a:ext cx="9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 b="1" dirty="0">
                  <a:solidFill>
                    <a:srgbClr val="990033"/>
                  </a:solidFill>
                </a:rPr>
                <a:t>~  N(0 , 1)</a:t>
              </a:r>
              <a:endParaRPr lang="th-TH" sz="2800" b="1" dirty="0">
                <a:solidFill>
                  <a:srgbClr val="990033"/>
                </a:solidFill>
              </a:endParaRPr>
            </a:p>
          </p:txBody>
        </p:sp>
        <p:sp>
          <p:nvSpPr>
            <p:cNvPr id="225" name="Text Box 56"/>
            <p:cNvSpPr txBox="1">
              <a:spLocks noChangeArrowheads="1"/>
            </p:cNvSpPr>
            <p:nvPr/>
          </p:nvSpPr>
          <p:spPr bwMode="auto">
            <a:xfrm>
              <a:off x="3958" y="2286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 b="1" dirty="0">
                  <a:solidFill>
                    <a:srgbClr val="990033"/>
                  </a:solidFill>
                </a:rPr>
                <a:t>:</a:t>
              </a:r>
              <a:endParaRPr lang="th-TH" sz="2800" b="1" dirty="0">
                <a:solidFill>
                  <a:srgbClr val="990033"/>
                </a:solidFill>
              </a:endParaRPr>
            </a:p>
          </p:txBody>
        </p:sp>
      </p:grpSp>
      <p:sp>
        <p:nvSpPr>
          <p:cNvPr id="227" name="Rectangle 12"/>
          <p:cNvSpPr>
            <a:spLocks noChangeArrowheads="1"/>
          </p:cNvSpPr>
          <p:nvPr/>
        </p:nvSpPr>
        <p:spPr bwMode="auto">
          <a:xfrm>
            <a:off x="911932" y="2361963"/>
            <a:ext cx="1981200" cy="5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tabLst>
                <a:tab pos="457200" algn="l"/>
              </a:tabLst>
            </a:pPr>
            <a:r>
              <a:rPr kumimoji="1" lang="en-US" sz="2800" b="1" dirty="0">
                <a:solidFill>
                  <a:srgbClr val="7030A0"/>
                </a:solidFill>
                <a:sym typeface="Wingdings" pitchFamily="2" charset="2"/>
              </a:rPr>
              <a:t>~ B(n  , p  )</a:t>
            </a:r>
          </a:p>
        </p:txBody>
      </p:sp>
      <p:sp>
        <p:nvSpPr>
          <p:cNvPr id="228" name="AutoShape 38"/>
          <p:cNvSpPr>
            <a:spLocks noChangeArrowheads="1"/>
          </p:cNvSpPr>
          <p:nvPr/>
        </p:nvSpPr>
        <p:spPr bwMode="auto">
          <a:xfrm>
            <a:off x="1475232" y="3918446"/>
            <a:ext cx="6172200" cy="1399576"/>
          </a:xfrm>
          <a:prstGeom prst="roundRect">
            <a:avLst>
              <a:gd name="adj" fmla="val 7726"/>
            </a:avLst>
          </a:prstGeom>
          <a:noFill/>
          <a:ln w="38100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th-TH" sz="2800"/>
          </a:p>
        </p:txBody>
      </p: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131763" y="-36513"/>
            <a:ext cx="8780462" cy="79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kumimoji="1" lang="en-US" sz="4400" b="1" dirty="0">
              <a:solidFill>
                <a:srgbClr val="3333FF"/>
              </a:solidFill>
            </a:endParaRPr>
          </a:p>
          <a:p>
            <a:pPr algn="ctr">
              <a:lnSpc>
                <a:spcPct val="80000"/>
              </a:lnSpc>
              <a:defRPr/>
            </a:pPr>
            <a:r>
              <a:rPr kumimoji="1" lang="th-TH" sz="4400" b="1" dirty="0">
                <a:solidFill>
                  <a:srgbClr val="3333FF"/>
                </a:solidFill>
              </a:rPr>
              <a:t>การแจกแจงทวินามและการแจกแจงของตัวสถิติ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865A12-BC09-45DB-9B05-272B9342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0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build="p" autoUpdateAnimBg="0" advAuto="0"/>
      <p:bldP spid="198" grpId="0" build="p" autoUpdateAnimBg="0" advAuto="0"/>
      <p:bldP spid="199" grpId="0" build="p" autoUpdateAnimBg="0" advAuto="0"/>
      <p:bldP spid="200" grpId="0" build="p" autoUpdateAnimBg="0" advAuto="0"/>
      <p:bldP spid="201" grpId="0" build="p" autoUpdateAnimBg="0" advAuto="0"/>
      <p:bldP spid="204" grpId="0"/>
      <p:bldP spid="205" grpId="0"/>
      <p:bldP spid="227" grpId="0"/>
      <p:bldP spid="2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1" name="Freeform 15"/>
          <p:cNvSpPr>
            <a:spLocks/>
          </p:cNvSpPr>
          <p:nvPr/>
        </p:nvSpPr>
        <p:spPr bwMode="auto">
          <a:xfrm>
            <a:off x="4438650" y="1619250"/>
            <a:ext cx="1076325" cy="1638300"/>
          </a:xfrm>
          <a:custGeom>
            <a:avLst/>
            <a:gdLst>
              <a:gd name="T0" fmla="*/ 0 w 678"/>
              <a:gd name="T1" fmla="*/ 1638300 h 1032"/>
              <a:gd name="T2" fmla="*/ 0 w 678"/>
              <a:gd name="T3" fmla="*/ 0 h 1032"/>
              <a:gd name="T4" fmla="*/ 152400 w 678"/>
              <a:gd name="T5" fmla="*/ 57150 h 1032"/>
              <a:gd name="T6" fmla="*/ 333375 w 678"/>
              <a:gd name="T7" fmla="*/ 247650 h 1032"/>
              <a:gd name="T8" fmla="*/ 447675 w 678"/>
              <a:gd name="T9" fmla="*/ 457200 h 1032"/>
              <a:gd name="T10" fmla="*/ 581025 w 678"/>
              <a:gd name="T11" fmla="*/ 685800 h 1032"/>
              <a:gd name="T12" fmla="*/ 666750 w 678"/>
              <a:gd name="T13" fmla="*/ 857250 h 1032"/>
              <a:gd name="T14" fmla="*/ 752475 w 678"/>
              <a:gd name="T15" fmla="*/ 990600 h 1032"/>
              <a:gd name="T16" fmla="*/ 838200 w 678"/>
              <a:gd name="T17" fmla="*/ 1143000 h 1032"/>
              <a:gd name="T18" fmla="*/ 901700 w 678"/>
              <a:gd name="T19" fmla="*/ 1238250 h 1032"/>
              <a:gd name="T20" fmla="*/ 1027113 w 678"/>
              <a:gd name="T21" fmla="*/ 1352550 h 1032"/>
              <a:gd name="T22" fmla="*/ 1076325 w 678"/>
              <a:gd name="T23" fmla="*/ 1381125 h 1032"/>
              <a:gd name="T24" fmla="*/ 1076325 w 678"/>
              <a:gd name="T25" fmla="*/ 1638300 h 1032"/>
              <a:gd name="T26" fmla="*/ 0 w 678"/>
              <a:gd name="T27" fmla="*/ 1638300 h 103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78"/>
              <a:gd name="T43" fmla="*/ 0 h 1032"/>
              <a:gd name="T44" fmla="*/ 678 w 678"/>
              <a:gd name="T45" fmla="*/ 1032 h 103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78" h="1032">
                <a:moveTo>
                  <a:pt x="0" y="1032"/>
                </a:moveTo>
                <a:lnTo>
                  <a:pt x="0" y="0"/>
                </a:lnTo>
                <a:lnTo>
                  <a:pt x="96" y="36"/>
                </a:lnTo>
                <a:lnTo>
                  <a:pt x="210" y="156"/>
                </a:lnTo>
                <a:lnTo>
                  <a:pt x="282" y="288"/>
                </a:lnTo>
                <a:lnTo>
                  <a:pt x="366" y="432"/>
                </a:lnTo>
                <a:lnTo>
                  <a:pt x="420" y="540"/>
                </a:lnTo>
                <a:lnTo>
                  <a:pt x="474" y="624"/>
                </a:lnTo>
                <a:lnTo>
                  <a:pt x="528" y="720"/>
                </a:lnTo>
                <a:lnTo>
                  <a:pt x="568" y="780"/>
                </a:lnTo>
                <a:lnTo>
                  <a:pt x="647" y="852"/>
                </a:lnTo>
                <a:lnTo>
                  <a:pt x="678" y="870"/>
                </a:lnTo>
                <a:lnTo>
                  <a:pt x="67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137232" name="Freeform 16"/>
          <p:cNvSpPr>
            <a:spLocks/>
          </p:cNvSpPr>
          <p:nvPr/>
        </p:nvSpPr>
        <p:spPr bwMode="auto">
          <a:xfrm>
            <a:off x="3371850" y="1619250"/>
            <a:ext cx="1066800" cy="1657350"/>
          </a:xfrm>
          <a:custGeom>
            <a:avLst/>
            <a:gdLst>
              <a:gd name="T0" fmla="*/ 1066800 w 666"/>
              <a:gd name="T1" fmla="*/ 1657350 h 1044"/>
              <a:gd name="T2" fmla="*/ 1066800 w 666"/>
              <a:gd name="T3" fmla="*/ 0 h 1044"/>
              <a:gd name="T4" fmla="*/ 922638 w 666"/>
              <a:gd name="T5" fmla="*/ 95250 h 1044"/>
              <a:gd name="T6" fmla="*/ 759254 w 666"/>
              <a:gd name="T7" fmla="*/ 285750 h 1044"/>
              <a:gd name="T8" fmla="*/ 682368 w 666"/>
              <a:gd name="T9" fmla="*/ 514350 h 1044"/>
              <a:gd name="T10" fmla="*/ 528595 w 666"/>
              <a:gd name="T11" fmla="*/ 742950 h 1044"/>
              <a:gd name="T12" fmla="*/ 451708 w 666"/>
              <a:gd name="T13" fmla="*/ 895350 h 1044"/>
              <a:gd name="T14" fmla="*/ 336378 w 666"/>
              <a:gd name="T15" fmla="*/ 1047750 h 1044"/>
              <a:gd name="T16" fmla="*/ 221049 w 666"/>
              <a:gd name="T17" fmla="*/ 1200150 h 1044"/>
              <a:gd name="T18" fmla="*/ 172995 w 666"/>
              <a:gd name="T19" fmla="*/ 1257300 h 1044"/>
              <a:gd name="T20" fmla="*/ 48054 w 666"/>
              <a:gd name="T21" fmla="*/ 1371600 h 1044"/>
              <a:gd name="T22" fmla="*/ 0 w 666"/>
              <a:gd name="T23" fmla="*/ 1400175 h 1044"/>
              <a:gd name="T24" fmla="*/ 0 w 666"/>
              <a:gd name="T25" fmla="*/ 1657350 h 1044"/>
              <a:gd name="T26" fmla="*/ 1066800 w 666"/>
              <a:gd name="T27" fmla="*/ 1657350 h 104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66"/>
              <a:gd name="T43" fmla="*/ 0 h 1044"/>
              <a:gd name="T44" fmla="*/ 666 w 666"/>
              <a:gd name="T45" fmla="*/ 1044 h 104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66" h="1044">
                <a:moveTo>
                  <a:pt x="666" y="1044"/>
                </a:moveTo>
                <a:lnTo>
                  <a:pt x="666" y="0"/>
                </a:lnTo>
                <a:lnTo>
                  <a:pt x="576" y="60"/>
                </a:lnTo>
                <a:lnTo>
                  <a:pt x="474" y="180"/>
                </a:lnTo>
                <a:lnTo>
                  <a:pt x="426" y="324"/>
                </a:lnTo>
                <a:lnTo>
                  <a:pt x="330" y="468"/>
                </a:lnTo>
                <a:lnTo>
                  <a:pt x="282" y="564"/>
                </a:lnTo>
                <a:lnTo>
                  <a:pt x="210" y="660"/>
                </a:lnTo>
                <a:lnTo>
                  <a:pt x="138" y="756"/>
                </a:lnTo>
                <a:lnTo>
                  <a:pt x="108" y="792"/>
                </a:lnTo>
                <a:lnTo>
                  <a:pt x="30" y="864"/>
                </a:lnTo>
                <a:lnTo>
                  <a:pt x="0" y="882"/>
                </a:lnTo>
                <a:lnTo>
                  <a:pt x="0" y="1044"/>
                </a:lnTo>
                <a:lnTo>
                  <a:pt x="666" y="1044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grpSp>
        <p:nvGrpSpPr>
          <p:cNvPr id="2" name="Group 128"/>
          <p:cNvGrpSpPr>
            <a:grpSpLocks/>
          </p:cNvGrpSpPr>
          <p:nvPr/>
        </p:nvGrpSpPr>
        <p:grpSpPr bwMode="auto">
          <a:xfrm>
            <a:off x="3352800" y="3051175"/>
            <a:ext cx="2162175" cy="273050"/>
            <a:chOff x="2112" y="1922"/>
            <a:chExt cx="1362" cy="172"/>
          </a:xfrm>
        </p:grpSpPr>
        <p:sp>
          <p:nvSpPr>
            <p:cNvPr id="18500" name="Line 27"/>
            <p:cNvSpPr>
              <a:spLocks noChangeShapeType="1"/>
            </p:cNvSpPr>
            <p:nvPr/>
          </p:nvSpPr>
          <p:spPr bwMode="auto">
            <a:xfrm>
              <a:off x="2112" y="1968"/>
              <a:ext cx="0" cy="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Line 28"/>
            <p:cNvSpPr>
              <a:spLocks noChangeShapeType="1"/>
            </p:cNvSpPr>
            <p:nvPr/>
          </p:nvSpPr>
          <p:spPr bwMode="auto">
            <a:xfrm>
              <a:off x="3474" y="1922"/>
              <a:ext cx="0" cy="14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7"/>
          <p:cNvGrpSpPr>
            <a:grpSpLocks/>
          </p:cNvGrpSpPr>
          <p:nvPr/>
        </p:nvGrpSpPr>
        <p:grpSpPr bwMode="auto">
          <a:xfrm>
            <a:off x="3338513" y="2317482"/>
            <a:ext cx="2165350" cy="609600"/>
            <a:chOff x="2102" y="1460"/>
            <a:chExt cx="1364" cy="384"/>
          </a:xfrm>
        </p:grpSpPr>
        <p:sp>
          <p:nvSpPr>
            <p:cNvPr id="18495" name="Text Box 21"/>
            <p:cNvSpPr txBox="1">
              <a:spLocks noChangeArrowheads="1"/>
            </p:cNvSpPr>
            <p:nvPr/>
          </p:nvSpPr>
          <p:spPr bwMode="auto">
            <a:xfrm>
              <a:off x="2406" y="1460"/>
              <a:ext cx="77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400" b="1"/>
                <a:t>95%</a:t>
              </a:r>
            </a:p>
          </p:txBody>
        </p:sp>
        <p:sp>
          <p:nvSpPr>
            <p:cNvPr id="18496" name="Line 29"/>
            <p:cNvSpPr>
              <a:spLocks noChangeShapeType="1"/>
            </p:cNvSpPr>
            <p:nvPr/>
          </p:nvSpPr>
          <p:spPr bwMode="auto">
            <a:xfrm>
              <a:off x="2112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30"/>
            <p:cNvSpPr>
              <a:spLocks noChangeShapeType="1"/>
            </p:cNvSpPr>
            <p:nvPr/>
          </p:nvSpPr>
          <p:spPr bwMode="auto">
            <a:xfrm>
              <a:off x="3464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35"/>
            <p:cNvSpPr>
              <a:spLocks noChangeShapeType="1"/>
            </p:cNvSpPr>
            <p:nvPr/>
          </p:nvSpPr>
          <p:spPr bwMode="auto">
            <a:xfrm flipH="1">
              <a:off x="2102" y="1678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Line 36"/>
            <p:cNvSpPr>
              <a:spLocks noChangeShapeType="1"/>
            </p:cNvSpPr>
            <p:nvPr/>
          </p:nvSpPr>
          <p:spPr bwMode="auto">
            <a:xfrm>
              <a:off x="2986" y="168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2895600" y="3159125"/>
            <a:ext cx="1066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 dirty="0"/>
              <a:t>– 1.96</a:t>
            </a:r>
            <a:endParaRPr lang="th-TH" sz="3200" b="1" dirty="0"/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5165725" y="3155950"/>
            <a:ext cx="7016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200" b="1" dirty="0"/>
              <a:t>1.96</a:t>
            </a:r>
            <a:endParaRPr lang="th-TH" sz="3200" b="1" dirty="0"/>
          </a:p>
        </p:txBody>
      </p:sp>
      <p:grpSp>
        <p:nvGrpSpPr>
          <p:cNvPr id="4" name="Group 126"/>
          <p:cNvGrpSpPr>
            <a:grpSpLocks/>
          </p:cNvGrpSpPr>
          <p:nvPr/>
        </p:nvGrpSpPr>
        <p:grpSpPr bwMode="auto">
          <a:xfrm>
            <a:off x="2819400" y="1600200"/>
            <a:ext cx="3289300" cy="2141539"/>
            <a:chOff x="1776" y="1008"/>
            <a:chExt cx="2072" cy="1349"/>
          </a:xfrm>
        </p:grpSpPr>
        <p:sp>
          <p:nvSpPr>
            <p:cNvPr id="18490" name="Line 17"/>
            <p:cNvSpPr>
              <a:spLocks noChangeShapeType="1"/>
            </p:cNvSpPr>
            <p:nvPr/>
          </p:nvSpPr>
          <p:spPr bwMode="auto">
            <a:xfrm>
              <a:off x="2796" y="1008"/>
              <a:ext cx="0" cy="105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Freeform 18"/>
            <p:cNvSpPr>
              <a:spLocks/>
            </p:cNvSpPr>
            <p:nvPr/>
          </p:nvSpPr>
          <p:spPr bwMode="auto">
            <a:xfrm>
              <a:off x="2818" y="1028"/>
              <a:ext cx="1030" cy="991"/>
            </a:xfrm>
            <a:custGeom>
              <a:avLst/>
              <a:gdLst>
                <a:gd name="T0" fmla="*/ 1029 w 1030"/>
                <a:gd name="T1" fmla="*/ 990 h 991"/>
                <a:gd name="T2" fmla="*/ 921 w 1030"/>
                <a:gd name="T3" fmla="*/ 980 h 991"/>
                <a:gd name="T4" fmla="*/ 866 w 1030"/>
                <a:gd name="T5" fmla="*/ 967 h 991"/>
                <a:gd name="T6" fmla="*/ 813 w 1030"/>
                <a:gd name="T7" fmla="*/ 952 h 991"/>
                <a:gd name="T8" fmla="*/ 758 w 1030"/>
                <a:gd name="T9" fmla="*/ 929 h 991"/>
                <a:gd name="T10" fmla="*/ 703 w 1030"/>
                <a:gd name="T11" fmla="*/ 897 h 991"/>
                <a:gd name="T12" fmla="*/ 651 w 1030"/>
                <a:gd name="T13" fmla="*/ 857 h 991"/>
                <a:gd name="T14" fmla="*/ 541 w 1030"/>
                <a:gd name="T15" fmla="*/ 743 h 991"/>
                <a:gd name="T16" fmla="*/ 433 w 1030"/>
                <a:gd name="T17" fmla="*/ 581 h 991"/>
                <a:gd name="T18" fmla="*/ 325 w 1030"/>
                <a:gd name="T19" fmla="*/ 386 h 991"/>
                <a:gd name="T20" fmla="*/ 270 w 1030"/>
                <a:gd name="T21" fmla="*/ 287 h 991"/>
                <a:gd name="T22" fmla="*/ 215 w 1030"/>
                <a:gd name="T23" fmla="*/ 196 h 991"/>
                <a:gd name="T24" fmla="*/ 163 w 1030"/>
                <a:gd name="T25" fmla="*/ 116 h 991"/>
                <a:gd name="T26" fmla="*/ 108 w 1030"/>
                <a:gd name="T27" fmla="*/ 53 h 991"/>
                <a:gd name="T28" fmla="*/ 53 w 1030"/>
                <a:gd name="T29" fmla="*/ 13 h 991"/>
                <a:gd name="T30" fmla="*/ 0 w 1030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0"/>
                <a:gd name="T49" fmla="*/ 0 h 991"/>
                <a:gd name="T50" fmla="*/ 1030 w 1030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0" h="991">
                  <a:moveTo>
                    <a:pt x="1029" y="990"/>
                  </a:moveTo>
                  <a:lnTo>
                    <a:pt x="921" y="980"/>
                  </a:lnTo>
                  <a:lnTo>
                    <a:pt x="866" y="967"/>
                  </a:lnTo>
                  <a:lnTo>
                    <a:pt x="813" y="952"/>
                  </a:lnTo>
                  <a:lnTo>
                    <a:pt x="758" y="929"/>
                  </a:lnTo>
                  <a:lnTo>
                    <a:pt x="703" y="897"/>
                  </a:lnTo>
                  <a:lnTo>
                    <a:pt x="651" y="857"/>
                  </a:lnTo>
                  <a:lnTo>
                    <a:pt x="541" y="743"/>
                  </a:lnTo>
                  <a:lnTo>
                    <a:pt x="433" y="581"/>
                  </a:lnTo>
                  <a:lnTo>
                    <a:pt x="325" y="386"/>
                  </a:lnTo>
                  <a:lnTo>
                    <a:pt x="270" y="287"/>
                  </a:lnTo>
                  <a:lnTo>
                    <a:pt x="215" y="196"/>
                  </a:lnTo>
                  <a:lnTo>
                    <a:pt x="163" y="116"/>
                  </a:lnTo>
                  <a:lnTo>
                    <a:pt x="108" y="53"/>
                  </a:lnTo>
                  <a:lnTo>
                    <a:pt x="53" y="13"/>
                  </a:lnTo>
                  <a:lnTo>
                    <a:pt x="0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2" name="Freeform 19"/>
            <p:cNvSpPr>
              <a:spLocks/>
            </p:cNvSpPr>
            <p:nvPr/>
          </p:nvSpPr>
          <p:spPr bwMode="auto">
            <a:xfrm>
              <a:off x="1778" y="1028"/>
              <a:ext cx="1041" cy="991"/>
            </a:xfrm>
            <a:custGeom>
              <a:avLst/>
              <a:gdLst>
                <a:gd name="T0" fmla="*/ 0 w 1032"/>
                <a:gd name="T1" fmla="*/ 990 h 991"/>
                <a:gd name="T2" fmla="*/ 109 w 1032"/>
                <a:gd name="T3" fmla="*/ 980 h 991"/>
                <a:gd name="T4" fmla="*/ 164 w 1032"/>
                <a:gd name="T5" fmla="*/ 967 h 991"/>
                <a:gd name="T6" fmla="*/ 220 w 1032"/>
                <a:gd name="T7" fmla="*/ 952 h 991"/>
                <a:gd name="T8" fmla="*/ 273 w 1032"/>
                <a:gd name="T9" fmla="*/ 929 h 991"/>
                <a:gd name="T10" fmla="*/ 329 w 1032"/>
                <a:gd name="T11" fmla="*/ 897 h 991"/>
                <a:gd name="T12" fmla="*/ 384 w 1032"/>
                <a:gd name="T13" fmla="*/ 857 h 991"/>
                <a:gd name="T14" fmla="*/ 492 w 1032"/>
                <a:gd name="T15" fmla="*/ 743 h 991"/>
                <a:gd name="T16" fmla="*/ 601 w 1032"/>
                <a:gd name="T17" fmla="*/ 581 h 991"/>
                <a:gd name="T18" fmla="*/ 712 w 1032"/>
                <a:gd name="T19" fmla="*/ 386 h 991"/>
                <a:gd name="T20" fmla="*/ 766 w 1032"/>
                <a:gd name="T21" fmla="*/ 287 h 991"/>
                <a:gd name="T22" fmla="*/ 821 w 1032"/>
                <a:gd name="T23" fmla="*/ 196 h 991"/>
                <a:gd name="T24" fmla="*/ 876 w 1032"/>
                <a:gd name="T25" fmla="*/ 116 h 991"/>
                <a:gd name="T26" fmla="*/ 929 w 1032"/>
                <a:gd name="T27" fmla="*/ 53 h 991"/>
                <a:gd name="T28" fmla="*/ 985 w 1032"/>
                <a:gd name="T29" fmla="*/ 13 h 991"/>
                <a:gd name="T30" fmla="*/ 1040 w 1032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2"/>
                <a:gd name="T49" fmla="*/ 0 h 991"/>
                <a:gd name="T50" fmla="*/ 1032 w 1032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2" h="991">
                  <a:moveTo>
                    <a:pt x="0" y="990"/>
                  </a:moveTo>
                  <a:lnTo>
                    <a:pt x="108" y="980"/>
                  </a:lnTo>
                  <a:lnTo>
                    <a:pt x="163" y="967"/>
                  </a:lnTo>
                  <a:lnTo>
                    <a:pt x="218" y="952"/>
                  </a:lnTo>
                  <a:lnTo>
                    <a:pt x="271" y="929"/>
                  </a:lnTo>
                  <a:lnTo>
                    <a:pt x="326" y="897"/>
                  </a:lnTo>
                  <a:lnTo>
                    <a:pt x="381" y="857"/>
                  </a:lnTo>
                  <a:lnTo>
                    <a:pt x="488" y="743"/>
                  </a:lnTo>
                  <a:lnTo>
                    <a:pt x="596" y="581"/>
                  </a:lnTo>
                  <a:lnTo>
                    <a:pt x="706" y="386"/>
                  </a:lnTo>
                  <a:lnTo>
                    <a:pt x="759" y="287"/>
                  </a:lnTo>
                  <a:lnTo>
                    <a:pt x="814" y="196"/>
                  </a:lnTo>
                  <a:lnTo>
                    <a:pt x="868" y="116"/>
                  </a:lnTo>
                  <a:lnTo>
                    <a:pt x="921" y="53"/>
                  </a:lnTo>
                  <a:lnTo>
                    <a:pt x="976" y="13"/>
                  </a:lnTo>
                  <a:lnTo>
                    <a:pt x="1031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3" name="Freeform 20"/>
            <p:cNvSpPr>
              <a:spLocks/>
            </p:cNvSpPr>
            <p:nvPr/>
          </p:nvSpPr>
          <p:spPr bwMode="auto">
            <a:xfrm>
              <a:off x="1776" y="2071"/>
              <a:ext cx="2072" cy="5"/>
            </a:xfrm>
            <a:custGeom>
              <a:avLst/>
              <a:gdLst>
                <a:gd name="T0" fmla="*/ 0 w 2072"/>
                <a:gd name="T1" fmla="*/ 5 h 5"/>
                <a:gd name="T2" fmla="*/ 12 w 2072"/>
                <a:gd name="T3" fmla="*/ 0 h 5"/>
                <a:gd name="T4" fmla="*/ 2072 w 2072"/>
                <a:gd name="T5" fmla="*/ 0 h 5"/>
                <a:gd name="T6" fmla="*/ 0 60000 65536"/>
                <a:gd name="T7" fmla="*/ 0 60000 65536"/>
                <a:gd name="T8" fmla="*/ 0 60000 65536"/>
                <a:gd name="T9" fmla="*/ 0 w 2072"/>
                <a:gd name="T10" fmla="*/ 0 h 5"/>
                <a:gd name="T11" fmla="*/ 2072 w 2072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2" h="5">
                  <a:moveTo>
                    <a:pt x="0" y="5"/>
                  </a:moveTo>
                  <a:lnTo>
                    <a:pt x="12" y="0"/>
                  </a:lnTo>
                  <a:lnTo>
                    <a:pt x="2072" y="0"/>
                  </a:lnTo>
                </a:path>
              </a:pathLst>
            </a:custGeom>
            <a:noFill/>
            <a:ln w="508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4" name="Text Box 40"/>
            <p:cNvSpPr txBox="1">
              <a:spLocks noChangeArrowheads="1"/>
            </p:cNvSpPr>
            <p:nvPr/>
          </p:nvSpPr>
          <p:spPr bwMode="auto">
            <a:xfrm>
              <a:off x="2633" y="1989"/>
              <a:ext cx="33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200" b="1" dirty="0">
                  <a:sym typeface="Symbol" pitchFamily="18" charset="2"/>
                </a:rPr>
                <a:t>0</a:t>
              </a:r>
              <a:endParaRPr lang="th-TH" sz="3200" b="1" dirty="0">
                <a:sym typeface="Symbol" pitchFamily="18" charset="2"/>
              </a:endParaRPr>
            </a:p>
          </p:txBody>
        </p:sp>
      </p:grpSp>
      <p:sp>
        <p:nvSpPr>
          <p:cNvPr id="70" name="Rectangle 2"/>
          <p:cNvSpPr>
            <a:spLocks noChangeArrowheads="1"/>
          </p:cNvSpPr>
          <p:nvPr/>
        </p:nvSpPr>
        <p:spPr bwMode="auto">
          <a:xfrm>
            <a:off x="228600" y="118110"/>
            <a:ext cx="868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kumimoji="1" lang="th-TH" sz="4800" b="1" dirty="0">
                <a:solidFill>
                  <a:srgbClr val="0000FF"/>
                </a:solidFill>
              </a:rPr>
              <a:t>การประมาณช่วงความเชื่อมั่นของสัดส่วนประชากร</a:t>
            </a:r>
            <a:endParaRPr kumimoji="1" lang="th-TH" sz="4800" dirty="0">
              <a:solidFill>
                <a:srgbClr val="0000FF"/>
              </a:solidFill>
            </a:endParaRPr>
          </a:p>
        </p:txBody>
      </p:sp>
      <p:sp>
        <p:nvSpPr>
          <p:cNvPr id="71" name="Rectangle 43"/>
          <p:cNvSpPr>
            <a:spLocks noChangeArrowheads="1"/>
          </p:cNvSpPr>
          <p:nvPr/>
        </p:nvSpPr>
        <p:spPr bwMode="auto">
          <a:xfrm>
            <a:off x="228599" y="3581400"/>
            <a:ext cx="7467601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th-TH" sz="4000" b="1" dirty="0">
                <a:solidFill>
                  <a:srgbClr val="7030A0"/>
                </a:solidFill>
              </a:rPr>
              <a:t>ช่วงความเชื่อมั่น </a:t>
            </a:r>
            <a:r>
              <a:rPr lang="en-US" sz="4000" b="1" dirty="0">
                <a:solidFill>
                  <a:srgbClr val="7030A0"/>
                </a:solidFill>
              </a:rPr>
              <a:t>95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% </a:t>
            </a:r>
            <a:r>
              <a:rPr lang="th-TH" sz="3200" b="1" dirty="0">
                <a:solidFill>
                  <a:srgbClr val="00B050"/>
                </a:solidFill>
                <a:sym typeface="Symbol" pitchFamily="18" charset="2"/>
              </a:rPr>
              <a:t>(โดยประมาณ) 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ของ 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p 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คือ</a:t>
            </a:r>
          </a:p>
          <a:p>
            <a:pPr marL="571500" indent="-571500"/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endParaRPr lang="th-TH" sz="4000" b="1" dirty="0">
              <a:solidFill>
                <a:srgbClr val="7030A0"/>
              </a:solidFill>
              <a:sym typeface="Symbol" pitchFamily="18" charset="2"/>
            </a:endParaRPr>
          </a:p>
        </p:txBody>
      </p:sp>
      <p:sp>
        <p:nvSpPr>
          <p:cNvPr id="131" name="Rectangle 43"/>
          <p:cNvSpPr>
            <a:spLocks noChangeArrowheads="1"/>
          </p:cNvSpPr>
          <p:nvPr/>
        </p:nvSpPr>
        <p:spPr bwMode="auto">
          <a:xfrm>
            <a:off x="1140778" y="267652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2" name="Rectangle 43"/>
          <p:cNvSpPr>
            <a:spLocks noChangeArrowheads="1"/>
          </p:cNvSpPr>
          <p:nvPr/>
        </p:nvSpPr>
        <p:spPr bwMode="auto">
          <a:xfrm>
            <a:off x="6067266" y="267144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667000" y="2966408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 flipH="1">
            <a:off x="5615940" y="2983230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120650" y="1317625"/>
            <a:ext cx="3527261" cy="1508124"/>
            <a:chOff x="120650" y="1317625"/>
            <a:chExt cx="3527261" cy="1508124"/>
          </a:xfrm>
        </p:grpSpPr>
        <p:grpSp>
          <p:nvGrpSpPr>
            <p:cNvPr id="146" name="Group 57"/>
            <p:cNvGrpSpPr>
              <a:grpSpLocks/>
            </p:cNvGrpSpPr>
            <p:nvPr/>
          </p:nvGrpSpPr>
          <p:grpSpPr bwMode="auto">
            <a:xfrm>
              <a:off x="1981200" y="1565274"/>
              <a:ext cx="1666711" cy="708025"/>
              <a:chOff x="3936" y="2290"/>
              <a:chExt cx="1224" cy="446"/>
            </a:xfrm>
          </p:grpSpPr>
          <p:sp>
            <p:nvSpPr>
              <p:cNvPr id="147" name="Text Box 55"/>
              <p:cNvSpPr txBox="1">
                <a:spLocks noChangeArrowheads="1"/>
              </p:cNvSpPr>
              <p:nvPr/>
            </p:nvSpPr>
            <p:spPr bwMode="auto">
              <a:xfrm>
                <a:off x="3936" y="2290"/>
                <a:ext cx="12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4000" b="1" dirty="0">
                    <a:solidFill>
                      <a:srgbClr val="990033"/>
                    </a:solidFill>
                  </a:rPr>
                  <a:t>~  N(0 , 1)</a:t>
                </a:r>
                <a:endParaRPr lang="th-TH" sz="4000" b="1" dirty="0">
                  <a:solidFill>
                    <a:srgbClr val="990033"/>
                  </a:solidFill>
                </a:endParaRPr>
              </a:p>
            </p:txBody>
          </p:sp>
          <p:sp>
            <p:nvSpPr>
              <p:cNvPr id="151" name="Text Box 56"/>
              <p:cNvSpPr txBox="1">
                <a:spLocks noChangeArrowheads="1"/>
              </p:cNvSpPr>
              <p:nvPr/>
            </p:nvSpPr>
            <p:spPr bwMode="auto">
              <a:xfrm>
                <a:off x="3958" y="2296"/>
                <a:ext cx="240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3800" b="1" dirty="0">
                    <a:solidFill>
                      <a:srgbClr val="990033"/>
                    </a:solidFill>
                  </a:rPr>
                  <a:t>:</a:t>
                </a:r>
                <a:endParaRPr lang="th-TH" sz="3800" b="1" dirty="0">
                  <a:solidFill>
                    <a:srgbClr val="990033"/>
                  </a:solidFill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20650" y="1317625"/>
              <a:ext cx="1836738" cy="1508124"/>
              <a:chOff x="120650" y="1317625"/>
              <a:chExt cx="1836738" cy="1508124"/>
            </a:xfrm>
          </p:grpSpPr>
          <p:grpSp>
            <p:nvGrpSpPr>
              <p:cNvPr id="120" name="Group 36"/>
              <p:cNvGrpSpPr>
                <a:grpSpLocks/>
              </p:cNvGrpSpPr>
              <p:nvPr/>
            </p:nvGrpSpPr>
            <p:grpSpPr bwMode="auto">
              <a:xfrm>
                <a:off x="120650" y="1371599"/>
                <a:ext cx="1836738" cy="1454150"/>
                <a:chOff x="277" y="1536"/>
                <a:chExt cx="1157" cy="916"/>
              </a:xfrm>
            </p:grpSpPr>
            <p:sp>
              <p:nvSpPr>
                <p:cNvPr id="128" name="Rectangle 37"/>
                <p:cNvSpPr>
                  <a:spLocks noChangeArrowheads="1"/>
                </p:cNvSpPr>
                <p:nvPr/>
              </p:nvSpPr>
              <p:spPr bwMode="auto">
                <a:xfrm>
                  <a:off x="611" y="1536"/>
                  <a:ext cx="681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4000" b="1" dirty="0">
                      <a:solidFill>
                        <a:srgbClr val="990033"/>
                      </a:solidFill>
                      <a:sym typeface="Symbol" pitchFamily="18" charset="2"/>
                    </a:rPr>
                    <a:t>p – p</a:t>
                  </a:r>
                </a:p>
              </p:txBody>
            </p:sp>
            <p:grpSp>
              <p:nvGrpSpPr>
                <p:cNvPr id="129" name="Group 38"/>
                <p:cNvGrpSpPr>
                  <a:grpSpLocks/>
                </p:cNvGrpSpPr>
                <p:nvPr/>
              </p:nvGrpSpPr>
              <p:grpSpPr bwMode="auto">
                <a:xfrm>
                  <a:off x="277" y="1835"/>
                  <a:ext cx="1157" cy="617"/>
                  <a:chOff x="529" y="1871"/>
                  <a:chExt cx="1157" cy="617"/>
                </a:xfrm>
              </p:grpSpPr>
              <p:sp>
                <p:nvSpPr>
                  <p:cNvPr id="140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529" y="1960"/>
                    <a:ext cx="432" cy="5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sz="3600" dirty="0">
                        <a:solidFill>
                          <a:srgbClr val="990033"/>
                        </a:solidFill>
                        <a:sym typeface="Symbol" pitchFamily="18" charset="2"/>
                      </a:rPr>
                      <a:t></a:t>
                    </a:r>
                    <a:endParaRPr kumimoji="1" lang="en-US" sz="3600" b="1" dirty="0">
                      <a:solidFill>
                        <a:srgbClr val="990033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142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738" y="1982"/>
                    <a:ext cx="864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99003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4000"/>
                  </a:p>
                </p:txBody>
              </p:sp>
              <p:sp>
                <p:nvSpPr>
                  <p:cNvPr id="145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678" y="1871"/>
                    <a:ext cx="1008" cy="5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sz="4000" b="1" dirty="0">
                        <a:solidFill>
                          <a:srgbClr val="990033"/>
                        </a:solidFill>
                        <a:sym typeface="Symbol" pitchFamily="18" charset="2"/>
                      </a:rPr>
                      <a:t>p(1 – p)/n</a:t>
                    </a:r>
                  </a:p>
                </p:txBody>
              </p:sp>
            </p:grpSp>
            <p:sp>
              <p:nvSpPr>
                <p:cNvPr id="133" name="Line 45"/>
                <p:cNvSpPr>
                  <a:spLocks noChangeShapeType="1"/>
                </p:cNvSpPr>
                <p:nvPr/>
              </p:nvSpPr>
              <p:spPr bwMode="auto">
                <a:xfrm>
                  <a:off x="416" y="1898"/>
                  <a:ext cx="979" cy="0"/>
                </a:xfrm>
                <a:prstGeom prst="line">
                  <a:avLst/>
                </a:prstGeom>
                <a:noFill/>
                <a:ln w="28575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4000"/>
                </a:p>
              </p:txBody>
            </p:sp>
          </p:grpSp>
          <p:sp>
            <p:nvSpPr>
              <p:cNvPr id="154" name="Rectangle 37"/>
              <p:cNvSpPr>
                <a:spLocks noChangeArrowheads="1"/>
              </p:cNvSpPr>
              <p:nvPr/>
            </p:nvSpPr>
            <p:spPr bwMode="auto">
              <a:xfrm>
                <a:off x="650875" y="1317625"/>
                <a:ext cx="423704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4000" b="1" dirty="0">
                    <a:solidFill>
                      <a:srgbClr val="990033"/>
                    </a:solidFill>
                    <a:sym typeface="Symbol" pitchFamily="18" charset="2"/>
                  </a:rPr>
                  <a:t>^</a:t>
                </a:r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346275" y="608329"/>
            <a:ext cx="7121325" cy="1002031"/>
            <a:chOff x="346275" y="608329"/>
            <a:chExt cx="7121325" cy="1002031"/>
          </a:xfrm>
        </p:grpSpPr>
        <p:sp>
          <p:nvSpPr>
            <p:cNvPr id="113" name="Rectangle 12"/>
            <p:cNvSpPr>
              <a:spLocks noChangeArrowheads="1"/>
            </p:cNvSpPr>
            <p:nvPr/>
          </p:nvSpPr>
          <p:spPr bwMode="auto">
            <a:xfrm>
              <a:off x="346275" y="766825"/>
              <a:ext cx="1025325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3600" b="1" dirty="0">
                  <a:solidFill>
                    <a:srgbClr val="FF0000"/>
                  </a:solidFill>
                  <a:sym typeface="Wingdings" pitchFamily="2" charset="2"/>
                </a:rPr>
                <a:t>X</a:t>
              </a:r>
            </a:p>
          </p:txBody>
        </p:sp>
        <p:sp>
          <p:nvSpPr>
            <p:cNvPr id="115" name="Text Box 33"/>
            <p:cNvSpPr txBox="1">
              <a:spLocks noChangeArrowheads="1"/>
            </p:cNvSpPr>
            <p:nvPr/>
          </p:nvSpPr>
          <p:spPr bwMode="auto">
            <a:xfrm>
              <a:off x="3843478" y="769620"/>
              <a:ext cx="362412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th-TH" sz="3600" b="1" dirty="0">
                  <a:solidFill>
                    <a:srgbClr val="006600"/>
                  </a:solidFill>
                </a:rPr>
                <a:t>เมื่อ </a:t>
              </a:r>
              <a:r>
                <a:rPr lang="en-US" sz="3600" b="1" dirty="0">
                  <a:solidFill>
                    <a:srgbClr val="006600"/>
                  </a:solidFill>
                </a:rPr>
                <a:t>n  </a:t>
              </a:r>
              <a:r>
                <a:rPr lang="en-US" sz="2800" b="1" dirty="0">
                  <a:solidFill>
                    <a:srgbClr val="006600"/>
                  </a:solidFill>
                  <a:sym typeface="Symbol" pitchFamily="18" charset="2"/>
                </a:rPr>
                <a:t> </a:t>
              </a:r>
              <a:r>
                <a:rPr lang="en-US" sz="3600" b="1" dirty="0">
                  <a:solidFill>
                    <a:srgbClr val="006600"/>
                  </a:solidFill>
                </a:rPr>
                <a:t> </a:t>
              </a:r>
              <a:r>
                <a:rPr lang="th-TH" sz="3600" b="1" dirty="0">
                  <a:solidFill>
                    <a:srgbClr val="006600"/>
                  </a:solidFill>
                </a:rPr>
                <a:t>และ </a:t>
              </a:r>
              <a:r>
                <a:rPr lang="en-US" sz="3600" b="1" dirty="0">
                  <a:solidFill>
                    <a:srgbClr val="006600"/>
                  </a:solidFill>
                </a:rPr>
                <a:t>p  </a:t>
              </a:r>
              <a:r>
                <a:rPr lang="en-US" sz="2800" b="1" dirty="0">
                  <a:solidFill>
                    <a:srgbClr val="006600"/>
                  </a:solidFill>
                  <a:sym typeface="Symbol" pitchFamily="18" charset="2"/>
                </a:rPr>
                <a:t></a:t>
              </a:r>
              <a:r>
                <a:rPr lang="en-US" sz="3600" b="1" dirty="0">
                  <a:solidFill>
                    <a:srgbClr val="006600"/>
                  </a:solidFill>
                  <a:sym typeface="Symbol" pitchFamily="18" charset="2"/>
                </a:rPr>
                <a:t> 0.5</a:t>
              </a:r>
              <a:endParaRPr lang="th-TH" sz="3600" b="1" dirty="0">
                <a:solidFill>
                  <a:srgbClr val="006600"/>
                </a:solidFill>
                <a:sym typeface="Symbol" pitchFamily="18" charset="2"/>
              </a:endParaRPr>
            </a:p>
          </p:txBody>
        </p:sp>
        <p:sp>
          <p:nvSpPr>
            <p:cNvPr id="152" name="Rectangle 12"/>
            <p:cNvSpPr>
              <a:spLocks noChangeArrowheads="1"/>
            </p:cNvSpPr>
            <p:nvPr/>
          </p:nvSpPr>
          <p:spPr bwMode="auto">
            <a:xfrm>
              <a:off x="685800" y="762000"/>
              <a:ext cx="18288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3600" b="1" dirty="0">
                  <a:solidFill>
                    <a:srgbClr val="FF0000"/>
                  </a:solidFill>
                  <a:sym typeface="Wingdings" pitchFamily="2" charset="2"/>
                </a:rPr>
                <a:t>~ B(n  , p )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2133600" y="608329"/>
              <a:ext cx="1669031" cy="1002031"/>
              <a:chOff x="6546522" y="933449"/>
              <a:chExt cx="1669031" cy="1002031"/>
            </a:xfrm>
          </p:grpSpPr>
          <p:sp>
            <p:nvSpPr>
              <p:cNvPr id="153" name="Rectangle 37"/>
              <p:cNvSpPr>
                <a:spLocks noChangeArrowheads="1"/>
              </p:cNvSpPr>
              <p:nvPr/>
            </p:nvSpPr>
            <p:spPr bwMode="auto">
              <a:xfrm>
                <a:off x="6546522" y="1093786"/>
                <a:ext cx="1282327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th-TH" sz="3600" b="1" dirty="0">
                    <a:solidFill>
                      <a:srgbClr val="990033"/>
                    </a:solidFill>
                    <a:sym typeface="Symbol" pitchFamily="18" charset="2"/>
                  </a:rPr>
                  <a:t>และ </a:t>
                </a:r>
                <a:r>
                  <a:rPr kumimoji="1" lang="en-US" sz="3600" b="1" dirty="0">
                    <a:solidFill>
                      <a:srgbClr val="990033"/>
                    </a:solidFill>
                    <a:sym typeface="Symbol" pitchFamily="18" charset="2"/>
                  </a:rPr>
                  <a:t>p = </a:t>
                </a:r>
              </a:p>
            </p:txBody>
          </p:sp>
          <p:sp>
            <p:nvSpPr>
              <p:cNvPr id="155" name="Rectangle 37"/>
              <p:cNvSpPr>
                <a:spLocks noChangeArrowheads="1"/>
              </p:cNvSpPr>
              <p:nvPr/>
            </p:nvSpPr>
            <p:spPr bwMode="auto">
              <a:xfrm>
                <a:off x="7103991" y="1032510"/>
                <a:ext cx="1111562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3600" b="1" dirty="0">
                    <a:solidFill>
                      <a:srgbClr val="990033"/>
                    </a:solidFill>
                    <a:sym typeface="Symbol" pitchFamily="18" charset="2"/>
                  </a:rPr>
                  <a:t>^</a:t>
                </a:r>
              </a:p>
            </p:txBody>
          </p:sp>
          <p:sp>
            <p:nvSpPr>
              <p:cNvPr id="156" name="Rectangle 37"/>
              <p:cNvSpPr>
                <a:spLocks noChangeArrowheads="1"/>
              </p:cNvSpPr>
              <p:nvPr/>
            </p:nvSpPr>
            <p:spPr bwMode="auto">
              <a:xfrm>
                <a:off x="7690731" y="933449"/>
                <a:ext cx="440843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3600" b="1" dirty="0">
                    <a:solidFill>
                      <a:srgbClr val="990033"/>
                    </a:solidFill>
                    <a:sym typeface="Symbol" pitchFamily="18" charset="2"/>
                  </a:rPr>
                  <a:t>X</a:t>
                </a:r>
              </a:p>
            </p:txBody>
          </p:sp>
          <p:sp>
            <p:nvSpPr>
              <p:cNvPr id="171" name="Rectangle 37"/>
              <p:cNvSpPr>
                <a:spLocks noChangeArrowheads="1"/>
              </p:cNvSpPr>
              <p:nvPr/>
            </p:nvSpPr>
            <p:spPr bwMode="auto">
              <a:xfrm>
                <a:off x="7724460" y="1173480"/>
                <a:ext cx="491093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3600" b="1" dirty="0">
                    <a:solidFill>
                      <a:srgbClr val="990033"/>
                    </a:solidFill>
                    <a:sym typeface="Symbol" pitchFamily="18" charset="2"/>
                  </a:rPr>
                  <a:t>n</a:t>
                </a:r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 flipH="1">
                <a:off x="7758469" y="1413510"/>
                <a:ext cx="281824" cy="0"/>
              </a:xfrm>
              <a:prstGeom prst="line">
                <a:avLst/>
              </a:prstGeom>
              <a:ln w="19050">
                <a:solidFill>
                  <a:srgbClr val="99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Group 20"/>
          <p:cNvGrpSpPr/>
          <p:nvPr/>
        </p:nvGrpSpPr>
        <p:grpSpPr>
          <a:xfrm>
            <a:off x="2057400" y="4306669"/>
            <a:ext cx="5867400" cy="951131"/>
            <a:chOff x="3124200" y="4179570"/>
            <a:chExt cx="5867400" cy="951131"/>
          </a:xfrm>
        </p:grpSpPr>
        <p:sp>
          <p:nvSpPr>
            <p:cNvPr id="183" name="Rectangle 42"/>
            <p:cNvSpPr>
              <a:spLocks noChangeArrowheads="1"/>
            </p:cNvSpPr>
            <p:nvPr/>
          </p:nvSpPr>
          <p:spPr bwMode="auto">
            <a:xfrm>
              <a:off x="5550852" y="4320540"/>
              <a:ext cx="1131888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3600" b="1" u="sng" dirty="0">
                  <a:solidFill>
                    <a:srgbClr val="7030A0"/>
                  </a:solidFill>
                  <a:sym typeface="Symbol" pitchFamily="18" charset="2"/>
                </a:rPr>
                <a:t>&lt;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 p  </a:t>
              </a:r>
              <a:r>
                <a:rPr kumimoji="1" lang="en-US" sz="3600" b="1" u="sng" dirty="0">
                  <a:solidFill>
                    <a:srgbClr val="7030A0"/>
                  </a:solidFill>
                  <a:sym typeface="Symbol" pitchFamily="18" charset="2"/>
                </a:rPr>
                <a:t>&lt;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4228782" y="4179570"/>
              <a:ext cx="1392468" cy="951131"/>
              <a:chOff x="690669" y="5367197"/>
              <a:chExt cx="1392468" cy="951131"/>
            </a:xfrm>
          </p:grpSpPr>
          <p:grpSp>
            <p:nvGrpSpPr>
              <p:cNvPr id="157" name="Group 102"/>
              <p:cNvGrpSpPr/>
              <p:nvPr/>
            </p:nvGrpSpPr>
            <p:grpSpPr>
              <a:xfrm>
                <a:off x="690669" y="5367197"/>
                <a:ext cx="1392468" cy="951131"/>
                <a:chOff x="2221230" y="4199394"/>
                <a:chExt cx="1392468" cy="951131"/>
              </a:xfrm>
            </p:grpSpPr>
            <p:grpSp>
              <p:nvGrpSpPr>
                <p:cNvPr id="158" name="Group 90"/>
                <p:cNvGrpSpPr/>
                <p:nvPr/>
              </p:nvGrpSpPr>
              <p:grpSpPr>
                <a:xfrm>
                  <a:off x="2341806" y="4199394"/>
                  <a:ext cx="1271892" cy="951131"/>
                  <a:chOff x="3364231" y="4919979"/>
                  <a:chExt cx="1271892" cy="951131"/>
                </a:xfrm>
              </p:grpSpPr>
              <p:sp>
                <p:nvSpPr>
                  <p:cNvPr id="169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364231" y="4919979"/>
                    <a:ext cx="1271892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p(1 – p)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70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38950" y="5224779"/>
                    <a:ext cx="446093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161" name="Group 101"/>
                <p:cNvGrpSpPr/>
                <p:nvPr/>
              </p:nvGrpSpPr>
              <p:grpSpPr>
                <a:xfrm>
                  <a:off x="2221230" y="4354514"/>
                  <a:ext cx="1250114" cy="550492"/>
                  <a:chOff x="2221230" y="4354514"/>
                  <a:chExt cx="1250114" cy="550492"/>
                </a:xfrm>
              </p:grpSpPr>
              <p:sp>
                <p:nvSpPr>
                  <p:cNvPr id="162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374064" y="4362595"/>
                    <a:ext cx="109728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/>
                  </a:p>
                </p:txBody>
              </p:sp>
              <p:sp>
                <p:nvSpPr>
                  <p:cNvPr id="165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97429" y="4354514"/>
                    <a:ext cx="73152" cy="54864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66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221230" y="4831854"/>
                    <a:ext cx="76199" cy="73152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</p:grpSp>
          <p:sp>
            <p:nvSpPr>
              <p:cNvPr id="148" name="Line 43"/>
              <p:cNvSpPr>
                <a:spLocks noChangeShapeType="1"/>
              </p:cNvSpPr>
              <p:nvPr/>
            </p:nvSpPr>
            <p:spPr bwMode="auto">
              <a:xfrm>
                <a:off x="882445" y="5895697"/>
                <a:ext cx="1005840" cy="0"/>
              </a:xfrm>
              <a:prstGeom prst="line">
                <a:avLst/>
              </a:prstGeom>
              <a:noFill/>
              <a:ln w="19050">
                <a:solidFill>
                  <a:srgbClr val="7030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3600"/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3124200" y="4248150"/>
              <a:ext cx="1319412" cy="830580"/>
              <a:chOff x="452438" y="4271010"/>
              <a:chExt cx="1319412" cy="830580"/>
            </a:xfrm>
          </p:grpSpPr>
          <p:sp>
            <p:nvSpPr>
              <p:cNvPr id="164" name="Rectangle 42"/>
              <p:cNvSpPr>
                <a:spLocks noChangeArrowheads="1"/>
              </p:cNvSpPr>
              <p:nvPr/>
            </p:nvSpPr>
            <p:spPr bwMode="auto">
              <a:xfrm>
                <a:off x="452438" y="4339590"/>
                <a:ext cx="1319412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3600" b="1" dirty="0">
                    <a:solidFill>
                      <a:srgbClr val="7030A0"/>
                    </a:solidFill>
                    <a:sym typeface="Symbol" pitchFamily="18" charset="2"/>
                  </a:rPr>
                  <a:t>p </a:t>
                </a:r>
                <a:r>
                  <a:rPr kumimoji="1" lang="th-TH" sz="3600" b="1" dirty="0">
                    <a:solidFill>
                      <a:srgbClr val="7030A0"/>
                    </a:solidFill>
                    <a:sym typeface="Symbol" pitchFamily="18" charset="2"/>
                  </a:rPr>
                  <a:t>– </a:t>
                </a:r>
                <a:r>
                  <a:rPr kumimoji="1" lang="en-US" sz="3600" b="1" dirty="0">
                    <a:solidFill>
                      <a:srgbClr val="7030A0"/>
                    </a:solidFill>
                    <a:sym typeface="Symbol" pitchFamily="18" charset="2"/>
                  </a:rPr>
                  <a:t>1.96 </a:t>
                </a:r>
                <a:r>
                  <a:rPr kumimoji="1" lang="th-TH" sz="3600" b="1" dirty="0">
                    <a:solidFill>
                      <a:srgbClr val="7030A0"/>
                    </a:solidFill>
                    <a:sym typeface="Symbol" pitchFamily="18" charset="2"/>
                  </a:rPr>
                  <a:t> </a:t>
                </a:r>
                <a:endParaRPr kumimoji="1" lang="en-US" sz="3600" b="1" dirty="0">
                  <a:solidFill>
                    <a:srgbClr val="7030A0"/>
                  </a:solidFill>
                  <a:sym typeface="Symbol" pitchFamily="18" charset="2"/>
                </a:endParaRPr>
              </a:p>
            </p:txBody>
          </p:sp>
          <p:sp>
            <p:nvSpPr>
              <p:cNvPr id="172" name="Rectangle 42"/>
              <p:cNvSpPr>
                <a:spLocks noChangeArrowheads="1"/>
              </p:cNvSpPr>
              <p:nvPr/>
            </p:nvSpPr>
            <p:spPr bwMode="auto">
              <a:xfrm>
                <a:off x="455930" y="4271010"/>
                <a:ext cx="477093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3600" b="1" dirty="0">
                    <a:solidFill>
                      <a:srgbClr val="7030A0"/>
                    </a:solidFill>
                    <a:sym typeface="Symbol" pitchFamily="18" charset="2"/>
                  </a:rPr>
                  <a:t>^</a:t>
                </a:r>
              </a:p>
            </p:txBody>
          </p:sp>
        </p:grpSp>
        <p:grpSp>
          <p:nvGrpSpPr>
            <p:cNvPr id="173" name="Group 172"/>
            <p:cNvGrpSpPr/>
            <p:nvPr/>
          </p:nvGrpSpPr>
          <p:grpSpPr>
            <a:xfrm>
              <a:off x="6477000" y="4255770"/>
              <a:ext cx="1319412" cy="830580"/>
              <a:chOff x="452438" y="4271010"/>
              <a:chExt cx="1319412" cy="830580"/>
            </a:xfrm>
          </p:grpSpPr>
          <p:sp>
            <p:nvSpPr>
              <p:cNvPr id="174" name="Rectangle 42"/>
              <p:cNvSpPr>
                <a:spLocks noChangeArrowheads="1"/>
              </p:cNvSpPr>
              <p:nvPr/>
            </p:nvSpPr>
            <p:spPr bwMode="auto">
              <a:xfrm>
                <a:off x="452438" y="4339590"/>
                <a:ext cx="1319412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3600" b="1" dirty="0">
                    <a:solidFill>
                      <a:srgbClr val="7030A0"/>
                    </a:solidFill>
                    <a:sym typeface="Symbol" pitchFamily="18" charset="2"/>
                  </a:rPr>
                  <a:t>p +</a:t>
                </a:r>
                <a:r>
                  <a:rPr kumimoji="1" lang="th-TH" sz="3600" b="1" dirty="0">
                    <a:solidFill>
                      <a:srgbClr val="7030A0"/>
                    </a:solidFill>
                    <a:sym typeface="Symbol" pitchFamily="18" charset="2"/>
                  </a:rPr>
                  <a:t> </a:t>
                </a:r>
                <a:r>
                  <a:rPr kumimoji="1" lang="en-US" sz="3600" b="1" dirty="0">
                    <a:solidFill>
                      <a:srgbClr val="7030A0"/>
                    </a:solidFill>
                    <a:sym typeface="Symbol" pitchFamily="18" charset="2"/>
                  </a:rPr>
                  <a:t>1.96 </a:t>
                </a:r>
                <a:r>
                  <a:rPr kumimoji="1" lang="th-TH" sz="3600" b="1" dirty="0">
                    <a:solidFill>
                      <a:srgbClr val="7030A0"/>
                    </a:solidFill>
                    <a:sym typeface="Symbol" pitchFamily="18" charset="2"/>
                  </a:rPr>
                  <a:t> </a:t>
                </a:r>
                <a:endParaRPr kumimoji="1" lang="en-US" sz="3600" b="1" dirty="0">
                  <a:solidFill>
                    <a:srgbClr val="7030A0"/>
                  </a:solidFill>
                  <a:sym typeface="Symbol" pitchFamily="18" charset="2"/>
                </a:endParaRPr>
              </a:p>
            </p:txBody>
          </p:sp>
          <p:sp>
            <p:nvSpPr>
              <p:cNvPr id="175" name="Rectangle 42"/>
              <p:cNvSpPr>
                <a:spLocks noChangeArrowheads="1"/>
              </p:cNvSpPr>
              <p:nvPr/>
            </p:nvSpPr>
            <p:spPr bwMode="auto">
              <a:xfrm>
                <a:off x="455930" y="4271010"/>
                <a:ext cx="477093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3600" b="1" dirty="0">
                    <a:solidFill>
                      <a:srgbClr val="7030A0"/>
                    </a:solidFill>
                    <a:sym typeface="Symbol" pitchFamily="18" charset="2"/>
                  </a:rPr>
                  <a:t>^</a:t>
                </a:r>
              </a:p>
            </p:txBody>
          </p:sp>
        </p:grpSp>
        <p:grpSp>
          <p:nvGrpSpPr>
            <p:cNvPr id="176" name="Group 175"/>
            <p:cNvGrpSpPr/>
            <p:nvPr/>
          </p:nvGrpSpPr>
          <p:grpSpPr>
            <a:xfrm>
              <a:off x="7599132" y="4179570"/>
              <a:ext cx="1392468" cy="951131"/>
              <a:chOff x="690669" y="5367197"/>
              <a:chExt cx="1392468" cy="951131"/>
            </a:xfrm>
          </p:grpSpPr>
          <p:grpSp>
            <p:nvGrpSpPr>
              <p:cNvPr id="177" name="Group 102"/>
              <p:cNvGrpSpPr/>
              <p:nvPr/>
            </p:nvGrpSpPr>
            <p:grpSpPr>
              <a:xfrm>
                <a:off x="690669" y="5367197"/>
                <a:ext cx="1392468" cy="951131"/>
                <a:chOff x="2221230" y="4199394"/>
                <a:chExt cx="1392468" cy="951131"/>
              </a:xfrm>
            </p:grpSpPr>
            <p:grpSp>
              <p:nvGrpSpPr>
                <p:cNvPr id="180" name="Group 90"/>
                <p:cNvGrpSpPr/>
                <p:nvPr/>
              </p:nvGrpSpPr>
              <p:grpSpPr>
                <a:xfrm>
                  <a:off x="2341806" y="4199394"/>
                  <a:ext cx="1271892" cy="951131"/>
                  <a:chOff x="3364231" y="4919979"/>
                  <a:chExt cx="1271892" cy="951131"/>
                </a:xfrm>
              </p:grpSpPr>
              <p:sp>
                <p:nvSpPr>
                  <p:cNvPr id="210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364231" y="4919979"/>
                    <a:ext cx="1271892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p(1 – p)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11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38950" y="5224779"/>
                    <a:ext cx="446093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181" name="Group 101"/>
                <p:cNvGrpSpPr/>
                <p:nvPr/>
              </p:nvGrpSpPr>
              <p:grpSpPr>
                <a:xfrm>
                  <a:off x="2221230" y="4354514"/>
                  <a:ext cx="1250114" cy="550492"/>
                  <a:chOff x="2221230" y="4354514"/>
                  <a:chExt cx="1250114" cy="550492"/>
                </a:xfrm>
              </p:grpSpPr>
              <p:sp>
                <p:nvSpPr>
                  <p:cNvPr id="207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374064" y="4362595"/>
                    <a:ext cx="109728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/>
                  </a:p>
                </p:txBody>
              </p:sp>
              <p:sp>
                <p:nvSpPr>
                  <p:cNvPr id="208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97429" y="4354514"/>
                    <a:ext cx="73152" cy="54864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09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221230" y="4831854"/>
                    <a:ext cx="76199" cy="73152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</p:grpSp>
          <p:sp>
            <p:nvSpPr>
              <p:cNvPr id="179" name="Line 43"/>
              <p:cNvSpPr>
                <a:spLocks noChangeShapeType="1"/>
              </p:cNvSpPr>
              <p:nvPr/>
            </p:nvSpPr>
            <p:spPr bwMode="auto">
              <a:xfrm>
                <a:off x="882445" y="5895697"/>
                <a:ext cx="1005840" cy="0"/>
              </a:xfrm>
              <a:prstGeom prst="line">
                <a:avLst/>
              </a:prstGeom>
              <a:noFill/>
              <a:ln w="19050">
                <a:solidFill>
                  <a:srgbClr val="7030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3600"/>
              </a:p>
            </p:txBody>
          </p:sp>
        </p:grpSp>
      </p:grpSp>
      <p:sp>
        <p:nvSpPr>
          <p:cNvPr id="79" name="Rectangle 43"/>
          <p:cNvSpPr>
            <a:spLocks noChangeArrowheads="1"/>
          </p:cNvSpPr>
          <p:nvPr/>
        </p:nvSpPr>
        <p:spPr bwMode="auto">
          <a:xfrm>
            <a:off x="4953000" y="1283979"/>
            <a:ext cx="2176256" cy="6699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571500" indent="-571500"/>
            <a:r>
              <a:rPr lang="th-TH" sz="3200" b="1" dirty="0">
                <a:solidFill>
                  <a:srgbClr val="7030A0"/>
                </a:solidFill>
              </a:rPr>
              <a:t>ให้  </a:t>
            </a:r>
            <a:r>
              <a:rPr lang="en-US" sz="3200" b="1" dirty="0">
                <a:solidFill>
                  <a:srgbClr val="7030A0"/>
                </a:solidFill>
              </a:rPr>
              <a:t>1 – </a:t>
            </a:r>
            <a:r>
              <a:rPr lang="en-US" sz="2600" b="1" dirty="0">
                <a:solidFill>
                  <a:srgbClr val="7030A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7030A0"/>
                </a:solidFill>
                <a:sym typeface="Symbol"/>
              </a:rPr>
              <a:t> =</a:t>
            </a:r>
            <a:r>
              <a:rPr lang="en-US" sz="3200" b="1" dirty="0">
                <a:solidFill>
                  <a:srgbClr val="7030A0"/>
                </a:solidFill>
              </a:rPr>
              <a:t> 0.95 </a:t>
            </a:r>
            <a:endParaRPr lang="th-TH" sz="3200" b="1" dirty="0">
              <a:solidFill>
                <a:srgbClr val="7030A0"/>
              </a:solidFill>
              <a:sym typeface="Symbol" pitchFamily="18" charset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ECDC3-56F6-49CF-923A-472C3B1D3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846973-FE46-4264-9F73-A695060CE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904" y="4111409"/>
            <a:ext cx="725487" cy="9632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7B9F6F-18F4-4017-98AA-3FC93306D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874" y="4118555"/>
            <a:ext cx="725487" cy="9632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2A368A-E7EE-46B5-B44A-D6135E478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145" y="4127862"/>
            <a:ext cx="725487" cy="9632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F1BECA8-FC66-4E15-9AE6-3C6E89455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548" y="4127862"/>
            <a:ext cx="725487" cy="9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0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1" name="Freeform 15"/>
          <p:cNvSpPr>
            <a:spLocks/>
          </p:cNvSpPr>
          <p:nvPr/>
        </p:nvSpPr>
        <p:spPr bwMode="auto">
          <a:xfrm>
            <a:off x="4438650" y="1619250"/>
            <a:ext cx="1076325" cy="1638300"/>
          </a:xfrm>
          <a:custGeom>
            <a:avLst/>
            <a:gdLst>
              <a:gd name="T0" fmla="*/ 0 w 678"/>
              <a:gd name="T1" fmla="*/ 1638300 h 1032"/>
              <a:gd name="T2" fmla="*/ 0 w 678"/>
              <a:gd name="T3" fmla="*/ 0 h 1032"/>
              <a:gd name="T4" fmla="*/ 152400 w 678"/>
              <a:gd name="T5" fmla="*/ 57150 h 1032"/>
              <a:gd name="T6" fmla="*/ 333375 w 678"/>
              <a:gd name="T7" fmla="*/ 247650 h 1032"/>
              <a:gd name="T8" fmla="*/ 447675 w 678"/>
              <a:gd name="T9" fmla="*/ 457200 h 1032"/>
              <a:gd name="T10" fmla="*/ 581025 w 678"/>
              <a:gd name="T11" fmla="*/ 685800 h 1032"/>
              <a:gd name="T12" fmla="*/ 666750 w 678"/>
              <a:gd name="T13" fmla="*/ 857250 h 1032"/>
              <a:gd name="T14" fmla="*/ 752475 w 678"/>
              <a:gd name="T15" fmla="*/ 990600 h 1032"/>
              <a:gd name="T16" fmla="*/ 838200 w 678"/>
              <a:gd name="T17" fmla="*/ 1143000 h 1032"/>
              <a:gd name="T18" fmla="*/ 901700 w 678"/>
              <a:gd name="T19" fmla="*/ 1238250 h 1032"/>
              <a:gd name="T20" fmla="*/ 1027113 w 678"/>
              <a:gd name="T21" fmla="*/ 1352550 h 1032"/>
              <a:gd name="T22" fmla="*/ 1076325 w 678"/>
              <a:gd name="T23" fmla="*/ 1381125 h 1032"/>
              <a:gd name="T24" fmla="*/ 1076325 w 678"/>
              <a:gd name="T25" fmla="*/ 1638300 h 1032"/>
              <a:gd name="T26" fmla="*/ 0 w 678"/>
              <a:gd name="T27" fmla="*/ 1638300 h 103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78"/>
              <a:gd name="T43" fmla="*/ 0 h 1032"/>
              <a:gd name="T44" fmla="*/ 678 w 678"/>
              <a:gd name="T45" fmla="*/ 1032 h 103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78" h="1032">
                <a:moveTo>
                  <a:pt x="0" y="1032"/>
                </a:moveTo>
                <a:lnTo>
                  <a:pt x="0" y="0"/>
                </a:lnTo>
                <a:lnTo>
                  <a:pt x="96" y="36"/>
                </a:lnTo>
                <a:lnTo>
                  <a:pt x="210" y="156"/>
                </a:lnTo>
                <a:lnTo>
                  <a:pt x="282" y="288"/>
                </a:lnTo>
                <a:lnTo>
                  <a:pt x="366" y="432"/>
                </a:lnTo>
                <a:lnTo>
                  <a:pt x="420" y="540"/>
                </a:lnTo>
                <a:lnTo>
                  <a:pt x="474" y="624"/>
                </a:lnTo>
                <a:lnTo>
                  <a:pt x="528" y="720"/>
                </a:lnTo>
                <a:lnTo>
                  <a:pt x="568" y="780"/>
                </a:lnTo>
                <a:lnTo>
                  <a:pt x="647" y="852"/>
                </a:lnTo>
                <a:lnTo>
                  <a:pt x="678" y="870"/>
                </a:lnTo>
                <a:lnTo>
                  <a:pt x="67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137232" name="Freeform 16"/>
          <p:cNvSpPr>
            <a:spLocks/>
          </p:cNvSpPr>
          <p:nvPr/>
        </p:nvSpPr>
        <p:spPr bwMode="auto">
          <a:xfrm>
            <a:off x="3371850" y="1619250"/>
            <a:ext cx="1066800" cy="1657350"/>
          </a:xfrm>
          <a:custGeom>
            <a:avLst/>
            <a:gdLst>
              <a:gd name="T0" fmla="*/ 1066800 w 666"/>
              <a:gd name="T1" fmla="*/ 1657350 h 1044"/>
              <a:gd name="T2" fmla="*/ 1066800 w 666"/>
              <a:gd name="T3" fmla="*/ 0 h 1044"/>
              <a:gd name="T4" fmla="*/ 922638 w 666"/>
              <a:gd name="T5" fmla="*/ 95250 h 1044"/>
              <a:gd name="T6" fmla="*/ 759254 w 666"/>
              <a:gd name="T7" fmla="*/ 285750 h 1044"/>
              <a:gd name="T8" fmla="*/ 682368 w 666"/>
              <a:gd name="T9" fmla="*/ 514350 h 1044"/>
              <a:gd name="T10" fmla="*/ 528595 w 666"/>
              <a:gd name="T11" fmla="*/ 742950 h 1044"/>
              <a:gd name="T12" fmla="*/ 451708 w 666"/>
              <a:gd name="T13" fmla="*/ 895350 h 1044"/>
              <a:gd name="T14" fmla="*/ 336378 w 666"/>
              <a:gd name="T15" fmla="*/ 1047750 h 1044"/>
              <a:gd name="T16" fmla="*/ 221049 w 666"/>
              <a:gd name="T17" fmla="*/ 1200150 h 1044"/>
              <a:gd name="T18" fmla="*/ 172995 w 666"/>
              <a:gd name="T19" fmla="*/ 1257300 h 1044"/>
              <a:gd name="T20" fmla="*/ 48054 w 666"/>
              <a:gd name="T21" fmla="*/ 1371600 h 1044"/>
              <a:gd name="T22" fmla="*/ 0 w 666"/>
              <a:gd name="T23" fmla="*/ 1400175 h 1044"/>
              <a:gd name="T24" fmla="*/ 0 w 666"/>
              <a:gd name="T25" fmla="*/ 1657350 h 1044"/>
              <a:gd name="T26" fmla="*/ 1066800 w 666"/>
              <a:gd name="T27" fmla="*/ 1657350 h 104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66"/>
              <a:gd name="T43" fmla="*/ 0 h 1044"/>
              <a:gd name="T44" fmla="*/ 666 w 666"/>
              <a:gd name="T45" fmla="*/ 1044 h 104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66" h="1044">
                <a:moveTo>
                  <a:pt x="666" y="1044"/>
                </a:moveTo>
                <a:lnTo>
                  <a:pt x="666" y="0"/>
                </a:lnTo>
                <a:lnTo>
                  <a:pt x="576" y="60"/>
                </a:lnTo>
                <a:lnTo>
                  <a:pt x="474" y="180"/>
                </a:lnTo>
                <a:lnTo>
                  <a:pt x="426" y="324"/>
                </a:lnTo>
                <a:lnTo>
                  <a:pt x="330" y="468"/>
                </a:lnTo>
                <a:lnTo>
                  <a:pt x="282" y="564"/>
                </a:lnTo>
                <a:lnTo>
                  <a:pt x="210" y="660"/>
                </a:lnTo>
                <a:lnTo>
                  <a:pt x="138" y="756"/>
                </a:lnTo>
                <a:lnTo>
                  <a:pt x="108" y="792"/>
                </a:lnTo>
                <a:lnTo>
                  <a:pt x="30" y="864"/>
                </a:lnTo>
                <a:lnTo>
                  <a:pt x="0" y="882"/>
                </a:lnTo>
                <a:lnTo>
                  <a:pt x="0" y="1044"/>
                </a:lnTo>
                <a:lnTo>
                  <a:pt x="666" y="1044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grpSp>
        <p:nvGrpSpPr>
          <p:cNvPr id="2" name="Group 128"/>
          <p:cNvGrpSpPr>
            <a:grpSpLocks/>
          </p:cNvGrpSpPr>
          <p:nvPr/>
        </p:nvGrpSpPr>
        <p:grpSpPr bwMode="auto">
          <a:xfrm>
            <a:off x="3352800" y="3051175"/>
            <a:ext cx="2162175" cy="273050"/>
            <a:chOff x="2112" y="1922"/>
            <a:chExt cx="1362" cy="172"/>
          </a:xfrm>
        </p:grpSpPr>
        <p:sp>
          <p:nvSpPr>
            <p:cNvPr id="18500" name="Line 27"/>
            <p:cNvSpPr>
              <a:spLocks noChangeShapeType="1"/>
            </p:cNvSpPr>
            <p:nvPr/>
          </p:nvSpPr>
          <p:spPr bwMode="auto">
            <a:xfrm>
              <a:off x="2112" y="1968"/>
              <a:ext cx="0" cy="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Line 28"/>
            <p:cNvSpPr>
              <a:spLocks noChangeShapeType="1"/>
            </p:cNvSpPr>
            <p:nvPr/>
          </p:nvSpPr>
          <p:spPr bwMode="auto">
            <a:xfrm>
              <a:off x="3474" y="1922"/>
              <a:ext cx="0" cy="14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7"/>
          <p:cNvGrpSpPr>
            <a:grpSpLocks/>
          </p:cNvGrpSpPr>
          <p:nvPr/>
        </p:nvGrpSpPr>
        <p:grpSpPr bwMode="auto">
          <a:xfrm>
            <a:off x="3336925" y="2317750"/>
            <a:ext cx="2165350" cy="609600"/>
            <a:chOff x="2102" y="1460"/>
            <a:chExt cx="1364" cy="384"/>
          </a:xfrm>
        </p:grpSpPr>
        <p:sp>
          <p:nvSpPr>
            <p:cNvPr id="18495" name="Text Box 21"/>
            <p:cNvSpPr txBox="1">
              <a:spLocks noChangeArrowheads="1"/>
            </p:cNvSpPr>
            <p:nvPr/>
          </p:nvSpPr>
          <p:spPr bwMode="auto">
            <a:xfrm>
              <a:off x="2406" y="1460"/>
              <a:ext cx="77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400" b="1"/>
                <a:t>95%</a:t>
              </a:r>
            </a:p>
          </p:txBody>
        </p:sp>
        <p:sp>
          <p:nvSpPr>
            <p:cNvPr id="18496" name="Line 29"/>
            <p:cNvSpPr>
              <a:spLocks noChangeShapeType="1"/>
            </p:cNvSpPr>
            <p:nvPr/>
          </p:nvSpPr>
          <p:spPr bwMode="auto">
            <a:xfrm>
              <a:off x="2112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30"/>
            <p:cNvSpPr>
              <a:spLocks noChangeShapeType="1"/>
            </p:cNvSpPr>
            <p:nvPr/>
          </p:nvSpPr>
          <p:spPr bwMode="auto">
            <a:xfrm>
              <a:off x="3464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35"/>
            <p:cNvSpPr>
              <a:spLocks noChangeShapeType="1"/>
            </p:cNvSpPr>
            <p:nvPr/>
          </p:nvSpPr>
          <p:spPr bwMode="auto">
            <a:xfrm flipH="1">
              <a:off x="2102" y="1678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Line 36"/>
            <p:cNvSpPr>
              <a:spLocks noChangeShapeType="1"/>
            </p:cNvSpPr>
            <p:nvPr/>
          </p:nvSpPr>
          <p:spPr bwMode="auto">
            <a:xfrm>
              <a:off x="2986" y="168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2895600" y="3159125"/>
            <a:ext cx="1066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 dirty="0"/>
              <a:t>– 1.96</a:t>
            </a:r>
            <a:endParaRPr lang="th-TH" sz="3200" b="1" dirty="0"/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5165725" y="3155950"/>
            <a:ext cx="7016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200" b="1" dirty="0"/>
              <a:t>1.96</a:t>
            </a:r>
            <a:endParaRPr lang="th-TH" sz="3200" b="1" dirty="0"/>
          </a:p>
        </p:txBody>
      </p:sp>
      <p:grpSp>
        <p:nvGrpSpPr>
          <p:cNvPr id="4" name="Group 126"/>
          <p:cNvGrpSpPr>
            <a:grpSpLocks/>
          </p:cNvGrpSpPr>
          <p:nvPr/>
        </p:nvGrpSpPr>
        <p:grpSpPr bwMode="auto">
          <a:xfrm>
            <a:off x="2819400" y="1600200"/>
            <a:ext cx="3289300" cy="2141539"/>
            <a:chOff x="1776" y="1008"/>
            <a:chExt cx="2072" cy="1349"/>
          </a:xfrm>
        </p:grpSpPr>
        <p:sp>
          <p:nvSpPr>
            <p:cNvPr id="18490" name="Line 17"/>
            <p:cNvSpPr>
              <a:spLocks noChangeShapeType="1"/>
            </p:cNvSpPr>
            <p:nvPr/>
          </p:nvSpPr>
          <p:spPr bwMode="auto">
            <a:xfrm>
              <a:off x="2796" y="1008"/>
              <a:ext cx="0" cy="105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Freeform 18"/>
            <p:cNvSpPr>
              <a:spLocks/>
            </p:cNvSpPr>
            <p:nvPr/>
          </p:nvSpPr>
          <p:spPr bwMode="auto">
            <a:xfrm>
              <a:off x="2818" y="1028"/>
              <a:ext cx="1030" cy="991"/>
            </a:xfrm>
            <a:custGeom>
              <a:avLst/>
              <a:gdLst>
                <a:gd name="T0" fmla="*/ 1029 w 1030"/>
                <a:gd name="T1" fmla="*/ 990 h 991"/>
                <a:gd name="T2" fmla="*/ 921 w 1030"/>
                <a:gd name="T3" fmla="*/ 980 h 991"/>
                <a:gd name="T4" fmla="*/ 866 w 1030"/>
                <a:gd name="T5" fmla="*/ 967 h 991"/>
                <a:gd name="T6" fmla="*/ 813 w 1030"/>
                <a:gd name="T7" fmla="*/ 952 h 991"/>
                <a:gd name="T8" fmla="*/ 758 w 1030"/>
                <a:gd name="T9" fmla="*/ 929 h 991"/>
                <a:gd name="T10" fmla="*/ 703 w 1030"/>
                <a:gd name="T11" fmla="*/ 897 h 991"/>
                <a:gd name="T12" fmla="*/ 651 w 1030"/>
                <a:gd name="T13" fmla="*/ 857 h 991"/>
                <a:gd name="T14" fmla="*/ 541 w 1030"/>
                <a:gd name="T15" fmla="*/ 743 h 991"/>
                <a:gd name="T16" fmla="*/ 433 w 1030"/>
                <a:gd name="T17" fmla="*/ 581 h 991"/>
                <a:gd name="T18" fmla="*/ 325 w 1030"/>
                <a:gd name="T19" fmla="*/ 386 h 991"/>
                <a:gd name="T20" fmla="*/ 270 w 1030"/>
                <a:gd name="T21" fmla="*/ 287 h 991"/>
                <a:gd name="T22" fmla="*/ 215 w 1030"/>
                <a:gd name="T23" fmla="*/ 196 h 991"/>
                <a:gd name="T24" fmla="*/ 163 w 1030"/>
                <a:gd name="T25" fmla="*/ 116 h 991"/>
                <a:gd name="T26" fmla="*/ 108 w 1030"/>
                <a:gd name="T27" fmla="*/ 53 h 991"/>
                <a:gd name="T28" fmla="*/ 53 w 1030"/>
                <a:gd name="T29" fmla="*/ 13 h 991"/>
                <a:gd name="T30" fmla="*/ 0 w 1030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0"/>
                <a:gd name="T49" fmla="*/ 0 h 991"/>
                <a:gd name="T50" fmla="*/ 1030 w 1030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0" h="991">
                  <a:moveTo>
                    <a:pt x="1029" y="990"/>
                  </a:moveTo>
                  <a:lnTo>
                    <a:pt x="921" y="980"/>
                  </a:lnTo>
                  <a:lnTo>
                    <a:pt x="866" y="967"/>
                  </a:lnTo>
                  <a:lnTo>
                    <a:pt x="813" y="952"/>
                  </a:lnTo>
                  <a:lnTo>
                    <a:pt x="758" y="929"/>
                  </a:lnTo>
                  <a:lnTo>
                    <a:pt x="703" y="897"/>
                  </a:lnTo>
                  <a:lnTo>
                    <a:pt x="651" y="857"/>
                  </a:lnTo>
                  <a:lnTo>
                    <a:pt x="541" y="743"/>
                  </a:lnTo>
                  <a:lnTo>
                    <a:pt x="433" y="581"/>
                  </a:lnTo>
                  <a:lnTo>
                    <a:pt x="325" y="386"/>
                  </a:lnTo>
                  <a:lnTo>
                    <a:pt x="270" y="287"/>
                  </a:lnTo>
                  <a:lnTo>
                    <a:pt x="215" y="196"/>
                  </a:lnTo>
                  <a:lnTo>
                    <a:pt x="163" y="116"/>
                  </a:lnTo>
                  <a:lnTo>
                    <a:pt x="108" y="53"/>
                  </a:lnTo>
                  <a:lnTo>
                    <a:pt x="53" y="13"/>
                  </a:lnTo>
                  <a:lnTo>
                    <a:pt x="0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2" name="Freeform 19"/>
            <p:cNvSpPr>
              <a:spLocks/>
            </p:cNvSpPr>
            <p:nvPr/>
          </p:nvSpPr>
          <p:spPr bwMode="auto">
            <a:xfrm>
              <a:off x="1778" y="1028"/>
              <a:ext cx="1041" cy="991"/>
            </a:xfrm>
            <a:custGeom>
              <a:avLst/>
              <a:gdLst>
                <a:gd name="T0" fmla="*/ 0 w 1032"/>
                <a:gd name="T1" fmla="*/ 990 h 991"/>
                <a:gd name="T2" fmla="*/ 109 w 1032"/>
                <a:gd name="T3" fmla="*/ 980 h 991"/>
                <a:gd name="T4" fmla="*/ 164 w 1032"/>
                <a:gd name="T5" fmla="*/ 967 h 991"/>
                <a:gd name="T6" fmla="*/ 220 w 1032"/>
                <a:gd name="T7" fmla="*/ 952 h 991"/>
                <a:gd name="T8" fmla="*/ 273 w 1032"/>
                <a:gd name="T9" fmla="*/ 929 h 991"/>
                <a:gd name="T10" fmla="*/ 329 w 1032"/>
                <a:gd name="T11" fmla="*/ 897 h 991"/>
                <a:gd name="T12" fmla="*/ 384 w 1032"/>
                <a:gd name="T13" fmla="*/ 857 h 991"/>
                <a:gd name="T14" fmla="*/ 492 w 1032"/>
                <a:gd name="T15" fmla="*/ 743 h 991"/>
                <a:gd name="T16" fmla="*/ 601 w 1032"/>
                <a:gd name="T17" fmla="*/ 581 h 991"/>
                <a:gd name="T18" fmla="*/ 712 w 1032"/>
                <a:gd name="T19" fmla="*/ 386 h 991"/>
                <a:gd name="T20" fmla="*/ 766 w 1032"/>
                <a:gd name="T21" fmla="*/ 287 h 991"/>
                <a:gd name="T22" fmla="*/ 821 w 1032"/>
                <a:gd name="T23" fmla="*/ 196 h 991"/>
                <a:gd name="T24" fmla="*/ 876 w 1032"/>
                <a:gd name="T25" fmla="*/ 116 h 991"/>
                <a:gd name="T26" fmla="*/ 929 w 1032"/>
                <a:gd name="T27" fmla="*/ 53 h 991"/>
                <a:gd name="T28" fmla="*/ 985 w 1032"/>
                <a:gd name="T29" fmla="*/ 13 h 991"/>
                <a:gd name="T30" fmla="*/ 1040 w 1032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2"/>
                <a:gd name="T49" fmla="*/ 0 h 991"/>
                <a:gd name="T50" fmla="*/ 1032 w 1032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2" h="991">
                  <a:moveTo>
                    <a:pt x="0" y="990"/>
                  </a:moveTo>
                  <a:lnTo>
                    <a:pt x="108" y="980"/>
                  </a:lnTo>
                  <a:lnTo>
                    <a:pt x="163" y="967"/>
                  </a:lnTo>
                  <a:lnTo>
                    <a:pt x="218" y="952"/>
                  </a:lnTo>
                  <a:lnTo>
                    <a:pt x="271" y="929"/>
                  </a:lnTo>
                  <a:lnTo>
                    <a:pt x="326" y="897"/>
                  </a:lnTo>
                  <a:lnTo>
                    <a:pt x="381" y="857"/>
                  </a:lnTo>
                  <a:lnTo>
                    <a:pt x="488" y="743"/>
                  </a:lnTo>
                  <a:lnTo>
                    <a:pt x="596" y="581"/>
                  </a:lnTo>
                  <a:lnTo>
                    <a:pt x="706" y="386"/>
                  </a:lnTo>
                  <a:lnTo>
                    <a:pt x="759" y="287"/>
                  </a:lnTo>
                  <a:lnTo>
                    <a:pt x="814" y="196"/>
                  </a:lnTo>
                  <a:lnTo>
                    <a:pt x="868" y="116"/>
                  </a:lnTo>
                  <a:lnTo>
                    <a:pt x="921" y="53"/>
                  </a:lnTo>
                  <a:lnTo>
                    <a:pt x="976" y="13"/>
                  </a:lnTo>
                  <a:lnTo>
                    <a:pt x="1031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3" name="Freeform 20"/>
            <p:cNvSpPr>
              <a:spLocks/>
            </p:cNvSpPr>
            <p:nvPr/>
          </p:nvSpPr>
          <p:spPr bwMode="auto">
            <a:xfrm>
              <a:off x="1776" y="2071"/>
              <a:ext cx="2072" cy="5"/>
            </a:xfrm>
            <a:custGeom>
              <a:avLst/>
              <a:gdLst>
                <a:gd name="T0" fmla="*/ 0 w 2072"/>
                <a:gd name="T1" fmla="*/ 5 h 5"/>
                <a:gd name="T2" fmla="*/ 12 w 2072"/>
                <a:gd name="T3" fmla="*/ 0 h 5"/>
                <a:gd name="T4" fmla="*/ 2072 w 2072"/>
                <a:gd name="T5" fmla="*/ 0 h 5"/>
                <a:gd name="T6" fmla="*/ 0 60000 65536"/>
                <a:gd name="T7" fmla="*/ 0 60000 65536"/>
                <a:gd name="T8" fmla="*/ 0 60000 65536"/>
                <a:gd name="T9" fmla="*/ 0 w 2072"/>
                <a:gd name="T10" fmla="*/ 0 h 5"/>
                <a:gd name="T11" fmla="*/ 2072 w 2072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2" h="5">
                  <a:moveTo>
                    <a:pt x="0" y="5"/>
                  </a:moveTo>
                  <a:lnTo>
                    <a:pt x="12" y="0"/>
                  </a:lnTo>
                  <a:lnTo>
                    <a:pt x="2072" y="0"/>
                  </a:lnTo>
                </a:path>
              </a:pathLst>
            </a:custGeom>
            <a:noFill/>
            <a:ln w="508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4" name="Text Box 40"/>
            <p:cNvSpPr txBox="1">
              <a:spLocks noChangeArrowheads="1"/>
            </p:cNvSpPr>
            <p:nvPr/>
          </p:nvSpPr>
          <p:spPr bwMode="auto">
            <a:xfrm>
              <a:off x="2633" y="1989"/>
              <a:ext cx="33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200" b="1" dirty="0">
                  <a:sym typeface="Symbol" pitchFamily="18" charset="2"/>
                </a:rPr>
                <a:t>0</a:t>
              </a:r>
              <a:endParaRPr lang="th-TH" sz="3200" b="1" dirty="0">
                <a:sym typeface="Symbol" pitchFamily="18" charset="2"/>
              </a:endParaRPr>
            </a:p>
          </p:txBody>
        </p:sp>
      </p:grpSp>
      <p:sp>
        <p:nvSpPr>
          <p:cNvPr id="70" name="Rectangle 2"/>
          <p:cNvSpPr>
            <a:spLocks noChangeArrowheads="1"/>
          </p:cNvSpPr>
          <p:nvPr/>
        </p:nvSpPr>
        <p:spPr bwMode="auto">
          <a:xfrm>
            <a:off x="228600" y="118110"/>
            <a:ext cx="868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kumimoji="1" lang="th-TH" sz="4800" b="1" dirty="0">
                <a:solidFill>
                  <a:srgbClr val="0000FF"/>
                </a:solidFill>
              </a:rPr>
              <a:t>การประมาณช่วงความเชื่อมั่นของค่าเฉลี่ยประชากร</a:t>
            </a:r>
            <a:endParaRPr kumimoji="1" lang="th-TH" sz="4800" dirty="0">
              <a:solidFill>
                <a:srgbClr val="0000FF"/>
              </a:solidFill>
            </a:endParaRPr>
          </a:p>
        </p:txBody>
      </p:sp>
      <p:sp>
        <p:nvSpPr>
          <p:cNvPr id="71" name="Rectangle 43"/>
          <p:cNvSpPr>
            <a:spLocks noChangeArrowheads="1"/>
          </p:cNvSpPr>
          <p:nvPr/>
        </p:nvSpPr>
        <p:spPr bwMode="auto">
          <a:xfrm>
            <a:off x="228599" y="3581400"/>
            <a:ext cx="8545947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th-TH" sz="4000" b="1" dirty="0">
                <a:solidFill>
                  <a:srgbClr val="7030A0"/>
                </a:solidFill>
              </a:rPr>
              <a:t>ช่วงความเชื่อมั่น </a:t>
            </a:r>
            <a:r>
              <a:rPr lang="en-US" sz="4000" b="1" dirty="0">
                <a:solidFill>
                  <a:srgbClr val="7030A0"/>
                </a:solidFill>
              </a:rPr>
              <a:t>95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% 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ของ </a:t>
            </a:r>
            <a:r>
              <a:rPr lang="th-TH" sz="4000" b="1" dirty="0">
                <a:solidFill>
                  <a:srgbClr val="00B050"/>
                </a:solidFill>
                <a:sym typeface="Symbol" pitchFamily="18" charset="2"/>
              </a:rPr>
              <a:t>(โดยประมาณ)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r>
              <a:rPr lang="th-TH" sz="3200" b="1" dirty="0">
                <a:solidFill>
                  <a:srgbClr val="7030A0"/>
                </a:solidFill>
                <a:sym typeface="Symbol" pitchFamily="18" charset="2"/>
              </a:rPr>
              <a:t></a:t>
            </a:r>
            <a:r>
              <a:rPr lang="th-TH" sz="4000" b="1" baseline="-25000" dirty="0">
                <a:solidFill>
                  <a:srgbClr val="7030A0"/>
                </a:solidFill>
                <a:sym typeface="Symbol" pitchFamily="18" charset="2"/>
              </a:rPr>
              <a:t>1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– </a:t>
            </a:r>
            <a:r>
              <a:rPr lang="th-TH" sz="3200" b="1" dirty="0">
                <a:solidFill>
                  <a:srgbClr val="7030A0"/>
                </a:solidFill>
                <a:sym typeface="Symbol" pitchFamily="18" charset="2"/>
              </a:rPr>
              <a:t></a:t>
            </a:r>
            <a:r>
              <a:rPr lang="th-TH" sz="4000" b="1" baseline="-25000" dirty="0">
                <a:solidFill>
                  <a:srgbClr val="7030A0"/>
                </a:solidFill>
                <a:sym typeface="Symbol" pitchFamily="18" charset="2"/>
              </a:rPr>
              <a:t>2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 คือ</a:t>
            </a:r>
          </a:p>
          <a:p>
            <a:pPr marL="571500" indent="-571500"/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endParaRPr lang="th-TH" sz="4000" b="1" dirty="0">
              <a:solidFill>
                <a:srgbClr val="7030A0"/>
              </a:solidFill>
              <a:sym typeface="Symbol" pitchFamily="18" charset="2"/>
            </a:endParaRPr>
          </a:p>
        </p:txBody>
      </p:sp>
      <p:sp>
        <p:nvSpPr>
          <p:cNvPr id="130" name="Rectangle 43"/>
          <p:cNvSpPr>
            <a:spLocks noChangeArrowheads="1"/>
          </p:cNvSpPr>
          <p:nvPr/>
        </p:nvSpPr>
        <p:spPr bwMode="auto">
          <a:xfrm>
            <a:off x="4953000" y="1283979"/>
            <a:ext cx="2176256" cy="6699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571500" indent="-571500"/>
            <a:r>
              <a:rPr lang="th-TH" sz="3200" b="1" dirty="0">
                <a:solidFill>
                  <a:srgbClr val="7030A0"/>
                </a:solidFill>
              </a:rPr>
              <a:t>ให้  </a:t>
            </a:r>
            <a:r>
              <a:rPr lang="en-US" sz="3200" b="1" dirty="0">
                <a:solidFill>
                  <a:srgbClr val="7030A0"/>
                </a:solidFill>
              </a:rPr>
              <a:t>1 – </a:t>
            </a:r>
            <a:r>
              <a:rPr lang="en-US" sz="2600" b="1" dirty="0">
                <a:solidFill>
                  <a:srgbClr val="7030A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7030A0"/>
                </a:solidFill>
                <a:sym typeface="Symbol"/>
              </a:rPr>
              <a:t> =</a:t>
            </a:r>
            <a:r>
              <a:rPr lang="en-US" sz="3200" b="1" dirty="0">
                <a:solidFill>
                  <a:srgbClr val="7030A0"/>
                </a:solidFill>
              </a:rPr>
              <a:t> 0.95 </a:t>
            </a:r>
            <a:endParaRPr lang="th-TH" sz="3200" b="1" dirty="0">
              <a:solidFill>
                <a:srgbClr val="7030A0"/>
              </a:solidFill>
              <a:sym typeface="Symbol" pitchFamily="18" charset="2"/>
            </a:endParaRPr>
          </a:p>
        </p:txBody>
      </p:sp>
      <p:sp>
        <p:nvSpPr>
          <p:cNvPr id="131" name="Rectangle 43"/>
          <p:cNvSpPr>
            <a:spLocks noChangeArrowheads="1"/>
          </p:cNvSpPr>
          <p:nvPr/>
        </p:nvSpPr>
        <p:spPr bwMode="auto">
          <a:xfrm>
            <a:off x="1140778" y="267652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2" name="Rectangle 43"/>
          <p:cNvSpPr>
            <a:spLocks noChangeArrowheads="1"/>
          </p:cNvSpPr>
          <p:nvPr/>
        </p:nvSpPr>
        <p:spPr bwMode="auto">
          <a:xfrm>
            <a:off x="6067266" y="267144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667000" y="2966408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 flipH="1">
            <a:off x="5615940" y="2983230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28600" y="685800"/>
            <a:ext cx="8915400" cy="726936"/>
            <a:chOff x="228600" y="685800"/>
            <a:chExt cx="8915400" cy="726936"/>
          </a:xfrm>
        </p:grpSpPr>
        <p:sp>
          <p:nvSpPr>
            <p:cNvPr id="118" name="Text Box 11"/>
            <p:cNvSpPr txBox="1">
              <a:spLocks noChangeArrowheads="1"/>
            </p:cNvSpPr>
            <p:nvPr/>
          </p:nvSpPr>
          <p:spPr bwMode="auto">
            <a:xfrm>
              <a:off x="228600" y="704850"/>
              <a:ext cx="891540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4000" b="1" dirty="0">
                  <a:solidFill>
                    <a:srgbClr val="006600"/>
                  </a:solidFill>
                </a:rPr>
                <a:t>X</a:t>
              </a:r>
              <a:r>
                <a:rPr lang="en-US" sz="4000" b="1" baseline="-25000" dirty="0">
                  <a:solidFill>
                    <a:srgbClr val="006600"/>
                  </a:solidFill>
                </a:rPr>
                <a:t>i1</a:t>
              </a:r>
              <a:r>
                <a:rPr lang="en-US" sz="4000" b="1" dirty="0">
                  <a:solidFill>
                    <a:srgbClr val="006600"/>
                  </a:solidFill>
                </a:rPr>
                <a:t> , X</a:t>
              </a:r>
              <a:r>
                <a:rPr lang="en-US" sz="4000" b="1" baseline="-25000" dirty="0">
                  <a:solidFill>
                    <a:srgbClr val="006600"/>
                  </a:solidFill>
                </a:rPr>
                <a:t>i2</a:t>
              </a:r>
              <a:r>
                <a:rPr lang="en-US" sz="4000" b="1" dirty="0">
                  <a:solidFill>
                    <a:srgbClr val="006600"/>
                  </a:solidFill>
                </a:rPr>
                <a:t> , … , </a:t>
              </a:r>
              <a:r>
                <a:rPr lang="en-US" sz="4000" b="1" dirty="0" err="1">
                  <a:solidFill>
                    <a:srgbClr val="006600"/>
                  </a:solidFill>
                </a:rPr>
                <a:t>X</a:t>
              </a:r>
              <a:r>
                <a:rPr lang="en-US" sz="4000" b="1" baseline="-25000" dirty="0" err="1">
                  <a:solidFill>
                    <a:srgbClr val="006600"/>
                  </a:solidFill>
                </a:rPr>
                <a:t>in</a:t>
              </a:r>
              <a:r>
                <a:rPr lang="en-US" sz="4000" b="1" dirty="0">
                  <a:solidFill>
                    <a:srgbClr val="006600"/>
                  </a:solidFill>
                </a:rPr>
                <a:t> </a:t>
              </a:r>
              <a:r>
                <a:rPr lang="th-TH" sz="4000" b="1" dirty="0">
                  <a:solidFill>
                    <a:srgbClr val="006600"/>
                  </a:solidFill>
                </a:rPr>
                <a:t>เป็นตัวอย่างสุ่มจากประชากรปกติ </a:t>
              </a:r>
              <a:r>
                <a:rPr lang="en-US" sz="4000" b="1" dirty="0">
                  <a:solidFill>
                    <a:srgbClr val="006600"/>
                  </a:solidFill>
                </a:rPr>
                <a:t>: N(</a:t>
              </a:r>
              <a:r>
                <a:rPr lang="en-US" sz="3200" b="1" dirty="0">
                  <a:solidFill>
                    <a:srgbClr val="006600"/>
                  </a:solidFill>
                  <a:sym typeface="Symbol"/>
                </a:rPr>
                <a:t></a:t>
              </a:r>
              <a:r>
                <a:rPr lang="en-US" sz="4000" b="1" baseline="-25000" dirty="0">
                  <a:solidFill>
                    <a:srgbClr val="006600"/>
                  </a:solidFill>
                  <a:sym typeface="Symbol"/>
                </a:rPr>
                <a:t>i </a:t>
              </a:r>
              <a:r>
                <a:rPr lang="en-US" sz="4000" b="1" dirty="0">
                  <a:solidFill>
                    <a:srgbClr val="006600"/>
                  </a:solidFill>
                  <a:sym typeface="Symbol"/>
                </a:rPr>
                <a:t>, </a:t>
              </a:r>
              <a:r>
                <a:rPr lang="en-US" sz="3200" b="1" dirty="0">
                  <a:solidFill>
                    <a:srgbClr val="006600"/>
                  </a:solidFill>
                  <a:sym typeface="Symbol"/>
                </a:rPr>
                <a:t></a:t>
              </a:r>
              <a:r>
                <a:rPr lang="en-US" sz="4000" b="1" baseline="30000" dirty="0">
                  <a:solidFill>
                    <a:srgbClr val="006600"/>
                  </a:solidFill>
                  <a:sym typeface="Symbol"/>
                </a:rPr>
                <a:t>2</a:t>
              </a:r>
              <a:r>
                <a:rPr lang="en-US" sz="4000" b="1" dirty="0">
                  <a:solidFill>
                    <a:srgbClr val="006600"/>
                  </a:solidFill>
                  <a:sym typeface="Symbol"/>
                </a:rPr>
                <a:t>)</a:t>
              </a:r>
              <a:endParaRPr lang="th-TH" sz="4000" b="1" dirty="0">
                <a:solidFill>
                  <a:srgbClr val="006600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599170" y="685800"/>
              <a:ext cx="5334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baseline="-25000" dirty="0">
                  <a:solidFill>
                    <a:srgbClr val="006600"/>
                  </a:solidFill>
                  <a:sym typeface="Symbol"/>
                </a:rPr>
                <a:t>i</a:t>
              </a:r>
              <a:endParaRPr lang="en-US" sz="4000" dirty="0"/>
            </a:p>
          </p:txBody>
        </p:sp>
      </p:grpSp>
      <p:sp>
        <p:nvSpPr>
          <p:cNvPr id="8" name="Rectangle 7"/>
          <p:cNvSpPr/>
          <p:nvPr/>
        </p:nvSpPr>
        <p:spPr>
          <a:xfrm>
            <a:off x="7391400" y="1232848"/>
            <a:ext cx="17427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6600"/>
                </a:solidFill>
                <a:sym typeface="Symbol"/>
              </a:rPr>
              <a:t>โดยที่ 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i = 1 , 2</a:t>
            </a:r>
            <a:endParaRPr lang="en-US" sz="3200" dirty="0"/>
          </a:p>
        </p:txBody>
      </p:sp>
      <p:grpSp>
        <p:nvGrpSpPr>
          <p:cNvPr id="87" name="Group 86"/>
          <p:cNvGrpSpPr/>
          <p:nvPr/>
        </p:nvGrpSpPr>
        <p:grpSpPr>
          <a:xfrm>
            <a:off x="77789" y="1284288"/>
            <a:ext cx="4371976" cy="1488538"/>
            <a:chOff x="2058988" y="3985552"/>
            <a:chExt cx="4371976" cy="1488538"/>
          </a:xfrm>
        </p:grpSpPr>
        <p:grpSp>
          <p:nvGrpSpPr>
            <p:cNvPr id="89" name="Group 103"/>
            <p:cNvGrpSpPr/>
            <p:nvPr/>
          </p:nvGrpSpPr>
          <p:grpSpPr>
            <a:xfrm>
              <a:off x="2058988" y="3985552"/>
              <a:ext cx="4371976" cy="1488538"/>
              <a:chOff x="1533527" y="3733802"/>
              <a:chExt cx="4371976" cy="1488538"/>
            </a:xfrm>
          </p:grpSpPr>
          <p:grpSp>
            <p:nvGrpSpPr>
              <p:cNvPr id="90" name="Group 39"/>
              <p:cNvGrpSpPr>
                <a:grpSpLocks/>
              </p:cNvGrpSpPr>
              <p:nvPr/>
            </p:nvGrpSpPr>
            <p:grpSpPr bwMode="auto">
              <a:xfrm>
                <a:off x="1533527" y="3733802"/>
                <a:ext cx="4371976" cy="874713"/>
                <a:chOff x="3272" y="2511"/>
                <a:chExt cx="2754" cy="551"/>
              </a:xfrm>
            </p:grpSpPr>
            <p:sp>
              <p:nvSpPr>
                <p:cNvPr id="107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958" y="2655"/>
                  <a:ext cx="1068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3600" b="1" dirty="0">
                      <a:solidFill>
                        <a:srgbClr val="7030A0"/>
                      </a:solidFill>
                    </a:rPr>
                    <a:t>~  N(0 , 1)</a:t>
                  </a:r>
                  <a:endParaRPr lang="th-TH" sz="3600" b="1" dirty="0">
                    <a:solidFill>
                      <a:srgbClr val="7030A0"/>
                    </a:solidFill>
                  </a:endParaRPr>
                </a:p>
              </p:txBody>
            </p:sp>
            <p:grpSp>
              <p:nvGrpSpPr>
                <p:cNvPr id="108" name="Group 41"/>
                <p:cNvGrpSpPr>
                  <a:grpSpLocks/>
                </p:cNvGrpSpPr>
                <p:nvPr/>
              </p:nvGrpSpPr>
              <p:grpSpPr bwMode="auto">
                <a:xfrm>
                  <a:off x="3272" y="2511"/>
                  <a:ext cx="2210" cy="480"/>
                  <a:chOff x="3222" y="2433"/>
                  <a:chExt cx="2210" cy="480"/>
                </a:xfrm>
              </p:grpSpPr>
              <p:sp>
                <p:nvSpPr>
                  <p:cNvPr id="109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3222" y="2433"/>
                    <a:ext cx="2210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(X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1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– X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) – (</a:t>
                    </a:r>
                    <a:r>
                      <a:rPr kumimoji="1" lang="en-US" sz="28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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1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– </a:t>
                    </a:r>
                    <a:r>
                      <a:rPr kumimoji="1" lang="en-US" sz="28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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) </a:t>
                    </a:r>
                  </a:p>
                </p:txBody>
              </p:sp>
              <p:sp>
                <p:nvSpPr>
                  <p:cNvPr id="110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3277" y="2788"/>
                    <a:ext cx="1613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/>
                  </a:p>
                </p:txBody>
              </p:sp>
              <p:sp>
                <p:nvSpPr>
                  <p:cNvPr id="111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3345" y="2532"/>
                    <a:ext cx="115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</p:grpSp>
          <p:grpSp>
            <p:nvGrpSpPr>
              <p:cNvPr id="91" name="Group 102"/>
              <p:cNvGrpSpPr/>
              <p:nvPr/>
            </p:nvGrpSpPr>
            <p:grpSpPr>
              <a:xfrm>
                <a:off x="2186940" y="4239950"/>
                <a:ext cx="1505268" cy="982390"/>
                <a:chOff x="2186940" y="4239950"/>
                <a:chExt cx="1505268" cy="982390"/>
              </a:xfrm>
            </p:grpSpPr>
            <p:grpSp>
              <p:nvGrpSpPr>
                <p:cNvPr id="92" name="Group 90"/>
                <p:cNvGrpSpPr/>
                <p:nvPr/>
              </p:nvGrpSpPr>
              <p:grpSpPr>
                <a:xfrm>
                  <a:off x="2307515" y="4239950"/>
                  <a:ext cx="762000" cy="982330"/>
                  <a:chOff x="3329940" y="4960535"/>
                  <a:chExt cx="762000" cy="982330"/>
                </a:xfrm>
              </p:grpSpPr>
              <p:sp>
                <p:nvSpPr>
                  <p:cNvPr id="104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329940" y="4965699"/>
                    <a:ext cx="762000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28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</a:t>
                    </a:r>
                    <a:r>
                      <a:rPr kumimoji="1" lang="en-US" sz="3600" b="1" baseline="30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05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87408" y="5296534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06" name="TextBox 105"/>
                  <p:cNvSpPr txBox="1"/>
                  <p:nvPr/>
                </p:nvSpPr>
                <p:spPr>
                  <a:xfrm>
                    <a:off x="3540215" y="4960535"/>
                    <a:ext cx="381000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endParaRPr lang="en-US" sz="36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93" name="Group 91"/>
                <p:cNvGrpSpPr/>
                <p:nvPr/>
              </p:nvGrpSpPr>
              <p:grpSpPr>
                <a:xfrm>
                  <a:off x="3048000" y="4251440"/>
                  <a:ext cx="644208" cy="970900"/>
                  <a:chOff x="6705600" y="4967140"/>
                  <a:chExt cx="644208" cy="970900"/>
                </a:xfrm>
              </p:grpSpPr>
              <p:sp>
                <p:nvSpPr>
                  <p:cNvPr id="101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6705600" y="4972304"/>
                    <a:ext cx="514784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28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</a:t>
                    </a:r>
                    <a:r>
                      <a:rPr kumimoji="1" lang="en-US" sz="3600" b="1" baseline="30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02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40208" y="5291709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03" name="TextBox 102"/>
                  <p:cNvSpPr txBox="1"/>
                  <p:nvPr/>
                </p:nvSpPr>
                <p:spPr>
                  <a:xfrm>
                    <a:off x="6892581" y="4967140"/>
                    <a:ext cx="434368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endParaRPr lang="en-US" sz="36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2419930" y="4815524"/>
                  <a:ext cx="274320" cy="1588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>
                  <a:off x="3162445" y="4815524"/>
                  <a:ext cx="274320" cy="1588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6" name="TextBox 95"/>
                <p:cNvSpPr txBox="1"/>
                <p:nvPr/>
              </p:nvSpPr>
              <p:spPr>
                <a:xfrm>
                  <a:off x="2743490" y="4514850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solidFill>
                        <a:srgbClr val="7030A0"/>
                      </a:solidFill>
                    </a:rPr>
                    <a:t>+</a:t>
                  </a:r>
                </a:p>
              </p:txBody>
            </p:sp>
            <p:grpSp>
              <p:nvGrpSpPr>
                <p:cNvPr id="97" name="Group 101"/>
                <p:cNvGrpSpPr/>
                <p:nvPr/>
              </p:nvGrpSpPr>
              <p:grpSpPr>
                <a:xfrm>
                  <a:off x="2186940" y="4354514"/>
                  <a:ext cx="1375844" cy="655320"/>
                  <a:chOff x="2186940" y="4354514"/>
                  <a:chExt cx="1375844" cy="655320"/>
                </a:xfrm>
              </p:grpSpPr>
              <p:sp>
                <p:nvSpPr>
                  <p:cNvPr id="98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374064" y="4360377"/>
                    <a:ext cx="118872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/>
                  </a:p>
                </p:txBody>
              </p:sp>
              <p:sp>
                <p:nvSpPr>
                  <p:cNvPr id="99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63139" y="4354514"/>
                    <a:ext cx="110925" cy="64008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00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186940" y="4918394"/>
                    <a:ext cx="76199" cy="9144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</p:grpSp>
        </p:grpSp>
        <p:sp>
          <p:nvSpPr>
            <p:cNvPr id="88" name="Line 47"/>
            <p:cNvSpPr>
              <a:spLocks noChangeShapeType="1"/>
            </p:cNvSpPr>
            <p:nvPr/>
          </p:nvSpPr>
          <p:spPr bwMode="auto">
            <a:xfrm>
              <a:off x="2891500" y="4144990"/>
              <a:ext cx="182880" cy="0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60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45887" y="4212386"/>
            <a:ext cx="8545713" cy="985234"/>
            <a:chOff x="445887" y="4212386"/>
            <a:chExt cx="8545713" cy="985234"/>
          </a:xfrm>
        </p:grpSpPr>
        <p:grpSp>
          <p:nvGrpSpPr>
            <p:cNvPr id="23" name="Group 22"/>
            <p:cNvGrpSpPr/>
            <p:nvPr/>
          </p:nvGrpSpPr>
          <p:grpSpPr>
            <a:xfrm>
              <a:off x="445887" y="4212386"/>
              <a:ext cx="3516514" cy="982390"/>
              <a:chOff x="609428" y="4212386"/>
              <a:chExt cx="3516514" cy="982390"/>
            </a:xfrm>
          </p:grpSpPr>
          <p:grpSp>
            <p:nvGrpSpPr>
              <p:cNvPr id="116" name="Group 102"/>
              <p:cNvGrpSpPr/>
              <p:nvPr/>
            </p:nvGrpSpPr>
            <p:grpSpPr>
              <a:xfrm>
                <a:off x="2718277" y="4212386"/>
                <a:ext cx="1407665" cy="982390"/>
                <a:chOff x="2186940" y="4239950"/>
                <a:chExt cx="1407665" cy="982390"/>
              </a:xfrm>
            </p:grpSpPr>
            <p:grpSp>
              <p:nvGrpSpPr>
                <p:cNvPr id="117" name="Group 90"/>
                <p:cNvGrpSpPr/>
                <p:nvPr/>
              </p:nvGrpSpPr>
              <p:grpSpPr>
                <a:xfrm>
                  <a:off x="2307515" y="4239950"/>
                  <a:ext cx="762000" cy="982330"/>
                  <a:chOff x="3329940" y="4960535"/>
                  <a:chExt cx="762000" cy="982330"/>
                </a:xfrm>
              </p:grpSpPr>
              <p:sp>
                <p:nvSpPr>
                  <p:cNvPr id="151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329940" y="4965699"/>
                    <a:ext cx="762000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28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</a:t>
                    </a:r>
                    <a:r>
                      <a:rPr kumimoji="1" lang="en-US" sz="3600" b="1" baseline="30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52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87408" y="5296534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53" name="TextBox 152"/>
                  <p:cNvSpPr txBox="1"/>
                  <p:nvPr/>
                </p:nvSpPr>
                <p:spPr>
                  <a:xfrm>
                    <a:off x="3540215" y="4960535"/>
                    <a:ext cx="381000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endParaRPr lang="en-US" sz="36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119" name="Group 91"/>
                <p:cNvGrpSpPr/>
                <p:nvPr/>
              </p:nvGrpSpPr>
              <p:grpSpPr>
                <a:xfrm>
                  <a:off x="2950397" y="4251440"/>
                  <a:ext cx="644208" cy="970900"/>
                  <a:chOff x="6607997" y="4967140"/>
                  <a:chExt cx="644208" cy="970900"/>
                </a:xfrm>
              </p:grpSpPr>
              <p:sp>
                <p:nvSpPr>
                  <p:cNvPr id="140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6607997" y="4972304"/>
                    <a:ext cx="514784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28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</a:t>
                    </a:r>
                    <a:r>
                      <a:rPr kumimoji="1" lang="en-US" sz="3600" b="1" baseline="30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42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42605" y="5291709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47" name="TextBox 146"/>
                  <p:cNvSpPr txBox="1"/>
                  <p:nvPr/>
                </p:nvSpPr>
                <p:spPr>
                  <a:xfrm>
                    <a:off x="6794978" y="4967140"/>
                    <a:ext cx="434368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endParaRPr lang="en-US" sz="36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cxnSp>
              <p:nvCxnSpPr>
                <p:cNvPr id="120" name="Straight Connector 119"/>
                <p:cNvCxnSpPr/>
                <p:nvPr/>
              </p:nvCxnSpPr>
              <p:spPr>
                <a:xfrm>
                  <a:off x="2419930" y="4815524"/>
                  <a:ext cx="274320" cy="1588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/>
                <p:cNvCxnSpPr/>
                <p:nvPr/>
              </p:nvCxnSpPr>
              <p:spPr>
                <a:xfrm>
                  <a:off x="3064842" y="4815524"/>
                  <a:ext cx="274320" cy="1588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3" name="TextBox 122"/>
                <p:cNvSpPr txBox="1"/>
                <p:nvPr/>
              </p:nvSpPr>
              <p:spPr>
                <a:xfrm>
                  <a:off x="2686340" y="4514850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solidFill>
                        <a:srgbClr val="7030A0"/>
                      </a:solidFill>
                    </a:rPr>
                    <a:t>+</a:t>
                  </a:r>
                </a:p>
              </p:txBody>
            </p:sp>
            <p:grpSp>
              <p:nvGrpSpPr>
                <p:cNvPr id="124" name="Group 101"/>
                <p:cNvGrpSpPr/>
                <p:nvPr/>
              </p:nvGrpSpPr>
              <p:grpSpPr>
                <a:xfrm>
                  <a:off x="2186940" y="4348947"/>
                  <a:ext cx="1190611" cy="660887"/>
                  <a:chOff x="2186940" y="4348947"/>
                  <a:chExt cx="1190611" cy="660887"/>
                </a:xfrm>
              </p:grpSpPr>
              <p:sp>
                <p:nvSpPr>
                  <p:cNvPr id="125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371711" y="4348947"/>
                    <a:ext cx="100584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/>
                  </a:p>
                </p:txBody>
              </p:sp>
              <p:sp>
                <p:nvSpPr>
                  <p:cNvPr id="129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63139" y="4354514"/>
                    <a:ext cx="110925" cy="64008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33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186940" y="4918394"/>
                    <a:ext cx="76199" cy="9144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</p:grpSp>
          <p:grpSp>
            <p:nvGrpSpPr>
              <p:cNvPr id="22" name="Group 21"/>
              <p:cNvGrpSpPr/>
              <p:nvPr/>
            </p:nvGrpSpPr>
            <p:grpSpPr>
              <a:xfrm>
                <a:off x="609428" y="4322581"/>
                <a:ext cx="2160588" cy="762000"/>
                <a:chOff x="609428" y="4322581"/>
                <a:chExt cx="2160588" cy="762000"/>
              </a:xfrm>
            </p:grpSpPr>
            <p:grpSp>
              <p:nvGrpSpPr>
                <p:cNvPr id="163" name="Group 41"/>
                <p:cNvGrpSpPr>
                  <a:grpSpLocks/>
                </p:cNvGrpSpPr>
                <p:nvPr/>
              </p:nvGrpSpPr>
              <p:grpSpPr bwMode="auto">
                <a:xfrm>
                  <a:off x="609428" y="4322581"/>
                  <a:ext cx="2160588" cy="762000"/>
                  <a:chOff x="3222" y="2433"/>
                  <a:chExt cx="1361" cy="480"/>
                </a:xfrm>
              </p:grpSpPr>
              <p:sp>
                <p:nvSpPr>
                  <p:cNvPr id="164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3222" y="2433"/>
                    <a:ext cx="1361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(X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1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– X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)</a:t>
                    </a:r>
                    <a:r>
                      <a:rPr kumimoji="1" lang="th-TH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– 1.96 </a:t>
                    </a:r>
                    <a:endPara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178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3345" y="2532"/>
                    <a:ext cx="115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  <p:sp>
              <p:nvSpPr>
                <p:cNvPr id="114" name="Line 47"/>
                <p:cNvSpPr>
                  <a:spLocks noChangeShapeType="1"/>
                </p:cNvSpPr>
                <p:nvPr/>
              </p:nvSpPr>
              <p:spPr bwMode="auto">
                <a:xfrm>
                  <a:off x="1432676" y="4479744"/>
                  <a:ext cx="182880" cy="0"/>
                </a:xfrm>
                <a:prstGeom prst="line">
                  <a:avLst/>
                </a:prstGeom>
                <a:noFill/>
                <a:ln w="28575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/>
                </a:p>
              </p:txBody>
            </p:sp>
          </p:grpSp>
        </p:grpSp>
        <p:sp>
          <p:nvSpPr>
            <p:cNvPr id="183" name="Rectangle 42"/>
            <p:cNvSpPr>
              <a:spLocks noChangeArrowheads="1"/>
            </p:cNvSpPr>
            <p:nvPr/>
          </p:nvSpPr>
          <p:spPr bwMode="auto">
            <a:xfrm>
              <a:off x="3798687" y="4320540"/>
              <a:ext cx="2122488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3600" b="1" u="sng" dirty="0">
                  <a:solidFill>
                    <a:srgbClr val="7030A0"/>
                  </a:solidFill>
                  <a:sym typeface="Symbol" pitchFamily="18" charset="2"/>
                </a:rPr>
                <a:t>&lt;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 </a:t>
              </a:r>
              <a:r>
                <a:rPr kumimoji="1" lang="en-US" sz="2800" b="1" dirty="0">
                  <a:solidFill>
                    <a:srgbClr val="7030A0"/>
                  </a:solidFill>
                  <a:sym typeface="Symbol" pitchFamily="18" charset="2"/>
                </a:rPr>
                <a:t></a:t>
              </a:r>
              <a:r>
                <a:rPr kumimoji="1" lang="en-US" sz="3600" b="1" baseline="-25000" dirty="0">
                  <a:solidFill>
                    <a:srgbClr val="7030A0"/>
                  </a:solidFill>
                  <a:sym typeface="Symbol" pitchFamily="18" charset="2"/>
                </a:rPr>
                <a:t>1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– </a:t>
              </a:r>
              <a:r>
                <a:rPr kumimoji="1" lang="en-US" sz="2800" b="1" dirty="0">
                  <a:solidFill>
                    <a:srgbClr val="7030A0"/>
                  </a:solidFill>
                  <a:sym typeface="Symbol" pitchFamily="18" charset="2"/>
                </a:rPr>
                <a:t></a:t>
              </a:r>
              <a:r>
                <a:rPr kumimoji="1" lang="en-US" sz="3600" b="1" baseline="-25000" dirty="0">
                  <a:solidFill>
                    <a:srgbClr val="7030A0"/>
                  </a:solidFill>
                  <a:sym typeface="Symbol" pitchFamily="18" charset="2"/>
                </a:rPr>
                <a:t>2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 </a:t>
              </a:r>
              <a:r>
                <a:rPr kumimoji="1" lang="en-US" sz="3600" b="1" u="sng" dirty="0">
                  <a:solidFill>
                    <a:srgbClr val="7030A0"/>
                  </a:solidFill>
                  <a:sym typeface="Symbol" pitchFamily="18" charset="2"/>
                </a:rPr>
                <a:t>&lt;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</a:t>
              </a:r>
            </a:p>
          </p:txBody>
        </p:sp>
        <p:grpSp>
          <p:nvGrpSpPr>
            <p:cNvPr id="207" name="Group 206"/>
            <p:cNvGrpSpPr/>
            <p:nvPr/>
          </p:nvGrpSpPr>
          <p:grpSpPr>
            <a:xfrm>
              <a:off x="5475087" y="4215230"/>
              <a:ext cx="3516513" cy="982390"/>
              <a:chOff x="609429" y="4212386"/>
              <a:chExt cx="3516513" cy="982390"/>
            </a:xfrm>
          </p:grpSpPr>
          <p:grpSp>
            <p:nvGrpSpPr>
              <p:cNvPr id="208" name="Group 102"/>
              <p:cNvGrpSpPr/>
              <p:nvPr/>
            </p:nvGrpSpPr>
            <p:grpSpPr>
              <a:xfrm>
                <a:off x="2718277" y="4212386"/>
                <a:ext cx="1407665" cy="982390"/>
                <a:chOff x="2186940" y="4239950"/>
                <a:chExt cx="1407665" cy="982390"/>
              </a:xfrm>
            </p:grpSpPr>
            <p:grpSp>
              <p:nvGrpSpPr>
                <p:cNvPr id="214" name="Group 90"/>
                <p:cNvGrpSpPr/>
                <p:nvPr/>
              </p:nvGrpSpPr>
              <p:grpSpPr>
                <a:xfrm>
                  <a:off x="2307515" y="4239950"/>
                  <a:ext cx="762000" cy="982330"/>
                  <a:chOff x="3329940" y="4960535"/>
                  <a:chExt cx="762000" cy="982330"/>
                </a:xfrm>
              </p:grpSpPr>
              <p:sp>
                <p:nvSpPr>
                  <p:cNvPr id="226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329940" y="4965699"/>
                    <a:ext cx="762000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28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</a:t>
                    </a:r>
                    <a:r>
                      <a:rPr kumimoji="1" lang="en-US" sz="3600" b="1" baseline="30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27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87408" y="5296534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28" name="TextBox 227"/>
                  <p:cNvSpPr txBox="1"/>
                  <p:nvPr/>
                </p:nvSpPr>
                <p:spPr>
                  <a:xfrm>
                    <a:off x="3540215" y="4960535"/>
                    <a:ext cx="381000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endParaRPr lang="en-US" sz="36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215" name="Group 91"/>
                <p:cNvGrpSpPr/>
                <p:nvPr/>
              </p:nvGrpSpPr>
              <p:grpSpPr>
                <a:xfrm>
                  <a:off x="2950397" y="4251440"/>
                  <a:ext cx="644208" cy="970900"/>
                  <a:chOff x="6607997" y="4967140"/>
                  <a:chExt cx="644208" cy="970900"/>
                </a:xfrm>
              </p:grpSpPr>
              <p:sp>
                <p:nvSpPr>
                  <p:cNvPr id="223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6607997" y="4972304"/>
                    <a:ext cx="514784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28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</a:t>
                    </a:r>
                    <a:r>
                      <a:rPr kumimoji="1" lang="en-US" sz="3600" b="1" baseline="30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24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42605" y="5291709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25" name="TextBox 224"/>
                  <p:cNvSpPr txBox="1"/>
                  <p:nvPr/>
                </p:nvSpPr>
                <p:spPr>
                  <a:xfrm>
                    <a:off x="6794978" y="4967140"/>
                    <a:ext cx="434368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endParaRPr lang="en-US" sz="36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cxnSp>
              <p:nvCxnSpPr>
                <p:cNvPr id="216" name="Straight Connector 215"/>
                <p:cNvCxnSpPr/>
                <p:nvPr/>
              </p:nvCxnSpPr>
              <p:spPr>
                <a:xfrm>
                  <a:off x="2419930" y="4815524"/>
                  <a:ext cx="274320" cy="1588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/>
                <p:cNvCxnSpPr/>
                <p:nvPr/>
              </p:nvCxnSpPr>
              <p:spPr>
                <a:xfrm>
                  <a:off x="3064842" y="4815524"/>
                  <a:ext cx="274320" cy="1588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8" name="TextBox 217"/>
                <p:cNvSpPr txBox="1"/>
                <p:nvPr/>
              </p:nvSpPr>
              <p:spPr>
                <a:xfrm>
                  <a:off x="2686340" y="4514850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solidFill>
                        <a:srgbClr val="7030A0"/>
                      </a:solidFill>
                    </a:rPr>
                    <a:t>+</a:t>
                  </a:r>
                </a:p>
              </p:txBody>
            </p:sp>
            <p:grpSp>
              <p:nvGrpSpPr>
                <p:cNvPr id="219" name="Group 101"/>
                <p:cNvGrpSpPr/>
                <p:nvPr/>
              </p:nvGrpSpPr>
              <p:grpSpPr>
                <a:xfrm>
                  <a:off x="2186940" y="4348947"/>
                  <a:ext cx="1190611" cy="660887"/>
                  <a:chOff x="2186940" y="4348947"/>
                  <a:chExt cx="1190611" cy="660887"/>
                </a:xfrm>
              </p:grpSpPr>
              <p:sp>
                <p:nvSpPr>
                  <p:cNvPr id="220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371711" y="4348947"/>
                    <a:ext cx="100584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/>
                  </a:p>
                </p:txBody>
              </p:sp>
              <p:sp>
                <p:nvSpPr>
                  <p:cNvPr id="221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63139" y="4354514"/>
                    <a:ext cx="110925" cy="64008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22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186940" y="4918394"/>
                    <a:ext cx="76199" cy="9144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</p:grpSp>
          <p:grpSp>
            <p:nvGrpSpPr>
              <p:cNvPr id="209" name="Group 208"/>
              <p:cNvGrpSpPr/>
              <p:nvPr/>
            </p:nvGrpSpPr>
            <p:grpSpPr>
              <a:xfrm>
                <a:off x="609429" y="4322581"/>
                <a:ext cx="2228851" cy="762000"/>
                <a:chOff x="609429" y="4322581"/>
                <a:chExt cx="2228851" cy="762000"/>
              </a:xfrm>
            </p:grpSpPr>
            <p:grpSp>
              <p:nvGrpSpPr>
                <p:cNvPr id="210" name="Group 41"/>
                <p:cNvGrpSpPr>
                  <a:grpSpLocks/>
                </p:cNvGrpSpPr>
                <p:nvPr/>
              </p:nvGrpSpPr>
              <p:grpSpPr bwMode="auto">
                <a:xfrm>
                  <a:off x="609429" y="4322581"/>
                  <a:ext cx="2228851" cy="762000"/>
                  <a:chOff x="3222" y="2433"/>
                  <a:chExt cx="1404" cy="480"/>
                </a:xfrm>
              </p:grpSpPr>
              <p:sp>
                <p:nvSpPr>
                  <p:cNvPr id="212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3222" y="2433"/>
                    <a:ext cx="1404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(X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1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– X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)</a:t>
                    </a:r>
                    <a:r>
                      <a:rPr kumimoji="1" lang="th-TH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+</a:t>
                    </a:r>
                    <a:r>
                      <a:rPr kumimoji="1" lang="th-TH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1.96 </a:t>
                    </a:r>
                    <a:endPara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213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3345" y="2532"/>
                    <a:ext cx="115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  <p:sp>
              <p:nvSpPr>
                <p:cNvPr id="211" name="Line 47"/>
                <p:cNvSpPr>
                  <a:spLocks noChangeShapeType="1"/>
                </p:cNvSpPr>
                <p:nvPr/>
              </p:nvSpPr>
              <p:spPr bwMode="auto">
                <a:xfrm>
                  <a:off x="1432676" y="4479744"/>
                  <a:ext cx="182880" cy="0"/>
                </a:xfrm>
                <a:prstGeom prst="line">
                  <a:avLst/>
                </a:prstGeom>
                <a:noFill/>
                <a:ln w="28575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/>
                </a:p>
              </p:txBody>
            </p:sp>
          </p:grpSp>
        </p:grpSp>
      </p:grpSp>
      <p:grpSp>
        <p:nvGrpSpPr>
          <p:cNvPr id="235" name="Group 234"/>
          <p:cNvGrpSpPr/>
          <p:nvPr/>
        </p:nvGrpSpPr>
        <p:grpSpPr>
          <a:xfrm>
            <a:off x="2412257" y="5859462"/>
            <a:ext cx="4510513" cy="769938"/>
            <a:chOff x="2957511" y="5486404"/>
            <a:chExt cx="4510513" cy="769938"/>
          </a:xfrm>
        </p:grpSpPr>
        <p:grpSp>
          <p:nvGrpSpPr>
            <p:cNvPr id="236" name="Group 119"/>
            <p:cNvGrpSpPr>
              <a:grpSpLocks/>
            </p:cNvGrpSpPr>
            <p:nvPr/>
          </p:nvGrpSpPr>
          <p:grpSpPr bwMode="auto">
            <a:xfrm>
              <a:off x="2957511" y="5486404"/>
              <a:ext cx="4510513" cy="769938"/>
              <a:chOff x="240" y="1344"/>
              <a:chExt cx="1831" cy="485"/>
            </a:xfrm>
          </p:grpSpPr>
          <p:sp>
            <p:nvSpPr>
              <p:cNvPr id="238" name="Text Box 117"/>
              <p:cNvSpPr txBox="1">
                <a:spLocks noChangeArrowheads="1"/>
              </p:cNvSpPr>
              <p:nvPr/>
            </p:nvSpPr>
            <p:spPr bwMode="auto">
              <a:xfrm>
                <a:off x="240" y="1344"/>
                <a:ext cx="1831" cy="48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th-TH" sz="4400" b="1" dirty="0">
                    <a:solidFill>
                      <a:srgbClr val="FFF3E7"/>
                    </a:solidFill>
                  </a:rPr>
                  <a:t>ทราบค่า </a:t>
                </a:r>
                <a:r>
                  <a:rPr lang="th-TH" sz="3200" b="1" dirty="0">
                    <a:solidFill>
                      <a:srgbClr val="FFF3E7"/>
                    </a:solidFill>
                    <a:sym typeface="Symbol" pitchFamily="18" charset="2"/>
                  </a:rPr>
                  <a:t></a:t>
                </a:r>
                <a:r>
                  <a:rPr lang="th-TH" sz="4400" b="1" baseline="-25000" dirty="0">
                    <a:solidFill>
                      <a:srgbClr val="FFF3E7"/>
                    </a:solidFill>
                    <a:sym typeface="Symbol" pitchFamily="18" charset="2"/>
                  </a:rPr>
                  <a:t>1</a:t>
                </a:r>
                <a:r>
                  <a:rPr lang="th-TH" sz="4400" b="1" dirty="0">
                    <a:solidFill>
                      <a:srgbClr val="FFF3E7"/>
                    </a:solidFill>
                  </a:rPr>
                  <a:t>  และ </a:t>
                </a:r>
                <a:r>
                  <a:rPr lang="en-US" sz="4400" b="1" dirty="0">
                    <a:solidFill>
                      <a:srgbClr val="FFF3E7"/>
                    </a:solidFill>
                  </a:rPr>
                  <a:t> </a:t>
                </a:r>
                <a:r>
                  <a:rPr lang="th-TH" sz="3200" b="1" dirty="0">
                    <a:solidFill>
                      <a:srgbClr val="FFF3E7"/>
                    </a:solidFill>
                    <a:sym typeface="Symbol" pitchFamily="18" charset="2"/>
                  </a:rPr>
                  <a:t></a:t>
                </a:r>
                <a:r>
                  <a:rPr lang="th-TH" sz="4400" b="1" baseline="-25000" dirty="0">
                    <a:solidFill>
                      <a:srgbClr val="FFF3E7"/>
                    </a:solidFill>
                    <a:sym typeface="Symbol" pitchFamily="18" charset="2"/>
                  </a:rPr>
                  <a:t>2</a:t>
                </a:r>
                <a:endParaRPr lang="th-TH" sz="4400" b="1" dirty="0">
                  <a:solidFill>
                    <a:srgbClr val="FFF3E7"/>
                  </a:solidFill>
                </a:endParaRPr>
              </a:p>
            </p:txBody>
          </p:sp>
          <p:sp>
            <p:nvSpPr>
              <p:cNvPr id="239" name="Text Box 118"/>
              <p:cNvSpPr txBox="1">
                <a:spLocks noChangeArrowheads="1"/>
              </p:cNvSpPr>
              <p:nvPr/>
            </p:nvSpPr>
            <p:spPr bwMode="auto">
              <a:xfrm>
                <a:off x="1143" y="1357"/>
                <a:ext cx="1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b="1" dirty="0">
                    <a:solidFill>
                      <a:srgbClr val="FFF3E7"/>
                    </a:solidFill>
                  </a:rPr>
                  <a:t>2</a:t>
                </a:r>
                <a:endParaRPr lang="th-TH" sz="2800" b="1" dirty="0">
                  <a:solidFill>
                    <a:srgbClr val="FFF3E7"/>
                  </a:solidFill>
                </a:endParaRPr>
              </a:p>
            </p:txBody>
          </p:sp>
        </p:grpSp>
        <p:sp>
          <p:nvSpPr>
            <p:cNvPr id="237" name="Text Box 118"/>
            <p:cNvSpPr txBox="1">
              <a:spLocks noChangeArrowheads="1"/>
            </p:cNvSpPr>
            <p:nvPr/>
          </p:nvSpPr>
          <p:spPr bwMode="auto">
            <a:xfrm>
              <a:off x="6545602" y="5509260"/>
              <a:ext cx="35473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b="1" dirty="0">
                  <a:solidFill>
                    <a:srgbClr val="FFF3E7"/>
                  </a:solidFill>
                </a:rPr>
                <a:t>2</a:t>
              </a:r>
              <a:endParaRPr lang="th-TH" sz="2800" b="1" dirty="0">
                <a:solidFill>
                  <a:srgbClr val="FFF3E7"/>
                </a:solidFill>
              </a:endParaRPr>
            </a:p>
          </p:txBody>
        </p:sp>
      </p:grpSp>
      <p:sp>
        <p:nvSpPr>
          <p:cNvPr id="112" name="Rectangle 111"/>
          <p:cNvSpPr/>
          <p:nvPr/>
        </p:nvSpPr>
        <p:spPr>
          <a:xfrm>
            <a:off x="6000348" y="1902529"/>
            <a:ext cx="2838852" cy="58477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th-TH" sz="3200" b="1" dirty="0">
                <a:solidFill>
                  <a:srgbClr val="FF0000"/>
                </a:solidFill>
                <a:sym typeface="Symbol"/>
              </a:rPr>
              <a:t>ตัวอย่างเป็นอิสระกัน</a:t>
            </a:r>
            <a:r>
              <a:rPr lang="en-US" sz="3200" b="1" dirty="0">
                <a:solidFill>
                  <a:srgbClr val="FF0000"/>
                </a:solidFill>
                <a:sym typeface="Symbol"/>
              </a:rPr>
              <a:t> 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C76CE-ADF7-4BAB-B1F8-B74B1361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4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8" grpId="0"/>
      <p:bldP spid="1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1" name="Freeform 15"/>
          <p:cNvSpPr>
            <a:spLocks/>
          </p:cNvSpPr>
          <p:nvPr/>
        </p:nvSpPr>
        <p:spPr bwMode="auto">
          <a:xfrm>
            <a:off x="4438650" y="1619250"/>
            <a:ext cx="1076325" cy="1638300"/>
          </a:xfrm>
          <a:custGeom>
            <a:avLst/>
            <a:gdLst>
              <a:gd name="T0" fmla="*/ 0 w 678"/>
              <a:gd name="T1" fmla="*/ 1638300 h 1032"/>
              <a:gd name="T2" fmla="*/ 0 w 678"/>
              <a:gd name="T3" fmla="*/ 0 h 1032"/>
              <a:gd name="T4" fmla="*/ 152400 w 678"/>
              <a:gd name="T5" fmla="*/ 57150 h 1032"/>
              <a:gd name="T6" fmla="*/ 333375 w 678"/>
              <a:gd name="T7" fmla="*/ 247650 h 1032"/>
              <a:gd name="T8" fmla="*/ 447675 w 678"/>
              <a:gd name="T9" fmla="*/ 457200 h 1032"/>
              <a:gd name="T10" fmla="*/ 581025 w 678"/>
              <a:gd name="T11" fmla="*/ 685800 h 1032"/>
              <a:gd name="T12" fmla="*/ 666750 w 678"/>
              <a:gd name="T13" fmla="*/ 857250 h 1032"/>
              <a:gd name="T14" fmla="*/ 752475 w 678"/>
              <a:gd name="T15" fmla="*/ 990600 h 1032"/>
              <a:gd name="T16" fmla="*/ 838200 w 678"/>
              <a:gd name="T17" fmla="*/ 1143000 h 1032"/>
              <a:gd name="T18" fmla="*/ 901700 w 678"/>
              <a:gd name="T19" fmla="*/ 1238250 h 1032"/>
              <a:gd name="T20" fmla="*/ 1027113 w 678"/>
              <a:gd name="T21" fmla="*/ 1352550 h 1032"/>
              <a:gd name="T22" fmla="*/ 1076325 w 678"/>
              <a:gd name="T23" fmla="*/ 1381125 h 1032"/>
              <a:gd name="T24" fmla="*/ 1076325 w 678"/>
              <a:gd name="T25" fmla="*/ 1638300 h 1032"/>
              <a:gd name="T26" fmla="*/ 0 w 678"/>
              <a:gd name="T27" fmla="*/ 1638300 h 103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78"/>
              <a:gd name="T43" fmla="*/ 0 h 1032"/>
              <a:gd name="T44" fmla="*/ 678 w 678"/>
              <a:gd name="T45" fmla="*/ 1032 h 103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78" h="1032">
                <a:moveTo>
                  <a:pt x="0" y="1032"/>
                </a:moveTo>
                <a:lnTo>
                  <a:pt x="0" y="0"/>
                </a:lnTo>
                <a:lnTo>
                  <a:pt x="96" y="36"/>
                </a:lnTo>
                <a:lnTo>
                  <a:pt x="210" y="156"/>
                </a:lnTo>
                <a:lnTo>
                  <a:pt x="282" y="288"/>
                </a:lnTo>
                <a:lnTo>
                  <a:pt x="366" y="432"/>
                </a:lnTo>
                <a:lnTo>
                  <a:pt x="420" y="540"/>
                </a:lnTo>
                <a:lnTo>
                  <a:pt x="474" y="624"/>
                </a:lnTo>
                <a:lnTo>
                  <a:pt x="528" y="720"/>
                </a:lnTo>
                <a:lnTo>
                  <a:pt x="568" y="780"/>
                </a:lnTo>
                <a:lnTo>
                  <a:pt x="647" y="852"/>
                </a:lnTo>
                <a:lnTo>
                  <a:pt x="678" y="870"/>
                </a:lnTo>
                <a:lnTo>
                  <a:pt x="67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137232" name="Freeform 16"/>
          <p:cNvSpPr>
            <a:spLocks/>
          </p:cNvSpPr>
          <p:nvPr/>
        </p:nvSpPr>
        <p:spPr bwMode="auto">
          <a:xfrm>
            <a:off x="3371850" y="1619250"/>
            <a:ext cx="1066800" cy="1657350"/>
          </a:xfrm>
          <a:custGeom>
            <a:avLst/>
            <a:gdLst>
              <a:gd name="T0" fmla="*/ 1066800 w 666"/>
              <a:gd name="T1" fmla="*/ 1657350 h 1044"/>
              <a:gd name="T2" fmla="*/ 1066800 w 666"/>
              <a:gd name="T3" fmla="*/ 0 h 1044"/>
              <a:gd name="T4" fmla="*/ 922638 w 666"/>
              <a:gd name="T5" fmla="*/ 95250 h 1044"/>
              <a:gd name="T6" fmla="*/ 759254 w 666"/>
              <a:gd name="T7" fmla="*/ 285750 h 1044"/>
              <a:gd name="T8" fmla="*/ 682368 w 666"/>
              <a:gd name="T9" fmla="*/ 514350 h 1044"/>
              <a:gd name="T10" fmla="*/ 528595 w 666"/>
              <a:gd name="T11" fmla="*/ 742950 h 1044"/>
              <a:gd name="T12" fmla="*/ 451708 w 666"/>
              <a:gd name="T13" fmla="*/ 895350 h 1044"/>
              <a:gd name="T14" fmla="*/ 336378 w 666"/>
              <a:gd name="T15" fmla="*/ 1047750 h 1044"/>
              <a:gd name="T16" fmla="*/ 221049 w 666"/>
              <a:gd name="T17" fmla="*/ 1200150 h 1044"/>
              <a:gd name="T18" fmla="*/ 172995 w 666"/>
              <a:gd name="T19" fmla="*/ 1257300 h 1044"/>
              <a:gd name="T20" fmla="*/ 48054 w 666"/>
              <a:gd name="T21" fmla="*/ 1371600 h 1044"/>
              <a:gd name="T22" fmla="*/ 0 w 666"/>
              <a:gd name="T23" fmla="*/ 1400175 h 1044"/>
              <a:gd name="T24" fmla="*/ 0 w 666"/>
              <a:gd name="T25" fmla="*/ 1657350 h 1044"/>
              <a:gd name="T26" fmla="*/ 1066800 w 666"/>
              <a:gd name="T27" fmla="*/ 1657350 h 104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66"/>
              <a:gd name="T43" fmla="*/ 0 h 1044"/>
              <a:gd name="T44" fmla="*/ 666 w 666"/>
              <a:gd name="T45" fmla="*/ 1044 h 104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66" h="1044">
                <a:moveTo>
                  <a:pt x="666" y="1044"/>
                </a:moveTo>
                <a:lnTo>
                  <a:pt x="666" y="0"/>
                </a:lnTo>
                <a:lnTo>
                  <a:pt x="576" y="60"/>
                </a:lnTo>
                <a:lnTo>
                  <a:pt x="474" y="180"/>
                </a:lnTo>
                <a:lnTo>
                  <a:pt x="426" y="324"/>
                </a:lnTo>
                <a:lnTo>
                  <a:pt x="330" y="468"/>
                </a:lnTo>
                <a:lnTo>
                  <a:pt x="282" y="564"/>
                </a:lnTo>
                <a:lnTo>
                  <a:pt x="210" y="660"/>
                </a:lnTo>
                <a:lnTo>
                  <a:pt x="138" y="756"/>
                </a:lnTo>
                <a:lnTo>
                  <a:pt x="108" y="792"/>
                </a:lnTo>
                <a:lnTo>
                  <a:pt x="30" y="864"/>
                </a:lnTo>
                <a:lnTo>
                  <a:pt x="0" y="882"/>
                </a:lnTo>
                <a:lnTo>
                  <a:pt x="0" y="1044"/>
                </a:lnTo>
                <a:lnTo>
                  <a:pt x="666" y="1044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grpSp>
        <p:nvGrpSpPr>
          <p:cNvPr id="2" name="Group 128"/>
          <p:cNvGrpSpPr>
            <a:grpSpLocks/>
          </p:cNvGrpSpPr>
          <p:nvPr/>
        </p:nvGrpSpPr>
        <p:grpSpPr bwMode="auto">
          <a:xfrm>
            <a:off x="3352800" y="3051175"/>
            <a:ext cx="2162175" cy="273050"/>
            <a:chOff x="2112" y="1922"/>
            <a:chExt cx="1362" cy="172"/>
          </a:xfrm>
        </p:grpSpPr>
        <p:sp>
          <p:nvSpPr>
            <p:cNvPr id="18500" name="Line 27"/>
            <p:cNvSpPr>
              <a:spLocks noChangeShapeType="1"/>
            </p:cNvSpPr>
            <p:nvPr/>
          </p:nvSpPr>
          <p:spPr bwMode="auto">
            <a:xfrm>
              <a:off x="2112" y="1968"/>
              <a:ext cx="0" cy="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Line 28"/>
            <p:cNvSpPr>
              <a:spLocks noChangeShapeType="1"/>
            </p:cNvSpPr>
            <p:nvPr/>
          </p:nvSpPr>
          <p:spPr bwMode="auto">
            <a:xfrm>
              <a:off x="3474" y="1922"/>
              <a:ext cx="0" cy="14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7"/>
          <p:cNvGrpSpPr>
            <a:grpSpLocks/>
          </p:cNvGrpSpPr>
          <p:nvPr/>
        </p:nvGrpSpPr>
        <p:grpSpPr bwMode="auto">
          <a:xfrm>
            <a:off x="3336925" y="2317750"/>
            <a:ext cx="2165350" cy="609600"/>
            <a:chOff x="2102" y="1460"/>
            <a:chExt cx="1364" cy="384"/>
          </a:xfrm>
        </p:grpSpPr>
        <p:sp>
          <p:nvSpPr>
            <p:cNvPr id="18495" name="Text Box 21"/>
            <p:cNvSpPr txBox="1">
              <a:spLocks noChangeArrowheads="1"/>
            </p:cNvSpPr>
            <p:nvPr/>
          </p:nvSpPr>
          <p:spPr bwMode="auto">
            <a:xfrm>
              <a:off x="2406" y="1460"/>
              <a:ext cx="77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400" b="1"/>
                <a:t>95%</a:t>
              </a:r>
            </a:p>
          </p:txBody>
        </p:sp>
        <p:sp>
          <p:nvSpPr>
            <p:cNvPr id="18496" name="Line 29"/>
            <p:cNvSpPr>
              <a:spLocks noChangeShapeType="1"/>
            </p:cNvSpPr>
            <p:nvPr/>
          </p:nvSpPr>
          <p:spPr bwMode="auto">
            <a:xfrm>
              <a:off x="2112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30"/>
            <p:cNvSpPr>
              <a:spLocks noChangeShapeType="1"/>
            </p:cNvSpPr>
            <p:nvPr/>
          </p:nvSpPr>
          <p:spPr bwMode="auto">
            <a:xfrm>
              <a:off x="3464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35"/>
            <p:cNvSpPr>
              <a:spLocks noChangeShapeType="1"/>
            </p:cNvSpPr>
            <p:nvPr/>
          </p:nvSpPr>
          <p:spPr bwMode="auto">
            <a:xfrm flipH="1">
              <a:off x="2102" y="1678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Line 36"/>
            <p:cNvSpPr>
              <a:spLocks noChangeShapeType="1"/>
            </p:cNvSpPr>
            <p:nvPr/>
          </p:nvSpPr>
          <p:spPr bwMode="auto">
            <a:xfrm>
              <a:off x="2986" y="168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2895599" y="3159125"/>
            <a:ext cx="12033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sz="3200" b="1" dirty="0">
                <a:solidFill>
                  <a:srgbClr val="7030A0"/>
                </a:solidFill>
                <a:sym typeface="Symbol" pitchFamily="18" charset="2"/>
              </a:rPr>
              <a:t>-t</a:t>
            </a:r>
            <a:r>
              <a:rPr kumimoji="1" lang="en-US" sz="3200" b="1" baseline="-25000" dirty="0">
                <a:solidFill>
                  <a:srgbClr val="7030A0"/>
                </a:solidFill>
                <a:sym typeface="Symbol" pitchFamily="18" charset="2"/>
              </a:rPr>
              <a:t>0.025</a:t>
            </a:r>
            <a:r>
              <a:rPr kumimoji="1" lang="en-US" sz="3200" b="1" dirty="0">
                <a:solidFill>
                  <a:srgbClr val="7030A0"/>
                </a:solidFill>
                <a:sym typeface="Symbol" pitchFamily="18" charset="2"/>
              </a:rPr>
              <a:t>(d)</a:t>
            </a:r>
            <a:endParaRPr lang="th-TH" sz="3200" b="1" dirty="0"/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5165725" y="3155950"/>
            <a:ext cx="11485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sz="3200" b="1" dirty="0">
                <a:solidFill>
                  <a:srgbClr val="7030A0"/>
                </a:solidFill>
                <a:sym typeface="Symbol" pitchFamily="18" charset="2"/>
              </a:rPr>
              <a:t>t</a:t>
            </a:r>
            <a:r>
              <a:rPr kumimoji="1" lang="en-US" sz="3200" b="1" baseline="-25000" dirty="0">
                <a:solidFill>
                  <a:srgbClr val="7030A0"/>
                </a:solidFill>
                <a:sym typeface="Symbol" pitchFamily="18" charset="2"/>
              </a:rPr>
              <a:t>0.025</a:t>
            </a:r>
            <a:r>
              <a:rPr kumimoji="1" lang="en-US" sz="3200" b="1" dirty="0">
                <a:solidFill>
                  <a:srgbClr val="7030A0"/>
                </a:solidFill>
                <a:sym typeface="Symbol" pitchFamily="18" charset="2"/>
              </a:rPr>
              <a:t>(d)</a:t>
            </a:r>
            <a:endParaRPr lang="th-TH" sz="3200" b="1" dirty="0"/>
          </a:p>
        </p:txBody>
      </p:sp>
      <p:grpSp>
        <p:nvGrpSpPr>
          <p:cNvPr id="4" name="Group 126"/>
          <p:cNvGrpSpPr>
            <a:grpSpLocks/>
          </p:cNvGrpSpPr>
          <p:nvPr/>
        </p:nvGrpSpPr>
        <p:grpSpPr bwMode="auto">
          <a:xfrm>
            <a:off x="2819400" y="1600200"/>
            <a:ext cx="3289300" cy="2141539"/>
            <a:chOff x="1776" y="1008"/>
            <a:chExt cx="2072" cy="1349"/>
          </a:xfrm>
        </p:grpSpPr>
        <p:sp>
          <p:nvSpPr>
            <p:cNvPr id="18490" name="Line 17"/>
            <p:cNvSpPr>
              <a:spLocks noChangeShapeType="1"/>
            </p:cNvSpPr>
            <p:nvPr/>
          </p:nvSpPr>
          <p:spPr bwMode="auto">
            <a:xfrm>
              <a:off x="2796" y="1008"/>
              <a:ext cx="0" cy="105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Freeform 18"/>
            <p:cNvSpPr>
              <a:spLocks/>
            </p:cNvSpPr>
            <p:nvPr/>
          </p:nvSpPr>
          <p:spPr bwMode="auto">
            <a:xfrm>
              <a:off x="2818" y="1028"/>
              <a:ext cx="1030" cy="991"/>
            </a:xfrm>
            <a:custGeom>
              <a:avLst/>
              <a:gdLst>
                <a:gd name="T0" fmla="*/ 1029 w 1030"/>
                <a:gd name="T1" fmla="*/ 990 h 991"/>
                <a:gd name="T2" fmla="*/ 921 w 1030"/>
                <a:gd name="T3" fmla="*/ 980 h 991"/>
                <a:gd name="T4" fmla="*/ 866 w 1030"/>
                <a:gd name="T5" fmla="*/ 967 h 991"/>
                <a:gd name="T6" fmla="*/ 813 w 1030"/>
                <a:gd name="T7" fmla="*/ 952 h 991"/>
                <a:gd name="T8" fmla="*/ 758 w 1030"/>
                <a:gd name="T9" fmla="*/ 929 h 991"/>
                <a:gd name="T10" fmla="*/ 703 w 1030"/>
                <a:gd name="T11" fmla="*/ 897 h 991"/>
                <a:gd name="T12" fmla="*/ 651 w 1030"/>
                <a:gd name="T13" fmla="*/ 857 h 991"/>
                <a:gd name="T14" fmla="*/ 541 w 1030"/>
                <a:gd name="T15" fmla="*/ 743 h 991"/>
                <a:gd name="T16" fmla="*/ 433 w 1030"/>
                <a:gd name="T17" fmla="*/ 581 h 991"/>
                <a:gd name="T18" fmla="*/ 325 w 1030"/>
                <a:gd name="T19" fmla="*/ 386 h 991"/>
                <a:gd name="T20" fmla="*/ 270 w 1030"/>
                <a:gd name="T21" fmla="*/ 287 h 991"/>
                <a:gd name="T22" fmla="*/ 215 w 1030"/>
                <a:gd name="T23" fmla="*/ 196 h 991"/>
                <a:gd name="T24" fmla="*/ 163 w 1030"/>
                <a:gd name="T25" fmla="*/ 116 h 991"/>
                <a:gd name="T26" fmla="*/ 108 w 1030"/>
                <a:gd name="T27" fmla="*/ 53 h 991"/>
                <a:gd name="T28" fmla="*/ 53 w 1030"/>
                <a:gd name="T29" fmla="*/ 13 h 991"/>
                <a:gd name="T30" fmla="*/ 0 w 1030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0"/>
                <a:gd name="T49" fmla="*/ 0 h 991"/>
                <a:gd name="T50" fmla="*/ 1030 w 1030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0" h="991">
                  <a:moveTo>
                    <a:pt x="1029" y="990"/>
                  </a:moveTo>
                  <a:lnTo>
                    <a:pt x="921" y="980"/>
                  </a:lnTo>
                  <a:lnTo>
                    <a:pt x="866" y="967"/>
                  </a:lnTo>
                  <a:lnTo>
                    <a:pt x="813" y="952"/>
                  </a:lnTo>
                  <a:lnTo>
                    <a:pt x="758" y="929"/>
                  </a:lnTo>
                  <a:lnTo>
                    <a:pt x="703" y="897"/>
                  </a:lnTo>
                  <a:lnTo>
                    <a:pt x="651" y="857"/>
                  </a:lnTo>
                  <a:lnTo>
                    <a:pt x="541" y="743"/>
                  </a:lnTo>
                  <a:lnTo>
                    <a:pt x="433" y="581"/>
                  </a:lnTo>
                  <a:lnTo>
                    <a:pt x="325" y="386"/>
                  </a:lnTo>
                  <a:lnTo>
                    <a:pt x="270" y="287"/>
                  </a:lnTo>
                  <a:lnTo>
                    <a:pt x="215" y="196"/>
                  </a:lnTo>
                  <a:lnTo>
                    <a:pt x="163" y="116"/>
                  </a:lnTo>
                  <a:lnTo>
                    <a:pt x="108" y="53"/>
                  </a:lnTo>
                  <a:lnTo>
                    <a:pt x="53" y="13"/>
                  </a:lnTo>
                  <a:lnTo>
                    <a:pt x="0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2" name="Freeform 19"/>
            <p:cNvSpPr>
              <a:spLocks/>
            </p:cNvSpPr>
            <p:nvPr/>
          </p:nvSpPr>
          <p:spPr bwMode="auto">
            <a:xfrm>
              <a:off x="1778" y="1028"/>
              <a:ext cx="1041" cy="991"/>
            </a:xfrm>
            <a:custGeom>
              <a:avLst/>
              <a:gdLst>
                <a:gd name="T0" fmla="*/ 0 w 1032"/>
                <a:gd name="T1" fmla="*/ 990 h 991"/>
                <a:gd name="T2" fmla="*/ 109 w 1032"/>
                <a:gd name="T3" fmla="*/ 980 h 991"/>
                <a:gd name="T4" fmla="*/ 164 w 1032"/>
                <a:gd name="T5" fmla="*/ 967 h 991"/>
                <a:gd name="T6" fmla="*/ 220 w 1032"/>
                <a:gd name="T7" fmla="*/ 952 h 991"/>
                <a:gd name="T8" fmla="*/ 273 w 1032"/>
                <a:gd name="T9" fmla="*/ 929 h 991"/>
                <a:gd name="T10" fmla="*/ 329 w 1032"/>
                <a:gd name="T11" fmla="*/ 897 h 991"/>
                <a:gd name="T12" fmla="*/ 384 w 1032"/>
                <a:gd name="T13" fmla="*/ 857 h 991"/>
                <a:gd name="T14" fmla="*/ 492 w 1032"/>
                <a:gd name="T15" fmla="*/ 743 h 991"/>
                <a:gd name="T16" fmla="*/ 601 w 1032"/>
                <a:gd name="T17" fmla="*/ 581 h 991"/>
                <a:gd name="T18" fmla="*/ 712 w 1032"/>
                <a:gd name="T19" fmla="*/ 386 h 991"/>
                <a:gd name="T20" fmla="*/ 766 w 1032"/>
                <a:gd name="T21" fmla="*/ 287 h 991"/>
                <a:gd name="T22" fmla="*/ 821 w 1032"/>
                <a:gd name="T23" fmla="*/ 196 h 991"/>
                <a:gd name="T24" fmla="*/ 876 w 1032"/>
                <a:gd name="T25" fmla="*/ 116 h 991"/>
                <a:gd name="T26" fmla="*/ 929 w 1032"/>
                <a:gd name="T27" fmla="*/ 53 h 991"/>
                <a:gd name="T28" fmla="*/ 985 w 1032"/>
                <a:gd name="T29" fmla="*/ 13 h 991"/>
                <a:gd name="T30" fmla="*/ 1040 w 1032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2"/>
                <a:gd name="T49" fmla="*/ 0 h 991"/>
                <a:gd name="T50" fmla="*/ 1032 w 1032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2" h="991">
                  <a:moveTo>
                    <a:pt x="0" y="990"/>
                  </a:moveTo>
                  <a:lnTo>
                    <a:pt x="108" y="980"/>
                  </a:lnTo>
                  <a:lnTo>
                    <a:pt x="163" y="967"/>
                  </a:lnTo>
                  <a:lnTo>
                    <a:pt x="218" y="952"/>
                  </a:lnTo>
                  <a:lnTo>
                    <a:pt x="271" y="929"/>
                  </a:lnTo>
                  <a:lnTo>
                    <a:pt x="326" y="897"/>
                  </a:lnTo>
                  <a:lnTo>
                    <a:pt x="381" y="857"/>
                  </a:lnTo>
                  <a:lnTo>
                    <a:pt x="488" y="743"/>
                  </a:lnTo>
                  <a:lnTo>
                    <a:pt x="596" y="581"/>
                  </a:lnTo>
                  <a:lnTo>
                    <a:pt x="706" y="386"/>
                  </a:lnTo>
                  <a:lnTo>
                    <a:pt x="759" y="287"/>
                  </a:lnTo>
                  <a:lnTo>
                    <a:pt x="814" y="196"/>
                  </a:lnTo>
                  <a:lnTo>
                    <a:pt x="868" y="116"/>
                  </a:lnTo>
                  <a:lnTo>
                    <a:pt x="921" y="53"/>
                  </a:lnTo>
                  <a:lnTo>
                    <a:pt x="976" y="13"/>
                  </a:lnTo>
                  <a:lnTo>
                    <a:pt x="1031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3" name="Freeform 20"/>
            <p:cNvSpPr>
              <a:spLocks/>
            </p:cNvSpPr>
            <p:nvPr/>
          </p:nvSpPr>
          <p:spPr bwMode="auto">
            <a:xfrm>
              <a:off x="1776" y="2071"/>
              <a:ext cx="2072" cy="5"/>
            </a:xfrm>
            <a:custGeom>
              <a:avLst/>
              <a:gdLst>
                <a:gd name="T0" fmla="*/ 0 w 2072"/>
                <a:gd name="T1" fmla="*/ 5 h 5"/>
                <a:gd name="T2" fmla="*/ 12 w 2072"/>
                <a:gd name="T3" fmla="*/ 0 h 5"/>
                <a:gd name="T4" fmla="*/ 2072 w 2072"/>
                <a:gd name="T5" fmla="*/ 0 h 5"/>
                <a:gd name="T6" fmla="*/ 0 60000 65536"/>
                <a:gd name="T7" fmla="*/ 0 60000 65536"/>
                <a:gd name="T8" fmla="*/ 0 60000 65536"/>
                <a:gd name="T9" fmla="*/ 0 w 2072"/>
                <a:gd name="T10" fmla="*/ 0 h 5"/>
                <a:gd name="T11" fmla="*/ 2072 w 2072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2" h="5">
                  <a:moveTo>
                    <a:pt x="0" y="5"/>
                  </a:moveTo>
                  <a:lnTo>
                    <a:pt x="12" y="0"/>
                  </a:lnTo>
                  <a:lnTo>
                    <a:pt x="2072" y="0"/>
                  </a:lnTo>
                </a:path>
              </a:pathLst>
            </a:custGeom>
            <a:noFill/>
            <a:ln w="508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4" name="Text Box 40"/>
            <p:cNvSpPr txBox="1">
              <a:spLocks noChangeArrowheads="1"/>
            </p:cNvSpPr>
            <p:nvPr/>
          </p:nvSpPr>
          <p:spPr bwMode="auto">
            <a:xfrm>
              <a:off x="2633" y="1989"/>
              <a:ext cx="33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200" b="1" dirty="0">
                  <a:sym typeface="Symbol" pitchFamily="18" charset="2"/>
                </a:rPr>
                <a:t>0</a:t>
              </a:r>
              <a:endParaRPr lang="th-TH" sz="3200" b="1" dirty="0">
                <a:sym typeface="Symbol" pitchFamily="18" charset="2"/>
              </a:endParaRPr>
            </a:p>
          </p:txBody>
        </p:sp>
      </p:grpSp>
      <p:sp>
        <p:nvSpPr>
          <p:cNvPr id="70" name="Rectangle 2"/>
          <p:cNvSpPr>
            <a:spLocks noChangeArrowheads="1"/>
          </p:cNvSpPr>
          <p:nvPr/>
        </p:nvSpPr>
        <p:spPr bwMode="auto">
          <a:xfrm>
            <a:off x="228600" y="118110"/>
            <a:ext cx="868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kumimoji="1" lang="th-TH" sz="4800" b="1" dirty="0">
                <a:solidFill>
                  <a:srgbClr val="0000FF"/>
                </a:solidFill>
              </a:rPr>
              <a:t>การประมาณช่วงความเชื่อมั่นของค่าเฉลี่ยประชากร</a:t>
            </a:r>
            <a:endParaRPr kumimoji="1" lang="th-TH" sz="4800" dirty="0">
              <a:solidFill>
                <a:srgbClr val="0000FF"/>
              </a:solidFill>
            </a:endParaRPr>
          </a:p>
        </p:txBody>
      </p:sp>
      <p:sp>
        <p:nvSpPr>
          <p:cNvPr id="71" name="Rectangle 43"/>
          <p:cNvSpPr>
            <a:spLocks noChangeArrowheads="1"/>
          </p:cNvSpPr>
          <p:nvPr/>
        </p:nvSpPr>
        <p:spPr bwMode="auto">
          <a:xfrm>
            <a:off x="228599" y="3581400"/>
            <a:ext cx="8034182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th-TH" sz="4000" b="1" dirty="0">
                <a:solidFill>
                  <a:srgbClr val="7030A0"/>
                </a:solidFill>
              </a:rPr>
              <a:t>ช่วงความเชื่อมั่น </a:t>
            </a:r>
            <a:r>
              <a:rPr lang="en-US" sz="4000" b="1" dirty="0">
                <a:solidFill>
                  <a:srgbClr val="7030A0"/>
                </a:solidFill>
              </a:rPr>
              <a:t>95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% </a:t>
            </a:r>
            <a:r>
              <a:rPr lang="th-TH" sz="3200" b="1" dirty="0">
                <a:solidFill>
                  <a:srgbClr val="00B050"/>
                </a:solidFill>
                <a:sym typeface="Symbol" pitchFamily="18" charset="2"/>
              </a:rPr>
              <a:t>(โดยประมาณ) 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ของ </a:t>
            </a:r>
            <a:r>
              <a:rPr lang="th-TH" sz="3200" b="1" dirty="0">
                <a:solidFill>
                  <a:srgbClr val="7030A0"/>
                </a:solidFill>
                <a:sym typeface="Symbol" pitchFamily="18" charset="2"/>
              </a:rPr>
              <a:t></a:t>
            </a:r>
            <a:r>
              <a:rPr lang="th-TH" sz="4000" b="1" baseline="-25000" dirty="0">
                <a:solidFill>
                  <a:srgbClr val="7030A0"/>
                </a:solidFill>
                <a:sym typeface="Symbol" pitchFamily="18" charset="2"/>
              </a:rPr>
              <a:t>1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– </a:t>
            </a:r>
            <a:r>
              <a:rPr lang="th-TH" sz="3200" b="1" dirty="0">
                <a:solidFill>
                  <a:srgbClr val="7030A0"/>
                </a:solidFill>
                <a:sym typeface="Symbol" pitchFamily="18" charset="2"/>
              </a:rPr>
              <a:t></a:t>
            </a:r>
            <a:r>
              <a:rPr lang="th-TH" sz="4000" b="1" baseline="-25000" dirty="0">
                <a:solidFill>
                  <a:srgbClr val="7030A0"/>
                </a:solidFill>
                <a:sym typeface="Symbol" pitchFamily="18" charset="2"/>
              </a:rPr>
              <a:t>2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 คือ</a:t>
            </a:r>
          </a:p>
          <a:p>
            <a:pPr marL="571500" indent="-571500"/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endParaRPr lang="th-TH" sz="4000" b="1" dirty="0">
              <a:solidFill>
                <a:srgbClr val="7030A0"/>
              </a:solidFill>
              <a:sym typeface="Symbol" pitchFamily="18" charset="2"/>
            </a:endParaRPr>
          </a:p>
        </p:txBody>
      </p:sp>
      <p:sp>
        <p:nvSpPr>
          <p:cNvPr id="131" name="Rectangle 43"/>
          <p:cNvSpPr>
            <a:spLocks noChangeArrowheads="1"/>
          </p:cNvSpPr>
          <p:nvPr/>
        </p:nvSpPr>
        <p:spPr bwMode="auto">
          <a:xfrm>
            <a:off x="1140778" y="267652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2" name="Rectangle 43"/>
          <p:cNvSpPr>
            <a:spLocks noChangeArrowheads="1"/>
          </p:cNvSpPr>
          <p:nvPr/>
        </p:nvSpPr>
        <p:spPr bwMode="auto">
          <a:xfrm>
            <a:off x="6067266" y="267144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667000" y="2966408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 flipH="1">
            <a:off x="5615940" y="2983230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28600" y="685800"/>
            <a:ext cx="8915400" cy="726936"/>
            <a:chOff x="228600" y="685800"/>
            <a:chExt cx="8915400" cy="726936"/>
          </a:xfrm>
        </p:grpSpPr>
        <p:sp>
          <p:nvSpPr>
            <p:cNvPr id="118" name="Text Box 11"/>
            <p:cNvSpPr txBox="1">
              <a:spLocks noChangeArrowheads="1"/>
            </p:cNvSpPr>
            <p:nvPr/>
          </p:nvSpPr>
          <p:spPr bwMode="auto">
            <a:xfrm>
              <a:off x="228600" y="704850"/>
              <a:ext cx="891540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4000" b="1" dirty="0">
                  <a:solidFill>
                    <a:srgbClr val="006600"/>
                  </a:solidFill>
                </a:rPr>
                <a:t>X</a:t>
              </a:r>
              <a:r>
                <a:rPr lang="en-US" sz="4000" b="1" baseline="-25000" dirty="0">
                  <a:solidFill>
                    <a:srgbClr val="006600"/>
                  </a:solidFill>
                </a:rPr>
                <a:t>i1</a:t>
              </a:r>
              <a:r>
                <a:rPr lang="en-US" sz="4000" b="1" dirty="0">
                  <a:solidFill>
                    <a:srgbClr val="006600"/>
                  </a:solidFill>
                </a:rPr>
                <a:t> , X</a:t>
              </a:r>
              <a:r>
                <a:rPr lang="en-US" sz="4000" b="1" baseline="-25000" dirty="0">
                  <a:solidFill>
                    <a:srgbClr val="006600"/>
                  </a:solidFill>
                </a:rPr>
                <a:t>i2</a:t>
              </a:r>
              <a:r>
                <a:rPr lang="en-US" sz="4000" b="1" dirty="0">
                  <a:solidFill>
                    <a:srgbClr val="006600"/>
                  </a:solidFill>
                </a:rPr>
                <a:t> , … , </a:t>
              </a:r>
              <a:r>
                <a:rPr lang="en-US" sz="4000" b="1" dirty="0" err="1">
                  <a:solidFill>
                    <a:srgbClr val="006600"/>
                  </a:solidFill>
                </a:rPr>
                <a:t>X</a:t>
              </a:r>
              <a:r>
                <a:rPr lang="en-US" sz="4000" b="1" baseline="-25000" dirty="0" err="1">
                  <a:solidFill>
                    <a:srgbClr val="006600"/>
                  </a:solidFill>
                </a:rPr>
                <a:t>in</a:t>
              </a:r>
              <a:r>
                <a:rPr lang="en-US" sz="4000" b="1" dirty="0">
                  <a:solidFill>
                    <a:srgbClr val="006600"/>
                  </a:solidFill>
                </a:rPr>
                <a:t> </a:t>
              </a:r>
              <a:r>
                <a:rPr lang="th-TH" sz="4000" b="1" dirty="0">
                  <a:solidFill>
                    <a:srgbClr val="006600"/>
                  </a:solidFill>
                </a:rPr>
                <a:t>เป็นตัวอย่างสุ่มจากประชากรปกติ </a:t>
              </a:r>
              <a:r>
                <a:rPr lang="en-US" sz="4000" b="1" dirty="0">
                  <a:solidFill>
                    <a:srgbClr val="006600"/>
                  </a:solidFill>
                </a:rPr>
                <a:t>: N(</a:t>
              </a:r>
              <a:r>
                <a:rPr lang="en-US" sz="3200" b="1" dirty="0">
                  <a:solidFill>
                    <a:srgbClr val="006600"/>
                  </a:solidFill>
                  <a:sym typeface="Symbol"/>
                </a:rPr>
                <a:t></a:t>
              </a:r>
              <a:r>
                <a:rPr lang="en-US" sz="4000" b="1" baseline="-25000" dirty="0">
                  <a:solidFill>
                    <a:srgbClr val="006600"/>
                  </a:solidFill>
                  <a:sym typeface="Symbol"/>
                </a:rPr>
                <a:t>i </a:t>
              </a:r>
              <a:r>
                <a:rPr lang="en-US" sz="4000" b="1" dirty="0">
                  <a:solidFill>
                    <a:srgbClr val="006600"/>
                  </a:solidFill>
                  <a:sym typeface="Symbol"/>
                </a:rPr>
                <a:t>, </a:t>
              </a:r>
              <a:r>
                <a:rPr lang="en-US" sz="3200" b="1" dirty="0">
                  <a:solidFill>
                    <a:srgbClr val="006600"/>
                  </a:solidFill>
                  <a:sym typeface="Symbol"/>
                </a:rPr>
                <a:t></a:t>
              </a:r>
              <a:r>
                <a:rPr lang="en-US" sz="4000" b="1" baseline="30000" dirty="0">
                  <a:solidFill>
                    <a:srgbClr val="006600"/>
                  </a:solidFill>
                  <a:sym typeface="Symbol"/>
                </a:rPr>
                <a:t>2</a:t>
              </a:r>
              <a:r>
                <a:rPr lang="en-US" sz="4000" b="1" dirty="0">
                  <a:solidFill>
                    <a:srgbClr val="006600"/>
                  </a:solidFill>
                  <a:sym typeface="Symbol"/>
                </a:rPr>
                <a:t>)</a:t>
              </a:r>
              <a:endParaRPr lang="th-TH" sz="4000" b="1" dirty="0">
                <a:solidFill>
                  <a:srgbClr val="006600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599170" y="685800"/>
              <a:ext cx="5334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baseline="-25000" dirty="0">
                  <a:solidFill>
                    <a:srgbClr val="006600"/>
                  </a:solidFill>
                  <a:sym typeface="Symbol"/>
                </a:rPr>
                <a:t>i</a:t>
              </a:r>
              <a:endParaRPr lang="en-US" sz="40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07751" y="4212386"/>
            <a:ext cx="8960049" cy="985234"/>
            <a:chOff x="164901" y="4212386"/>
            <a:chExt cx="8960049" cy="985234"/>
          </a:xfrm>
        </p:grpSpPr>
        <p:grpSp>
          <p:nvGrpSpPr>
            <p:cNvPr id="23" name="Group 22"/>
            <p:cNvGrpSpPr/>
            <p:nvPr/>
          </p:nvGrpSpPr>
          <p:grpSpPr>
            <a:xfrm>
              <a:off x="164901" y="4212386"/>
              <a:ext cx="3797500" cy="982390"/>
              <a:chOff x="328442" y="4212386"/>
              <a:chExt cx="3797500" cy="982390"/>
            </a:xfrm>
          </p:grpSpPr>
          <p:grpSp>
            <p:nvGrpSpPr>
              <p:cNvPr id="116" name="Group 102"/>
              <p:cNvGrpSpPr/>
              <p:nvPr/>
            </p:nvGrpSpPr>
            <p:grpSpPr>
              <a:xfrm>
                <a:off x="2718277" y="4212386"/>
                <a:ext cx="1407665" cy="982390"/>
                <a:chOff x="2186940" y="4239950"/>
                <a:chExt cx="1407665" cy="982390"/>
              </a:xfrm>
            </p:grpSpPr>
            <p:grpSp>
              <p:nvGrpSpPr>
                <p:cNvPr id="117" name="Group 90"/>
                <p:cNvGrpSpPr/>
                <p:nvPr/>
              </p:nvGrpSpPr>
              <p:grpSpPr>
                <a:xfrm>
                  <a:off x="2353235" y="4239950"/>
                  <a:ext cx="621348" cy="982330"/>
                  <a:chOff x="3375660" y="4960535"/>
                  <a:chExt cx="621348" cy="982330"/>
                </a:xfrm>
              </p:grpSpPr>
              <p:sp>
                <p:nvSpPr>
                  <p:cNvPr id="151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375660" y="4999989"/>
                    <a:ext cx="536519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S</a:t>
                    </a:r>
                    <a:r>
                      <a:rPr kumimoji="1" lang="en-US" sz="3600" b="1" baseline="30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52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87408" y="5296534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53" name="TextBox 152"/>
                  <p:cNvSpPr txBox="1"/>
                  <p:nvPr/>
                </p:nvSpPr>
                <p:spPr>
                  <a:xfrm>
                    <a:off x="3540215" y="4960535"/>
                    <a:ext cx="381000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endParaRPr lang="en-US" sz="36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119" name="Group 91"/>
                <p:cNvGrpSpPr/>
                <p:nvPr/>
              </p:nvGrpSpPr>
              <p:grpSpPr>
                <a:xfrm>
                  <a:off x="2980760" y="4251440"/>
                  <a:ext cx="613845" cy="970900"/>
                  <a:chOff x="6638360" y="4967140"/>
                  <a:chExt cx="613845" cy="970900"/>
                </a:xfrm>
              </p:grpSpPr>
              <p:sp>
                <p:nvSpPr>
                  <p:cNvPr id="140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6638360" y="4995164"/>
                    <a:ext cx="514784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S</a:t>
                    </a:r>
                    <a:r>
                      <a:rPr kumimoji="1" lang="en-US" sz="3600" b="1" baseline="30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42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42605" y="5291709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47" name="TextBox 146"/>
                  <p:cNvSpPr txBox="1"/>
                  <p:nvPr/>
                </p:nvSpPr>
                <p:spPr>
                  <a:xfrm>
                    <a:off x="6794978" y="4967140"/>
                    <a:ext cx="434368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endParaRPr lang="en-US" sz="36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cxnSp>
              <p:nvCxnSpPr>
                <p:cNvPr id="120" name="Straight Connector 119"/>
                <p:cNvCxnSpPr/>
                <p:nvPr/>
              </p:nvCxnSpPr>
              <p:spPr>
                <a:xfrm>
                  <a:off x="2419930" y="4815524"/>
                  <a:ext cx="274320" cy="1588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/>
                <p:cNvCxnSpPr/>
                <p:nvPr/>
              </p:nvCxnSpPr>
              <p:spPr>
                <a:xfrm>
                  <a:off x="3064842" y="4815524"/>
                  <a:ext cx="274320" cy="1588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3" name="TextBox 122"/>
                <p:cNvSpPr txBox="1"/>
                <p:nvPr/>
              </p:nvSpPr>
              <p:spPr>
                <a:xfrm>
                  <a:off x="2686340" y="4514850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solidFill>
                        <a:srgbClr val="7030A0"/>
                      </a:solidFill>
                    </a:rPr>
                    <a:t>+</a:t>
                  </a:r>
                </a:p>
              </p:txBody>
            </p:sp>
            <p:grpSp>
              <p:nvGrpSpPr>
                <p:cNvPr id="124" name="Group 101"/>
                <p:cNvGrpSpPr/>
                <p:nvPr/>
              </p:nvGrpSpPr>
              <p:grpSpPr>
                <a:xfrm>
                  <a:off x="2186940" y="4348947"/>
                  <a:ext cx="1190611" cy="660887"/>
                  <a:chOff x="2186940" y="4348947"/>
                  <a:chExt cx="1190611" cy="660887"/>
                </a:xfrm>
              </p:grpSpPr>
              <p:sp>
                <p:nvSpPr>
                  <p:cNvPr id="125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371711" y="4348947"/>
                    <a:ext cx="100584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/>
                  </a:p>
                </p:txBody>
              </p:sp>
              <p:sp>
                <p:nvSpPr>
                  <p:cNvPr id="129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63139" y="4354514"/>
                    <a:ext cx="110925" cy="64008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33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186940" y="4918394"/>
                    <a:ext cx="76199" cy="9144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</p:grpSp>
          <p:grpSp>
            <p:nvGrpSpPr>
              <p:cNvPr id="22" name="Group 21"/>
              <p:cNvGrpSpPr/>
              <p:nvPr/>
            </p:nvGrpSpPr>
            <p:grpSpPr>
              <a:xfrm>
                <a:off x="328442" y="4322581"/>
                <a:ext cx="2824164" cy="762000"/>
                <a:chOff x="328442" y="4322581"/>
                <a:chExt cx="2824164" cy="762000"/>
              </a:xfrm>
            </p:grpSpPr>
            <p:grpSp>
              <p:nvGrpSpPr>
                <p:cNvPr id="163" name="Group 41"/>
                <p:cNvGrpSpPr>
                  <a:grpSpLocks/>
                </p:cNvGrpSpPr>
                <p:nvPr/>
              </p:nvGrpSpPr>
              <p:grpSpPr bwMode="auto">
                <a:xfrm>
                  <a:off x="328442" y="4322581"/>
                  <a:ext cx="2824164" cy="762000"/>
                  <a:chOff x="3045" y="2433"/>
                  <a:chExt cx="1779" cy="480"/>
                </a:xfrm>
              </p:grpSpPr>
              <p:sp>
                <p:nvSpPr>
                  <p:cNvPr id="164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3045" y="2433"/>
                    <a:ext cx="1779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(X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1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– X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)</a:t>
                    </a:r>
                    <a:r>
                      <a:rPr kumimoji="1" lang="th-TH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– 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t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0.025,(d)</a:t>
                    </a:r>
                    <a:r>
                      <a:rPr kumimoji="1" lang="th-TH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</a:t>
                    </a:r>
                    <a:endPara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178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3173" y="2532"/>
                    <a:ext cx="115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  <p:sp>
              <p:nvSpPr>
                <p:cNvPr id="114" name="Line 47"/>
                <p:cNvSpPr>
                  <a:spLocks noChangeShapeType="1"/>
                </p:cNvSpPr>
                <p:nvPr/>
              </p:nvSpPr>
              <p:spPr bwMode="auto">
                <a:xfrm>
                  <a:off x="1157683" y="4479744"/>
                  <a:ext cx="182880" cy="0"/>
                </a:xfrm>
                <a:prstGeom prst="line">
                  <a:avLst/>
                </a:prstGeom>
                <a:noFill/>
                <a:ln w="28575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/>
                </a:p>
              </p:txBody>
            </p:sp>
          </p:grpSp>
        </p:grpSp>
        <p:sp>
          <p:nvSpPr>
            <p:cNvPr id="183" name="Rectangle 42"/>
            <p:cNvSpPr>
              <a:spLocks noChangeArrowheads="1"/>
            </p:cNvSpPr>
            <p:nvPr/>
          </p:nvSpPr>
          <p:spPr bwMode="auto">
            <a:xfrm>
              <a:off x="3741537" y="4320540"/>
              <a:ext cx="2122488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3600" b="1" u="sng" dirty="0">
                  <a:solidFill>
                    <a:srgbClr val="7030A0"/>
                  </a:solidFill>
                  <a:sym typeface="Symbol" pitchFamily="18" charset="2"/>
                </a:rPr>
                <a:t>&lt;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</a:t>
              </a:r>
              <a:r>
                <a:rPr kumimoji="1" lang="en-US" sz="2800" b="1" dirty="0">
                  <a:solidFill>
                    <a:srgbClr val="7030A0"/>
                  </a:solidFill>
                  <a:sym typeface="Symbol" pitchFamily="18" charset="2"/>
                </a:rPr>
                <a:t></a:t>
              </a:r>
              <a:r>
                <a:rPr kumimoji="1" lang="en-US" sz="3600" b="1" baseline="-25000" dirty="0">
                  <a:solidFill>
                    <a:srgbClr val="7030A0"/>
                  </a:solidFill>
                  <a:sym typeface="Symbol" pitchFamily="18" charset="2"/>
                </a:rPr>
                <a:t>1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– </a:t>
              </a:r>
              <a:r>
                <a:rPr kumimoji="1" lang="en-US" sz="2800" b="1" dirty="0">
                  <a:solidFill>
                    <a:srgbClr val="7030A0"/>
                  </a:solidFill>
                  <a:sym typeface="Symbol" pitchFamily="18" charset="2"/>
                </a:rPr>
                <a:t></a:t>
              </a:r>
              <a:r>
                <a:rPr kumimoji="1" lang="en-US" sz="3600" b="1" baseline="-25000" dirty="0">
                  <a:solidFill>
                    <a:srgbClr val="7030A0"/>
                  </a:solidFill>
                  <a:sym typeface="Symbol" pitchFamily="18" charset="2"/>
                </a:rPr>
                <a:t>2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</a:t>
              </a:r>
              <a:r>
                <a:rPr kumimoji="1" lang="en-US" sz="3600" b="1" u="sng" dirty="0">
                  <a:solidFill>
                    <a:srgbClr val="7030A0"/>
                  </a:solidFill>
                  <a:sym typeface="Symbol" pitchFamily="18" charset="2"/>
                </a:rPr>
                <a:t>&lt;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</a:t>
              </a:r>
            </a:p>
          </p:txBody>
        </p:sp>
        <p:grpSp>
          <p:nvGrpSpPr>
            <p:cNvPr id="207" name="Group 206"/>
            <p:cNvGrpSpPr/>
            <p:nvPr/>
          </p:nvGrpSpPr>
          <p:grpSpPr>
            <a:xfrm>
              <a:off x="5235369" y="4215230"/>
              <a:ext cx="3889581" cy="982390"/>
              <a:chOff x="369711" y="4212386"/>
              <a:chExt cx="3889581" cy="982390"/>
            </a:xfrm>
          </p:grpSpPr>
          <p:grpSp>
            <p:nvGrpSpPr>
              <p:cNvPr id="208" name="Group 102"/>
              <p:cNvGrpSpPr/>
              <p:nvPr/>
            </p:nvGrpSpPr>
            <p:grpSpPr>
              <a:xfrm>
                <a:off x="2851627" y="4212386"/>
                <a:ext cx="1407665" cy="982390"/>
                <a:chOff x="2320290" y="4239950"/>
                <a:chExt cx="1407665" cy="982390"/>
              </a:xfrm>
            </p:grpSpPr>
            <p:grpSp>
              <p:nvGrpSpPr>
                <p:cNvPr id="214" name="Group 90"/>
                <p:cNvGrpSpPr/>
                <p:nvPr/>
              </p:nvGrpSpPr>
              <p:grpSpPr>
                <a:xfrm>
                  <a:off x="2498015" y="4239950"/>
                  <a:ext cx="609918" cy="982330"/>
                  <a:chOff x="3520440" y="4960535"/>
                  <a:chExt cx="609918" cy="982330"/>
                </a:xfrm>
              </p:grpSpPr>
              <p:sp>
                <p:nvSpPr>
                  <p:cNvPr id="226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520440" y="4988559"/>
                    <a:ext cx="567116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S</a:t>
                    </a:r>
                    <a:r>
                      <a:rPr kumimoji="1" lang="en-US" sz="3600" b="1" baseline="30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27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20758" y="5296534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28" name="TextBox 227"/>
                  <p:cNvSpPr txBox="1"/>
                  <p:nvPr/>
                </p:nvSpPr>
                <p:spPr>
                  <a:xfrm>
                    <a:off x="3673565" y="4960535"/>
                    <a:ext cx="381000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endParaRPr lang="en-US" sz="36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215" name="Group 91"/>
                <p:cNvGrpSpPr/>
                <p:nvPr/>
              </p:nvGrpSpPr>
              <p:grpSpPr>
                <a:xfrm>
                  <a:off x="3114111" y="4251440"/>
                  <a:ext cx="613844" cy="970900"/>
                  <a:chOff x="6771711" y="4967140"/>
                  <a:chExt cx="613844" cy="970900"/>
                </a:xfrm>
              </p:grpSpPr>
              <p:sp>
                <p:nvSpPr>
                  <p:cNvPr id="223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6771711" y="4983734"/>
                    <a:ext cx="514784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S</a:t>
                    </a:r>
                    <a:r>
                      <a:rPr kumimoji="1" lang="en-US" sz="3600" b="1" baseline="30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24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75955" y="5291709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25" name="TextBox 224"/>
                  <p:cNvSpPr txBox="1"/>
                  <p:nvPr/>
                </p:nvSpPr>
                <p:spPr>
                  <a:xfrm>
                    <a:off x="6928328" y="4967140"/>
                    <a:ext cx="434368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endParaRPr lang="en-US" sz="36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cxnSp>
              <p:nvCxnSpPr>
                <p:cNvPr id="216" name="Straight Connector 215"/>
                <p:cNvCxnSpPr/>
                <p:nvPr/>
              </p:nvCxnSpPr>
              <p:spPr>
                <a:xfrm>
                  <a:off x="2558285" y="4815524"/>
                  <a:ext cx="274320" cy="1588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/>
                <p:cNvCxnSpPr/>
                <p:nvPr/>
              </p:nvCxnSpPr>
              <p:spPr>
                <a:xfrm>
                  <a:off x="3198192" y="4815524"/>
                  <a:ext cx="274320" cy="1588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8" name="TextBox 217"/>
                <p:cNvSpPr txBox="1"/>
                <p:nvPr/>
              </p:nvSpPr>
              <p:spPr>
                <a:xfrm>
                  <a:off x="2819690" y="4514850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solidFill>
                        <a:srgbClr val="7030A0"/>
                      </a:solidFill>
                    </a:rPr>
                    <a:t>+</a:t>
                  </a:r>
                </a:p>
              </p:txBody>
            </p:sp>
            <p:grpSp>
              <p:nvGrpSpPr>
                <p:cNvPr id="219" name="Group 101"/>
                <p:cNvGrpSpPr/>
                <p:nvPr/>
              </p:nvGrpSpPr>
              <p:grpSpPr>
                <a:xfrm>
                  <a:off x="2320290" y="4348947"/>
                  <a:ext cx="1190611" cy="660887"/>
                  <a:chOff x="2320290" y="4348947"/>
                  <a:chExt cx="1190611" cy="660887"/>
                </a:xfrm>
              </p:grpSpPr>
              <p:sp>
                <p:nvSpPr>
                  <p:cNvPr id="220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505061" y="4348947"/>
                    <a:ext cx="100584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/>
                  </a:p>
                </p:txBody>
              </p:sp>
              <p:sp>
                <p:nvSpPr>
                  <p:cNvPr id="221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396489" y="4354514"/>
                    <a:ext cx="110925" cy="64008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22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320290" y="4918394"/>
                    <a:ext cx="76199" cy="9144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</p:grpSp>
          <p:grpSp>
            <p:nvGrpSpPr>
              <p:cNvPr id="209" name="Group 208"/>
              <p:cNvGrpSpPr/>
              <p:nvPr/>
            </p:nvGrpSpPr>
            <p:grpSpPr>
              <a:xfrm>
                <a:off x="369711" y="4322581"/>
                <a:ext cx="2863851" cy="762000"/>
                <a:chOff x="369711" y="4322581"/>
                <a:chExt cx="2863851" cy="762000"/>
              </a:xfrm>
            </p:grpSpPr>
            <p:grpSp>
              <p:nvGrpSpPr>
                <p:cNvPr id="210" name="Group 41"/>
                <p:cNvGrpSpPr>
                  <a:grpSpLocks/>
                </p:cNvGrpSpPr>
                <p:nvPr/>
              </p:nvGrpSpPr>
              <p:grpSpPr bwMode="auto">
                <a:xfrm>
                  <a:off x="369711" y="4322581"/>
                  <a:ext cx="2863851" cy="762000"/>
                  <a:chOff x="3071" y="2433"/>
                  <a:chExt cx="1804" cy="480"/>
                </a:xfrm>
              </p:grpSpPr>
              <p:sp>
                <p:nvSpPr>
                  <p:cNvPr id="212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3071" y="2433"/>
                    <a:ext cx="1804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(X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1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– X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2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)</a:t>
                    </a:r>
                    <a:r>
                      <a:rPr kumimoji="1" lang="th-TH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+</a:t>
                    </a:r>
                    <a:r>
                      <a:rPr kumimoji="1" lang="th-TH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</a:t>
                    </a: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t</a:t>
                    </a:r>
                    <a:r>
                      <a:rPr kumimoji="1" lang="en-US" sz="3600" b="1" baseline="-25000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0.025,(d)</a:t>
                    </a:r>
                    <a:r>
                      <a:rPr kumimoji="1" lang="th-TH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 </a:t>
                    </a:r>
                    <a:endPara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213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3195" y="2532"/>
                    <a:ext cx="115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  <p:sp>
              <p:nvSpPr>
                <p:cNvPr id="211" name="Line 47"/>
                <p:cNvSpPr>
                  <a:spLocks noChangeShapeType="1"/>
                </p:cNvSpPr>
                <p:nvPr/>
              </p:nvSpPr>
              <p:spPr bwMode="auto">
                <a:xfrm>
                  <a:off x="1194216" y="4479744"/>
                  <a:ext cx="182880" cy="0"/>
                </a:xfrm>
                <a:prstGeom prst="line">
                  <a:avLst/>
                </a:prstGeom>
                <a:noFill/>
                <a:ln w="28575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/>
                </a:p>
              </p:txBody>
            </p:sp>
          </p:grpSp>
        </p:grpSp>
      </p:grpSp>
      <p:grpSp>
        <p:nvGrpSpPr>
          <p:cNvPr id="141" name="Group 140"/>
          <p:cNvGrpSpPr/>
          <p:nvPr/>
        </p:nvGrpSpPr>
        <p:grpSpPr>
          <a:xfrm>
            <a:off x="-2146477" y="5670689"/>
            <a:ext cx="1718357" cy="521331"/>
            <a:chOff x="5181977" y="5507042"/>
            <a:chExt cx="1718357" cy="521331"/>
          </a:xfrm>
        </p:grpSpPr>
        <p:sp>
          <p:nvSpPr>
            <p:cNvPr id="146" name="Text Box 118"/>
            <p:cNvSpPr txBox="1">
              <a:spLocks noChangeArrowheads="1"/>
            </p:cNvSpPr>
            <p:nvPr/>
          </p:nvSpPr>
          <p:spPr bwMode="auto">
            <a:xfrm>
              <a:off x="5181977" y="5507042"/>
              <a:ext cx="35473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b="1" dirty="0">
                  <a:solidFill>
                    <a:srgbClr val="FFF3E7"/>
                  </a:solidFill>
                </a:rPr>
                <a:t>2</a:t>
              </a:r>
              <a:endParaRPr lang="th-TH" sz="2800" b="1" dirty="0">
                <a:solidFill>
                  <a:srgbClr val="FFF3E7"/>
                </a:solidFill>
              </a:endParaRPr>
            </a:p>
          </p:txBody>
        </p:sp>
        <p:sp>
          <p:nvSpPr>
            <p:cNvPr id="144" name="Text Box 118"/>
            <p:cNvSpPr txBox="1">
              <a:spLocks noChangeArrowheads="1"/>
            </p:cNvSpPr>
            <p:nvPr/>
          </p:nvSpPr>
          <p:spPr bwMode="auto">
            <a:xfrm>
              <a:off x="6545602" y="5509260"/>
              <a:ext cx="35473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b="1" dirty="0">
                  <a:solidFill>
                    <a:srgbClr val="FFF3E7"/>
                  </a:solidFill>
                </a:rPr>
                <a:t>2</a:t>
              </a:r>
              <a:endParaRPr lang="th-TH" sz="2800" b="1" dirty="0">
                <a:solidFill>
                  <a:srgbClr val="FFF3E7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-36938" y="6020839"/>
            <a:ext cx="4510513" cy="812801"/>
            <a:chOff x="907950" y="5456243"/>
            <a:chExt cx="4510513" cy="812801"/>
          </a:xfrm>
        </p:grpSpPr>
        <p:grpSp>
          <p:nvGrpSpPr>
            <p:cNvPr id="112" name="Group 119"/>
            <p:cNvGrpSpPr>
              <a:grpSpLocks/>
            </p:cNvGrpSpPr>
            <p:nvPr/>
          </p:nvGrpSpPr>
          <p:grpSpPr bwMode="auto">
            <a:xfrm>
              <a:off x="907950" y="5456243"/>
              <a:ext cx="4510513" cy="812801"/>
              <a:chOff x="-592" y="1325"/>
              <a:chExt cx="1831" cy="512"/>
            </a:xfrm>
          </p:grpSpPr>
          <p:sp>
            <p:nvSpPr>
              <p:cNvPr id="113" name="Text Box 117"/>
              <p:cNvSpPr txBox="1">
                <a:spLocks noChangeArrowheads="1"/>
              </p:cNvSpPr>
              <p:nvPr/>
            </p:nvSpPr>
            <p:spPr bwMode="auto">
              <a:xfrm>
                <a:off x="-592" y="1352"/>
                <a:ext cx="1831" cy="48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th-TH" sz="3200" b="1" dirty="0">
                    <a:solidFill>
                      <a:srgbClr val="FFF3E7"/>
                    </a:solidFill>
                    <a:sym typeface="Symbol" pitchFamily="18" charset="2"/>
                  </a:rPr>
                  <a:t></a:t>
                </a:r>
                <a:r>
                  <a:rPr lang="th-TH" sz="4400" b="1" baseline="-25000" dirty="0">
                    <a:solidFill>
                      <a:srgbClr val="FFF3E7"/>
                    </a:solidFill>
                    <a:sym typeface="Symbol" pitchFamily="18" charset="2"/>
                  </a:rPr>
                  <a:t>1</a:t>
                </a:r>
                <a:r>
                  <a:rPr lang="th-TH" sz="4400" b="1" dirty="0">
                    <a:solidFill>
                      <a:srgbClr val="FFF3E7"/>
                    </a:solidFill>
                  </a:rPr>
                  <a:t>  </a:t>
                </a:r>
                <a:r>
                  <a:rPr lang="en-US" b="1" dirty="0">
                    <a:solidFill>
                      <a:srgbClr val="FFF3E7"/>
                    </a:solidFill>
                  </a:rPr>
                  <a:t>≠</a:t>
                </a:r>
                <a:r>
                  <a:rPr lang="th-TH" sz="4400" b="1" dirty="0">
                    <a:solidFill>
                      <a:srgbClr val="FFF3E7"/>
                    </a:solidFill>
                  </a:rPr>
                  <a:t> </a:t>
                </a:r>
                <a:r>
                  <a:rPr lang="en-US" sz="4400" b="1" dirty="0">
                    <a:solidFill>
                      <a:srgbClr val="FFF3E7"/>
                    </a:solidFill>
                  </a:rPr>
                  <a:t> </a:t>
                </a:r>
                <a:r>
                  <a:rPr lang="th-TH" sz="3200" b="1" dirty="0">
                    <a:solidFill>
                      <a:srgbClr val="FFF3E7"/>
                    </a:solidFill>
                    <a:sym typeface="Symbol" pitchFamily="18" charset="2"/>
                  </a:rPr>
                  <a:t></a:t>
                </a:r>
                <a:r>
                  <a:rPr lang="th-TH" sz="4400" b="1" baseline="-25000" dirty="0">
                    <a:solidFill>
                      <a:srgbClr val="FFF3E7"/>
                    </a:solidFill>
                    <a:sym typeface="Symbol" pitchFamily="18" charset="2"/>
                  </a:rPr>
                  <a:t>2</a:t>
                </a:r>
                <a:r>
                  <a:rPr lang="th-TH" sz="4400" b="1" dirty="0">
                    <a:solidFill>
                      <a:srgbClr val="FFF3E7"/>
                    </a:solidFill>
                  </a:rPr>
                  <a:t> </a:t>
                </a:r>
                <a:r>
                  <a:rPr lang="en-US" sz="4400" b="1" dirty="0">
                    <a:solidFill>
                      <a:srgbClr val="FFF3E7"/>
                    </a:solidFill>
                  </a:rPr>
                  <a:t>  </a:t>
                </a:r>
                <a:r>
                  <a:rPr lang="th-TH" sz="4400" b="1" dirty="0">
                    <a:solidFill>
                      <a:srgbClr val="FFF3E7"/>
                    </a:solidFill>
                  </a:rPr>
                  <a:t>และ  ไม่ทราบค่า </a:t>
                </a:r>
              </a:p>
            </p:txBody>
          </p:sp>
          <p:sp>
            <p:nvSpPr>
              <p:cNvPr id="115" name="Text Box 118"/>
              <p:cNvSpPr txBox="1">
                <a:spLocks noChangeArrowheads="1"/>
              </p:cNvSpPr>
              <p:nvPr/>
            </p:nvSpPr>
            <p:spPr bwMode="auto">
              <a:xfrm>
                <a:off x="-400" y="1325"/>
                <a:ext cx="1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b="1" dirty="0">
                    <a:solidFill>
                      <a:srgbClr val="FFF3E7"/>
                    </a:solidFill>
                  </a:rPr>
                  <a:t>2</a:t>
                </a:r>
                <a:endParaRPr lang="th-TH" sz="2800" b="1" dirty="0">
                  <a:solidFill>
                    <a:srgbClr val="FFF3E7"/>
                  </a:solidFill>
                </a:endParaRPr>
              </a:p>
            </p:txBody>
          </p:sp>
        </p:grpSp>
        <p:sp>
          <p:nvSpPr>
            <p:cNvPr id="122" name="Text Box 118"/>
            <p:cNvSpPr txBox="1">
              <a:spLocks noChangeArrowheads="1"/>
            </p:cNvSpPr>
            <p:nvPr/>
          </p:nvSpPr>
          <p:spPr bwMode="auto">
            <a:xfrm>
              <a:off x="2336669" y="5456243"/>
              <a:ext cx="35473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b="1" dirty="0">
                  <a:solidFill>
                    <a:srgbClr val="FFF3E7"/>
                  </a:solidFill>
                </a:rPr>
                <a:t>2</a:t>
              </a:r>
              <a:endParaRPr lang="th-TH" sz="2800" b="1" dirty="0">
                <a:solidFill>
                  <a:srgbClr val="FFF3E7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7789" y="1284288"/>
            <a:ext cx="3741738" cy="1488538"/>
            <a:chOff x="77789" y="1284288"/>
            <a:chExt cx="3741738" cy="1488538"/>
          </a:xfrm>
        </p:grpSpPr>
        <p:grpSp>
          <p:nvGrpSpPr>
            <p:cNvPr id="87" name="Group 86"/>
            <p:cNvGrpSpPr/>
            <p:nvPr/>
          </p:nvGrpSpPr>
          <p:grpSpPr>
            <a:xfrm>
              <a:off x="77789" y="1284288"/>
              <a:ext cx="3741738" cy="1488538"/>
              <a:chOff x="2058988" y="3985552"/>
              <a:chExt cx="3741738" cy="1488538"/>
            </a:xfrm>
          </p:grpSpPr>
          <p:grpSp>
            <p:nvGrpSpPr>
              <p:cNvPr id="89" name="Group 103"/>
              <p:cNvGrpSpPr/>
              <p:nvPr/>
            </p:nvGrpSpPr>
            <p:grpSpPr>
              <a:xfrm>
                <a:off x="2058988" y="3985552"/>
                <a:ext cx="3741738" cy="1488538"/>
                <a:chOff x="1533527" y="3733802"/>
                <a:chExt cx="3741738" cy="1488538"/>
              </a:xfrm>
            </p:grpSpPr>
            <p:grpSp>
              <p:nvGrpSpPr>
                <p:cNvPr id="90" name="Group 39"/>
                <p:cNvGrpSpPr>
                  <a:grpSpLocks/>
                </p:cNvGrpSpPr>
                <p:nvPr/>
              </p:nvGrpSpPr>
              <p:grpSpPr bwMode="auto">
                <a:xfrm>
                  <a:off x="1533527" y="3733802"/>
                  <a:ext cx="3741738" cy="874713"/>
                  <a:chOff x="3272" y="2511"/>
                  <a:chExt cx="2357" cy="551"/>
                </a:xfrm>
              </p:grpSpPr>
              <p:sp>
                <p:nvSpPr>
                  <p:cNvPr id="107" name="Text Box 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58" y="2655"/>
                    <a:ext cx="671" cy="40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~  t(d)</a:t>
                    </a:r>
                    <a:endParaRPr lang="th-TH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grpSp>
                <p:nvGrpSpPr>
                  <p:cNvPr id="108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3272" y="2511"/>
                    <a:ext cx="2210" cy="480"/>
                    <a:chOff x="3222" y="2433"/>
                    <a:chExt cx="2210" cy="480"/>
                  </a:xfrm>
                </p:grpSpPr>
                <p:sp>
                  <p:nvSpPr>
                    <p:cNvPr id="109" name="Rectangle 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2" y="2433"/>
                      <a:ext cx="2210" cy="48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>
                        <a:tabLst>
                          <a:tab pos="457200" algn="l"/>
                        </a:tabLst>
                      </a:pPr>
                      <a:r>
                        <a:rPr kumimoji="1" lang="en-US" sz="36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(X</a:t>
                      </a:r>
                      <a:r>
                        <a:rPr kumimoji="1" lang="en-US" sz="3600" b="1" baseline="-25000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1</a:t>
                      </a:r>
                      <a:r>
                        <a:rPr kumimoji="1" lang="en-US" sz="36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 – X</a:t>
                      </a:r>
                      <a:r>
                        <a:rPr kumimoji="1" lang="en-US" sz="3600" b="1" baseline="-25000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2</a:t>
                      </a:r>
                      <a:r>
                        <a:rPr kumimoji="1" lang="en-US" sz="36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) – (</a:t>
                      </a:r>
                      <a:r>
                        <a:rPr kumimoji="1" lang="en-US" sz="28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</a:t>
                      </a:r>
                      <a:r>
                        <a:rPr kumimoji="1" lang="en-US" sz="3600" b="1" baseline="-25000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1</a:t>
                      </a:r>
                      <a:r>
                        <a:rPr kumimoji="1" lang="en-US" sz="36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 – </a:t>
                      </a:r>
                      <a:r>
                        <a:rPr kumimoji="1" lang="en-US" sz="28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</a:t>
                      </a:r>
                      <a:r>
                        <a:rPr kumimoji="1" lang="en-US" sz="3600" b="1" baseline="-25000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2</a:t>
                      </a:r>
                      <a:r>
                        <a:rPr kumimoji="1" lang="en-US" sz="36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) </a:t>
                      </a:r>
                    </a:p>
                  </p:txBody>
                </p:sp>
                <p:sp>
                  <p:nvSpPr>
                    <p:cNvPr id="110" name="Line 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77" y="2788"/>
                      <a:ext cx="1613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600"/>
                    </a:p>
                  </p:txBody>
                </p:sp>
                <p:sp>
                  <p:nvSpPr>
                    <p:cNvPr id="111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45" y="2532"/>
                      <a:ext cx="115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60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91" name="Group 102"/>
                <p:cNvGrpSpPr/>
                <p:nvPr/>
              </p:nvGrpSpPr>
              <p:grpSpPr>
                <a:xfrm>
                  <a:off x="2186940" y="4239950"/>
                  <a:ext cx="1505268" cy="982390"/>
                  <a:chOff x="2186940" y="4239950"/>
                  <a:chExt cx="1505268" cy="982390"/>
                </a:xfrm>
              </p:grpSpPr>
              <p:grpSp>
                <p:nvGrpSpPr>
                  <p:cNvPr id="92" name="Group 90"/>
                  <p:cNvGrpSpPr/>
                  <p:nvPr/>
                </p:nvGrpSpPr>
                <p:grpSpPr>
                  <a:xfrm>
                    <a:off x="2341805" y="4239950"/>
                    <a:ext cx="632778" cy="982330"/>
                    <a:chOff x="3364230" y="4960535"/>
                    <a:chExt cx="632778" cy="982330"/>
                  </a:xfrm>
                </p:grpSpPr>
                <p:sp>
                  <p:nvSpPr>
                    <p:cNvPr id="104" name="Rectangle 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4230" y="4999989"/>
                      <a:ext cx="591275" cy="8382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457200" indent="-457200">
                        <a:tabLst>
                          <a:tab pos="457200" algn="l"/>
                        </a:tabLst>
                      </a:pPr>
                      <a:r>
                        <a:rPr kumimoji="1" lang="en-US" sz="36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S</a:t>
                      </a:r>
                      <a:r>
                        <a:rPr kumimoji="1" lang="en-US" sz="3600" b="1" baseline="30000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2</a:t>
                      </a:r>
                      <a:endParaRPr kumimoji="1" lang="en-US" sz="3600" b="1" dirty="0">
                        <a:solidFill>
                          <a:srgbClr val="7030A0"/>
                        </a:solidFill>
                      </a:endParaRPr>
                    </a:p>
                  </p:txBody>
                </p:sp>
                <p:sp>
                  <p:nvSpPr>
                    <p:cNvPr id="105" name="Text Box 2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387408" y="5296534"/>
                      <a:ext cx="609600" cy="64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sz="3600" b="1" dirty="0">
                          <a:solidFill>
                            <a:srgbClr val="7030A0"/>
                          </a:solidFill>
                        </a:rPr>
                        <a:t>n</a:t>
                      </a:r>
                      <a:r>
                        <a:rPr lang="en-US" sz="3600" b="1" baseline="-25000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th-TH" sz="3600" b="1" baseline="-25000" dirty="0">
                        <a:solidFill>
                          <a:srgbClr val="7030A0"/>
                        </a:solidFill>
                      </a:endParaRPr>
                    </a:p>
                  </p:txBody>
                </p:sp>
                <p:sp>
                  <p:nvSpPr>
                    <p:cNvPr id="106" name="TextBox 105"/>
                    <p:cNvSpPr txBox="1"/>
                    <p:nvPr/>
                  </p:nvSpPr>
                  <p:spPr>
                    <a:xfrm>
                      <a:off x="3540215" y="4960535"/>
                      <a:ext cx="381000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3600" b="1" baseline="-25000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en-US" sz="3600" dirty="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  <p:grpSp>
                <p:nvGrpSpPr>
                  <p:cNvPr id="93" name="Group 91"/>
                  <p:cNvGrpSpPr/>
                  <p:nvPr/>
                </p:nvGrpSpPr>
                <p:grpSpPr>
                  <a:xfrm>
                    <a:off x="3082290" y="4251440"/>
                    <a:ext cx="609918" cy="970900"/>
                    <a:chOff x="6739890" y="4967140"/>
                    <a:chExt cx="609918" cy="970900"/>
                  </a:xfrm>
                </p:grpSpPr>
                <p:sp>
                  <p:nvSpPr>
                    <p:cNvPr id="101" name="Rectangle 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39890" y="5006594"/>
                      <a:ext cx="514784" cy="8382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457200" indent="-457200">
                        <a:tabLst>
                          <a:tab pos="457200" algn="l"/>
                        </a:tabLst>
                      </a:pPr>
                      <a:r>
                        <a:rPr kumimoji="1" lang="en-US" sz="36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S</a:t>
                      </a:r>
                      <a:r>
                        <a:rPr kumimoji="1" lang="en-US" sz="3600" b="1" baseline="30000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2</a:t>
                      </a:r>
                      <a:endParaRPr kumimoji="1" lang="en-US" sz="3600" b="1" dirty="0">
                        <a:solidFill>
                          <a:srgbClr val="7030A0"/>
                        </a:solidFill>
                      </a:endParaRPr>
                    </a:p>
                  </p:txBody>
                </p:sp>
                <p:sp>
                  <p:nvSpPr>
                    <p:cNvPr id="102" name="Text Box 2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40208" y="5291709"/>
                      <a:ext cx="609600" cy="64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sz="3600" b="1" dirty="0">
                          <a:solidFill>
                            <a:srgbClr val="7030A0"/>
                          </a:solidFill>
                        </a:rPr>
                        <a:t>n</a:t>
                      </a:r>
                      <a:r>
                        <a:rPr lang="en-US" sz="3600" b="1" baseline="-25000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th-TH" sz="3600" b="1" baseline="-25000" dirty="0">
                        <a:solidFill>
                          <a:srgbClr val="7030A0"/>
                        </a:solidFill>
                      </a:endParaRPr>
                    </a:p>
                  </p:txBody>
                </p:sp>
                <p:sp>
                  <p:nvSpPr>
                    <p:cNvPr id="103" name="TextBox 102"/>
                    <p:cNvSpPr txBox="1"/>
                    <p:nvPr/>
                  </p:nvSpPr>
                  <p:spPr>
                    <a:xfrm>
                      <a:off x="6892581" y="4967140"/>
                      <a:ext cx="434368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3600" b="1" baseline="-25000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en-US" sz="3600" dirty="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  <p:cxnSp>
                <p:nvCxnSpPr>
                  <p:cNvPr id="94" name="Straight Connector 93"/>
                  <p:cNvCxnSpPr/>
                  <p:nvPr/>
                </p:nvCxnSpPr>
                <p:spPr>
                  <a:xfrm>
                    <a:off x="2419930" y="4815524"/>
                    <a:ext cx="274320" cy="1588"/>
                  </a:xfrm>
                  <a:prstGeom prst="line">
                    <a:avLst/>
                  </a:prstGeom>
                  <a:ln w="1905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94"/>
                  <p:cNvCxnSpPr/>
                  <p:nvPr/>
                </p:nvCxnSpPr>
                <p:spPr>
                  <a:xfrm>
                    <a:off x="3162445" y="4815524"/>
                    <a:ext cx="274320" cy="1588"/>
                  </a:xfrm>
                  <a:prstGeom prst="line">
                    <a:avLst/>
                  </a:prstGeom>
                  <a:ln w="1905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" name="TextBox 95"/>
                  <p:cNvSpPr txBox="1"/>
                  <p:nvPr/>
                </p:nvSpPr>
                <p:spPr>
                  <a:xfrm>
                    <a:off x="2743490" y="4514850"/>
                    <a:ext cx="457200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+</a:t>
                    </a:r>
                  </a:p>
                </p:txBody>
              </p:sp>
              <p:grpSp>
                <p:nvGrpSpPr>
                  <p:cNvPr id="97" name="Group 101"/>
                  <p:cNvGrpSpPr/>
                  <p:nvPr/>
                </p:nvGrpSpPr>
                <p:grpSpPr>
                  <a:xfrm>
                    <a:off x="2186940" y="4354514"/>
                    <a:ext cx="1375844" cy="655320"/>
                    <a:chOff x="2186940" y="4354514"/>
                    <a:chExt cx="1375844" cy="655320"/>
                  </a:xfrm>
                </p:grpSpPr>
                <p:sp>
                  <p:nvSpPr>
                    <p:cNvPr id="98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74064" y="4360377"/>
                      <a:ext cx="118872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600"/>
                    </a:p>
                  </p:txBody>
                </p:sp>
                <p:sp>
                  <p:nvSpPr>
                    <p:cNvPr id="99" name="Line 2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263139" y="4354514"/>
                      <a:ext cx="110925" cy="64008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600">
                        <a:solidFill>
                          <a:srgbClr val="7030A0"/>
                        </a:solidFill>
                      </a:endParaRPr>
                    </a:p>
                  </p:txBody>
                </p:sp>
                <p:sp>
                  <p:nvSpPr>
                    <p:cNvPr id="100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86940" y="4918394"/>
                      <a:ext cx="76199" cy="9144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60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88" name="Line 47"/>
              <p:cNvSpPr>
                <a:spLocks noChangeShapeType="1"/>
              </p:cNvSpPr>
              <p:nvPr/>
            </p:nvSpPr>
            <p:spPr bwMode="auto">
              <a:xfrm>
                <a:off x="2891500" y="4144990"/>
                <a:ext cx="182880" cy="0"/>
              </a:xfrm>
              <a:prstGeom prst="line">
                <a:avLst/>
              </a:prstGeom>
              <a:noFill/>
              <a:ln w="28575">
                <a:solidFill>
                  <a:srgbClr val="7030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3600"/>
              </a:p>
            </p:txBody>
          </p:sp>
        </p:grpSp>
        <p:sp>
          <p:nvSpPr>
            <p:cNvPr id="126" name="Text Box 40"/>
            <p:cNvSpPr txBox="1">
              <a:spLocks noChangeArrowheads="1"/>
            </p:cNvSpPr>
            <p:nvPr/>
          </p:nvSpPr>
          <p:spPr bwMode="auto">
            <a:xfrm>
              <a:off x="2791353" y="1499362"/>
              <a:ext cx="370245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600" b="1" dirty="0">
                  <a:solidFill>
                    <a:srgbClr val="7030A0"/>
                  </a:solidFill>
                </a:rPr>
                <a:t>:</a:t>
              </a:r>
              <a:endParaRPr lang="th-TH" sz="36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127" name="Rectangle 43"/>
          <p:cNvSpPr>
            <a:spLocks noChangeArrowheads="1"/>
          </p:cNvSpPr>
          <p:nvPr/>
        </p:nvSpPr>
        <p:spPr bwMode="auto">
          <a:xfrm>
            <a:off x="4953000" y="1283979"/>
            <a:ext cx="2176256" cy="6699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571500" indent="-571500"/>
            <a:r>
              <a:rPr lang="th-TH" sz="3200" b="1" dirty="0">
                <a:solidFill>
                  <a:srgbClr val="7030A0"/>
                </a:solidFill>
              </a:rPr>
              <a:t>ให้  </a:t>
            </a:r>
            <a:r>
              <a:rPr lang="en-US" sz="3200" b="1" dirty="0">
                <a:solidFill>
                  <a:srgbClr val="7030A0"/>
                </a:solidFill>
              </a:rPr>
              <a:t>1 – </a:t>
            </a:r>
            <a:r>
              <a:rPr lang="en-US" sz="2600" b="1" dirty="0">
                <a:solidFill>
                  <a:srgbClr val="7030A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7030A0"/>
                </a:solidFill>
                <a:sym typeface="Symbol"/>
              </a:rPr>
              <a:t> =</a:t>
            </a:r>
            <a:r>
              <a:rPr lang="en-US" sz="3200" b="1" dirty="0">
                <a:solidFill>
                  <a:srgbClr val="7030A0"/>
                </a:solidFill>
              </a:rPr>
              <a:t> 0.95 </a:t>
            </a:r>
            <a:endParaRPr lang="th-TH" sz="3200" b="1" dirty="0">
              <a:solidFill>
                <a:srgbClr val="7030A0"/>
              </a:solidFill>
              <a:sym typeface="Symbol" pitchFamily="18" charset="2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391400" y="1232848"/>
            <a:ext cx="17427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6600"/>
                </a:solidFill>
                <a:sym typeface="Symbol"/>
              </a:rPr>
              <a:t>โดยที่ 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i = 1 , 2</a:t>
            </a:r>
            <a:endParaRPr lang="en-US" sz="3200" dirty="0"/>
          </a:p>
        </p:txBody>
      </p:sp>
      <p:sp>
        <p:nvSpPr>
          <p:cNvPr id="135" name="Rectangle 134"/>
          <p:cNvSpPr/>
          <p:nvPr/>
        </p:nvSpPr>
        <p:spPr>
          <a:xfrm>
            <a:off x="6000348" y="1902529"/>
            <a:ext cx="2838852" cy="58477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th-TH" sz="3200" b="1" dirty="0">
                <a:solidFill>
                  <a:srgbClr val="FF0000"/>
                </a:solidFill>
                <a:sym typeface="Symbol"/>
              </a:rPr>
              <a:t>ตัวอย่างเป็นอิสระกัน</a:t>
            </a:r>
            <a:r>
              <a:rPr lang="en-US" sz="3200" b="1" dirty="0">
                <a:solidFill>
                  <a:srgbClr val="FF0000"/>
                </a:solidFill>
                <a:sym typeface="Symbol"/>
              </a:rPr>
              <a:t> 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17183F-6F86-4AA7-85A2-D9A332D8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3FAF6D9-59A6-050D-1ECF-03C2C3B870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323213"/>
              </p:ext>
            </p:extLst>
          </p:nvPr>
        </p:nvGraphicFramePr>
        <p:xfrm>
          <a:off x="5367962" y="5150095"/>
          <a:ext cx="3494087" cy="174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2080" imgH="1879560" progId="Equation.DSMT4">
                  <p:embed/>
                </p:oleObj>
              </mc:Choice>
              <mc:Fallback>
                <p:oleObj name="Equation" r:id="rId2" imgW="2692080" imgH="1879560" progId="Equation.DSMT4">
                  <p:embed/>
                  <p:pic>
                    <p:nvPicPr>
                      <p:cNvPr id="135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7962" y="5150095"/>
                        <a:ext cx="3494087" cy="174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11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181"/>
          <p:cNvGrpSpPr/>
          <p:nvPr/>
        </p:nvGrpSpPr>
        <p:grpSpPr>
          <a:xfrm>
            <a:off x="3014576" y="6032500"/>
            <a:ext cx="1267842" cy="521331"/>
            <a:chOff x="3396000" y="5507042"/>
            <a:chExt cx="1267842" cy="521331"/>
          </a:xfrm>
        </p:grpSpPr>
        <p:sp>
          <p:nvSpPr>
            <p:cNvPr id="187" name="Text Box 118"/>
            <p:cNvSpPr txBox="1">
              <a:spLocks noChangeArrowheads="1"/>
            </p:cNvSpPr>
            <p:nvPr/>
          </p:nvSpPr>
          <p:spPr bwMode="auto">
            <a:xfrm>
              <a:off x="3396000" y="5507042"/>
              <a:ext cx="35473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b="1" dirty="0">
                  <a:solidFill>
                    <a:srgbClr val="FFF3E7"/>
                  </a:solidFill>
                </a:rPr>
                <a:t>2</a:t>
              </a:r>
              <a:endParaRPr lang="th-TH" sz="2800" b="1" dirty="0">
                <a:solidFill>
                  <a:srgbClr val="FFF3E7"/>
                </a:solidFill>
              </a:endParaRPr>
            </a:p>
          </p:txBody>
        </p:sp>
        <p:sp>
          <p:nvSpPr>
            <p:cNvPr id="185" name="Text Box 118"/>
            <p:cNvSpPr txBox="1">
              <a:spLocks noChangeArrowheads="1"/>
            </p:cNvSpPr>
            <p:nvPr/>
          </p:nvSpPr>
          <p:spPr bwMode="auto">
            <a:xfrm>
              <a:off x="4309110" y="5509260"/>
              <a:ext cx="35473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b="1" dirty="0">
                  <a:solidFill>
                    <a:srgbClr val="FFF3E7"/>
                  </a:solidFill>
                </a:rPr>
                <a:t>2</a:t>
              </a:r>
              <a:endParaRPr lang="th-TH" sz="2800" b="1" dirty="0">
                <a:solidFill>
                  <a:srgbClr val="FFF3E7"/>
                </a:solidFill>
              </a:endParaRPr>
            </a:p>
          </p:txBody>
        </p:sp>
      </p:grpSp>
      <p:sp>
        <p:nvSpPr>
          <p:cNvPr id="137231" name="Freeform 15"/>
          <p:cNvSpPr>
            <a:spLocks/>
          </p:cNvSpPr>
          <p:nvPr/>
        </p:nvSpPr>
        <p:spPr bwMode="auto">
          <a:xfrm>
            <a:off x="4438650" y="1619250"/>
            <a:ext cx="1076325" cy="1638300"/>
          </a:xfrm>
          <a:custGeom>
            <a:avLst/>
            <a:gdLst>
              <a:gd name="T0" fmla="*/ 0 w 678"/>
              <a:gd name="T1" fmla="*/ 1638300 h 1032"/>
              <a:gd name="T2" fmla="*/ 0 w 678"/>
              <a:gd name="T3" fmla="*/ 0 h 1032"/>
              <a:gd name="T4" fmla="*/ 152400 w 678"/>
              <a:gd name="T5" fmla="*/ 57150 h 1032"/>
              <a:gd name="T6" fmla="*/ 333375 w 678"/>
              <a:gd name="T7" fmla="*/ 247650 h 1032"/>
              <a:gd name="T8" fmla="*/ 447675 w 678"/>
              <a:gd name="T9" fmla="*/ 457200 h 1032"/>
              <a:gd name="T10" fmla="*/ 581025 w 678"/>
              <a:gd name="T11" fmla="*/ 685800 h 1032"/>
              <a:gd name="T12" fmla="*/ 666750 w 678"/>
              <a:gd name="T13" fmla="*/ 857250 h 1032"/>
              <a:gd name="T14" fmla="*/ 752475 w 678"/>
              <a:gd name="T15" fmla="*/ 990600 h 1032"/>
              <a:gd name="T16" fmla="*/ 838200 w 678"/>
              <a:gd name="T17" fmla="*/ 1143000 h 1032"/>
              <a:gd name="T18" fmla="*/ 901700 w 678"/>
              <a:gd name="T19" fmla="*/ 1238250 h 1032"/>
              <a:gd name="T20" fmla="*/ 1027113 w 678"/>
              <a:gd name="T21" fmla="*/ 1352550 h 1032"/>
              <a:gd name="T22" fmla="*/ 1076325 w 678"/>
              <a:gd name="T23" fmla="*/ 1381125 h 1032"/>
              <a:gd name="T24" fmla="*/ 1076325 w 678"/>
              <a:gd name="T25" fmla="*/ 1638300 h 1032"/>
              <a:gd name="T26" fmla="*/ 0 w 678"/>
              <a:gd name="T27" fmla="*/ 1638300 h 103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78"/>
              <a:gd name="T43" fmla="*/ 0 h 1032"/>
              <a:gd name="T44" fmla="*/ 678 w 678"/>
              <a:gd name="T45" fmla="*/ 1032 h 103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78" h="1032">
                <a:moveTo>
                  <a:pt x="0" y="1032"/>
                </a:moveTo>
                <a:lnTo>
                  <a:pt x="0" y="0"/>
                </a:lnTo>
                <a:lnTo>
                  <a:pt x="96" y="36"/>
                </a:lnTo>
                <a:lnTo>
                  <a:pt x="210" y="156"/>
                </a:lnTo>
                <a:lnTo>
                  <a:pt x="282" y="288"/>
                </a:lnTo>
                <a:lnTo>
                  <a:pt x="366" y="432"/>
                </a:lnTo>
                <a:lnTo>
                  <a:pt x="420" y="540"/>
                </a:lnTo>
                <a:lnTo>
                  <a:pt x="474" y="624"/>
                </a:lnTo>
                <a:lnTo>
                  <a:pt x="528" y="720"/>
                </a:lnTo>
                <a:lnTo>
                  <a:pt x="568" y="780"/>
                </a:lnTo>
                <a:lnTo>
                  <a:pt x="647" y="852"/>
                </a:lnTo>
                <a:lnTo>
                  <a:pt x="678" y="870"/>
                </a:lnTo>
                <a:lnTo>
                  <a:pt x="67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137232" name="Freeform 16"/>
          <p:cNvSpPr>
            <a:spLocks/>
          </p:cNvSpPr>
          <p:nvPr/>
        </p:nvSpPr>
        <p:spPr bwMode="auto">
          <a:xfrm>
            <a:off x="3371850" y="1619250"/>
            <a:ext cx="1066800" cy="1657350"/>
          </a:xfrm>
          <a:custGeom>
            <a:avLst/>
            <a:gdLst>
              <a:gd name="T0" fmla="*/ 1066800 w 666"/>
              <a:gd name="T1" fmla="*/ 1657350 h 1044"/>
              <a:gd name="T2" fmla="*/ 1066800 w 666"/>
              <a:gd name="T3" fmla="*/ 0 h 1044"/>
              <a:gd name="T4" fmla="*/ 922638 w 666"/>
              <a:gd name="T5" fmla="*/ 95250 h 1044"/>
              <a:gd name="T6" fmla="*/ 759254 w 666"/>
              <a:gd name="T7" fmla="*/ 285750 h 1044"/>
              <a:gd name="T8" fmla="*/ 682368 w 666"/>
              <a:gd name="T9" fmla="*/ 514350 h 1044"/>
              <a:gd name="T10" fmla="*/ 528595 w 666"/>
              <a:gd name="T11" fmla="*/ 742950 h 1044"/>
              <a:gd name="T12" fmla="*/ 451708 w 666"/>
              <a:gd name="T13" fmla="*/ 895350 h 1044"/>
              <a:gd name="T14" fmla="*/ 336378 w 666"/>
              <a:gd name="T15" fmla="*/ 1047750 h 1044"/>
              <a:gd name="T16" fmla="*/ 221049 w 666"/>
              <a:gd name="T17" fmla="*/ 1200150 h 1044"/>
              <a:gd name="T18" fmla="*/ 172995 w 666"/>
              <a:gd name="T19" fmla="*/ 1257300 h 1044"/>
              <a:gd name="T20" fmla="*/ 48054 w 666"/>
              <a:gd name="T21" fmla="*/ 1371600 h 1044"/>
              <a:gd name="T22" fmla="*/ 0 w 666"/>
              <a:gd name="T23" fmla="*/ 1400175 h 1044"/>
              <a:gd name="T24" fmla="*/ 0 w 666"/>
              <a:gd name="T25" fmla="*/ 1657350 h 1044"/>
              <a:gd name="T26" fmla="*/ 1066800 w 666"/>
              <a:gd name="T27" fmla="*/ 1657350 h 104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66"/>
              <a:gd name="T43" fmla="*/ 0 h 1044"/>
              <a:gd name="T44" fmla="*/ 666 w 666"/>
              <a:gd name="T45" fmla="*/ 1044 h 104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66" h="1044">
                <a:moveTo>
                  <a:pt x="666" y="1044"/>
                </a:moveTo>
                <a:lnTo>
                  <a:pt x="666" y="0"/>
                </a:lnTo>
                <a:lnTo>
                  <a:pt x="576" y="60"/>
                </a:lnTo>
                <a:lnTo>
                  <a:pt x="474" y="180"/>
                </a:lnTo>
                <a:lnTo>
                  <a:pt x="426" y="324"/>
                </a:lnTo>
                <a:lnTo>
                  <a:pt x="330" y="468"/>
                </a:lnTo>
                <a:lnTo>
                  <a:pt x="282" y="564"/>
                </a:lnTo>
                <a:lnTo>
                  <a:pt x="210" y="660"/>
                </a:lnTo>
                <a:lnTo>
                  <a:pt x="138" y="756"/>
                </a:lnTo>
                <a:lnTo>
                  <a:pt x="108" y="792"/>
                </a:lnTo>
                <a:lnTo>
                  <a:pt x="30" y="864"/>
                </a:lnTo>
                <a:lnTo>
                  <a:pt x="0" y="882"/>
                </a:lnTo>
                <a:lnTo>
                  <a:pt x="0" y="1044"/>
                </a:lnTo>
                <a:lnTo>
                  <a:pt x="666" y="1044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grpSp>
        <p:nvGrpSpPr>
          <p:cNvPr id="2" name="Group 128"/>
          <p:cNvGrpSpPr>
            <a:grpSpLocks/>
          </p:cNvGrpSpPr>
          <p:nvPr/>
        </p:nvGrpSpPr>
        <p:grpSpPr bwMode="auto">
          <a:xfrm>
            <a:off x="3352800" y="3051175"/>
            <a:ext cx="2162175" cy="273050"/>
            <a:chOff x="2112" y="1922"/>
            <a:chExt cx="1362" cy="172"/>
          </a:xfrm>
        </p:grpSpPr>
        <p:sp>
          <p:nvSpPr>
            <p:cNvPr id="18500" name="Line 27"/>
            <p:cNvSpPr>
              <a:spLocks noChangeShapeType="1"/>
            </p:cNvSpPr>
            <p:nvPr/>
          </p:nvSpPr>
          <p:spPr bwMode="auto">
            <a:xfrm>
              <a:off x="2112" y="1968"/>
              <a:ext cx="0" cy="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Line 28"/>
            <p:cNvSpPr>
              <a:spLocks noChangeShapeType="1"/>
            </p:cNvSpPr>
            <p:nvPr/>
          </p:nvSpPr>
          <p:spPr bwMode="auto">
            <a:xfrm>
              <a:off x="3474" y="1922"/>
              <a:ext cx="0" cy="14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7"/>
          <p:cNvGrpSpPr>
            <a:grpSpLocks/>
          </p:cNvGrpSpPr>
          <p:nvPr/>
        </p:nvGrpSpPr>
        <p:grpSpPr bwMode="auto">
          <a:xfrm>
            <a:off x="3336925" y="2317750"/>
            <a:ext cx="2165350" cy="609600"/>
            <a:chOff x="2102" y="1460"/>
            <a:chExt cx="1364" cy="384"/>
          </a:xfrm>
        </p:grpSpPr>
        <p:sp>
          <p:nvSpPr>
            <p:cNvPr id="18495" name="Text Box 21"/>
            <p:cNvSpPr txBox="1">
              <a:spLocks noChangeArrowheads="1"/>
            </p:cNvSpPr>
            <p:nvPr/>
          </p:nvSpPr>
          <p:spPr bwMode="auto">
            <a:xfrm>
              <a:off x="2406" y="1460"/>
              <a:ext cx="77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400" b="1"/>
                <a:t>95%</a:t>
              </a:r>
            </a:p>
          </p:txBody>
        </p:sp>
        <p:sp>
          <p:nvSpPr>
            <p:cNvPr id="18496" name="Line 29"/>
            <p:cNvSpPr>
              <a:spLocks noChangeShapeType="1"/>
            </p:cNvSpPr>
            <p:nvPr/>
          </p:nvSpPr>
          <p:spPr bwMode="auto">
            <a:xfrm>
              <a:off x="2112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30"/>
            <p:cNvSpPr>
              <a:spLocks noChangeShapeType="1"/>
            </p:cNvSpPr>
            <p:nvPr/>
          </p:nvSpPr>
          <p:spPr bwMode="auto">
            <a:xfrm>
              <a:off x="3464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35"/>
            <p:cNvSpPr>
              <a:spLocks noChangeShapeType="1"/>
            </p:cNvSpPr>
            <p:nvPr/>
          </p:nvSpPr>
          <p:spPr bwMode="auto">
            <a:xfrm flipH="1">
              <a:off x="2102" y="1678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Line 36"/>
            <p:cNvSpPr>
              <a:spLocks noChangeShapeType="1"/>
            </p:cNvSpPr>
            <p:nvPr/>
          </p:nvSpPr>
          <p:spPr bwMode="auto">
            <a:xfrm>
              <a:off x="2986" y="168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3118962" y="3209102"/>
            <a:ext cx="17375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sz="3200" b="1" dirty="0">
                <a:solidFill>
                  <a:srgbClr val="7030A0"/>
                </a:solidFill>
                <a:sym typeface="Symbol" pitchFamily="18" charset="2"/>
              </a:rPr>
              <a:t>-t</a:t>
            </a:r>
            <a:r>
              <a:rPr kumimoji="1" lang="en-US" sz="3200" b="1" baseline="-25000" dirty="0">
                <a:solidFill>
                  <a:srgbClr val="7030A0"/>
                </a:solidFill>
                <a:sym typeface="Symbol" pitchFamily="18" charset="2"/>
              </a:rPr>
              <a:t>0.025(n1+n2-2)</a:t>
            </a:r>
            <a:endParaRPr lang="th-TH" sz="3200" b="1" dirty="0"/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4976825" y="3157251"/>
            <a:ext cx="21536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sz="3200" b="1" dirty="0">
                <a:solidFill>
                  <a:srgbClr val="7030A0"/>
                </a:solidFill>
                <a:sym typeface="Symbol" pitchFamily="18" charset="2"/>
              </a:rPr>
              <a:t>t</a:t>
            </a:r>
            <a:r>
              <a:rPr kumimoji="1" lang="en-US" sz="3200" b="1" baseline="-25000" dirty="0">
                <a:solidFill>
                  <a:srgbClr val="7030A0"/>
                </a:solidFill>
                <a:sym typeface="Symbol" pitchFamily="18" charset="2"/>
              </a:rPr>
              <a:t>0.025(n1+n2-2)</a:t>
            </a:r>
            <a:endParaRPr lang="th-TH" sz="3200" b="1" dirty="0"/>
          </a:p>
        </p:txBody>
      </p:sp>
      <p:grpSp>
        <p:nvGrpSpPr>
          <p:cNvPr id="4" name="Group 126"/>
          <p:cNvGrpSpPr>
            <a:grpSpLocks/>
          </p:cNvGrpSpPr>
          <p:nvPr/>
        </p:nvGrpSpPr>
        <p:grpSpPr bwMode="auto">
          <a:xfrm>
            <a:off x="2819400" y="1600200"/>
            <a:ext cx="3289300" cy="2141539"/>
            <a:chOff x="1776" y="1008"/>
            <a:chExt cx="2072" cy="1349"/>
          </a:xfrm>
        </p:grpSpPr>
        <p:sp>
          <p:nvSpPr>
            <p:cNvPr id="18490" name="Line 17"/>
            <p:cNvSpPr>
              <a:spLocks noChangeShapeType="1"/>
            </p:cNvSpPr>
            <p:nvPr/>
          </p:nvSpPr>
          <p:spPr bwMode="auto">
            <a:xfrm>
              <a:off x="2796" y="1008"/>
              <a:ext cx="0" cy="105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Freeform 18"/>
            <p:cNvSpPr>
              <a:spLocks/>
            </p:cNvSpPr>
            <p:nvPr/>
          </p:nvSpPr>
          <p:spPr bwMode="auto">
            <a:xfrm>
              <a:off x="2818" y="1028"/>
              <a:ext cx="1030" cy="991"/>
            </a:xfrm>
            <a:custGeom>
              <a:avLst/>
              <a:gdLst>
                <a:gd name="T0" fmla="*/ 1029 w 1030"/>
                <a:gd name="T1" fmla="*/ 990 h 991"/>
                <a:gd name="T2" fmla="*/ 921 w 1030"/>
                <a:gd name="T3" fmla="*/ 980 h 991"/>
                <a:gd name="T4" fmla="*/ 866 w 1030"/>
                <a:gd name="T5" fmla="*/ 967 h 991"/>
                <a:gd name="T6" fmla="*/ 813 w 1030"/>
                <a:gd name="T7" fmla="*/ 952 h 991"/>
                <a:gd name="T8" fmla="*/ 758 w 1030"/>
                <a:gd name="T9" fmla="*/ 929 h 991"/>
                <a:gd name="T10" fmla="*/ 703 w 1030"/>
                <a:gd name="T11" fmla="*/ 897 h 991"/>
                <a:gd name="T12" fmla="*/ 651 w 1030"/>
                <a:gd name="T13" fmla="*/ 857 h 991"/>
                <a:gd name="T14" fmla="*/ 541 w 1030"/>
                <a:gd name="T15" fmla="*/ 743 h 991"/>
                <a:gd name="T16" fmla="*/ 433 w 1030"/>
                <a:gd name="T17" fmla="*/ 581 h 991"/>
                <a:gd name="T18" fmla="*/ 325 w 1030"/>
                <a:gd name="T19" fmla="*/ 386 h 991"/>
                <a:gd name="T20" fmla="*/ 270 w 1030"/>
                <a:gd name="T21" fmla="*/ 287 h 991"/>
                <a:gd name="T22" fmla="*/ 215 w 1030"/>
                <a:gd name="T23" fmla="*/ 196 h 991"/>
                <a:gd name="T24" fmla="*/ 163 w 1030"/>
                <a:gd name="T25" fmla="*/ 116 h 991"/>
                <a:gd name="T26" fmla="*/ 108 w 1030"/>
                <a:gd name="T27" fmla="*/ 53 h 991"/>
                <a:gd name="T28" fmla="*/ 53 w 1030"/>
                <a:gd name="T29" fmla="*/ 13 h 991"/>
                <a:gd name="T30" fmla="*/ 0 w 1030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0"/>
                <a:gd name="T49" fmla="*/ 0 h 991"/>
                <a:gd name="T50" fmla="*/ 1030 w 1030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0" h="991">
                  <a:moveTo>
                    <a:pt x="1029" y="990"/>
                  </a:moveTo>
                  <a:lnTo>
                    <a:pt x="921" y="980"/>
                  </a:lnTo>
                  <a:lnTo>
                    <a:pt x="866" y="967"/>
                  </a:lnTo>
                  <a:lnTo>
                    <a:pt x="813" y="952"/>
                  </a:lnTo>
                  <a:lnTo>
                    <a:pt x="758" y="929"/>
                  </a:lnTo>
                  <a:lnTo>
                    <a:pt x="703" y="897"/>
                  </a:lnTo>
                  <a:lnTo>
                    <a:pt x="651" y="857"/>
                  </a:lnTo>
                  <a:lnTo>
                    <a:pt x="541" y="743"/>
                  </a:lnTo>
                  <a:lnTo>
                    <a:pt x="433" y="581"/>
                  </a:lnTo>
                  <a:lnTo>
                    <a:pt x="325" y="386"/>
                  </a:lnTo>
                  <a:lnTo>
                    <a:pt x="270" y="287"/>
                  </a:lnTo>
                  <a:lnTo>
                    <a:pt x="215" y="196"/>
                  </a:lnTo>
                  <a:lnTo>
                    <a:pt x="163" y="116"/>
                  </a:lnTo>
                  <a:lnTo>
                    <a:pt x="108" y="53"/>
                  </a:lnTo>
                  <a:lnTo>
                    <a:pt x="53" y="13"/>
                  </a:lnTo>
                  <a:lnTo>
                    <a:pt x="0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2" name="Freeform 19"/>
            <p:cNvSpPr>
              <a:spLocks/>
            </p:cNvSpPr>
            <p:nvPr/>
          </p:nvSpPr>
          <p:spPr bwMode="auto">
            <a:xfrm>
              <a:off x="1778" y="1028"/>
              <a:ext cx="1041" cy="991"/>
            </a:xfrm>
            <a:custGeom>
              <a:avLst/>
              <a:gdLst>
                <a:gd name="T0" fmla="*/ 0 w 1032"/>
                <a:gd name="T1" fmla="*/ 990 h 991"/>
                <a:gd name="T2" fmla="*/ 109 w 1032"/>
                <a:gd name="T3" fmla="*/ 980 h 991"/>
                <a:gd name="T4" fmla="*/ 164 w 1032"/>
                <a:gd name="T5" fmla="*/ 967 h 991"/>
                <a:gd name="T6" fmla="*/ 220 w 1032"/>
                <a:gd name="T7" fmla="*/ 952 h 991"/>
                <a:gd name="T8" fmla="*/ 273 w 1032"/>
                <a:gd name="T9" fmla="*/ 929 h 991"/>
                <a:gd name="T10" fmla="*/ 329 w 1032"/>
                <a:gd name="T11" fmla="*/ 897 h 991"/>
                <a:gd name="T12" fmla="*/ 384 w 1032"/>
                <a:gd name="T13" fmla="*/ 857 h 991"/>
                <a:gd name="T14" fmla="*/ 492 w 1032"/>
                <a:gd name="T15" fmla="*/ 743 h 991"/>
                <a:gd name="T16" fmla="*/ 601 w 1032"/>
                <a:gd name="T17" fmla="*/ 581 h 991"/>
                <a:gd name="T18" fmla="*/ 712 w 1032"/>
                <a:gd name="T19" fmla="*/ 386 h 991"/>
                <a:gd name="T20" fmla="*/ 766 w 1032"/>
                <a:gd name="T21" fmla="*/ 287 h 991"/>
                <a:gd name="T22" fmla="*/ 821 w 1032"/>
                <a:gd name="T23" fmla="*/ 196 h 991"/>
                <a:gd name="T24" fmla="*/ 876 w 1032"/>
                <a:gd name="T25" fmla="*/ 116 h 991"/>
                <a:gd name="T26" fmla="*/ 929 w 1032"/>
                <a:gd name="T27" fmla="*/ 53 h 991"/>
                <a:gd name="T28" fmla="*/ 985 w 1032"/>
                <a:gd name="T29" fmla="*/ 13 h 991"/>
                <a:gd name="T30" fmla="*/ 1040 w 1032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2"/>
                <a:gd name="T49" fmla="*/ 0 h 991"/>
                <a:gd name="T50" fmla="*/ 1032 w 1032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2" h="991">
                  <a:moveTo>
                    <a:pt x="0" y="990"/>
                  </a:moveTo>
                  <a:lnTo>
                    <a:pt x="108" y="980"/>
                  </a:lnTo>
                  <a:lnTo>
                    <a:pt x="163" y="967"/>
                  </a:lnTo>
                  <a:lnTo>
                    <a:pt x="218" y="952"/>
                  </a:lnTo>
                  <a:lnTo>
                    <a:pt x="271" y="929"/>
                  </a:lnTo>
                  <a:lnTo>
                    <a:pt x="326" y="897"/>
                  </a:lnTo>
                  <a:lnTo>
                    <a:pt x="381" y="857"/>
                  </a:lnTo>
                  <a:lnTo>
                    <a:pt x="488" y="743"/>
                  </a:lnTo>
                  <a:lnTo>
                    <a:pt x="596" y="581"/>
                  </a:lnTo>
                  <a:lnTo>
                    <a:pt x="706" y="386"/>
                  </a:lnTo>
                  <a:lnTo>
                    <a:pt x="759" y="287"/>
                  </a:lnTo>
                  <a:lnTo>
                    <a:pt x="814" y="196"/>
                  </a:lnTo>
                  <a:lnTo>
                    <a:pt x="868" y="116"/>
                  </a:lnTo>
                  <a:lnTo>
                    <a:pt x="921" y="53"/>
                  </a:lnTo>
                  <a:lnTo>
                    <a:pt x="976" y="13"/>
                  </a:lnTo>
                  <a:lnTo>
                    <a:pt x="1031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3" name="Freeform 20"/>
            <p:cNvSpPr>
              <a:spLocks/>
            </p:cNvSpPr>
            <p:nvPr/>
          </p:nvSpPr>
          <p:spPr bwMode="auto">
            <a:xfrm>
              <a:off x="1776" y="2071"/>
              <a:ext cx="2072" cy="5"/>
            </a:xfrm>
            <a:custGeom>
              <a:avLst/>
              <a:gdLst>
                <a:gd name="T0" fmla="*/ 0 w 2072"/>
                <a:gd name="T1" fmla="*/ 5 h 5"/>
                <a:gd name="T2" fmla="*/ 12 w 2072"/>
                <a:gd name="T3" fmla="*/ 0 h 5"/>
                <a:gd name="T4" fmla="*/ 2072 w 2072"/>
                <a:gd name="T5" fmla="*/ 0 h 5"/>
                <a:gd name="T6" fmla="*/ 0 60000 65536"/>
                <a:gd name="T7" fmla="*/ 0 60000 65536"/>
                <a:gd name="T8" fmla="*/ 0 60000 65536"/>
                <a:gd name="T9" fmla="*/ 0 w 2072"/>
                <a:gd name="T10" fmla="*/ 0 h 5"/>
                <a:gd name="T11" fmla="*/ 2072 w 2072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2" h="5">
                  <a:moveTo>
                    <a:pt x="0" y="5"/>
                  </a:moveTo>
                  <a:lnTo>
                    <a:pt x="12" y="0"/>
                  </a:lnTo>
                  <a:lnTo>
                    <a:pt x="2072" y="0"/>
                  </a:lnTo>
                </a:path>
              </a:pathLst>
            </a:custGeom>
            <a:noFill/>
            <a:ln w="508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4" name="Text Box 40"/>
            <p:cNvSpPr txBox="1">
              <a:spLocks noChangeArrowheads="1"/>
            </p:cNvSpPr>
            <p:nvPr/>
          </p:nvSpPr>
          <p:spPr bwMode="auto">
            <a:xfrm>
              <a:off x="2633" y="1989"/>
              <a:ext cx="33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200" b="1" dirty="0">
                  <a:sym typeface="Symbol" pitchFamily="18" charset="2"/>
                </a:rPr>
                <a:t>0</a:t>
              </a:r>
              <a:endParaRPr lang="th-TH" sz="3200" b="1" dirty="0">
                <a:sym typeface="Symbol" pitchFamily="18" charset="2"/>
              </a:endParaRPr>
            </a:p>
          </p:txBody>
        </p:sp>
      </p:grpSp>
      <p:sp>
        <p:nvSpPr>
          <p:cNvPr id="70" name="Rectangle 2"/>
          <p:cNvSpPr>
            <a:spLocks noChangeArrowheads="1"/>
          </p:cNvSpPr>
          <p:nvPr/>
        </p:nvSpPr>
        <p:spPr bwMode="auto">
          <a:xfrm>
            <a:off x="228600" y="118110"/>
            <a:ext cx="868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kumimoji="1" lang="th-TH" sz="4800" b="1" dirty="0">
                <a:solidFill>
                  <a:srgbClr val="0000FF"/>
                </a:solidFill>
              </a:rPr>
              <a:t>การประมาณช่วงความเชื่อมั่นของค่าเฉลี่ยประชากร</a:t>
            </a:r>
            <a:endParaRPr kumimoji="1" lang="th-TH" sz="4800" dirty="0">
              <a:solidFill>
                <a:srgbClr val="0000FF"/>
              </a:solidFill>
            </a:endParaRPr>
          </a:p>
        </p:txBody>
      </p:sp>
      <p:sp>
        <p:nvSpPr>
          <p:cNvPr id="71" name="Rectangle 43"/>
          <p:cNvSpPr>
            <a:spLocks noChangeArrowheads="1"/>
          </p:cNvSpPr>
          <p:nvPr/>
        </p:nvSpPr>
        <p:spPr bwMode="auto">
          <a:xfrm>
            <a:off x="131603" y="3693241"/>
            <a:ext cx="5935663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th-TH" sz="4000" b="1" dirty="0">
                <a:solidFill>
                  <a:srgbClr val="7030A0"/>
                </a:solidFill>
              </a:rPr>
              <a:t>ช่วงความเชื่อมั่น </a:t>
            </a:r>
            <a:r>
              <a:rPr lang="en-US" sz="4000" b="1" dirty="0">
                <a:solidFill>
                  <a:srgbClr val="7030A0"/>
                </a:solidFill>
              </a:rPr>
              <a:t>95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% 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ของ </a:t>
            </a:r>
            <a:r>
              <a:rPr lang="th-TH" sz="3200" b="1" dirty="0">
                <a:solidFill>
                  <a:srgbClr val="7030A0"/>
                </a:solidFill>
                <a:sym typeface="Symbol" pitchFamily="18" charset="2"/>
              </a:rPr>
              <a:t></a:t>
            </a:r>
            <a:r>
              <a:rPr lang="th-TH" sz="4000" b="1" baseline="-25000" dirty="0">
                <a:solidFill>
                  <a:srgbClr val="7030A0"/>
                </a:solidFill>
                <a:sym typeface="Symbol" pitchFamily="18" charset="2"/>
              </a:rPr>
              <a:t>1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– </a:t>
            </a:r>
            <a:r>
              <a:rPr lang="th-TH" sz="3200" b="1" dirty="0">
                <a:solidFill>
                  <a:srgbClr val="7030A0"/>
                </a:solidFill>
                <a:sym typeface="Symbol" pitchFamily="18" charset="2"/>
              </a:rPr>
              <a:t></a:t>
            </a:r>
            <a:r>
              <a:rPr lang="th-TH" sz="4000" b="1" baseline="-25000" dirty="0">
                <a:solidFill>
                  <a:srgbClr val="7030A0"/>
                </a:solidFill>
                <a:sym typeface="Symbol" pitchFamily="18" charset="2"/>
              </a:rPr>
              <a:t>2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 คือ</a:t>
            </a:r>
          </a:p>
          <a:p>
            <a:pPr marL="571500" indent="-571500"/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endParaRPr lang="th-TH" sz="4000" b="1" dirty="0">
              <a:solidFill>
                <a:srgbClr val="7030A0"/>
              </a:solidFill>
              <a:sym typeface="Symbol" pitchFamily="18" charset="2"/>
            </a:endParaRPr>
          </a:p>
        </p:txBody>
      </p:sp>
      <p:sp>
        <p:nvSpPr>
          <p:cNvPr id="131" name="Rectangle 43"/>
          <p:cNvSpPr>
            <a:spLocks noChangeArrowheads="1"/>
          </p:cNvSpPr>
          <p:nvPr/>
        </p:nvSpPr>
        <p:spPr bwMode="auto">
          <a:xfrm>
            <a:off x="1140778" y="267652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2" name="Rectangle 43"/>
          <p:cNvSpPr>
            <a:spLocks noChangeArrowheads="1"/>
          </p:cNvSpPr>
          <p:nvPr/>
        </p:nvSpPr>
        <p:spPr bwMode="auto">
          <a:xfrm>
            <a:off x="6067266" y="267144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667000" y="2966408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 flipH="1">
            <a:off x="5615940" y="2983230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28600" y="685800"/>
            <a:ext cx="8915400" cy="726936"/>
            <a:chOff x="228600" y="685800"/>
            <a:chExt cx="8915400" cy="726936"/>
          </a:xfrm>
        </p:grpSpPr>
        <p:sp>
          <p:nvSpPr>
            <p:cNvPr id="118" name="Text Box 11"/>
            <p:cNvSpPr txBox="1">
              <a:spLocks noChangeArrowheads="1"/>
            </p:cNvSpPr>
            <p:nvPr/>
          </p:nvSpPr>
          <p:spPr bwMode="auto">
            <a:xfrm>
              <a:off x="228600" y="704850"/>
              <a:ext cx="891540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4000" b="1" dirty="0">
                  <a:solidFill>
                    <a:srgbClr val="006600"/>
                  </a:solidFill>
                </a:rPr>
                <a:t>X</a:t>
              </a:r>
              <a:r>
                <a:rPr lang="en-US" sz="4000" b="1" baseline="-25000" dirty="0">
                  <a:solidFill>
                    <a:srgbClr val="006600"/>
                  </a:solidFill>
                </a:rPr>
                <a:t>i1</a:t>
              </a:r>
              <a:r>
                <a:rPr lang="en-US" sz="4000" b="1" dirty="0">
                  <a:solidFill>
                    <a:srgbClr val="006600"/>
                  </a:solidFill>
                </a:rPr>
                <a:t> , X</a:t>
              </a:r>
              <a:r>
                <a:rPr lang="en-US" sz="4000" b="1" baseline="-25000" dirty="0">
                  <a:solidFill>
                    <a:srgbClr val="006600"/>
                  </a:solidFill>
                </a:rPr>
                <a:t>i2</a:t>
              </a:r>
              <a:r>
                <a:rPr lang="en-US" sz="4000" b="1" dirty="0">
                  <a:solidFill>
                    <a:srgbClr val="006600"/>
                  </a:solidFill>
                </a:rPr>
                <a:t> , … , </a:t>
              </a:r>
              <a:r>
                <a:rPr lang="en-US" sz="4000" b="1" dirty="0" err="1">
                  <a:solidFill>
                    <a:srgbClr val="006600"/>
                  </a:solidFill>
                </a:rPr>
                <a:t>X</a:t>
              </a:r>
              <a:r>
                <a:rPr lang="en-US" sz="4000" b="1" baseline="-25000" dirty="0" err="1">
                  <a:solidFill>
                    <a:srgbClr val="006600"/>
                  </a:solidFill>
                </a:rPr>
                <a:t>in</a:t>
              </a:r>
              <a:r>
                <a:rPr lang="en-US" sz="4000" b="1" dirty="0">
                  <a:solidFill>
                    <a:srgbClr val="006600"/>
                  </a:solidFill>
                </a:rPr>
                <a:t> </a:t>
              </a:r>
              <a:r>
                <a:rPr lang="th-TH" sz="4000" b="1" dirty="0">
                  <a:solidFill>
                    <a:srgbClr val="006600"/>
                  </a:solidFill>
                </a:rPr>
                <a:t>เป็นตัวอย่างสุ่มจากประชากรปกติ </a:t>
              </a:r>
              <a:r>
                <a:rPr lang="en-US" sz="4000" b="1" dirty="0">
                  <a:solidFill>
                    <a:srgbClr val="006600"/>
                  </a:solidFill>
                </a:rPr>
                <a:t>: N(</a:t>
              </a:r>
              <a:r>
                <a:rPr lang="en-US" sz="3200" b="1" dirty="0">
                  <a:solidFill>
                    <a:srgbClr val="006600"/>
                  </a:solidFill>
                  <a:sym typeface="Symbol"/>
                </a:rPr>
                <a:t></a:t>
              </a:r>
              <a:r>
                <a:rPr lang="en-US" sz="4000" b="1" baseline="-25000" dirty="0">
                  <a:solidFill>
                    <a:srgbClr val="006600"/>
                  </a:solidFill>
                  <a:sym typeface="Symbol"/>
                </a:rPr>
                <a:t>i </a:t>
              </a:r>
              <a:r>
                <a:rPr lang="en-US" sz="4000" b="1" dirty="0">
                  <a:solidFill>
                    <a:srgbClr val="006600"/>
                  </a:solidFill>
                  <a:sym typeface="Symbol"/>
                </a:rPr>
                <a:t>, </a:t>
              </a:r>
              <a:r>
                <a:rPr lang="en-US" sz="3200" b="1" dirty="0">
                  <a:solidFill>
                    <a:srgbClr val="006600"/>
                  </a:solidFill>
                  <a:sym typeface="Symbol"/>
                </a:rPr>
                <a:t></a:t>
              </a:r>
              <a:r>
                <a:rPr lang="en-US" sz="4000" b="1" baseline="30000" dirty="0">
                  <a:solidFill>
                    <a:srgbClr val="006600"/>
                  </a:solidFill>
                  <a:sym typeface="Symbol"/>
                </a:rPr>
                <a:t>2</a:t>
              </a:r>
              <a:r>
                <a:rPr lang="en-US" sz="4000" b="1" dirty="0">
                  <a:solidFill>
                    <a:srgbClr val="006600"/>
                  </a:solidFill>
                  <a:sym typeface="Symbol"/>
                </a:rPr>
                <a:t>)</a:t>
              </a:r>
              <a:endParaRPr lang="th-TH" sz="4000" b="1" dirty="0">
                <a:solidFill>
                  <a:srgbClr val="006600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599170" y="685800"/>
              <a:ext cx="5334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baseline="-25000" dirty="0">
                  <a:solidFill>
                    <a:srgbClr val="006600"/>
                  </a:solidFill>
                  <a:sym typeface="Symbol"/>
                </a:rPr>
                <a:t>i</a:t>
              </a:r>
              <a:endParaRPr lang="en-US" sz="4000" dirty="0"/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-71594" y="6075163"/>
            <a:ext cx="4510513" cy="769938"/>
            <a:chOff x="2957511" y="5486404"/>
            <a:chExt cx="4510513" cy="769938"/>
          </a:xfrm>
        </p:grpSpPr>
        <p:grpSp>
          <p:nvGrpSpPr>
            <p:cNvPr id="136" name="Group 119"/>
            <p:cNvGrpSpPr>
              <a:grpSpLocks/>
            </p:cNvGrpSpPr>
            <p:nvPr/>
          </p:nvGrpSpPr>
          <p:grpSpPr bwMode="auto">
            <a:xfrm>
              <a:off x="2957511" y="5486404"/>
              <a:ext cx="4510513" cy="769938"/>
              <a:chOff x="240" y="1344"/>
              <a:chExt cx="1831" cy="485"/>
            </a:xfrm>
          </p:grpSpPr>
          <p:sp>
            <p:nvSpPr>
              <p:cNvPr id="138" name="Text Box 117"/>
              <p:cNvSpPr txBox="1">
                <a:spLocks noChangeArrowheads="1"/>
              </p:cNvSpPr>
              <p:nvPr/>
            </p:nvSpPr>
            <p:spPr bwMode="auto">
              <a:xfrm>
                <a:off x="240" y="1344"/>
                <a:ext cx="1831" cy="48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th-TH" sz="3200" b="1" dirty="0">
                    <a:solidFill>
                      <a:srgbClr val="FFF3E7"/>
                    </a:solidFill>
                    <a:sym typeface="Symbol" pitchFamily="18" charset="2"/>
                  </a:rPr>
                  <a:t></a:t>
                </a:r>
                <a:r>
                  <a:rPr lang="th-TH" sz="4400" b="1" baseline="-25000" dirty="0">
                    <a:solidFill>
                      <a:srgbClr val="FFF3E7"/>
                    </a:solidFill>
                    <a:sym typeface="Symbol" pitchFamily="18" charset="2"/>
                  </a:rPr>
                  <a:t>1</a:t>
                </a:r>
                <a:r>
                  <a:rPr lang="th-TH" sz="4400" b="1" dirty="0">
                    <a:solidFill>
                      <a:srgbClr val="FFF3E7"/>
                    </a:solidFill>
                  </a:rPr>
                  <a:t>  </a:t>
                </a:r>
                <a:r>
                  <a:rPr lang="en-US" sz="4400" b="1" dirty="0">
                    <a:solidFill>
                      <a:srgbClr val="FFF3E7"/>
                    </a:solidFill>
                  </a:rPr>
                  <a:t>=</a:t>
                </a:r>
                <a:r>
                  <a:rPr lang="th-TH" sz="4400" b="1" dirty="0">
                    <a:solidFill>
                      <a:srgbClr val="FFF3E7"/>
                    </a:solidFill>
                  </a:rPr>
                  <a:t> </a:t>
                </a:r>
                <a:r>
                  <a:rPr lang="en-US" sz="4400" b="1" dirty="0">
                    <a:solidFill>
                      <a:srgbClr val="FFF3E7"/>
                    </a:solidFill>
                  </a:rPr>
                  <a:t> </a:t>
                </a:r>
                <a:r>
                  <a:rPr lang="th-TH" sz="3200" b="1" dirty="0">
                    <a:solidFill>
                      <a:srgbClr val="FFF3E7"/>
                    </a:solidFill>
                    <a:sym typeface="Symbol" pitchFamily="18" charset="2"/>
                  </a:rPr>
                  <a:t></a:t>
                </a:r>
                <a:r>
                  <a:rPr lang="th-TH" sz="4400" b="1" baseline="-25000" dirty="0">
                    <a:solidFill>
                      <a:srgbClr val="FFF3E7"/>
                    </a:solidFill>
                    <a:sym typeface="Symbol" pitchFamily="18" charset="2"/>
                  </a:rPr>
                  <a:t>2</a:t>
                </a:r>
                <a:r>
                  <a:rPr lang="th-TH" sz="4400" b="1" dirty="0">
                    <a:solidFill>
                      <a:srgbClr val="FFF3E7"/>
                    </a:solidFill>
                  </a:rPr>
                  <a:t> </a:t>
                </a:r>
                <a:r>
                  <a:rPr lang="en-US" sz="4400" b="1" dirty="0">
                    <a:solidFill>
                      <a:srgbClr val="FFF3E7"/>
                    </a:solidFill>
                  </a:rPr>
                  <a:t>  </a:t>
                </a:r>
                <a:r>
                  <a:rPr lang="th-TH" sz="4400" b="1" dirty="0">
                    <a:solidFill>
                      <a:srgbClr val="FFF3E7"/>
                    </a:solidFill>
                  </a:rPr>
                  <a:t>และ  ไม่ทราบค่า </a:t>
                </a:r>
              </a:p>
            </p:txBody>
          </p:sp>
          <p:sp>
            <p:nvSpPr>
              <p:cNvPr id="139" name="Text Box 118"/>
              <p:cNvSpPr txBox="1">
                <a:spLocks noChangeArrowheads="1"/>
              </p:cNvSpPr>
              <p:nvPr/>
            </p:nvSpPr>
            <p:spPr bwMode="auto">
              <a:xfrm>
                <a:off x="418" y="1357"/>
                <a:ext cx="1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b="1" dirty="0">
                    <a:solidFill>
                      <a:srgbClr val="FFF3E7"/>
                    </a:solidFill>
                  </a:rPr>
                  <a:t>2</a:t>
                </a:r>
                <a:endParaRPr lang="th-TH" sz="2800" b="1" dirty="0">
                  <a:solidFill>
                    <a:srgbClr val="FFF3E7"/>
                  </a:solidFill>
                </a:endParaRPr>
              </a:p>
            </p:txBody>
          </p:sp>
        </p:grpSp>
        <p:sp>
          <p:nvSpPr>
            <p:cNvPr id="137" name="Text Box 118"/>
            <p:cNvSpPr txBox="1">
              <a:spLocks noChangeArrowheads="1"/>
            </p:cNvSpPr>
            <p:nvPr/>
          </p:nvSpPr>
          <p:spPr bwMode="auto">
            <a:xfrm>
              <a:off x="4309110" y="5509260"/>
              <a:ext cx="35473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b="1" dirty="0">
                  <a:solidFill>
                    <a:srgbClr val="FFF3E7"/>
                  </a:solidFill>
                </a:rPr>
                <a:t>2</a:t>
              </a:r>
              <a:endParaRPr lang="th-TH" sz="2800" b="1" dirty="0">
                <a:solidFill>
                  <a:srgbClr val="FFF3E7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3970" y="1284289"/>
            <a:ext cx="4125913" cy="1269562"/>
            <a:chOff x="53970" y="1284289"/>
            <a:chExt cx="4125913" cy="1269562"/>
          </a:xfrm>
        </p:grpSpPr>
        <p:grpSp>
          <p:nvGrpSpPr>
            <p:cNvPr id="87" name="Group 86"/>
            <p:cNvGrpSpPr/>
            <p:nvPr/>
          </p:nvGrpSpPr>
          <p:grpSpPr>
            <a:xfrm>
              <a:off x="53970" y="1284289"/>
              <a:ext cx="4125913" cy="1269562"/>
              <a:chOff x="2058987" y="3985553"/>
              <a:chExt cx="4125913" cy="1269562"/>
            </a:xfrm>
          </p:grpSpPr>
          <p:grpSp>
            <p:nvGrpSpPr>
              <p:cNvPr id="89" name="Group 103"/>
              <p:cNvGrpSpPr/>
              <p:nvPr/>
            </p:nvGrpSpPr>
            <p:grpSpPr>
              <a:xfrm>
                <a:off x="2058987" y="3985553"/>
                <a:ext cx="4125913" cy="1269562"/>
                <a:chOff x="1533526" y="3733803"/>
                <a:chExt cx="4125913" cy="1269562"/>
              </a:xfrm>
            </p:grpSpPr>
            <p:grpSp>
              <p:nvGrpSpPr>
                <p:cNvPr id="90" name="Group 39"/>
                <p:cNvGrpSpPr>
                  <a:grpSpLocks/>
                </p:cNvGrpSpPr>
                <p:nvPr/>
              </p:nvGrpSpPr>
              <p:grpSpPr bwMode="auto">
                <a:xfrm>
                  <a:off x="1533526" y="3733803"/>
                  <a:ext cx="4125913" cy="769938"/>
                  <a:chOff x="3272" y="2511"/>
                  <a:chExt cx="2599" cy="485"/>
                </a:xfrm>
              </p:grpSpPr>
              <p:sp>
                <p:nvSpPr>
                  <p:cNvPr id="107" name="Text Box 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60" y="2628"/>
                    <a:ext cx="1111" cy="3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200" b="1" dirty="0">
                        <a:solidFill>
                          <a:srgbClr val="7030A0"/>
                        </a:solidFill>
                      </a:rPr>
                      <a:t>~ t(n</a:t>
                    </a:r>
                    <a:r>
                      <a:rPr lang="en-US" sz="32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r>
                      <a:rPr lang="en-US" sz="3200" b="1" dirty="0">
                        <a:solidFill>
                          <a:srgbClr val="7030A0"/>
                        </a:solidFill>
                      </a:rPr>
                      <a:t>+ n</a:t>
                    </a:r>
                    <a:r>
                      <a:rPr lang="en-US" sz="32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r>
                      <a:rPr lang="en-US" sz="3200" b="1" dirty="0">
                        <a:solidFill>
                          <a:srgbClr val="7030A0"/>
                        </a:solidFill>
                      </a:rPr>
                      <a:t> – 2)</a:t>
                    </a:r>
                    <a:endParaRPr lang="th-TH" sz="3200" b="1" dirty="0">
                      <a:solidFill>
                        <a:srgbClr val="7030A0"/>
                      </a:solidFill>
                    </a:endParaRPr>
                  </a:p>
                </p:txBody>
              </p:sp>
              <p:grpSp>
                <p:nvGrpSpPr>
                  <p:cNvPr id="108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3272" y="2511"/>
                    <a:ext cx="2210" cy="480"/>
                    <a:chOff x="3222" y="2433"/>
                    <a:chExt cx="2210" cy="480"/>
                  </a:xfrm>
                </p:grpSpPr>
                <p:sp>
                  <p:nvSpPr>
                    <p:cNvPr id="109" name="Rectangle 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2" y="2433"/>
                      <a:ext cx="2210" cy="48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>
                        <a:tabLst>
                          <a:tab pos="457200" algn="l"/>
                        </a:tabLst>
                      </a:pPr>
                      <a:r>
                        <a:rPr kumimoji="1" lang="en-US" sz="32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(X</a:t>
                      </a:r>
                      <a:r>
                        <a:rPr kumimoji="1" lang="en-US" sz="3200" b="1" baseline="-25000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1</a:t>
                      </a:r>
                      <a:r>
                        <a:rPr kumimoji="1" lang="en-US" sz="32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 – X</a:t>
                      </a:r>
                      <a:r>
                        <a:rPr kumimoji="1" lang="en-US" sz="3200" b="1" baseline="-25000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2</a:t>
                      </a:r>
                      <a:r>
                        <a:rPr kumimoji="1" lang="en-US" sz="32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) – (</a:t>
                      </a:r>
                      <a:r>
                        <a:rPr kumimoji="1" lang="en-US" sz="26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</a:t>
                      </a:r>
                      <a:r>
                        <a:rPr kumimoji="1" lang="en-US" sz="3200" b="1" baseline="-25000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1</a:t>
                      </a:r>
                      <a:r>
                        <a:rPr kumimoji="1" lang="en-US" sz="32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 – </a:t>
                      </a:r>
                      <a:r>
                        <a:rPr kumimoji="1" lang="en-US" sz="26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</a:t>
                      </a:r>
                      <a:r>
                        <a:rPr kumimoji="1" lang="en-US" sz="3200" b="1" baseline="-25000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2</a:t>
                      </a:r>
                      <a:r>
                        <a:rPr kumimoji="1" lang="en-US" sz="32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) </a:t>
                      </a:r>
                    </a:p>
                  </p:txBody>
                </p:sp>
                <p:sp>
                  <p:nvSpPr>
                    <p:cNvPr id="110" name="Line 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77" y="2760"/>
                      <a:ext cx="144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200"/>
                    </a:p>
                  </p:txBody>
                </p:sp>
                <p:sp>
                  <p:nvSpPr>
                    <p:cNvPr id="111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45" y="2532"/>
                      <a:ext cx="115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20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91" name="Group 102"/>
                <p:cNvGrpSpPr/>
                <p:nvPr/>
              </p:nvGrpSpPr>
              <p:grpSpPr>
                <a:xfrm>
                  <a:off x="2221230" y="4153674"/>
                  <a:ext cx="1470978" cy="849691"/>
                  <a:chOff x="2221230" y="4153674"/>
                  <a:chExt cx="1470978" cy="849691"/>
                </a:xfrm>
              </p:grpSpPr>
              <p:grpSp>
                <p:nvGrpSpPr>
                  <p:cNvPr id="92" name="Group 90"/>
                  <p:cNvGrpSpPr/>
                  <p:nvPr/>
                </p:nvGrpSpPr>
                <p:grpSpPr>
                  <a:xfrm>
                    <a:off x="2342123" y="4153674"/>
                    <a:ext cx="447087" cy="838201"/>
                    <a:chOff x="3364548" y="4874259"/>
                    <a:chExt cx="447087" cy="838201"/>
                  </a:xfrm>
                </p:grpSpPr>
                <p:sp>
                  <p:nvSpPr>
                    <p:cNvPr id="105" name="Text Box 2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364548" y="5097959"/>
                      <a:ext cx="447087" cy="58477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>
                      <a:spAutoFit/>
                    </a:bodyPr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sz="3200" b="1" dirty="0">
                          <a:solidFill>
                            <a:srgbClr val="7030A0"/>
                          </a:solidFill>
                        </a:rPr>
                        <a:t>n</a:t>
                      </a:r>
                      <a:r>
                        <a:rPr lang="en-US" sz="3200" b="1" baseline="-25000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th-TH" sz="3200" b="1" baseline="-25000" dirty="0">
                        <a:solidFill>
                          <a:srgbClr val="7030A0"/>
                        </a:solidFill>
                      </a:endParaRPr>
                    </a:p>
                  </p:txBody>
                </p:sp>
                <p:sp>
                  <p:nvSpPr>
                    <p:cNvPr id="104" name="Rectangle 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09950" y="4874259"/>
                      <a:ext cx="401685" cy="8382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457200" indent="-457200">
                        <a:tabLst>
                          <a:tab pos="457200" algn="l"/>
                        </a:tabLst>
                      </a:pPr>
                      <a:r>
                        <a:rPr kumimoji="1" lang="en-US" sz="32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1</a:t>
                      </a:r>
                      <a:endParaRPr kumimoji="1" lang="en-US" sz="3200" b="1" dirty="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  <p:grpSp>
                <p:nvGrpSpPr>
                  <p:cNvPr id="93" name="Group 91"/>
                  <p:cNvGrpSpPr/>
                  <p:nvPr/>
                </p:nvGrpSpPr>
                <p:grpSpPr>
                  <a:xfrm>
                    <a:off x="3082608" y="4165164"/>
                    <a:ext cx="609600" cy="838201"/>
                    <a:chOff x="6740208" y="4880864"/>
                    <a:chExt cx="609600" cy="838201"/>
                  </a:xfrm>
                </p:grpSpPr>
                <p:sp>
                  <p:nvSpPr>
                    <p:cNvPr id="102" name="Text Box 2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40208" y="5093134"/>
                      <a:ext cx="609600" cy="58477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sz="3200" b="1" dirty="0">
                          <a:solidFill>
                            <a:srgbClr val="7030A0"/>
                          </a:solidFill>
                        </a:rPr>
                        <a:t>n</a:t>
                      </a:r>
                      <a:r>
                        <a:rPr lang="en-US" sz="3200" b="1" baseline="-25000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th-TH" sz="3200" b="1" baseline="-25000" dirty="0">
                        <a:solidFill>
                          <a:srgbClr val="7030A0"/>
                        </a:solidFill>
                      </a:endParaRPr>
                    </a:p>
                  </p:txBody>
                </p:sp>
                <p:sp>
                  <p:nvSpPr>
                    <p:cNvPr id="101" name="Rectangle 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74180" y="4880864"/>
                      <a:ext cx="354475" cy="8382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marL="457200" indent="-457200">
                        <a:tabLst>
                          <a:tab pos="457200" algn="l"/>
                        </a:tabLst>
                      </a:pPr>
                      <a:r>
                        <a:rPr kumimoji="1" lang="en-US" sz="3200" b="1" dirty="0">
                          <a:solidFill>
                            <a:srgbClr val="7030A0"/>
                          </a:solidFill>
                          <a:sym typeface="Symbol" pitchFamily="18" charset="2"/>
                        </a:rPr>
                        <a:t>1</a:t>
                      </a:r>
                      <a:endParaRPr kumimoji="1" lang="en-US" sz="3200" b="1" dirty="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  <p:sp>
                <p:nvSpPr>
                  <p:cNvPr id="96" name="TextBox 95"/>
                  <p:cNvSpPr txBox="1"/>
                  <p:nvPr/>
                </p:nvSpPr>
                <p:spPr>
                  <a:xfrm>
                    <a:off x="2743490" y="4278314"/>
                    <a:ext cx="4572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7030A0"/>
                        </a:solidFill>
                      </a:rPr>
                      <a:t>+</a:t>
                    </a:r>
                  </a:p>
                </p:txBody>
              </p:sp>
              <p:grpSp>
                <p:nvGrpSpPr>
                  <p:cNvPr id="97" name="Group 101"/>
                  <p:cNvGrpSpPr/>
                  <p:nvPr/>
                </p:nvGrpSpPr>
                <p:grpSpPr>
                  <a:xfrm>
                    <a:off x="2221230" y="4301174"/>
                    <a:ext cx="1341554" cy="563880"/>
                    <a:chOff x="2221230" y="4301174"/>
                    <a:chExt cx="1341554" cy="563880"/>
                  </a:xfrm>
                </p:grpSpPr>
                <p:sp>
                  <p:nvSpPr>
                    <p:cNvPr id="98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74064" y="4309255"/>
                      <a:ext cx="118872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200"/>
                    </a:p>
                  </p:txBody>
                </p:sp>
                <p:sp>
                  <p:nvSpPr>
                    <p:cNvPr id="99" name="Line 2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302547" y="4301174"/>
                      <a:ext cx="82946" cy="56388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200">
                        <a:solidFill>
                          <a:srgbClr val="7030A0"/>
                        </a:solidFill>
                      </a:endParaRPr>
                    </a:p>
                  </p:txBody>
                </p:sp>
                <p:sp>
                  <p:nvSpPr>
                    <p:cNvPr id="100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21230" y="4788854"/>
                      <a:ext cx="76199" cy="731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20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88" name="Line 47"/>
              <p:cNvSpPr>
                <a:spLocks noChangeShapeType="1"/>
              </p:cNvSpPr>
              <p:nvPr/>
            </p:nvSpPr>
            <p:spPr bwMode="auto">
              <a:xfrm>
                <a:off x="2800060" y="4144990"/>
                <a:ext cx="182880" cy="0"/>
              </a:xfrm>
              <a:prstGeom prst="line">
                <a:avLst/>
              </a:prstGeom>
              <a:noFill/>
              <a:ln w="28575">
                <a:solidFill>
                  <a:srgbClr val="7030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3200"/>
              </a:p>
            </p:txBody>
          </p:sp>
        </p:grpSp>
        <p:sp>
          <p:nvSpPr>
            <p:cNvPr id="141" name="Line 43"/>
            <p:cNvSpPr>
              <a:spLocks noChangeShapeType="1"/>
            </p:cNvSpPr>
            <p:nvPr/>
          </p:nvSpPr>
          <p:spPr bwMode="auto">
            <a:xfrm>
              <a:off x="922020" y="2133600"/>
              <a:ext cx="274320" cy="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43" name="Line 43"/>
            <p:cNvSpPr>
              <a:spLocks noChangeShapeType="1"/>
            </p:cNvSpPr>
            <p:nvPr/>
          </p:nvSpPr>
          <p:spPr bwMode="auto">
            <a:xfrm>
              <a:off x="1653540" y="2133600"/>
              <a:ext cx="274320" cy="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44" name="Text Box 40"/>
            <p:cNvSpPr txBox="1">
              <a:spLocks noChangeArrowheads="1"/>
            </p:cNvSpPr>
            <p:nvPr/>
          </p:nvSpPr>
          <p:spPr bwMode="auto">
            <a:xfrm>
              <a:off x="399655" y="1752600"/>
              <a:ext cx="52617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 b="1" dirty="0" err="1">
                  <a:solidFill>
                    <a:srgbClr val="7030A0"/>
                  </a:solidFill>
                </a:rPr>
                <a:t>S</a:t>
              </a:r>
              <a:r>
                <a:rPr lang="en-US" sz="3200" b="1" baseline="-25000" dirty="0" err="1">
                  <a:solidFill>
                    <a:srgbClr val="7030A0"/>
                  </a:solidFill>
                </a:rPr>
                <a:t>p</a:t>
              </a:r>
              <a:endParaRPr lang="th-TH" sz="3200" b="1" baseline="-250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11844" y="4258571"/>
            <a:ext cx="6674049" cy="889141"/>
            <a:chOff x="107751" y="4244340"/>
            <a:chExt cx="6674049" cy="889141"/>
          </a:xfrm>
        </p:grpSpPr>
        <p:grpSp>
          <p:nvGrpSpPr>
            <p:cNvPr id="22" name="Group 21"/>
            <p:cNvGrpSpPr/>
            <p:nvPr/>
          </p:nvGrpSpPr>
          <p:grpSpPr>
            <a:xfrm>
              <a:off x="107751" y="4347981"/>
              <a:ext cx="3854452" cy="762000"/>
              <a:chOff x="328442" y="4347981"/>
              <a:chExt cx="3854452" cy="762000"/>
            </a:xfrm>
          </p:grpSpPr>
          <p:grpSp>
            <p:nvGrpSpPr>
              <p:cNvPr id="163" name="Group 41"/>
              <p:cNvGrpSpPr>
                <a:grpSpLocks/>
              </p:cNvGrpSpPr>
              <p:nvPr/>
            </p:nvGrpSpPr>
            <p:grpSpPr bwMode="auto">
              <a:xfrm>
                <a:off x="328442" y="4347981"/>
                <a:ext cx="3854452" cy="762000"/>
                <a:chOff x="3045" y="2449"/>
                <a:chExt cx="2428" cy="480"/>
              </a:xfrm>
            </p:grpSpPr>
            <p:sp>
              <p:nvSpPr>
                <p:cNvPr id="164" name="Rectangle 42"/>
                <p:cNvSpPr>
                  <a:spLocks noChangeArrowheads="1"/>
                </p:cNvSpPr>
                <p:nvPr/>
              </p:nvSpPr>
              <p:spPr bwMode="auto">
                <a:xfrm>
                  <a:off x="3045" y="2449"/>
                  <a:ext cx="2428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(X</a:t>
                  </a:r>
                  <a:r>
                    <a:rPr kumimoji="1" lang="en-US" sz="3600" b="1" baseline="-25000" dirty="0">
                      <a:solidFill>
                        <a:srgbClr val="7030A0"/>
                      </a:solidFill>
                      <a:sym typeface="Symbol" pitchFamily="18" charset="2"/>
                    </a:rPr>
                    <a:t>1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– X</a:t>
                  </a:r>
                  <a:r>
                    <a:rPr kumimoji="1" lang="en-US" sz="3600" b="1" baseline="-25000" dirty="0">
                      <a:solidFill>
                        <a:srgbClr val="7030A0"/>
                      </a:solidFill>
                      <a:sym typeface="Symbol" pitchFamily="18" charset="2"/>
                    </a:rPr>
                    <a:t>2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)</a:t>
                  </a:r>
                  <a:r>
                    <a:rPr kumimoji="1" lang="th-TH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  </a:t>
                  </a:r>
                  <a:r>
                    <a:rPr kumimoji="1" lang="th-TH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–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</a:t>
                  </a:r>
                  <a:r>
                    <a:rPr kumimoji="1" lang="th-TH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t</a:t>
                  </a:r>
                  <a:r>
                    <a:rPr kumimoji="1" lang="en-US" sz="3600" b="1" baseline="-25000" dirty="0">
                      <a:solidFill>
                        <a:srgbClr val="7030A0"/>
                      </a:solidFill>
                      <a:sym typeface="Symbol" pitchFamily="18" charset="2"/>
                    </a:rPr>
                    <a:t>0.025,(n1+n2-2)</a:t>
                  </a:r>
                  <a:r>
                    <a:rPr lang="en-US" sz="3600" b="1" dirty="0">
                      <a:solidFill>
                        <a:srgbClr val="7030A0"/>
                      </a:solidFill>
                    </a:rPr>
                    <a:t> </a:t>
                  </a:r>
                  <a:r>
                    <a:rPr kumimoji="1" lang="th-TH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</a:t>
                  </a:r>
                  <a:endParaRPr kumimoji="1" lang="en-US" sz="3600" b="1" dirty="0">
                    <a:solidFill>
                      <a:srgbClr val="7030A0"/>
                    </a:solidFill>
                    <a:sym typeface="Symbol" pitchFamily="18" charset="2"/>
                  </a:endParaRPr>
                </a:p>
              </p:txBody>
            </p:sp>
            <p:sp>
              <p:nvSpPr>
                <p:cNvPr id="178" name="Line 47"/>
                <p:cNvSpPr>
                  <a:spLocks noChangeShapeType="1"/>
                </p:cNvSpPr>
                <p:nvPr/>
              </p:nvSpPr>
              <p:spPr bwMode="auto">
                <a:xfrm>
                  <a:off x="3173" y="2532"/>
                  <a:ext cx="115" cy="0"/>
                </a:xfrm>
                <a:prstGeom prst="line">
                  <a:avLst/>
                </a:prstGeom>
                <a:noFill/>
                <a:ln w="28575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>
                    <a:solidFill>
                      <a:srgbClr val="7030A0"/>
                    </a:solidFill>
                  </a:endParaRPr>
                </a:p>
              </p:txBody>
            </p:sp>
          </p:grpSp>
          <p:sp>
            <p:nvSpPr>
              <p:cNvPr id="114" name="Line 47"/>
              <p:cNvSpPr>
                <a:spLocks noChangeShapeType="1"/>
              </p:cNvSpPr>
              <p:nvPr/>
            </p:nvSpPr>
            <p:spPr bwMode="auto">
              <a:xfrm>
                <a:off x="1157683" y="4479744"/>
                <a:ext cx="182880" cy="0"/>
              </a:xfrm>
              <a:prstGeom prst="line">
                <a:avLst/>
              </a:prstGeom>
              <a:noFill/>
              <a:ln w="28575">
                <a:solidFill>
                  <a:srgbClr val="7030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3600"/>
              </a:p>
            </p:txBody>
          </p:sp>
        </p:grpSp>
        <p:sp>
          <p:nvSpPr>
            <p:cNvPr id="183" name="Rectangle 42"/>
            <p:cNvSpPr>
              <a:spLocks noChangeArrowheads="1"/>
            </p:cNvSpPr>
            <p:nvPr/>
          </p:nvSpPr>
          <p:spPr bwMode="auto">
            <a:xfrm>
              <a:off x="5268912" y="4320540"/>
              <a:ext cx="1512888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3600" b="1" u="sng" dirty="0">
                  <a:solidFill>
                    <a:srgbClr val="7030A0"/>
                  </a:solidFill>
                  <a:sym typeface="Symbol" pitchFamily="18" charset="2"/>
                </a:rPr>
                <a:t>&lt;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</a:t>
              </a:r>
              <a:r>
                <a:rPr kumimoji="1" lang="en-US" sz="2800" b="1" dirty="0">
                  <a:solidFill>
                    <a:srgbClr val="7030A0"/>
                  </a:solidFill>
                  <a:sym typeface="Symbol" pitchFamily="18" charset="2"/>
                </a:rPr>
                <a:t></a:t>
              </a:r>
              <a:r>
                <a:rPr kumimoji="1" lang="en-US" sz="3600" b="1" baseline="-25000" dirty="0">
                  <a:solidFill>
                    <a:srgbClr val="7030A0"/>
                  </a:solidFill>
                  <a:sym typeface="Symbol" pitchFamily="18" charset="2"/>
                </a:rPr>
                <a:t>1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– </a:t>
              </a:r>
              <a:r>
                <a:rPr kumimoji="1" lang="en-US" sz="2800" b="1" dirty="0">
                  <a:solidFill>
                    <a:srgbClr val="7030A0"/>
                  </a:solidFill>
                  <a:sym typeface="Symbol" pitchFamily="18" charset="2"/>
                </a:rPr>
                <a:t></a:t>
              </a:r>
              <a:r>
                <a:rPr kumimoji="1" lang="en-US" sz="3600" b="1" baseline="-25000" dirty="0">
                  <a:solidFill>
                    <a:srgbClr val="7030A0"/>
                  </a:solidFill>
                  <a:sym typeface="Symbol" pitchFamily="18" charset="2"/>
                </a:rPr>
                <a:t>2</a:t>
              </a: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 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3575532" y="4244340"/>
              <a:ext cx="1853718" cy="889141"/>
              <a:chOff x="307929" y="5367197"/>
              <a:chExt cx="1853718" cy="889141"/>
            </a:xfrm>
          </p:grpSpPr>
          <p:grpSp>
            <p:nvGrpSpPr>
              <p:cNvPr id="157" name="Group 102"/>
              <p:cNvGrpSpPr/>
              <p:nvPr/>
            </p:nvGrpSpPr>
            <p:grpSpPr>
              <a:xfrm>
                <a:off x="656379" y="5367197"/>
                <a:ext cx="1505268" cy="889141"/>
                <a:chOff x="2186940" y="4199394"/>
                <a:chExt cx="1505268" cy="889141"/>
              </a:xfrm>
            </p:grpSpPr>
            <p:grpSp>
              <p:nvGrpSpPr>
                <p:cNvPr id="158" name="Group 90"/>
                <p:cNvGrpSpPr/>
                <p:nvPr/>
              </p:nvGrpSpPr>
              <p:grpSpPr>
                <a:xfrm>
                  <a:off x="2342123" y="4199394"/>
                  <a:ext cx="609600" cy="889081"/>
                  <a:chOff x="3364548" y="4919979"/>
                  <a:chExt cx="609600" cy="889081"/>
                </a:xfrm>
              </p:grpSpPr>
              <p:sp>
                <p:nvSpPr>
                  <p:cNvPr id="169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409950" y="4919979"/>
                    <a:ext cx="401685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1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70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64548" y="5162729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159" name="Group 91"/>
                <p:cNvGrpSpPr/>
                <p:nvPr/>
              </p:nvGrpSpPr>
              <p:grpSpPr>
                <a:xfrm>
                  <a:off x="3082608" y="4210884"/>
                  <a:ext cx="609600" cy="877651"/>
                  <a:chOff x="6740208" y="4926584"/>
                  <a:chExt cx="609600" cy="877651"/>
                </a:xfrm>
              </p:grpSpPr>
              <p:sp>
                <p:nvSpPr>
                  <p:cNvPr id="167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6774180" y="4926584"/>
                    <a:ext cx="354475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1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68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40208" y="5157904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sp>
              <p:nvSpPr>
                <p:cNvPr id="160" name="TextBox 159"/>
                <p:cNvSpPr txBox="1"/>
                <p:nvPr/>
              </p:nvSpPr>
              <p:spPr>
                <a:xfrm>
                  <a:off x="2743490" y="4343084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solidFill>
                        <a:srgbClr val="7030A0"/>
                      </a:solidFill>
                    </a:rPr>
                    <a:t>+</a:t>
                  </a:r>
                </a:p>
              </p:txBody>
            </p:sp>
            <p:grpSp>
              <p:nvGrpSpPr>
                <p:cNvPr id="161" name="Group 101"/>
                <p:cNvGrpSpPr/>
                <p:nvPr/>
              </p:nvGrpSpPr>
              <p:grpSpPr>
                <a:xfrm>
                  <a:off x="2186940" y="4354514"/>
                  <a:ext cx="1375844" cy="655320"/>
                  <a:chOff x="2186940" y="4354514"/>
                  <a:chExt cx="1375844" cy="655320"/>
                </a:xfrm>
              </p:grpSpPr>
              <p:sp>
                <p:nvSpPr>
                  <p:cNvPr id="162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374064" y="4362595"/>
                    <a:ext cx="118872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/>
                  </a:p>
                </p:txBody>
              </p:sp>
              <p:sp>
                <p:nvSpPr>
                  <p:cNvPr id="165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63139" y="4354514"/>
                    <a:ext cx="110925" cy="64008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66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186940" y="4918394"/>
                    <a:ext cx="76199" cy="9144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</p:grpSp>
          <p:sp>
            <p:nvSpPr>
              <p:cNvPr id="148" name="Line 43"/>
              <p:cNvSpPr>
                <a:spLocks noChangeShapeType="1"/>
              </p:cNvSpPr>
              <p:nvPr/>
            </p:nvSpPr>
            <p:spPr bwMode="auto">
              <a:xfrm>
                <a:off x="905305" y="5838547"/>
                <a:ext cx="274320" cy="0"/>
              </a:xfrm>
              <a:prstGeom prst="line">
                <a:avLst/>
              </a:prstGeom>
              <a:noFill/>
              <a:ln w="19050">
                <a:solidFill>
                  <a:srgbClr val="7030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3600"/>
              </a:p>
            </p:txBody>
          </p:sp>
          <p:sp>
            <p:nvSpPr>
              <p:cNvPr id="149" name="Line 43"/>
              <p:cNvSpPr>
                <a:spLocks noChangeShapeType="1"/>
              </p:cNvSpPr>
              <p:nvPr/>
            </p:nvSpPr>
            <p:spPr bwMode="auto">
              <a:xfrm>
                <a:off x="1636825" y="5849977"/>
                <a:ext cx="274320" cy="0"/>
              </a:xfrm>
              <a:prstGeom prst="line">
                <a:avLst/>
              </a:prstGeom>
              <a:noFill/>
              <a:ln w="19050">
                <a:solidFill>
                  <a:srgbClr val="7030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3600"/>
              </a:p>
            </p:txBody>
          </p:sp>
          <p:sp>
            <p:nvSpPr>
              <p:cNvPr id="150" name="Text Box 40"/>
              <p:cNvSpPr txBox="1">
                <a:spLocks noChangeArrowheads="1"/>
              </p:cNvSpPr>
              <p:nvPr/>
            </p:nvSpPr>
            <p:spPr bwMode="auto">
              <a:xfrm>
                <a:off x="307929" y="5446117"/>
                <a:ext cx="532606" cy="646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3600" b="1" dirty="0" err="1">
                    <a:solidFill>
                      <a:srgbClr val="7030A0"/>
                    </a:solidFill>
                  </a:rPr>
                  <a:t>S</a:t>
                </a:r>
                <a:r>
                  <a:rPr lang="en-US" sz="3600" b="1" baseline="-25000" dirty="0" err="1">
                    <a:solidFill>
                      <a:srgbClr val="7030A0"/>
                    </a:solidFill>
                  </a:rPr>
                  <a:t>p</a:t>
                </a:r>
                <a:endParaRPr lang="th-TH" sz="3600" b="1" baseline="-25000" dirty="0">
                  <a:solidFill>
                    <a:srgbClr val="7030A0"/>
                  </a:solidFill>
                </a:endParaRPr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3075434" y="5054459"/>
            <a:ext cx="5611366" cy="889141"/>
            <a:chOff x="3153692" y="4860149"/>
            <a:chExt cx="5611366" cy="889141"/>
          </a:xfrm>
        </p:grpSpPr>
        <p:grpSp>
          <p:nvGrpSpPr>
            <p:cNvPr id="189" name="Group 188"/>
            <p:cNvGrpSpPr/>
            <p:nvPr/>
          </p:nvGrpSpPr>
          <p:grpSpPr>
            <a:xfrm>
              <a:off x="3153692" y="4938390"/>
              <a:ext cx="4091657" cy="762000"/>
              <a:chOff x="328442" y="4322581"/>
              <a:chExt cx="3854452" cy="762000"/>
            </a:xfrm>
          </p:grpSpPr>
          <p:grpSp>
            <p:nvGrpSpPr>
              <p:cNvPr id="190" name="Group 41"/>
              <p:cNvGrpSpPr>
                <a:grpSpLocks/>
              </p:cNvGrpSpPr>
              <p:nvPr/>
            </p:nvGrpSpPr>
            <p:grpSpPr bwMode="auto">
              <a:xfrm>
                <a:off x="328442" y="4322581"/>
                <a:ext cx="3854452" cy="762000"/>
                <a:chOff x="3045" y="2433"/>
                <a:chExt cx="2428" cy="480"/>
              </a:xfrm>
            </p:grpSpPr>
            <p:sp>
              <p:nvSpPr>
                <p:cNvPr id="192" name="Rectangle 42"/>
                <p:cNvSpPr>
                  <a:spLocks noChangeArrowheads="1"/>
                </p:cNvSpPr>
                <p:nvPr/>
              </p:nvSpPr>
              <p:spPr bwMode="auto">
                <a:xfrm>
                  <a:off x="3045" y="2433"/>
                  <a:ext cx="2428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3600" b="1" u="sng" dirty="0">
                      <a:solidFill>
                        <a:srgbClr val="7030A0"/>
                      </a:solidFill>
                      <a:sym typeface="Symbol" pitchFamily="18" charset="2"/>
                    </a:rPr>
                    <a:t>&lt;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(X</a:t>
                  </a:r>
                  <a:r>
                    <a:rPr kumimoji="1" lang="en-US" sz="3600" b="1" baseline="-25000" dirty="0">
                      <a:solidFill>
                        <a:srgbClr val="7030A0"/>
                      </a:solidFill>
                      <a:sym typeface="Symbol" pitchFamily="18" charset="2"/>
                    </a:rPr>
                    <a:t>1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– X</a:t>
                  </a:r>
                  <a:r>
                    <a:rPr kumimoji="1" lang="en-US" sz="3600" b="1" baseline="-25000" dirty="0">
                      <a:solidFill>
                        <a:srgbClr val="7030A0"/>
                      </a:solidFill>
                      <a:sym typeface="Symbol" pitchFamily="18" charset="2"/>
                    </a:rPr>
                    <a:t>2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)</a:t>
                  </a:r>
                  <a:r>
                    <a:rPr kumimoji="1" lang="th-TH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  +   </a:t>
                  </a:r>
                  <a:r>
                    <a:rPr kumimoji="1" lang="th-TH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t</a:t>
                  </a:r>
                  <a:r>
                    <a:rPr kumimoji="1" lang="en-US" sz="3600" b="1" baseline="-25000" dirty="0">
                      <a:solidFill>
                        <a:srgbClr val="7030A0"/>
                      </a:solidFill>
                      <a:sym typeface="Symbol" pitchFamily="18" charset="2"/>
                    </a:rPr>
                    <a:t>0.025,(n1+n2-2)</a:t>
                  </a:r>
                  <a:r>
                    <a:rPr lang="en-US" sz="3600" b="1" dirty="0">
                      <a:solidFill>
                        <a:srgbClr val="7030A0"/>
                      </a:solidFill>
                    </a:rPr>
                    <a:t> </a:t>
                  </a:r>
                  <a:r>
                    <a:rPr kumimoji="1" lang="th-TH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</a:t>
                  </a:r>
                  <a:endParaRPr kumimoji="1" lang="en-US" sz="3600" b="1" dirty="0">
                    <a:solidFill>
                      <a:srgbClr val="7030A0"/>
                    </a:solidFill>
                    <a:sym typeface="Symbol" pitchFamily="18" charset="2"/>
                  </a:endParaRPr>
                </a:p>
              </p:txBody>
            </p:sp>
            <p:sp>
              <p:nvSpPr>
                <p:cNvPr id="193" name="Line 47"/>
                <p:cNvSpPr>
                  <a:spLocks noChangeShapeType="1"/>
                </p:cNvSpPr>
                <p:nvPr/>
              </p:nvSpPr>
              <p:spPr bwMode="auto">
                <a:xfrm>
                  <a:off x="3313" y="2532"/>
                  <a:ext cx="115" cy="0"/>
                </a:xfrm>
                <a:prstGeom prst="line">
                  <a:avLst/>
                </a:prstGeom>
                <a:noFill/>
                <a:ln w="28575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>
                    <a:solidFill>
                      <a:srgbClr val="7030A0"/>
                    </a:solidFill>
                  </a:endParaRPr>
                </a:p>
              </p:txBody>
            </p:sp>
          </p:grpSp>
          <p:sp>
            <p:nvSpPr>
              <p:cNvPr id="191" name="Line 47"/>
              <p:cNvSpPr>
                <a:spLocks noChangeShapeType="1"/>
              </p:cNvSpPr>
              <p:nvPr/>
            </p:nvSpPr>
            <p:spPr bwMode="auto">
              <a:xfrm>
                <a:off x="1336067" y="4479744"/>
                <a:ext cx="182880" cy="0"/>
              </a:xfrm>
              <a:prstGeom prst="line">
                <a:avLst/>
              </a:prstGeom>
              <a:noFill/>
              <a:ln w="28575">
                <a:solidFill>
                  <a:srgbClr val="7030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3600"/>
              </a:p>
            </p:txBody>
          </p:sp>
        </p:grpSp>
        <p:grpSp>
          <p:nvGrpSpPr>
            <p:cNvPr id="194" name="Group 193"/>
            <p:cNvGrpSpPr/>
            <p:nvPr/>
          </p:nvGrpSpPr>
          <p:grpSpPr>
            <a:xfrm>
              <a:off x="6888480" y="4860149"/>
              <a:ext cx="1876578" cy="889141"/>
              <a:chOff x="285069" y="5367197"/>
              <a:chExt cx="1876578" cy="889141"/>
            </a:xfrm>
          </p:grpSpPr>
          <p:grpSp>
            <p:nvGrpSpPr>
              <p:cNvPr id="195" name="Group 102"/>
              <p:cNvGrpSpPr/>
              <p:nvPr/>
            </p:nvGrpSpPr>
            <p:grpSpPr>
              <a:xfrm>
                <a:off x="656379" y="5367197"/>
                <a:ext cx="1505268" cy="889141"/>
                <a:chOff x="2186940" y="4199394"/>
                <a:chExt cx="1505268" cy="889141"/>
              </a:xfrm>
            </p:grpSpPr>
            <p:grpSp>
              <p:nvGrpSpPr>
                <p:cNvPr id="199" name="Group 90"/>
                <p:cNvGrpSpPr/>
                <p:nvPr/>
              </p:nvGrpSpPr>
              <p:grpSpPr>
                <a:xfrm>
                  <a:off x="2342123" y="4199394"/>
                  <a:ext cx="609600" cy="889081"/>
                  <a:chOff x="3364548" y="4919979"/>
                  <a:chExt cx="609600" cy="889081"/>
                </a:xfrm>
              </p:grpSpPr>
              <p:sp>
                <p:nvSpPr>
                  <p:cNvPr id="230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409950" y="4919979"/>
                    <a:ext cx="401685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1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31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64548" y="5162729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200" name="Group 91"/>
                <p:cNvGrpSpPr/>
                <p:nvPr/>
              </p:nvGrpSpPr>
              <p:grpSpPr>
                <a:xfrm>
                  <a:off x="3082608" y="4210884"/>
                  <a:ext cx="609600" cy="877651"/>
                  <a:chOff x="6740208" y="4926584"/>
                  <a:chExt cx="609600" cy="877651"/>
                </a:xfrm>
              </p:grpSpPr>
              <p:sp>
                <p:nvSpPr>
                  <p:cNvPr id="206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6774180" y="4926584"/>
                    <a:ext cx="354475" cy="8382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457200" indent="-457200"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1</a:t>
                    </a:r>
                    <a:endParaRPr kumimoji="1" lang="en-US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29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40208" y="5157904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sp>
              <p:nvSpPr>
                <p:cNvPr id="201" name="TextBox 200"/>
                <p:cNvSpPr txBox="1"/>
                <p:nvPr/>
              </p:nvSpPr>
              <p:spPr>
                <a:xfrm>
                  <a:off x="2743490" y="4354574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solidFill>
                        <a:srgbClr val="7030A0"/>
                      </a:solidFill>
                    </a:rPr>
                    <a:t>+</a:t>
                  </a:r>
                </a:p>
              </p:txBody>
            </p:sp>
            <p:grpSp>
              <p:nvGrpSpPr>
                <p:cNvPr id="202" name="Group 101"/>
                <p:cNvGrpSpPr/>
                <p:nvPr/>
              </p:nvGrpSpPr>
              <p:grpSpPr>
                <a:xfrm>
                  <a:off x="2186940" y="4354514"/>
                  <a:ext cx="1375844" cy="655320"/>
                  <a:chOff x="2186940" y="4354514"/>
                  <a:chExt cx="1375844" cy="655320"/>
                </a:xfrm>
              </p:grpSpPr>
              <p:sp>
                <p:nvSpPr>
                  <p:cNvPr id="203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374064" y="4362595"/>
                    <a:ext cx="118872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/>
                  </a:p>
                </p:txBody>
              </p:sp>
              <p:sp>
                <p:nvSpPr>
                  <p:cNvPr id="204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63139" y="4354514"/>
                    <a:ext cx="110925" cy="64008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205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186940" y="4918394"/>
                    <a:ext cx="76199" cy="9144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600">
                      <a:solidFill>
                        <a:srgbClr val="7030A0"/>
                      </a:solidFill>
                    </a:endParaRPr>
                  </a:p>
                </p:txBody>
              </p:sp>
            </p:grpSp>
          </p:grpSp>
          <p:sp>
            <p:nvSpPr>
              <p:cNvPr id="196" name="Line 43"/>
              <p:cNvSpPr>
                <a:spLocks noChangeShapeType="1"/>
              </p:cNvSpPr>
              <p:nvPr/>
            </p:nvSpPr>
            <p:spPr bwMode="auto">
              <a:xfrm>
                <a:off x="905305" y="5838547"/>
                <a:ext cx="274320" cy="0"/>
              </a:xfrm>
              <a:prstGeom prst="line">
                <a:avLst/>
              </a:prstGeom>
              <a:noFill/>
              <a:ln w="19050">
                <a:solidFill>
                  <a:srgbClr val="7030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3600"/>
              </a:p>
            </p:txBody>
          </p:sp>
          <p:sp>
            <p:nvSpPr>
              <p:cNvPr id="197" name="Line 43"/>
              <p:cNvSpPr>
                <a:spLocks noChangeShapeType="1"/>
              </p:cNvSpPr>
              <p:nvPr/>
            </p:nvSpPr>
            <p:spPr bwMode="auto">
              <a:xfrm>
                <a:off x="1636825" y="5849977"/>
                <a:ext cx="274320" cy="0"/>
              </a:xfrm>
              <a:prstGeom prst="line">
                <a:avLst/>
              </a:prstGeom>
              <a:noFill/>
              <a:ln w="19050">
                <a:solidFill>
                  <a:srgbClr val="7030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3600"/>
              </a:p>
            </p:txBody>
          </p:sp>
          <p:sp>
            <p:nvSpPr>
              <p:cNvPr id="198" name="Text Box 40"/>
              <p:cNvSpPr txBox="1">
                <a:spLocks noChangeArrowheads="1"/>
              </p:cNvSpPr>
              <p:nvPr/>
            </p:nvSpPr>
            <p:spPr bwMode="auto">
              <a:xfrm>
                <a:off x="285069" y="5446117"/>
                <a:ext cx="532606" cy="646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3600" b="1" dirty="0" err="1">
                    <a:solidFill>
                      <a:srgbClr val="7030A0"/>
                    </a:solidFill>
                  </a:rPr>
                  <a:t>S</a:t>
                </a:r>
                <a:r>
                  <a:rPr lang="en-US" sz="3600" b="1" baseline="-25000" dirty="0" err="1">
                    <a:solidFill>
                      <a:srgbClr val="7030A0"/>
                    </a:solidFill>
                  </a:rPr>
                  <a:t>p</a:t>
                </a:r>
                <a:endParaRPr lang="th-TH" sz="3600" b="1" baseline="-25000" dirty="0">
                  <a:solidFill>
                    <a:srgbClr val="7030A0"/>
                  </a:solidFill>
                </a:endParaRPr>
              </a:p>
            </p:txBody>
          </p:sp>
        </p:grpSp>
      </p:grpSp>
      <p:sp>
        <p:nvSpPr>
          <p:cNvPr id="112" name="Rectangle 43"/>
          <p:cNvSpPr>
            <a:spLocks noChangeArrowheads="1"/>
          </p:cNvSpPr>
          <p:nvPr/>
        </p:nvSpPr>
        <p:spPr bwMode="auto">
          <a:xfrm>
            <a:off x="4953000" y="1283979"/>
            <a:ext cx="2176256" cy="6699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571500" indent="-571500"/>
            <a:r>
              <a:rPr lang="th-TH" sz="3200" b="1" dirty="0">
                <a:solidFill>
                  <a:srgbClr val="7030A0"/>
                </a:solidFill>
              </a:rPr>
              <a:t>ให้  </a:t>
            </a:r>
            <a:r>
              <a:rPr lang="en-US" sz="3200" b="1" dirty="0">
                <a:solidFill>
                  <a:srgbClr val="7030A0"/>
                </a:solidFill>
              </a:rPr>
              <a:t>1 – </a:t>
            </a:r>
            <a:r>
              <a:rPr lang="en-US" sz="2600" b="1" dirty="0">
                <a:solidFill>
                  <a:srgbClr val="7030A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7030A0"/>
                </a:solidFill>
                <a:sym typeface="Symbol"/>
              </a:rPr>
              <a:t> =</a:t>
            </a:r>
            <a:r>
              <a:rPr lang="en-US" sz="3200" b="1" dirty="0">
                <a:solidFill>
                  <a:srgbClr val="7030A0"/>
                </a:solidFill>
              </a:rPr>
              <a:t> 0.95 </a:t>
            </a:r>
            <a:endParaRPr lang="th-TH" sz="3200" b="1" dirty="0">
              <a:solidFill>
                <a:srgbClr val="7030A0"/>
              </a:solidFill>
              <a:sym typeface="Symbol" pitchFamily="18" charset="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7391400" y="1232848"/>
            <a:ext cx="17427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6600"/>
                </a:solidFill>
                <a:sym typeface="Symbol"/>
              </a:rPr>
              <a:t>โดยที่ 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i = 1 , 2</a:t>
            </a:r>
            <a:endParaRPr lang="en-US" sz="3200" dirty="0"/>
          </a:p>
        </p:txBody>
      </p:sp>
      <p:sp>
        <p:nvSpPr>
          <p:cNvPr id="115" name="Rectangle 114"/>
          <p:cNvSpPr/>
          <p:nvPr/>
        </p:nvSpPr>
        <p:spPr>
          <a:xfrm>
            <a:off x="6000348" y="1902529"/>
            <a:ext cx="2838852" cy="58477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th-TH" sz="3200" b="1" dirty="0">
                <a:solidFill>
                  <a:srgbClr val="FF0000"/>
                </a:solidFill>
                <a:sym typeface="Symbol"/>
              </a:rPr>
              <a:t>ตัวอย่างเป็นอิสระกัน</a:t>
            </a:r>
            <a:r>
              <a:rPr lang="en-US" sz="3200" b="1" dirty="0">
                <a:solidFill>
                  <a:srgbClr val="FF0000"/>
                </a:solidFill>
                <a:sym typeface="Symbol"/>
              </a:rPr>
              <a:t> 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A327F-22CA-495D-B213-0A36CDDA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85BAB93-3BEB-E072-D832-7A10873D5B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31636"/>
              </p:ext>
            </p:extLst>
          </p:nvPr>
        </p:nvGraphicFramePr>
        <p:xfrm>
          <a:off x="4944067" y="5998976"/>
          <a:ext cx="28321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78160" imgH="1282680" progId="Equation.DSMT4">
                  <p:embed/>
                </p:oleObj>
              </mc:Choice>
              <mc:Fallback>
                <p:oleObj name="Equation" r:id="rId2" imgW="4178160" imgH="1282680" progId="Equation.DSMT4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067" y="5998976"/>
                        <a:ext cx="28321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726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1" name="Freeform 15"/>
          <p:cNvSpPr>
            <a:spLocks/>
          </p:cNvSpPr>
          <p:nvPr/>
        </p:nvSpPr>
        <p:spPr bwMode="auto">
          <a:xfrm>
            <a:off x="4438650" y="1619250"/>
            <a:ext cx="1076325" cy="1638300"/>
          </a:xfrm>
          <a:custGeom>
            <a:avLst/>
            <a:gdLst>
              <a:gd name="T0" fmla="*/ 0 w 678"/>
              <a:gd name="T1" fmla="*/ 1638300 h 1032"/>
              <a:gd name="T2" fmla="*/ 0 w 678"/>
              <a:gd name="T3" fmla="*/ 0 h 1032"/>
              <a:gd name="T4" fmla="*/ 152400 w 678"/>
              <a:gd name="T5" fmla="*/ 57150 h 1032"/>
              <a:gd name="T6" fmla="*/ 333375 w 678"/>
              <a:gd name="T7" fmla="*/ 247650 h 1032"/>
              <a:gd name="T8" fmla="*/ 447675 w 678"/>
              <a:gd name="T9" fmla="*/ 457200 h 1032"/>
              <a:gd name="T10" fmla="*/ 581025 w 678"/>
              <a:gd name="T11" fmla="*/ 685800 h 1032"/>
              <a:gd name="T12" fmla="*/ 666750 w 678"/>
              <a:gd name="T13" fmla="*/ 857250 h 1032"/>
              <a:gd name="T14" fmla="*/ 752475 w 678"/>
              <a:gd name="T15" fmla="*/ 990600 h 1032"/>
              <a:gd name="T16" fmla="*/ 838200 w 678"/>
              <a:gd name="T17" fmla="*/ 1143000 h 1032"/>
              <a:gd name="T18" fmla="*/ 901700 w 678"/>
              <a:gd name="T19" fmla="*/ 1238250 h 1032"/>
              <a:gd name="T20" fmla="*/ 1027113 w 678"/>
              <a:gd name="T21" fmla="*/ 1352550 h 1032"/>
              <a:gd name="T22" fmla="*/ 1076325 w 678"/>
              <a:gd name="T23" fmla="*/ 1381125 h 1032"/>
              <a:gd name="T24" fmla="*/ 1076325 w 678"/>
              <a:gd name="T25" fmla="*/ 1638300 h 1032"/>
              <a:gd name="T26" fmla="*/ 0 w 678"/>
              <a:gd name="T27" fmla="*/ 1638300 h 103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78"/>
              <a:gd name="T43" fmla="*/ 0 h 1032"/>
              <a:gd name="T44" fmla="*/ 678 w 678"/>
              <a:gd name="T45" fmla="*/ 1032 h 103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78" h="1032">
                <a:moveTo>
                  <a:pt x="0" y="1032"/>
                </a:moveTo>
                <a:lnTo>
                  <a:pt x="0" y="0"/>
                </a:lnTo>
                <a:lnTo>
                  <a:pt x="96" y="36"/>
                </a:lnTo>
                <a:lnTo>
                  <a:pt x="210" y="156"/>
                </a:lnTo>
                <a:lnTo>
                  <a:pt x="282" y="288"/>
                </a:lnTo>
                <a:lnTo>
                  <a:pt x="366" y="432"/>
                </a:lnTo>
                <a:lnTo>
                  <a:pt x="420" y="540"/>
                </a:lnTo>
                <a:lnTo>
                  <a:pt x="474" y="624"/>
                </a:lnTo>
                <a:lnTo>
                  <a:pt x="528" y="720"/>
                </a:lnTo>
                <a:lnTo>
                  <a:pt x="568" y="780"/>
                </a:lnTo>
                <a:lnTo>
                  <a:pt x="647" y="852"/>
                </a:lnTo>
                <a:lnTo>
                  <a:pt x="678" y="870"/>
                </a:lnTo>
                <a:lnTo>
                  <a:pt x="67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137232" name="Freeform 16"/>
          <p:cNvSpPr>
            <a:spLocks/>
          </p:cNvSpPr>
          <p:nvPr/>
        </p:nvSpPr>
        <p:spPr bwMode="auto">
          <a:xfrm>
            <a:off x="3371850" y="1619250"/>
            <a:ext cx="1066800" cy="1657350"/>
          </a:xfrm>
          <a:custGeom>
            <a:avLst/>
            <a:gdLst>
              <a:gd name="T0" fmla="*/ 1066800 w 666"/>
              <a:gd name="T1" fmla="*/ 1657350 h 1044"/>
              <a:gd name="T2" fmla="*/ 1066800 w 666"/>
              <a:gd name="T3" fmla="*/ 0 h 1044"/>
              <a:gd name="T4" fmla="*/ 922638 w 666"/>
              <a:gd name="T5" fmla="*/ 95250 h 1044"/>
              <a:gd name="T6" fmla="*/ 759254 w 666"/>
              <a:gd name="T7" fmla="*/ 285750 h 1044"/>
              <a:gd name="T8" fmla="*/ 682368 w 666"/>
              <a:gd name="T9" fmla="*/ 514350 h 1044"/>
              <a:gd name="T10" fmla="*/ 528595 w 666"/>
              <a:gd name="T11" fmla="*/ 742950 h 1044"/>
              <a:gd name="T12" fmla="*/ 451708 w 666"/>
              <a:gd name="T13" fmla="*/ 895350 h 1044"/>
              <a:gd name="T14" fmla="*/ 336378 w 666"/>
              <a:gd name="T15" fmla="*/ 1047750 h 1044"/>
              <a:gd name="T16" fmla="*/ 221049 w 666"/>
              <a:gd name="T17" fmla="*/ 1200150 h 1044"/>
              <a:gd name="T18" fmla="*/ 172995 w 666"/>
              <a:gd name="T19" fmla="*/ 1257300 h 1044"/>
              <a:gd name="T20" fmla="*/ 48054 w 666"/>
              <a:gd name="T21" fmla="*/ 1371600 h 1044"/>
              <a:gd name="T22" fmla="*/ 0 w 666"/>
              <a:gd name="T23" fmla="*/ 1400175 h 1044"/>
              <a:gd name="T24" fmla="*/ 0 w 666"/>
              <a:gd name="T25" fmla="*/ 1657350 h 1044"/>
              <a:gd name="T26" fmla="*/ 1066800 w 666"/>
              <a:gd name="T27" fmla="*/ 1657350 h 104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66"/>
              <a:gd name="T43" fmla="*/ 0 h 1044"/>
              <a:gd name="T44" fmla="*/ 666 w 666"/>
              <a:gd name="T45" fmla="*/ 1044 h 104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66" h="1044">
                <a:moveTo>
                  <a:pt x="666" y="1044"/>
                </a:moveTo>
                <a:lnTo>
                  <a:pt x="666" y="0"/>
                </a:lnTo>
                <a:lnTo>
                  <a:pt x="576" y="60"/>
                </a:lnTo>
                <a:lnTo>
                  <a:pt x="474" y="180"/>
                </a:lnTo>
                <a:lnTo>
                  <a:pt x="426" y="324"/>
                </a:lnTo>
                <a:lnTo>
                  <a:pt x="330" y="468"/>
                </a:lnTo>
                <a:lnTo>
                  <a:pt x="282" y="564"/>
                </a:lnTo>
                <a:lnTo>
                  <a:pt x="210" y="660"/>
                </a:lnTo>
                <a:lnTo>
                  <a:pt x="138" y="756"/>
                </a:lnTo>
                <a:lnTo>
                  <a:pt x="108" y="792"/>
                </a:lnTo>
                <a:lnTo>
                  <a:pt x="30" y="864"/>
                </a:lnTo>
                <a:lnTo>
                  <a:pt x="0" y="882"/>
                </a:lnTo>
                <a:lnTo>
                  <a:pt x="0" y="1044"/>
                </a:lnTo>
                <a:lnTo>
                  <a:pt x="666" y="1044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grpSp>
        <p:nvGrpSpPr>
          <p:cNvPr id="2" name="Group 128"/>
          <p:cNvGrpSpPr>
            <a:grpSpLocks/>
          </p:cNvGrpSpPr>
          <p:nvPr/>
        </p:nvGrpSpPr>
        <p:grpSpPr bwMode="auto">
          <a:xfrm>
            <a:off x="3352800" y="3051175"/>
            <a:ext cx="2162175" cy="273050"/>
            <a:chOff x="2112" y="1922"/>
            <a:chExt cx="1362" cy="172"/>
          </a:xfrm>
        </p:grpSpPr>
        <p:sp>
          <p:nvSpPr>
            <p:cNvPr id="18500" name="Line 27"/>
            <p:cNvSpPr>
              <a:spLocks noChangeShapeType="1"/>
            </p:cNvSpPr>
            <p:nvPr/>
          </p:nvSpPr>
          <p:spPr bwMode="auto">
            <a:xfrm>
              <a:off x="2112" y="1968"/>
              <a:ext cx="0" cy="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Line 28"/>
            <p:cNvSpPr>
              <a:spLocks noChangeShapeType="1"/>
            </p:cNvSpPr>
            <p:nvPr/>
          </p:nvSpPr>
          <p:spPr bwMode="auto">
            <a:xfrm>
              <a:off x="3474" y="1922"/>
              <a:ext cx="0" cy="14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7"/>
          <p:cNvGrpSpPr>
            <a:grpSpLocks/>
          </p:cNvGrpSpPr>
          <p:nvPr/>
        </p:nvGrpSpPr>
        <p:grpSpPr bwMode="auto">
          <a:xfrm>
            <a:off x="3336925" y="2317750"/>
            <a:ext cx="2165350" cy="609600"/>
            <a:chOff x="2102" y="1460"/>
            <a:chExt cx="1364" cy="384"/>
          </a:xfrm>
        </p:grpSpPr>
        <p:sp>
          <p:nvSpPr>
            <p:cNvPr id="18495" name="Text Box 21"/>
            <p:cNvSpPr txBox="1">
              <a:spLocks noChangeArrowheads="1"/>
            </p:cNvSpPr>
            <p:nvPr/>
          </p:nvSpPr>
          <p:spPr bwMode="auto">
            <a:xfrm>
              <a:off x="2406" y="1460"/>
              <a:ext cx="77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400" b="1"/>
                <a:t>95%</a:t>
              </a:r>
            </a:p>
          </p:txBody>
        </p:sp>
        <p:sp>
          <p:nvSpPr>
            <p:cNvPr id="18496" name="Line 29"/>
            <p:cNvSpPr>
              <a:spLocks noChangeShapeType="1"/>
            </p:cNvSpPr>
            <p:nvPr/>
          </p:nvSpPr>
          <p:spPr bwMode="auto">
            <a:xfrm>
              <a:off x="2112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30"/>
            <p:cNvSpPr>
              <a:spLocks noChangeShapeType="1"/>
            </p:cNvSpPr>
            <p:nvPr/>
          </p:nvSpPr>
          <p:spPr bwMode="auto">
            <a:xfrm>
              <a:off x="3464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35"/>
            <p:cNvSpPr>
              <a:spLocks noChangeShapeType="1"/>
            </p:cNvSpPr>
            <p:nvPr/>
          </p:nvSpPr>
          <p:spPr bwMode="auto">
            <a:xfrm flipH="1">
              <a:off x="2102" y="1678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Line 36"/>
            <p:cNvSpPr>
              <a:spLocks noChangeShapeType="1"/>
            </p:cNvSpPr>
            <p:nvPr/>
          </p:nvSpPr>
          <p:spPr bwMode="auto">
            <a:xfrm>
              <a:off x="2986" y="168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2895600" y="3159125"/>
            <a:ext cx="16997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sz="3200" b="1" dirty="0">
                <a:solidFill>
                  <a:srgbClr val="7030A0"/>
                </a:solidFill>
                <a:sym typeface="Symbol" pitchFamily="18" charset="2"/>
              </a:rPr>
              <a:t>-t</a:t>
            </a:r>
            <a:r>
              <a:rPr kumimoji="1" lang="en-US" sz="3200" b="1" baseline="-25000" dirty="0">
                <a:solidFill>
                  <a:srgbClr val="7030A0"/>
                </a:solidFill>
                <a:sym typeface="Symbol" pitchFamily="18" charset="2"/>
              </a:rPr>
              <a:t>0.025</a:t>
            </a:r>
            <a:r>
              <a:rPr lang="en-US" sz="3200" b="1" dirty="0">
                <a:solidFill>
                  <a:srgbClr val="7030A0"/>
                </a:solidFill>
              </a:rPr>
              <a:t>(n – 1</a:t>
            </a:r>
            <a:r>
              <a:rPr kumimoji="1" lang="en-US" sz="3200" b="1" dirty="0">
                <a:solidFill>
                  <a:srgbClr val="7030A0"/>
                </a:solidFill>
                <a:sym typeface="Symbol" pitchFamily="18" charset="2"/>
              </a:rPr>
              <a:t>)</a:t>
            </a:r>
            <a:endParaRPr lang="th-TH" sz="3200" b="1" dirty="0"/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5165725" y="3155950"/>
            <a:ext cx="14557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sz="3200" b="1" dirty="0">
                <a:solidFill>
                  <a:srgbClr val="7030A0"/>
                </a:solidFill>
                <a:sym typeface="Symbol" pitchFamily="18" charset="2"/>
              </a:rPr>
              <a:t>t</a:t>
            </a:r>
            <a:r>
              <a:rPr kumimoji="1" lang="en-US" sz="3200" b="1" baseline="-25000" dirty="0">
                <a:solidFill>
                  <a:srgbClr val="7030A0"/>
                </a:solidFill>
                <a:sym typeface="Symbol" pitchFamily="18" charset="2"/>
              </a:rPr>
              <a:t>0.025</a:t>
            </a:r>
            <a:r>
              <a:rPr lang="en-US" sz="3200" b="1" dirty="0">
                <a:solidFill>
                  <a:srgbClr val="7030A0"/>
                </a:solidFill>
              </a:rPr>
              <a:t>(n – 1</a:t>
            </a:r>
            <a:r>
              <a:rPr kumimoji="1" lang="en-US" sz="3200" b="1" dirty="0">
                <a:solidFill>
                  <a:srgbClr val="7030A0"/>
                </a:solidFill>
                <a:sym typeface="Symbol" pitchFamily="18" charset="2"/>
              </a:rPr>
              <a:t>)</a:t>
            </a:r>
            <a:endParaRPr lang="th-TH" sz="3200" b="1" dirty="0"/>
          </a:p>
        </p:txBody>
      </p:sp>
      <p:grpSp>
        <p:nvGrpSpPr>
          <p:cNvPr id="4" name="Group 126"/>
          <p:cNvGrpSpPr>
            <a:grpSpLocks/>
          </p:cNvGrpSpPr>
          <p:nvPr/>
        </p:nvGrpSpPr>
        <p:grpSpPr bwMode="auto">
          <a:xfrm>
            <a:off x="2819400" y="1600200"/>
            <a:ext cx="3289300" cy="2141539"/>
            <a:chOff x="1776" y="1008"/>
            <a:chExt cx="2072" cy="1349"/>
          </a:xfrm>
        </p:grpSpPr>
        <p:sp>
          <p:nvSpPr>
            <p:cNvPr id="18490" name="Line 17"/>
            <p:cNvSpPr>
              <a:spLocks noChangeShapeType="1"/>
            </p:cNvSpPr>
            <p:nvPr/>
          </p:nvSpPr>
          <p:spPr bwMode="auto">
            <a:xfrm>
              <a:off x="2796" y="1008"/>
              <a:ext cx="0" cy="105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Freeform 18"/>
            <p:cNvSpPr>
              <a:spLocks/>
            </p:cNvSpPr>
            <p:nvPr/>
          </p:nvSpPr>
          <p:spPr bwMode="auto">
            <a:xfrm>
              <a:off x="2818" y="1028"/>
              <a:ext cx="1030" cy="991"/>
            </a:xfrm>
            <a:custGeom>
              <a:avLst/>
              <a:gdLst>
                <a:gd name="T0" fmla="*/ 1029 w 1030"/>
                <a:gd name="T1" fmla="*/ 990 h 991"/>
                <a:gd name="T2" fmla="*/ 921 w 1030"/>
                <a:gd name="T3" fmla="*/ 980 h 991"/>
                <a:gd name="T4" fmla="*/ 866 w 1030"/>
                <a:gd name="T5" fmla="*/ 967 h 991"/>
                <a:gd name="T6" fmla="*/ 813 w 1030"/>
                <a:gd name="T7" fmla="*/ 952 h 991"/>
                <a:gd name="T8" fmla="*/ 758 w 1030"/>
                <a:gd name="T9" fmla="*/ 929 h 991"/>
                <a:gd name="T10" fmla="*/ 703 w 1030"/>
                <a:gd name="T11" fmla="*/ 897 h 991"/>
                <a:gd name="T12" fmla="*/ 651 w 1030"/>
                <a:gd name="T13" fmla="*/ 857 h 991"/>
                <a:gd name="T14" fmla="*/ 541 w 1030"/>
                <a:gd name="T15" fmla="*/ 743 h 991"/>
                <a:gd name="T16" fmla="*/ 433 w 1030"/>
                <a:gd name="T17" fmla="*/ 581 h 991"/>
                <a:gd name="T18" fmla="*/ 325 w 1030"/>
                <a:gd name="T19" fmla="*/ 386 h 991"/>
                <a:gd name="T20" fmla="*/ 270 w 1030"/>
                <a:gd name="T21" fmla="*/ 287 h 991"/>
                <a:gd name="T22" fmla="*/ 215 w 1030"/>
                <a:gd name="T23" fmla="*/ 196 h 991"/>
                <a:gd name="T24" fmla="*/ 163 w 1030"/>
                <a:gd name="T25" fmla="*/ 116 h 991"/>
                <a:gd name="T26" fmla="*/ 108 w 1030"/>
                <a:gd name="T27" fmla="*/ 53 h 991"/>
                <a:gd name="T28" fmla="*/ 53 w 1030"/>
                <a:gd name="T29" fmla="*/ 13 h 991"/>
                <a:gd name="T30" fmla="*/ 0 w 1030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0"/>
                <a:gd name="T49" fmla="*/ 0 h 991"/>
                <a:gd name="T50" fmla="*/ 1030 w 1030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0" h="991">
                  <a:moveTo>
                    <a:pt x="1029" y="990"/>
                  </a:moveTo>
                  <a:lnTo>
                    <a:pt x="921" y="980"/>
                  </a:lnTo>
                  <a:lnTo>
                    <a:pt x="866" y="967"/>
                  </a:lnTo>
                  <a:lnTo>
                    <a:pt x="813" y="952"/>
                  </a:lnTo>
                  <a:lnTo>
                    <a:pt x="758" y="929"/>
                  </a:lnTo>
                  <a:lnTo>
                    <a:pt x="703" y="897"/>
                  </a:lnTo>
                  <a:lnTo>
                    <a:pt x="651" y="857"/>
                  </a:lnTo>
                  <a:lnTo>
                    <a:pt x="541" y="743"/>
                  </a:lnTo>
                  <a:lnTo>
                    <a:pt x="433" y="581"/>
                  </a:lnTo>
                  <a:lnTo>
                    <a:pt x="325" y="386"/>
                  </a:lnTo>
                  <a:lnTo>
                    <a:pt x="270" y="287"/>
                  </a:lnTo>
                  <a:lnTo>
                    <a:pt x="215" y="196"/>
                  </a:lnTo>
                  <a:lnTo>
                    <a:pt x="163" y="116"/>
                  </a:lnTo>
                  <a:lnTo>
                    <a:pt x="108" y="53"/>
                  </a:lnTo>
                  <a:lnTo>
                    <a:pt x="53" y="13"/>
                  </a:lnTo>
                  <a:lnTo>
                    <a:pt x="0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2" name="Freeform 19"/>
            <p:cNvSpPr>
              <a:spLocks/>
            </p:cNvSpPr>
            <p:nvPr/>
          </p:nvSpPr>
          <p:spPr bwMode="auto">
            <a:xfrm>
              <a:off x="1778" y="1028"/>
              <a:ext cx="1041" cy="991"/>
            </a:xfrm>
            <a:custGeom>
              <a:avLst/>
              <a:gdLst>
                <a:gd name="T0" fmla="*/ 0 w 1032"/>
                <a:gd name="T1" fmla="*/ 990 h 991"/>
                <a:gd name="T2" fmla="*/ 109 w 1032"/>
                <a:gd name="T3" fmla="*/ 980 h 991"/>
                <a:gd name="T4" fmla="*/ 164 w 1032"/>
                <a:gd name="T5" fmla="*/ 967 h 991"/>
                <a:gd name="T6" fmla="*/ 220 w 1032"/>
                <a:gd name="T7" fmla="*/ 952 h 991"/>
                <a:gd name="T8" fmla="*/ 273 w 1032"/>
                <a:gd name="T9" fmla="*/ 929 h 991"/>
                <a:gd name="T10" fmla="*/ 329 w 1032"/>
                <a:gd name="T11" fmla="*/ 897 h 991"/>
                <a:gd name="T12" fmla="*/ 384 w 1032"/>
                <a:gd name="T13" fmla="*/ 857 h 991"/>
                <a:gd name="T14" fmla="*/ 492 w 1032"/>
                <a:gd name="T15" fmla="*/ 743 h 991"/>
                <a:gd name="T16" fmla="*/ 601 w 1032"/>
                <a:gd name="T17" fmla="*/ 581 h 991"/>
                <a:gd name="T18" fmla="*/ 712 w 1032"/>
                <a:gd name="T19" fmla="*/ 386 h 991"/>
                <a:gd name="T20" fmla="*/ 766 w 1032"/>
                <a:gd name="T21" fmla="*/ 287 h 991"/>
                <a:gd name="T22" fmla="*/ 821 w 1032"/>
                <a:gd name="T23" fmla="*/ 196 h 991"/>
                <a:gd name="T24" fmla="*/ 876 w 1032"/>
                <a:gd name="T25" fmla="*/ 116 h 991"/>
                <a:gd name="T26" fmla="*/ 929 w 1032"/>
                <a:gd name="T27" fmla="*/ 53 h 991"/>
                <a:gd name="T28" fmla="*/ 985 w 1032"/>
                <a:gd name="T29" fmla="*/ 13 h 991"/>
                <a:gd name="T30" fmla="*/ 1040 w 1032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2"/>
                <a:gd name="T49" fmla="*/ 0 h 991"/>
                <a:gd name="T50" fmla="*/ 1032 w 1032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2" h="991">
                  <a:moveTo>
                    <a:pt x="0" y="990"/>
                  </a:moveTo>
                  <a:lnTo>
                    <a:pt x="108" y="980"/>
                  </a:lnTo>
                  <a:lnTo>
                    <a:pt x="163" y="967"/>
                  </a:lnTo>
                  <a:lnTo>
                    <a:pt x="218" y="952"/>
                  </a:lnTo>
                  <a:lnTo>
                    <a:pt x="271" y="929"/>
                  </a:lnTo>
                  <a:lnTo>
                    <a:pt x="326" y="897"/>
                  </a:lnTo>
                  <a:lnTo>
                    <a:pt x="381" y="857"/>
                  </a:lnTo>
                  <a:lnTo>
                    <a:pt x="488" y="743"/>
                  </a:lnTo>
                  <a:lnTo>
                    <a:pt x="596" y="581"/>
                  </a:lnTo>
                  <a:lnTo>
                    <a:pt x="706" y="386"/>
                  </a:lnTo>
                  <a:lnTo>
                    <a:pt x="759" y="287"/>
                  </a:lnTo>
                  <a:lnTo>
                    <a:pt x="814" y="196"/>
                  </a:lnTo>
                  <a:lnTo>
                    <a:pt x="868" y="116"/>
                  </a:lnTo>
                  <a:lnTo>
                    <a:pt x="921" y="53"/>
                  </a:lnTo>
                  <a:lnTo>
                    <a:pt x="976" y="13"/>
                  </a:lnTo>
                  <a:lnTo>
                    <a:pt x="1031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3" name="Freeform 20"/>
            <p:cNvSpPr>
              <a:spLocks/>
            </p:cNvSpPr>
            <p:nvPr/>
          </p:nvSpPr>
          <p:spPr bwMode="auto">
            <a:xfrm>
              <a:off x="1776" y="2071"/>
              <a:ext cx="2072" cy="5"/>
            </a:xfrm>
            <a:custGeom>
              <a:avLst/>
              <a:gdLst>
                <a:gd name="T0" fmla="*/ 0 w 2072"/>
                <a:gd name="T1" fmla="*/ 5 h 5"/>
                <a:gd name="T2" fmla="*/ 12 w 2072"/>
                <a:gd name="T3" fmla="*/ 0 h 5"/>
                <a:gd name="T4" fmla="*/ 2072 w 2072"/>
                <a:gd name="T5" fmla="*/ 0 h 5"/>
                <a:gd name="T6" fmla="*/ 0 60000 65536"/>
                <a:gd name="T7" fmla="*/ 0 60000 65536"/>
                <a:gd name="T8" fmla="*/ 0 60000 65536"/>
                <a:gd name="T9" fmla="*/ 0 w 2072"/>
                <a:gd name="T10" fmla="*/ 0 h 5"/>
                <a:gd name="T11" fmla="*/ 2072 w 2072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2" h="5">
                  <a:moveTo>
                    <a:pt x="0" y="5"/>
                  </a:moveTo>
                  <a:lnTo>
                    <a:pt x="12" y="0"/>
                  </a:lnTo>
                  <a:lnTo>
                    <a:pt x="2072" y="0"/>
                  </a:lnTo>
                </a:path>
              </a:pathLst>
            </a:custGeom>
            <a:noFill/>
            <a:ln w="508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4" name="Text Box 40"/>
            <p:cNvSpPr txBox="1">
              <a:spLocks noChangeArrowheads="1"/>
            </p:cNvSpPr>
            <p:nvPr/>
          </p:nvSpPr>
          <p:spPr bwMode="auto">
            <a:xfrm>
              <a:off x="2633" y="1989"/>
              <a:ext cx="33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200" b="1" dirty="0">
                  <a:sym typeface="Symbol" pitchFamily="18" charset="2"/>
                </a:rPr>
                <a:t>0</a:t>
              </a:r>
              <a:endParaRPr lang="th-TH" sz="3200" b="1" dirty="0">
                <a:sym typeface="Symbol" pitchFamily="18" charset="2"/>
              </a:endParaRPr>
            </a:p>
          </p:txBody>
        </p:sp>
      </p:grpSp>
      <p:sp>
        <p:nvSpPr>
          <p:cNvPr id="70" name="Rectangle 2"/>
          <p:cNvSpPr>
            <a:spLocks noChangeArrowheads="1"/>
          </p:cNvSpPr>
          <p:nvPr/>
        </p:nvSpPr>
        <p:spPr bwMode="auto">
          <a:xfrm>
            <a:off x="228600" y="118110"/>
            <a:ext cx="868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kumimoji="1" lang="th-TH" sz="4800" b="1" dirty="0">
                <a:solidFill>
                  <a:srgbClr val="0000FF"/>
                </a:solidFill>
              </a:rPr>
              <a:t>การประมาณช่วงความเชื่อมั่นของค่าเฉลี่ยประชากร</a:t>
            </a:r>
            <a:endParaRPr kumimoji="1" lang="th-TH" sz="4800" dirty="0">
              <a:solidFill>
                <a:srgbClr val="0000FF"/>
              </a:solidFill>
            </a:endParaRPr>
          </a:p>
        </p:txBody>
      </p:sp>
      <p:sp>
        <p:nvSpPr>
          <p:cNvPr id="71" name="Rectangle 43"/>
          <p:cNvSpPr>
            <a:spLocks noChangeArrowheads="1"/>
          </p:cNvSpPr>
          <p:nvPr/>
        </p:nvSpPr>
        <p:spPr bwMode="auto">
          <a:xfrm>
            <a:off x="228599" y="3581400"/>
            <a:ext cx="5935663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th-TH" sz="4000" b="1" dirty="0">
                <a:solidFill>
                  <a:srgbClr val="7030A0"/>
                </a:solidFill>
              </a:rPr>
              <a:t>ช่วงความเชื่อมั่น </a:t>
            </a:r>
            <a:r>
              <a:rPr lang="en-US" sz="4000" b="1" dirty="0">
                <a:solidFill>
                  <a:srgbClr val="7030A0"/>
                </a:solidFill>
              </a:rPr>
              <a:t>95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% 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ของ </a:t>
            </a:r>
            <a:r>
              <a:rPr lang="th-TH" sz="3200" b="1" dirty="0">
                <a:solidFill>
                  <a:srgbClr val="7030A0"/>
                </a:solidFill>
                <a:sym typeface="Symbol" pitchFamily="18" charset="2"/>
              </a:rPr>
              <a:t></a:t>
            </a:r>
            <a:r>
              <a:rPr lang="th-TH" sz="4000" b="1" baseline="-25000" dirty="0">
                <a:solidFill>
                  <a:srgbClr val="7030A0"/>
                </a:solidFill>
                <a:sym typeface="Symbol" pitchFamily="18" charset="2"/>
              </a:rPr>
              <a:t>1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– </a:t>
            </a:r>
            <a:r>
              <a:rPr lang="th-TH" sz="3200" b="1" dirty="0">
                <a:solidFill>
                  <a:srgbClr val="7030A0"/>
                </a:solidFill>
                <a:sym typeface="Symbol" pitchFamily="18" charset="2"/>
              </a:rPr>
              <a:t></a:t>
            </a:r>
            <a:r>
              <a:rPr lang="th-TH" sz="4000" b="1" baseline="-25000" dirty="0">
                <a:solidFill>
                  <a:srgbClr val="7030A0"/>
                </a:solidFill>
                <a:sym typeface="Symbol" pitchFamily="18" charset="2"/>
              </a:rPr>
              <a:t>2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 คือ</a:t>
            </a:r>
          </a:p>
          <a:p>
            <a:pPr marL="571500" indent="-571500"/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endParaRPr lang="th-TH" sz="4000" b="1" dirty="0">
              <a:solidFill>
                <a:srgbClr val="7030A0"/>
              </a:solidFill>
              <a:sym typeface="Symbol" pitchFamily="18" charset="2"/>
            </a:endParaRPr>
          </a:p>
        </p:txBody>
      </p:sp>
      <p:sp>
        <p:nvSpPr>
          <p:cNvPr id="131" name="Rectangle 43"/>
          <p:cNvSpPr>
            <a:spLocks noChangeArrowheads="1"/>
          </p:cNvSpPr>
          <p:nvPr/>
        </p:nvSpPr>
        <p:spPr bwMode="auto">
          <a:xfrm>
            <a:off x="1140778" y="267652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2" name="Rectangle 43"/>
          <p:cNvSpPr>
            <a:spLocks noChangeArrowheads="1"/>
          </p:cNvSpPr>
          <p:nvPr/>
        </p:nvSpPr>
        <p:spPr bwMode="auto">
          <a:xfrm>
            <a:off x="6067266" y="267144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667000" y="2966408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 flipH="1">
            <a:off x="5615940" y="2983230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28600" y="685800"/>
            <a:ext cx="8915400" cy="726936"/>
            <a:chOff x="228600" y="685800"/>
            <a:chExt cx="8915400" cy="726936"/>
          </a:xfrm>
        </p:grpSpPr>
        <p:sp>
          <p:nvSpPr>
            <p:cNvPr id="118" name="Text Box 11"/>
            <p:cNvSpPr txBox="1">
              <a:spLocks noChangeArrowheads="1"/>
            </p:cNvSpPr>
            <p:nvPr/>
          </p:nvSpPr>
          <p:spPr bwMode="auto">
            <a:xfrm>
              <a:off x="228600" y="704850"/>
              <a:ext cx="891540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4000" b="1" dirty="0">
                  <a:solidFill>
                    <a:srgbClr val="006600"/>
                  </a:solidFill>
                </a:rPr>
                <a:t>X</a:t>
              </a:r>
              <a:r>
                <a:rPr lang="en-US" sz="4000" b="1" baseline="-25000" dirty="0">
                  <a:solidFill>
                    <a:srgbClr val="006600"/>
                  </a:solidFill>
                </a:rPr>
                <a:t>i1</a:t>
              </a:r>
              <a:r>
                <a:rPr lang="en-US" sz="4000" b="1" dirty="0">
                  <a:solidFill>
                    <a:srgbClr val="006600"/>
                  </a:solidFill>
                </a:rPr>
                <a:t> , X</a:t>
              </a:r>
              <a:r>
                <a:rPr lang="en-US" sz="4000" b="1" baseline="-25000" dirty="0">
                  <a:solidFill>
                    <a:srgbClr val="006600"/>
                  </a:solidFill>
                </a:rPr>
                <a:t>i2</a:t>
              </a:r>
              <a:r>
                <a:rPr lang="en-US" sz="4000" b="1" dirty="0">
                  <a:solidFill>
                    <a:srgbClr val="006600"/>
                  </a:solidFill>
                </a:rPr>
                <a:t> , … , </a:t>
              </a:r>
              <a:r>
                <a:rPr lang="en-US" sz="4000" b="1" dirty="0" err="1">
                  <a:solidFill>
                    <a:srgbClr val="006600"/>
                  </a:solidFill>
                </a:rPr>
                <a:t>X</a:t>
              </a:r>
              <a:r>
                <a:rPr lang="en-US" sz="4000" b="1" baseline="-25000" dirty="0" err="1">
                  <a:solidFill>
                    <a:srgbClr val="006600"/>
                  </a:solidFill>
                </a:rPr>
                <a:t>in</a:t>
              </a:r>
              <a:r>
                <a:rPr lang="en-US" sz="4000" b="1" dirty="0">
                  <a:solidFill>
                    <a:srgbClr val="006600"/>
                  </a:solidFill>
                </a:rPr>
                <a:t> </a:t>
              </a:r>
              <a:r>
                <a:rPr lang="th-TH" sz="4000" b="1" dirty="0">
                  <a:solidFill>
                    <a:srgbClr val="006600"/>
                  </a:solidFill>
                </a:rPr>
                <a:t>เป็นตัวอย่างสุ่มจากประชากรปกติ </a:t>
              </a:r>
              <a:r>
                <a:rPr lang="en-US" sz="4000" b="1" dirty="0">
                  <a:solidFill>
                    <a:srgbClr val="006600"/>
                  </a:solidFill>
                </a:rPr>
                <a:t>: N(</a:t>
              </a:r>
              <a:r>
                <a:rPr lang="en-US" sz="3200" b="1" dirty="0">
                  <a:solidFill>
                    <a:srgbClr val="006600"/>
                  </a:solidFill>
                  <a:sym typeface="Symbol"/>
                </a:rPr>
                <a:t></a:t>
              </a:r>
              <a:r>
                <a:rPr lang="en-US" sz="4000" b="1" baseline="-25000" dirty="0">
                  <a:solidFill>
                    <a:srgbClr val="006600"/>
                  </a:solidFill>
                  <a:sym typeface="Symbol"/>
                </a:rPr>
                <a:t>i </a:t>
              </a:r>
              <a:r>
                <a:rPr lang="en-US" sz="4000" b="1" dirty="0">
                  <a:solidFill>
                    <a:srgbClr val="006600"/>
                  </a:solidFill>
                  <a:sym typeface="Symbol"/>
                </a:rPr>
                <a:t>, </a:t>
              </a:r>
              <a:r>
                <a:rPr lang="en-US" sz="3200" b="1" dirty="0">
                  <a:solidFill>
                    <a:srgbClr val="006600"/>
                  </a:solidFill>
                  <a:sym typeface="Symbol"/>
                </a:rPr>
                <a:t></a:t>
              </a:r>
              <a:r>
                <a:rPr lang="en-US" sz="4000" b="1" baseline="30000" dirty="0">
                  <a:solidFill>
                    <a:srgbClr val="006600"/>
                  </a:solidFill>
                  <a:sym typeface="Symbol"/>
                </a:rPr>
                <a:t>2</a:t>
              </a:r>
              <a:r>
                <a:rPr lang="en-US" sz="4000" b="1" dirty="0">
                  <a:solidFill>
                    <a:srgbClr val="006600"/>
                  </a:solidFill>
                  <a:sym typeface="Symbol"/>
                </a:rPr>
                <a:t>)</a:t>
              </a:r>
              <a:endParaRPr lang="th-TH" sz="4000" b="1" dirty="0">
                <a:solidFill>
                  <a:srgbClr val="006600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599170" y="685800"/>
              <a:ext cx="5334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baseline="-25000" dirty="0">
                  <a:solidFill>
                    <a:srgbClr val="006600"/>
                  </a:solidFill>
                  <a:sym typeface="Symbol"/>
                </a:rPr>
                <a:t>i</a:t>
              </a:r>
              <a:endParaRPr lang="en-US" sz="4000" dirty="0"/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34302" y="6077422"/>
            <a:ext cx="3894659" cy="769938"/>
            <a:chOff x="3262975" y="5481643"/>
            <a:chExt cx="3894659" cy="769938"/>
          </a:xfrm>
        </p:grpSpPr>
        <p:grpSp>
          <p:nvGrpSpPr>
            <p:cNvPr id="136" name="Group 119"/>
            <p:cNvGrpSpPr>
              <a:grpSpLocks/>
            </p:cNvGrpSpPr>
            <p:nvPr/>
          </p:nvGrpSpPr>
          <p:grpSpPr bwMode="auto">
            <a:xfrm>
              <a:off x="3262975" y="5481643"/>
              <a:ext cx="3894659" cy="769938"/>
              <a:chOff x="364" y="1341"/>
              <a:chExt cx="1581" cy="485"/>
            </a:xfrm>
          </p:grpSpPr>
          <p:sp>
            <p:nvSpPr>
              <p:cNvPr id="138" name="Text Box 117"/>
              <p:cNvSpPr txBox="1">
                <a:spLocks noChangeArrowheads="1"/>
              </p:cNvSpPr>
              <p:nvPr/>
            </p:nvSpPr>
            <p:spPr bwMode="auto">
              <a:xfrm>
                <a:off x="364" y="1341"/>
                <a:ext cx="1581" cy="48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th-TH" sz="3200" b="1" dirty="0">
                    <a:solidFill>
                      <a:srgbClr val="FFF3E7"/>
                    </a:solidFill>
                  </a:rPr>
                  <a:t>ไม่ทราบค่า </a:t>
                </a:r>
                <a:r>
                  <a:rPr lang="th-TH" sz="3200" b="1" dirty="0">
                    <a:solidFill>
                      <a:srgbClr val="FFF3E7"/>
                    </a:solidFill>
                    <a:sym typeface="Symbol" pitchFamily="18" charset="2"/>
                  </a:rPr>
                  <a:t></a:t>
                </a:r>
                <a:r>
                  <a:rPr lang="th-TH" sz="4400" b="1" baseline="-25000" dirty="0">
                    <a:solidFill>
                      <a:srgbClr val="FFF3E7"/>
                    </a:solidFill>
                    <a:sym typeface="Symbol" pitchFamily="18" charset="2"/>
                  </a:rPr>
                  <a:t>1</a:t>
                </a:r>
                <a:r>
                  <a:rPr lang="th-TH" sz="4400" b="1" dirty="0">
                    <a:solidFill>
                      <a:srgbClr val="FFF3E7"/>
                    </a:solidFill>
                  </a:rPr>
                  <a:t>  </a:t>
                </a:r>
                <a:r>
                  <a:rPr lang="en-US" sz="4400" b="1" dirty="0">
                    <a:solidFill>
                      <a:srgbClr val="FFF3E7"/>
                    </a:solidFill>
                  </a:rPr>
                  <a:t>&amp;</a:t>
                </a:r>
                <a:r>
                  <a:rPr lang="th-TH" sz="4400" b="1" dirty="0">
                    <a:solidFill>
                      <a:srgbClr val="FFF3E7"/>
                    </a:solidFill>
                  </a:rPr>
                  <a:t> </a:t>
                </a:r>
                <a:r>
                  <a:rPr lang="en-US" sz="4400" b="1" dirty="0">
                    <a:solidFill>
                      <a:srgbClr val="FFF3E7"/>
                    </a:solidFill>
                  </a:rPr>
                  <a:t> </a:t>
                </a:r>
                <a:r>
                  <a:rPr lang="th-TH" sz="3200" b="1" dirty="0">
                    <a:solidFill>
                      <a:srgbClr val="FFF3E7"/>
                    </a:solidFill>
                    <a:sym typeface="Symbol" pitchFamily="18" charset="2"/>
                  </a:rPr>
                  <a:t></a:t>
                </a:r>
                <a:r>
                  <a:rPr lang="th-TH" sz="4400" b="1" baseline="-25000" dirty="0">
                    <a:solidFill>
                      <a:srgbClr val="FFF3E7"/>
                    </a:solidFill>
                    <a:sym typeface="Symbol" pitchFamily="18" charset="2"/>
                  </a:rPr>
                  <a:t>2</a:t>
                </a:r>
                <a:endParaRPr lang="th-TH" sz="4400" b="1" dirty="0">
                  <a:solidFill>
                    <a:srgbClr val="FFF3E7"/>
                  </a:solidFill>
                </a:endParaRPr>
              </a:p>
            </p:txBody>
          </p:sp>
          <p:sp>
            <p:nvSpPr>
              <p:cNvPr id="139" name="Text Box 118"/>
              <p:cNvSpPr txBox="1">
                <a:spLocks noChangeArrowheads="1"/>
              </p:cNvSpPr>
              <p:nvPr/>
            </p:nvSpPr>
            <p:spPr bwMode="auto">
              <a:xfrm>
                <a:off x="1186" y="1357"/>
                <a:ext cx="1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2800" b="1" dirty="0">
                    <a:solidFill>
                      <a:srgbClr val="FFF3E7"/>
                    </a:solidFill>
                  </a:rPr>
                  <a:t>2</a:t>
                </a:r>
                <a:endParaRPr lang="th-TH" sz="2800" b="1" dirty="0">
                  <a:solidFill>
                    <a:srgbClr val="FFF3E7"/>
                  </a:solidFill>
                </a:endParaRPr>
              </a:p>
            </p:txBody>
          </p:sp>
        </p:grpSp>
        <p:sp>
          <p:nvSpPr>
            <p:cNvPr id="137" name="Text Box 118"/>
            <p:cNvSpPr txBox="1">
              <a:spLocks noChangeArrowheads="1"/>
            </p:cNvSpPr>
            <p:nvPr/>
          </p:nvSpPr>
          <p:spPr bwMode="auto">
            <a:xfrm>
              <a:off x="6346632" y="5509260"/>
              <a:ext cx="35473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b="1" dirty="0">
                  <a:solidFill>
                    <a:srgbClr val="FFF3E7"/>
                  </a:solidFill>
                </a:rPr>
                <a:t>2</a:t>
              </a:r>
              <a:endParaRPr lang="th-TH" sz="2800" b="1" dirty="0">
                <a:solidFill>
                  <a:srgbClr val="FFF3E7"/>
                </a:solidFill>
              </a:endParaRPr>
            </a:p>
          </p:txBody>
        </p:sp>
      </p:grpSp>
      <p:sp>
        <p:nvSpPr>
          <p:cNvPr id="112" name="Rectangle 43"/>
          <p:cNvSpPr>
            <a:spLocks noChangeArrowheads="1"/>
          </p:cNvSpPr>
          <p:nvPr/>
        </p:nvSpPr>
        <p:spPr bwMode="auto">
          <a:xfrm>
            <a:off x="4953000" y="1283979"/>
            <a:ext cx="2176256" cy="6699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571500" indent="-571500"/>
            <a:r>
              <a:rPr lang="th-TH" sz="3200" b="1" dirty="0">
                <a:solidFill>
                  <a:srgbClr val="7030A0"/>
                </a:solidFill>
              </a:rPr>
              <a:t>ให้  </a:t>
            </a:r>
            <a:r>
              <a:rPr lang="en-US" sz="3200" b="1" dirty="0">
                <a:solidFill>
                  <a:srgbClr val="7030A0"/>
                </a:solidFill>
              </a:rPr>
              <a:t>1 – </a:t>
            </a:r>
            <a:r>
              <a:rPr lang="en-US" sz="2600" b="1" dirty="0">
                <a:solidFill>
                  <a:srgbClr val="7030A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7030A0"/>
                </a:solidFill>
                <a:sym typeface="Symbol"/>
              </a:rPr>
              <a:t> =</a:t>
            </a:r>
            <a:r>
              <a:rPr lang="en-US" sz="3200" b="1" dirty="0">
                <a:solidFill>
                  <a:srgbClr val="7030A0"/>
                </a:solidFill>
              </a:rPr>
              <a:t> 0.95 </a:t>
            </a:r>
            <a:endParaRPr lang="th-TH" sz="3200" b="1" dirty="0">
              <a:solidFill>
                <a:srgbClr val="7030A0"/>
              </a:solidFill>
              <a:sym typeface="Symbol" pitchFamily="18" charset="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7391400" y="1232848"/>
            <a:ext cx="17427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6600"/>
                </a:solidFill>
                <a:sym typeface="Symbol"/>
              </a:rPr>
              <a:t>โดยที่ 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i = 1 , 2</a:t>
            </a:r>
            <a:endParaRPr lang="en-US" sz="3200" dirty="0"/>
          </a:p>
        </p:txBody>
      </p:sp>
      <p:sp>
        <p:nvSpPr>
          <p:cNvPr id="115" name="Rectangle 114"/>
          <p:cNvSpPr/>
          <p:nvPr/>
        </p:nvSpPr>
        <p:spPr>
          <a:xfrm>
            <a:off x="5833763" y="1902529"/>
            <a:ext cx="3244215" cy="76944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th-TH" sz="3200" b="1" dirty="0">
                <a:solidFill>
                  <a:srgbClr val="FF0000"/>
                </a:solidFill>
                <a:sym typeface="Symbol"/>
              </a:rPr>
              <a:t>ตัวอย่าง</a:t>
            </a:r>
            <a:r>
              <a:rPr lang="th-TH" sz="4400" b="1" dirty="0">
                <a:solidFill>
                  <a:srgbClr val="006600"/>
                </a:solidFill>
                <a:sym typeface="Symbol"/>
              </a:rPr>
              <a:t>ไม่</a:t>
            </a:r>
            <a:r>
              <a:rPr lang="th-TH" sz="3200" b="1" dirty="0">
                <a:solidFill>
                  <a:srgbClr val="FF0000"/>
                </a:solidFill>
                <a:sym typeface="Symbol"/>
              </a:rPr>
              <a:t>เป็นอิสระกัน</a:t>
            </a:r>
            <a:r>
              <a:rPr lang="en-US" sz="3200" b="1" dirty="0">
                <a:solidFill>
                  <a:srgbClr val="FF0000"/>
                </a:solidFill>
                <a:sym typeface="Symbol"/>
              </a:rPr>
              <a:t> </a:t>
            </a:r>
            <a:endParaRPr lang="en-US" sz="3200" dirty="0">
              <a:solidFill>
                <a:srgbClr val="FF000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52400" y="1828800"/>
            <a:ext cx="2794001" cy="955276"/>
            <a:chOff x="406400" y="1295400"/>
            <a:chExt cx="2794001" cy="955276"/>
          </a:xfrm>
        </p:grpSpPr>
        <p:sp>
          <p:nvSpPr>
            <p:cNvPr id="110" name="Line 43"/>
            <p:cNvSpPr>
              <a:spLocks noChangeShapeType="1"/>
            </p:cNvSpPr>
            <p:nvPr/>
          </p:nvSpPr>
          <p:spPr bwMode="auto">
            <a:xfrm>
              <a:off x="466417" y="1803404"/>
              <a:ext cx="914400" cy="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406400" y="1295400"/>
              <a:ext cx="2794001" cy="955276"/>
              <a:chOff x="406400" y="1311587"/>
              <a:chExt cx="2794001" cy="955276"/>
            </a:xfrm>
          </p:grpSpPr>
          <p:sp>
            <p:nvSpPr>
              <p:cNvPr id="107" name="Text Box 40"/>
              <p:cNvSpPr txBox="1">
                <a:spLocks noChangeArrowheads="1"/>
              </p:cNvSpPr>
              <p:nvPr/>
            </p:nvSpPr>
            <p:spPr bwMode="auto">
              <a:xfrm>
                <a:off x="1436688" y="1484316"/>
                <a:ext cx="1763713" cy="584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3200" b="1" dirty="0">
                    <a:solidFill>
                      <a:srgbClr val="7030A0"/>
                    </a:solidFill>
                  </a:rPr>
                  <a:t>~ t(n – 1)</a:t>
                </a:r>
                <a:endParaRPr lang="th-TH" sz="3200" b="1" dirty="0">
                  <a:solidFill>
                    <a:srgbClr val="7030A0"/>
                  </a:solidFill>
                </a:endParaRP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406400" y="1311587"/>
                <a:ext cx="1535113" cy="762001"/>
                <a:chOff x="406400" y="1311587"/>
                <a:chExt cx="1535113" cy="762001"/>
              </a:xfrm>
            </p:grpSpPr>
            <p:sp>
              <p:nvSpPr>
                <p:cNvPr id="109" name="Rectangle 42"/>
                <p:cNvSpPr>
                  <a:spLocks noChangeArrowheads="1"/>
                </p:cNvSpPr>
                <p:nvPr/>
              </p:nvSpPr>
              <p:spPr bwMode="auto">
                <a:xfrm>
                  <a:off x="406400" y="1311587"/>
                  <a:ext cx="1535113" cy="7620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3200" b="1" dirty="0">
                      <a:solidFill>
                        <a:srgbClr val="7030A0"/>
                      </a:solidFill>
                      <a:sym typeface="Symbol" pitchFamily="18" charset="2"/>
                    </a:rPr>
                    <a:t> d – </a:t>
                  </a:r>
                  <a:r>
                    <a:rPr kumimoji="1" lang="en-US" sz="2600" b="1" dirty="0">
                      <a:solidFill>
                        <a:srgbClr val="7030A0"/>
                      </a:solidFill>
                      <a:sym typeface="Symbol" pitchFamily="18" charset="2"/>
                    </a:rPr>
                    <a:t></a:t>
                  </a:r>
                  <a:r>
                    <a:rPr kumimoji="1" lang="en-US" sz="3200" b="1" baseline="-25000" dirty="0">
                      <a:solidFill>
                        <a:srgbClr val="7030A0"/>
                      </a:solidFill>
                      <a:sym typeface="Symbol" pitchFamily="18" charset="2"/>
                    </a:rPr>
                    <a:t>d</a:t>
                  </a:r>
                  <a:r>
                    <a:rPr kumimoji="1" lang="en-US" sz="3200" b="1" dirty="0">
                      <a:solidFill>
                        <a:srgbClr val="7030A0"/>
                      </a:solidFill>
                      <a:sym typeface="Symbol" pitchFamily="18" charset="2"/>
                    </a:rPr>
                    <a:t>  </a:t>
                  </a:r>
                </a:p>
              </p:txBody>
            </p:sp>
            <p:sp>
              <p:nvSpPr>
                <p:cNvPr id="111" name="Line 47"/>
                <p:cNvSpPr>
                  <a:spLocks noChangeShapeType="1"/>
                </p:cNvSpPr>
                <p:nvPr/>
              </p:nvSpPr>
              <p:spPr bwMode="auto">
                <a:xfrm>
                  <a:off x="547070" y="1468750"/>
                  <a:ext cx="155448" cy="0"/>
                </a:xfrm>
                <a:prstGeom prst="line">
                  <a:avLst/>
                </a:prstGeom>
                <a:noFill/>
                <a:ln w="28575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200">
                    <a:solidFill>
                      <a:srgbClr val="7030A0"/>
                    </a:solidFill>
                  </a:endParaRPr>
                </a:p>
              </p:txBody>
            </p:sp>
          </p:grpSp>
          <p:grpSp>
            <p:nvGrpSpPr>
              <p:cNvPr id="8" name="Group 7"/>
              <p:cNvGrpSpPr/>
              <p:nvPr/>
            </p:nvGrpSpPr>
            <p:grpSpPr>
              <a:xfrm>
                <a:off x="491183" y="1662752"/>
                <a:ext cx="969370" cy="604111"/>
                <a:chOff x="463887" y="1684360"/>
                <a:chExt cx="969370" cy="604111"/>
              </a:xfrm>
            </p:grpSpPr>
            <p:sp>
              <p:nvSpPr>
                <p:cNvPr id="105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986170" y="1703696"/>
                  <a:ext cx="447087" cy="584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3200" b="1" dirty="0">
                      <a:solidFill>
                        <a:srgbClr val="7030A0"/>
                      </a:solidFill>
                    </a:rPr>
                    <a:t>n</a:t>
                  </a:r>
                  <a:endParaRPr lang="th-TH" sz="3200" b="1" baseline="-25000" dirty="0">
                    <a:solidFill>
                      <a:srgbClr val="7030A0"/>
                    </a:solidFill>
                  </a:endParaRPr>
                </a:p>
              </p:txBody>
            </p:sp>
            <p:grpSp>
              <p:nvGrpSpPr>
                <p:cNvPr id="97" name="Group 101"/>
                <p:cNvGrpSpPr/>
                <p:nvPr/>
              </p:nvGrpSpPr>
              <p:grpSpPr>
                <a:xfrm>
                  <a:off x="857398" y="1874487"/>
                  <a:ext cx="377361" cy="206727"/>
                  <a:chOff x="1984523" y="4340866"/>
                  <a:chExt cx="377361" cy="206727"/>
                </a:xfrm>
              </p:grpSpPr>
              <p:sp>
                <p:nvSpPr>
                  <p:cNvPr id="98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179004" y="4363847"/>
                    <a:ext cx="18288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200"/>
                  </a:p>
                </p:txBody>
              </p:sp>
              <p:sp>
                <p:nvSpPr>
                  <p:cNvPr id="99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84523" y="4340866"/>
                    <a:ext cx="52572" cy="206727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200">
                      <a:solidFill>
                        <a:srgbClr val="7030A0"/>
                      </a:solidFill>
                    </a:endParaRPr>
                  </a:p>
                </p:txBody>
              </p:sp>
              <p:sp>
                <p:nvSpPr>
                  <p:cNvPr id="100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078039" y="4493266"/>
                    <a:ext cx="45720" cy="4572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3200">
                      <a:solidFill>
                        <a:srgbClr val="7030A0"/>
                      </a:solidFill>
                    </a:endParaRPr>
                  </a:p>
                </p:txBody>
              </p:sp>
            </p:grpSp>
            <p:sp>
              <p:nvSpPr>
                <p:cNvPr id="144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63887" y="1684360"/>
                  <a:ext cx="446083" cy="584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3200" b="1" dirty="0" err="1">
                      <a:solidFill>
                        <a:srgbClr val="7030A0"/>
                      </a:solidFill>
                    </a:rPr>
                    <a:t>S</a:t>
                  </a:r>
                  <a:r>
                    <a:rPr lang="en-US" sz="3200" b="1" baseline="-25000" dirty="0" err="1">
                      <a:solidFill>
                        <a:srgbClr val="7030A0"/>
                      </a:solidFill>
                    </a:rPr>
                    <a:t>d</a:t>
                  </a:r>
                  <a:endParaRPr lang="th-TH" sz="3200" b="1" baseline="-25000" dirty="0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116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996150" y="1888135"/>
                  <a:ext cx="52572" cy="182880"/>
                </a:xfrm>
                <a:prstGeom prst="line">
                  <a:avLst/>
                </a:prstGeom>
                <a:noFill/>
                <a:ln w="19050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200">
                    <a:solidFill>
                      <a:srgbClr val="7030A0"/>
                    </a:solidFill>
                  </a:endParaRPr>
                </a:p>
              </p:txBody>
            </p:sp>
          </p:grpSp>
        </p:grpSp>
      </p:grpSp>
      <p:sp>
        <p:nvSpPr>
          <p:cNvPr id="120" name="Text Box 11"/>
          <p:cNvSpPr txBox="1">
            <a:spLocks noChangeArrowheads="1"/>
          </p:cNvSpPr>
          <p:nvPr/>
        </p:nvSpPr>
        <p:spPr bwMode="auto">
          <a:xfrm>
            <a:off x="228600" y="1295400"/>
            <a:ext cx="40827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 err="1">
                <a:solidFill>
                  <a:srgbClr val="FF0000"/>
                </a:solidFill>
              </a:rPr>
              <a:t>d</a:t>
            </a:r>
            <a:r>
              <a:rPr lang="en-US" sz="3600" b="1" baseline="-25000" dirty="0" err="1">
                <a:solidFill>
                  <a:srgbClr val="FF0000"/>
                </a:solidFill>
              </a:rPr>
              <a:t>k</a:t>
            </a:r>
            <a:r>
              <a:rPr lang="en-US" sz="3600" b="1" dirty="0">
                <a:solidFill>
                  <a:srgbClr val="FF0000"/>
                </a:solidFill>
              </a:rPr>
              <a:t> = X</a:t>
            </a:r>
            <a:r>
              <a:rPr lang="en-US" sz="3600" b="1" baseline="-25000" dirty="0">
                <a:solidFill>
                  <a:srgbClr val="FF0000"/>
                </a:solidFill>
              </a:rPr>
              <a:t>1k</a:t>
            </a:r>
            <a:r>
              <a:rPr lang="en-US" sz="3600" b="1" dirty="0">
                <a:solidFill>
                  <a:srgbClr val="FF0000"/>
                </a:solidFill>
              </a:rPr>
              <a:t> – X</a:t>
            </a:r>
            <a:r>
              <a:rPr lang="en-US" sz="3600" b="1" baseline="-25000" dirty="0">
                <a:solidFill>
                  <a:srgbClr val="FF0000"/>
                </a:solidFill>
              </a:rPr>
              <a:t>2k</a:t>
            </a:r>
            <a:r>
              <a:rPr lang="en-US" sz="3600" b="1" dirty="0">
                <a:solidFill>
                  <a:srgbClr val="FF0000"/>
                </a:solidFill>
              </a:rPr>
              <a:t> , k = 1, 2, … , n</a:t>
            </a:r>
            <a:endParaRPr lang="th-TH" sz="3600" b="1" dirty="0">
              <a:solidFill>
                <a:srgbClr val="FF0000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625476" y="4195951"/>
            <a:ext cx="8289924" cy="765293"/>
            <a:chOff x="412551" y="4320540"/>
            <a:chExt cx="8289924" cy="765293"/>
          </a:xfrm>
        </p:grpSpPr>
        <p:grpSp>
          <p:nvGrpSpPr>
            <p:cNvPr id="12" name="Group 11"/>
            <p:cNvGrpSpPr/>
            <p:nvPr/>
          </p:nvGrpSpPr>
          <p:grpSpPr>
            <a:xfrm>
              <a:off x="412551" y="4320540"/>
              <a:ext cx="4540449" cy="764041"/>
              <a:chOff x="107751" y="4320540"/>
              <a:chExt cx="4540449" cy="764041"/>
            </a:xfrm>
          </p:grpSpPr>
          <p:grpSp>
            <p:nvGrpSpPr>
              <p:cNvPr id="163" name="Group 41"/>
              <p:cNvGrpSpPr>
                <a:grpSpLocks/>
              </p:cNvGrpSpPr>
              <p:nvPr/>
            </p:nvGrpSpPr>
            <p:grpSpPr bwMode="auto">
              <a:xfrm>
                <a:off x="107751" y="4322581"/>
                <a:ext cx="3854452" cy="762000"/>
                <a:chOff x="3045" y="2433"/>
                <a:chExt cx="2428" cy="480"/>
              </a:xfrm>
            </p:grpSpPr>
            <p:sp>
              <p:nvSpPr>
                <p:cNvPr id="164" name="Rectangle 42"/>
                <p:cNvSpPr>
                  <a:spLocks noChangeArrowheads="1"/>
                </p:cNvSpPr>
                <p:nvPr/>
              </p:nvSpPr>
              <p:spPr bwMode="auto">
                <a:xfrm>
                  <a:off x="3045" y="2433"/>
                  <a:ext cx="2428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d</a:t>
                  </a:r>
                  <a:r>
                    <a:rPr kumimoji="1" lang="th-TH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–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 </a:t>
                  </a:r>
                  <a:r>
                    <a:rPr kumimoji="1" lang="th-TH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t</a:t>
                  </a:r>
                  <a:r>
                    <a:rPr kumimoji="1" lang="en-US" sz="3600" b="1" baseline="-25000" dirty="0">
                      <a:solidFill>
                        <a:srgbClr val="7030A0"/>
                      </a:solidFill>
                      <a:sym typeface="Symbol" pitchFamily="18" charset="2"/>
                    </a:rPr>
                    <a:t>0.025,(n-1)   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S</a:t>
                  </a:r>
                  <a:r>
                    <a:rPr kumimoji="1" lang="en-US" sz="3600" b="1" baseline="-25000" dirty="0">
                      <a:solidFill>
                        <a:srgbClr val="7030A0"/>
                      </a:solidFill>
                      <a:sym typeface="Symbol" pitchFamily="18" charset="2"/>
                    </a:rPr>
                    <a:t>d</a:t>
                  </a:r>
                  <a:r>
                    <a:rPr kumimoji="1" lang="th-TH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</a:t>
                  </a:r>
                  <a:endParaRPr kumimoji="1" lang="en-US" sz="3600" b="1" dirty="0">
                    <a:solidFill>
                      <a:srgbClr val="7030A0"/>
                    </a:solidFill>
                    <a:sym typeface="Symbol" pitchFamily="18" charset="2"/>
                  </a:endParaRPr>
                </a:p>
              </p:txBody>
            </p:sp>
            <p:sp>
              <p:nvSpPr>
                <p:cNvPr id="178" name="Line 47"/>
                <p:cNvSpPr>
                  <a:spLocks noChangeShapeType="1"/>
                </p:cNvSpPr>
                <p:nvPr/>
              </p:nvSpPr>
              <p:spPr bwMode="auto">
                <a:xfrm>
                  <a:off x="3100" y="2541"/>
                  <a:ext cx="98" cy="0"/>
                </a:xfrm>
                <a:prstGeom prst="line">
                  <a:avLst/>
                </a:prstGeom>
                <a:noFill/>
                <a:ln w="28575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>
                    <a:solidFill>
                      <a:srgbClr val="7030A0"/>
                    </a:solidFill>
                  </a:endParaRPr>
                </a:p>
              </p:txBody>
            </p:sp>
          </p:grpSp>
          <p:sp>
            <p:nvSpPr>
              <p:cNvPr id="183" name="Rectangle 42"/>
              <p:cNvSpPr>
                <a:spLocks noChangeArrowheads="1"/>
              </p:cNvSpPr>
              <p:nvPr/>
            </p:nvSpPr>
            <p:spPr bwMode="auto">
              <a:xfrm>
                <a:off x="2971800" y="4320540"/>
                <a:ext cx="1676400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3600" b="1" u="sng" dirty="0">
                    <a:solidFill>
                      <a:srgbClr val="7030A0"/>
                    </a:solidFill>
                    <a:sym typeface="Symbol" pitchFamily="18" charset="2"/>
                  </a:rPr>
                  <a:t>&lt;</a:t>
                </a:r>
                <a:r>
                  <a:rPr kumimoji="1" lang="en-US" sz="3600" b="1" dirty="0">
                    <a:solidFill>
                      <a:srgbClr val="7030A0"/>
                    </a:solidFill>
                    <a:sym typeface="Symbol" pitchFamily="18" charset="2"/>
                  </a:rPr>
                  <a:t>   </a:t>
                </a:r>
                <a:r>
                  <a:rPr kumimoji="1" lang="en-US" sz="2800" b="1" dirty="0">
                    <a:solidFill>
                      <a:srgbClr val="7030A0"/>
                    </a:solidFill>
                    <a:sym typeface="Symbol" pitchFamily="18" charset="2"/>
                  </a:rPr>
                  <a:t></a:t>
                </a:r>
                <a:r>
                  <a:rPr kumimoji="1" lang="en-US" sz="3600" b="1" baseline="-25000" dirty="0">
                    <a:solidFill>
                      <a:srgbClr val="7030A0"/>
                    </a:solidFill>
                    <a:sym typeface="Symbol" pitchFamily="18" charset="2"/>
                  </a:rPr>
                  <a:t>1</a:t>
                </a:r>
                <a:r>
                  <a:rPr kumimoji="1" lang="en-US" sz="3600" b="1" dirty="0">
                    <a:solidFill>
                      <a:srgbClr val="7030A0"/>
                    </a:solidFill>
                    <a:sym typeface="Symbol" pitchFamily="18" charset="2"/>
                  </a:rPr>
                  <a:t> – </a:t>
                </a:r>
                <a:r>
                  <a:rPr kumimoji="1" lang="en-US" sz="2800" b="1" dirty="0">
                    <a:solidFill>
                      <a:srgbClr val="7030A0"/>
                    </a:solidFill>
                    <a:sym typeface="Symbol" pitchFamily="18" charset="2"/>
                  </a:rPr>
                  <a:t></a:t>
                </a:r>
                <a:r>
                  <a:rPr kumimoji="1" lang="en-US" sz="3600" b="1" baseline="-25000" dirty="0">
                    <a:solidFill>
                      <a:srgbClr val="7030A0"/>
                    </a:solidFill>
                    <a:sym typeface="Symbol" pitchFamily="18" charset="2"/>
                  </a:rPr>
                  <a:t>2</a:t>
                </a:r>
                <a:r>
                  <a:rPr kumimoji="1" lang="en-US" sz="3600" b="1" dirty="0">
                    <a:solidFill>
                      <a:srgbClr val="7030A0"/>
                    </a:solidFill>
                    <a:sym typeface="Symbol" pitchFamily="18" charset="2"/>
                  </a:rPr>
                  <a:t> </a:t>
                </a:r>
              </a:p>
            </p:txBody>
          </p:sp>
          <p:grpSp>
            <p:nvGrpSpPr>
              <p:cNvPr id="10" name="Group 9"/>
              <p:cNvGrpSpPr/>
              <p:nvPr/>
            </p:nvGrpSpPr>
            <p:grpSpPr>
              <a:xfrm>
                <a:off x="2423288" y="4323442"/>
                <a:ext cx="790760" cy="646331"/>
                <a:chOff x="-844315" y="5446299"/>
                <a:chExt cx="790760" cy="646331"/>
              </a:xfrm>
            </p:grpSpPr>
            <p:grpSp>
              <p:nvGrpSpPr>
                <p:cNvPr id="157" name="Group 102"/>
                <p:cNvGrpSpPr/>
                <p:nvPr/>
              </p:nvGrpSpPr>
              <p:grpSpPr>
                <a:xfrm>
                  <a:off x="-736307" y="5446299"/>
                  <a:ext cx="682752" cy="646331"/>
                  <a:chOff x="794254" y="4278496"/>
                  <a:chExt cx="682752" cy="646331"/>
                </a:xfrm>
              </p:grpSpPr>
              <p:sp>
                <p:nvSpPr>
                  <p:cNvPr id="170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7406" y="4278496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  <p:grpSp>
                <p:nvGrpSpPr>
                  <p:cNvPr id="161" name="Group 101"/>
                  <p:cNvGrpSpPr/>
                  <p:nvPr/>
                </p:nvGrpSpPr>
                <p:grpSpPr>
                  <a:xfrm>
                    <a:off x="794254" y="4491798"/>
                    <a:ext cx="137159" cy="196268"/>
                    <a:chOff x="794254" y="4491798"/>
                    <a:chExt cx="137159" cy="196268"/>
                  </a:xfrm>
                </p:grpSpPr>
                <p:sp>
                  <p:nvSpPr>
                    <p:cNvPr id="165" name="Line 2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67405" y="4491798"/>
                      <a:ext cx="64008" cy="18288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600">
                        <a:solidFill>
                          <a:srgbClr val="7030A0"/>
                        </a:solidFill>
                      </a:endParaRPr>
                    </a:p>
                  </p:txBody>
                </p:sp>
                <p:sp>
                  <p:nvSpPr>
                    <p:cNvPr id="166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94254" y="4624058"/>
                      <a:ext cx="73152" cy="6400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60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48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-844315" y="5575152"/>
                  <a:ext cx="137160" cy="308149"/>
                </a:xfrm>
                <a:prstGeom prst="line">
                  <a:avLst/>
                </a:prstGeom>
                <a:noFill/>
                <a:ln w="19050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/>
                </a:p>
              </p:txBody>
            </p:sp>
            <p:sp>
              <p:nvSpPr>
                <p:cNvPr id="149" name="Line 43"/>
                <p:cNvSpPr>
                  <a:spLocks noChangeShapeType="1"/>
                </p:cNvSpPr>
                <p:nvPr/>
              </p:nvSpPr>
              <p:spPr bwMode="auto">
                <a:xfrm>
                  <a:off x="-592230" y="5650948"/>
                  <a:ext cx="182880" cy="0"/>
                </a:xfrm>
                <a:prstGeom prst="line">
                  <a:avLst/>
                </a:prstGeom>
                <a:noFill/>
                <a:ln w="19050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/>
                </a:p>
              </p:txBody>
            </p:sp>
          </p:grpSp>
        </p:grpSp>
        <p:grpSp>
          <p:nvGrpSpPr>
            <p:cNvPr id="121" name="Group 120"/>
            <p:cNvGrpSpPr/>
            <p:nvPr/>
          </p:nvGrpSpPr>
          <p:grpSpPr>
            <a:xfrm>
              <a:off x="4848023" y="4323833"/>
              <a:ext cx="3854452" cy="762000"/>
              <a:chOff x="36311" y="4322581"/>
              <a:chExt cx="3854452" cy="762000"/>
            </a:xfrm>
          </p:grpSpPr>
          <p:grpSp>
            <p:nvGrpSpPr>
              <p:cNvPr id="122" name="Group 41"/>
              <p:cNvGrpSpPr>
                <a:grpSpLocks/>
              </p:cNvGrpSpPr>
              <p:nvPr/>
            </p:nvGrpSpPr>
            <p:grpSpPr bwMode="auto">
              <a:xfrm>
                <a:off x="36311" y="4322581"/>
                <a:ext cx="3854452" cy="762000"/>
                <a:chOff x="3000" y="2433"/>
                <a:chExt cx="2428" cy="480"/>
              </a:xfrm>
            </p:grpSpPr>
            <p:sp>
              <p:nvSpPr>
                <p:cNvPr id="140" name="Rectangle 42"/>
                <p:cNvSpPr>
                  <a:spLocks noChangeArrowheads="1"/>
                </p:cNvSpPr>
                <p:nvPr/>
              </p:nvSpPr>
              <p:spPr bwMode="auto">
                <a:xfrm>
                  <a:off x="3000" y="2433"/>
                  <a:ext cx="2428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3600" b="1" u="sng" dirty="0">
                      <a:solidFill>
                        <a:srgbClr val="7030A0"/>
                      </a:solidFill>
                      <a:sym typeface="Symbol" pitchFamily="18" charset="2"/>
                    </a:rPr>
                    <a:t>&lt;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 d</a:t>
                  </a:r>
                  <a:r>
                    <a:rPr kumimoji="1" lang="th-TH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 +</a:t>
                  </a:r>
                  <a:r>
                    <a:rPr kumimoji="1" lang="th-TH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 t</a:t>
                  </a:r>
                  <a:r>
                    <a:rPr kumimoji="1" lang="en-US" sz="3600" b="1" baseline="-25000" dirty="0">
                      <a:solidFill>
                        <a:srgbClr val="7030A0"/>
                      </a:solidFill>
                      <a:sym typeface="Symbol" pitchFamily="18" charset="2"/>
                    </a:rPr>
                    <a:t>0.025,(n-1)   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S</a:t>
                  </a:r>
                  <a:r>
                    <a:rPr kumimoji="1" lang="en-US" sz="3600" b="1" baseline="-25000" dirty="0">
                      <a:solidFill>
                        <a:srgbClr val="7030A0"/>
                      </a:solidFill>
                      <a:sym typeface="Symbol" pitchFamily="18" charset="2"/>
                    </a:rPr>
                    <a:t>d</a:t>
                  </a:r>
                  <a:endParaRPr kumimoji="1" lang="en-US" sz="3600" b="1" dirty="0">
                    <a:solidFill>
                      <a:srgbClr val="7030A0"/>
                    </a:solidFill>
                    <a:sym typeface="Symbol" pitchFamily="18" charset="2"/>
                  </a:endParaRPr>
                </a:p>
              </p:txBody>
            </p:sp>
            <p:sp>
              <p:nvSpPr>
                <p:cNvPr id="142" name="Line 47"/>
                <p:cNvSpPr>
                  <a:spLocks noChangeShapeType="1"/>
                </p:cNvSpPr>
                <p:nvPr/>
              </p:nvSpPr>
              <p:spPr bwMode="auto">
                <a:xfrm>
                  <a:off x="3260" y="2541"/>
                  <a:ext cx="98" cy="0"/>
                </a:xfrm>
                <a:prstGeom prst="line">
                  <a:avLst/>
                </a:prstGeom>
                <a:noFill/>
                <a:ln w="28575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>
                    <a:solidFill>
                      <a:srgbClr val="7030A0"/>
                    </a:solidFill>
                  </a:endParaRPr>
                </a:p>
              </p:txBody>
            </p:sp>
          </p:grpSp>
          <p:grpSp>
            <p:nvGrpSpPr>
              <p:cNvPr id="124" name="Group 123"/>
              <p:cNvGrpSpPr/>
              <p:nvPr/>
            </p:nvGrpSpPr>
            <p:grpSpPr>
              <a:xfrm>
                <a:off x="2780992" y="4323442"/>
                <a:ext cx="790760" cy="646331"/>
                <a:chOff x="-486611" y="5446299"/>
                <a:chExt cx="790760" cy="646331"/>
              </a:xfrm>
            </p:grpSpPr>
            <p:grpSp>
              <p:nvGrpSpPr>
                <p:cNvPr id="125" name="Group 102"/>
                <p:cNvGrpSpPr/>
                <p:nvPr/>
              </p:nvGrpSpPr>
              <p:grpSpPr>
                <a:xfrm>
                  <a:off x="-369467" y="5446299"/>
                  <a:ext cx="673616" cy="646331"/>
                  <a:chOff x="1161094" y="4278496"/>
                  <a:chExt cx="673616" cy="646331"/>
                </a:xfrm>
              </p:grpSpPr>
              <p:sp>
                <p:nvSpPr>
                  <p:cNvPr id="128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5110" y="4278496"/>
                    <a:ext cx="609600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n</a:t>
                    </a:r>
                    <a:endParaRPr lang="th-TH" sz="3600" b="1" baseline="-25000" dirty="0">
                      <a:solidFill>
                        <a:srgbClr val="7030A0"/>
                      </a:solidFill>
                    </a:endParaRPr>
                  </a:p>
                </p:txBody>
              </p:sp>
              <p:grpSp>
                <p:nvGrpSpPr>
                  <p:cNvPr id="129" name="Group 101"/>
                  <p:cNvGrpSpPr/>
                  <p:nvPr/>
                </p:nvGrpSpPr>
                <p:grpSpPr>
                  <a:xfrm>
                    <a:off x="1161094" y="4491798"/>
                    <a:ext cx="128023" cy="196268"/>
                    <a:chOff x="1161094" y="4491798"/>
                    <a:chExt cx="128023" cy="196268"/>
                  </a:xfrm>
                </p:grpSpPr>
                <p:sp>
                  <p:nvSpPr>
                    <p:cNvPr id="130" name="Line 2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25109" y="4491798"/>
                      <a:ext cx="64008" cy="18288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600">
                        <a:solidFill>
                          <a:srgbClr val="7030A0"/>
                        </a:solidFill>
                      </a:endParaRPr>
                    </a:p>
                  </p:txBody>
                </p:sp>
                <p:sp>
                  <p:nvSpPr>
                    <p:cNvPr id="133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61094" y="4624058"/>
                      <a:ext cx="73152" cy="6400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sz="360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26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-486611" y="5575152"/>
                  <a:ext cx="137160" cy="308149"/>
                </a:xfrm>
                <a:prstGeom prst="line">
                  <a:avLst/>
                </a:prstGeom>
                <a:noFill/>
                <a:ln w="19050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/>
                </a:p>
              </p:txBody>
            </p:sp>
            <p:sp>
              <p:nvSpPr>
                <p:cNvPr id="127" name="Line 43"/>
                <p:cNvSpPr>
                  <a:spLocks noChangeShapeType="1"/>
                </p:cNvSpPr>
                <p:nvPr/>
              </p:nvSpPr>
              <p:spPr bwMode="auto">
                <a:xfrm>
                  <a:off x="-248174" y="5664596"/>
                  <a:ext cx="182880" cy="0"/>
                </a:xfrm>
                <a:prstGeom prst="line">
                  <a:avLst/>
                </a:prstGeom>
                <a:noFill/>
                <a:ln w="19050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/>
                </a:p>
              </p:txBody>
            </p:sp>
          </p:grpSp>
        </p:grp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713EE-B90F-45C8-9E56-2AB80387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AA0ED-2D9B-CEE6-50B4-E0D8C47F7F48}"/>
              </a:ext>
            </a:extLst>
          </p:cNvPr>
          <p:cNvSpPr txBox="1"/>
          <p:nvPr/>
        </p:nvSpPr>
        <p:spPr>
          <a:xfrm>
            <a:off x="71939" y="4910937"/>
            <a:ext cx="1350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rgbClr val="FF0000"/>
                </a:solidFill>
              </a:rPr>
              <a:t>หมายเหตุ</a:t>
            </a:r>
          </a:p>
        </p:txBody>
      </p:sp>
      <p:sp>
        <p:nvSpPr>
          <p:cNvPr id="11" name="Text Box 40">
            <a:extLst>
              <a:ext uri="{FF2B5EF4-FFF2-40B4-BE49-F238E27FC236}">
                <a16:creationId xmlns:a16="http://schemas.microsoft.com/office/drawing/2014/main" id="{2EAB3211-E529-F766-F9AA-DCBAF4C28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5191612"/>
            <a:ext cx="24867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sz="2800" b="1" dirty="0">
                <a:solidFill>
                  <a:srgbClr val="00B050"/>
                </a:solidFill>
                <a:sym typeface="Symbol" pitchFamily="18" charset="2"/>
              </a:rPr>
              <a:t>1. </a:t>
            </a:r>
            <a:r>
              <a:rPr kumimoji="1" lang="en-US" sz="2200" b="1" dirty="0">
                <a:solidFill>
                  <a:srgbClr val="00B050"/>
                </a:solidFill>
                <a:sym typeface="Symbol" pitchFamily="18" charset="2"/>
              </a:rPr>
              <a:t></a:t>
            </a:r>
            <a:r>
              <a:rPr kumimoji="1" lang="en-US" sz="2800" b="1" baseline="-25000" dirty="0">
                <a:solidFill>
                  <a:srgbClr val="00B050"/>
                </a:solidFill>
                <a:sym typeface="Symbol" pitchFamily="18" charset="2"/>
              </a:rPr>
              <a:t>d</a:t>
            </a:r>
            <a:r>
              <a:rPr lang="en-US" sz="2800" b="1" dirty="0">
                <a:solidFill>
                  <a:srgbClr val="00B050"/>
                </a:solidFill>
              </a:rPr>
              <a:t>  =  </a:t>
            </a:r>
            <a:r>
              <a:rPr kumimoji="1" lang="en-US" sz="2200" b="1" dirty="0">
                <a:solidFill>
                  <a:srgbClr val="00B050"/>
                </a:solidFill>
                <a:sym typeface="Symbol" pitchFamily="18" charset="2"/>
              </a:rPr>
              <a:t></a:t>
            </a:r>
            <a:r>
              <a:rPr kumimoji="1" lang="en-US" sz="2800" b="1" baseline="-25000" dirty="0">
                <a:solidFill>
                  <a:srgbClr val="00B050"/>
                </a:solidFill>
                <a:sym typeface="Symbol" pitchFamily="18" charset="2"/>
              </a:rPr>
              <a:t>1</a:t>
            </a:r>
            <a:r>
              <a:rPr kumimoji="1" lang="en-US" sz="2800" b="1" dirty="0">
                <a:solidFill>
                  <a:srgbClr val="00B050"/>
                </a:solidFill>
                <a:sym typeface="Symbol" pitchFamily="18" charset="2"/>
              </a:rPr>
              <a:t> – </a:t>
            </a:r>
            <a:r>
              <a:rPr kumimoji="1" lang="en-US" sz="2200" b="1" dirty="0">
                <a:solidFill>
                  <a:srgbClr val="00B050"/>
                </a:solidFill>
                <a:sym typeface="Symbol" pitchFamily="18" charset="2"/>
              </a:rPr>
              <a:t></a:t>
            </a:r>
            <a:r>
              <a:rPr kumimoji="1" lang="en-US" sz="2800" b="1" baseline="-25000" dirty="0">
                <a:solidFill>
                  <a:srgbClr val="00B050"/>
                </a:solidFill>
                <a:sym typeface="Symbol" pitchFamily="18" charset="2"/>
              </a:rPr>
              <a:t>2</a:t>
            </a:r>
            <a:r>
              <a:rPr kumimoji="1" lang="en-US" sz="2800" b="1" dirty="0">
                <a:solidFill>
                  <a:srgbClr val="00B050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B050"/>
                </a:solidFill>
              </a:rPr>
              <a:t> </a:t>
            </a:r>
            <a:endParaRPr lang="th-TH" sz="2800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798CB6-1DB1-2D1B-1BB9-1DFFA4DAADF0}"/>
              </a:ext>
            </a:extLst>
          </p:cNvPr>
          <p:cNvGrpSpPr/>
          <p:nvPr/>
        </p:nvGrpSpPr>
        <p:grpSpPr>
          <a:xfrm>
            <a:off x="3390330" y="5215467"/>
            <a:ext cx="2347213" cy="563132"/>
            <a:chOff x="2071981" y="5990061"/>
            <a:chExt cx="2347213" cy="5631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0D272F0-B567-D566-D69E-511FC1D2EDEA}"/>
                </a:ext>
              </a:extLst>
            </p:cNvPr>
            <p:cNvSpPr txBox="1"/>
            <p:nvPr/>
          </p:nvSpPr>
          <p:spPr>
            <a:xfrm>
              <a:off x="2071981" y="5990061"/>
              <a:ext cx="23472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800" b="1" dirty="0">
                  <a:solidFill>
                    <a:srgbClr val="00B050"/>
                  </a:solidFill>
                </a:rPr>
                <a:t>2. ไม่ทราบค่า </a:t>
              </a:r>
              <a:r>
                <a:rPr lang="en-US" sz="2200" b="1" dirty="0">
                  <a:solidFill>
                    <a:srgbClr val="00B050"/>
                  </a:solidFill>
                  <a:sym typeface="Symbol" pitchFamily="18" charset="2"/>
                </a:rPr>
                <a:t></a:t>
              </a:r>
              <a:r>
                <a:rPr lang="en-US" sz="2800" b="1" baseline="30000" dirty="0">
                  <a:solidFill>
                    <a:srgbClr val="00B050"/>
                  </a:solidFill>
                  <a:sym typeface="Symbol" pitchFamily="18" charset="2"/>
                </a:rPr>
                <a:t>2</a:t>
              </a:r>
              <a:r>
                <a:rPr lang="th-TH" sz="2800" b="1" dirty="0">
                  <a:solidFill>
                    <a:srgbClr val="00B050"/>
                  </a:solidFill>
                </a:rPr>
                <a:t>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FA8685E-4206-ED40-4BAB-7BFEFDC5EED7}"/>
                </a:ext>
              </a:extLst>
            </p:cNvPr>
            <p:cNvSpPr txBox="1"/>
            <p:nvPr/>
          </p:nvSpPr>
          <p:spPr>
            <a:xfrm>
              <a:off x="3625428" y="6106917"/>
              <a:ext cx="522593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300" b="1" dirty="0">
                  <a:solidFill>
                    <a:srgbClr val="00B050"/>
                  </a:solidFill>
                </a:rPr>
                <a:t>d</a:t>
              </a:r>
              <a:endParaRPr lang="th-TH" sz="2300" b="1" baseline="-250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A553828-C642-1D05-69C4-56893FFF6C5D}"/>
              </a:ext>
            </a:extLst>
          </p:cNvPr>
          <p:cNvGrpSpPr/>
          <p:nvPr/>
        </p:nvGrpSpPr>
        <p:grpSpPr>
          <a:xfrm>
            <a:off x="5997721" y="4976150"/>
            <a:ext cx="2724414" cy="898895"/>
            <a:chOff x="174076" y="4444961"/>
            <a:chExt cx="2724414" cy="898895"/>
          </a:xfrm>
        </p:grpSpPr>
        <p:sp>
          <p:nvSpPr>
            <p:cNvPr id="22" name="Rectangle 24">
              <a:extLst>
                <a:ext uri="{FF2B5EF4-FFF2-40B4-BE49-F238E27FC236}">
                  <a16:creationId xmlns:a16="http://schemas.microsoft.com/office/drawing/2014/main" id="{7F94DC88-B939-63B2-B7A9-6DB95D2FF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076" y="4634556"/>
              <a:ext cx="2724414" cy="503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57200" indent="-457200">
                <a:tabLst>
                  <a:tab pos="457200" algn="l"/>
                </a:tabLst>
              </a:pPr>
              <a:r>
                <a:rPr kumimoji="1" lang="en-US" sz="2800" b="1" dirty="0">
                  <a:solidFill>
                    <a:srgbClr val="00B050"/>
                  </a:solidFill>
                  <a:sym typeface="Symbol" pitchFamily="18" charset="2"/>
                </a:rPr>
                <a:t>3. S</a:t>
              </a:r>
              <a:r>
                <a:rPr kumimoji="1" lang="en-US" sz="2800" b="1" baseline="30000" dirty="0">
                  <a:solidFill>
                    <a:srgbClr val="00B050"/>
                  </a:solidFill>
                  <a:sym typeface="Symbol" pitchFamily="18" charset="2"/>
                </a:rPr>
                <a:t>2   </a:t>
              </a:r>
              <a:r>
                <a:rPr lang="en-US" sz="2800" b="1" dirty="0">
                  <a:solidFill>
                    <a:srgbClr val="00B050"/>
                  </a:solidFill>
                </a:rPr>
                <a:t>=             </a:t>
              </a:r>
              <a:r>
                <a:rPr lang="en-US" sz="2300" b="1" dirty="0">
                  <a:solidFill>
                    <a:srgbClr val="00B050"/>
                  </a:solidFill>
                  <a:sym typeface="Symbol"/>
                </a:rPr>
                <a:t></a:t>
              </a:r>
              <a:r>
                <a:rPr lang="en-US" sz="2800" b="1" dirty="0">
                  <a:solidFill>
                    <a:srgbClr val="00B050"/>
                  </a:solidFill>
                  <a:sym typeface="Symbol"/>
                </a:rPr>
                <a:t>  (d</a:t>
              </a:r>
              <a:r>
                <a:rPr lang="en-US" sz="2800" b="1" baseline="-25000" dirty="0">
                  <a:solidFill>
                    <a:srgbClr val="00B050"/>
                  </a:solidFill>
                  <a:sym typeface="Symbol"/>
                </a:rPr>
                <a:t>i</a:t>
              </a:r>
              <a:r>
                <a:rPr lang="en-US" sz="2800" b="1" dirty="0">
                  <a:solidFill>
                    <a:srgbClr val="00B050"/>
                  </a:solidFill>
                  <a:sym typeface="Symbol"/>
                </a:rPr>
                <a:t> – d)</a:t>
              </a:r>
              <a:r>
                <a:rPr lang="en-US" sz="2800" b="1" baseline="30000" dirty="0">
                  <a:solidFill>
                    <a:srgbClr val="00B050"/>
                  </a:solidFill>
                  <a:sym typeface="Symbol"/>
                </a:rPr>
                <a:t>2</a:t>
              </a:r>
              <a:endParaRPr kumimoji="1" lang="en-US" sz="2800" b="1" baseline="30000" dirty="0">
                <a:solidFill>
                  <a:srgbClr val="00B050"/>
                </a:solidFill>
              </a:endParaRPr>
            </a:p>
          </p:txBody>
        </p:sp>
        <p:sp>
          <p:nvSpPr>
            <p:cNvPr id="23" name="Rectangle 24">
              <a:extLst>
                <a:ext uri="{FF2B5EF4-FFF2-40B4-BE49-F238E27FC236}">
                  <a16:creationId xmlns:a16="http://schemas.microsoft.com/office/drawing/2014/main" id="{279657F3-3865-1C6C-DCF6-9CE6E90F5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065" y="4801774"/>
              <a:ext cx="426926" cy="478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57200" indent="-457200">
                <a:tabLst>
                  <a:tab pos="457200" algn="l"/>
                </a:tabLst>
              </a:pPr>
              <a:r>
                <a:rPr kumimoji="1" lang="en-US" sz="2300" b="1" dirty="0">
                  <a:solidFill>
                    <a:srgbClr val="00B050"/>
                  </a:solidFill>
                  <a:sym typeface="Symbol" pitchFamily="18" charset="2"/>
                </a:rPr>
                <a:t>d</a:t>
              </a:r>
              <a:endParaRPr kumimoji="1" lang="en-US" sz="2300" b="1" dirty="0">
                <a:solidFill>
                  <a:srgbClr val="00B050"/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52CA8A2-7123-E2DA-3586-6B10007EE927}"/>
                </a:ext>
              </a:extLst>
            </p:cNvPr>
            <p:cNvGrpSpPr/>
            <p:nvPr/>
          </p:nvGrpSpPr>
          <p:grpSpPr>
            <a:xfrm>
              <a:off x="922428" y="4611048"/>
              <a:ext cx="887103" cy="503828"/>
              <a:chOff x="576683" y="5843896"/>
              <a:chExt cx="887103" cy="503828"/>
            </a:xfrm>
          </p:grpSpPr>
          <p:sp>
            <p:nvSpPr>
              <p:cNvPr id="28" name="Rectangle 24">
                <a:extLst>
                  <a:ext uri="{FF2B5EF4-FFF2-40B4-BE49-F238E27FC236}">
                    <a16:creationId xmlns:a16="http://schemas.microsoft.com/office/drawing/2014/main" id="{B64F0AED-B701-4D64-6B47-0A5920107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683" y="5843896"/>
                <a:ext cx="887103" cy="503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457200" indent="-457200" algn="ctr">
                  <a:lnSpc>
                    <a:spcPts val="2200"/>
                  </a:lnSpc>
                  <a:tabLst>
                    <a:tab pos="457200" algn="l"/>
                  </a:tabLst>
                </a:pPr>
                <a:r>
                  <a:rPr kumimoji="1" lang="en-US" sz="2800" b="1" dirty="0">
                    <a:solidFill>
                      <a:srgbClr val="00B050"/>
                    </a:solidFill>
                    <a:sym typeface="Symbol" pitchFamily="18" charset="2"/>
                  </a:rPr>
                  <a:t>1</a:t>
                </a:r>
              </a:p>
              <a:p>
                <a:pPr marL="457200" indent="-457200" algn="ctr">
                  <a:lnSpc>
                    <a:spcPts val="2200"/>
                  </a:lnSpc>
                  <a:tabLst>
                    <a:tab pos="457200" algn="l"/>
                  </a:tabLst>
                </a:pPr>
                <a:r>
                  <a:rPr kumimoji="1" lang="en-US" sz="2800" b="1" dirty="0">
                    <a:solidFill>
                      <a:srgbClr val="00B050"/>
                    </a:solidFill>
                    <a:sym typeface="Symbol" pitchFamily="18" charset="2"/>
                  </a:rPr>
                  <a:t>n – 1 </a:t>
                </a:r>
                <a:endParaRPr kumimoji="1" lang="en-US" sz="2800" b="1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E6B4869-8B06-9DD7-3164-6D6D7A00F9CD}"/>
                  </a:ext>
                </a:extLst>
              </p:cNvPr>
              <p:cNvCxnSpPr/>
              <p:nvPr/>
            </p:nvCxnSpPr>
            <p:spPr>
              <a:xfrm>
                <a:off x="734771" y="6143008"/>
                <a:ext cx="548640" cy="1588"/>
              </a:xfrm>
              <a:prstGeom prst="line">
                <a:avLst/>
              </a:prstGeom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3AA3CAE3-07C4-3AB4-A683-49371D72B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528" y="4749800"/>
              <a:ext cx="155448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800">
                <a:solidFill>
                  <a:srgbClr val="00B050"/>
                </a:solidFill>
              </a:endParaRP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65E70569-421D-33E8-3437-D4220FF47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625" y="4840028"/>
              <a:ext cx="887103" cy="503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57200" indent="-457200" algn="ctr">
                <a:tabLst>
                  <a:tab pos="457200" algn="l"/>
                </a:tabLst>
              </a:pPr>
              <a:r>
                <a:rPr kumimoji="1" lang="en-US" sz="2300" b="1" dirty="0" err="1">
                  <a:solidFill>
                    <a:srgbClr val="00B050"/>
                  </a:solidFill>
                  <a:sym typeface="Symbol" pitchFamily="18" charset="2"/>
                </a:rPr>
                <a:t>i</a:t>
              </a:r>
              <a:r>
                <a:rPr kumimoji="1" lang="en-US" sz="1600" b="1" dirty="0">
                  <a:solidFill>
                    <a:srgbClr val="00B050"/>
                  </a:solidFill>
                  <a:sym typeface="Symbol" pitchFamily="18" charset="2"/>
                </a:rPr>
                <a:t> </a:t>
              </a:r>
              <a:r>
                <a:rPr kumimoji="1" lang="en-US" sz="2300" b="1" dirty="0">
                  <a:solidFill>
                    <a:srgbClr val="00B050"/>
                  </a:solidFill>
                  <a:sym typeface="Symbol" pitchFamily="18" charset="2"/>
                </a:rPr>
                <a:t>=</a:t>
              </a:r>
              <a:r>
                <a:rPr kumimoji="1" lang="en-US" sz="1600" b="1" dirty="0">
                  <a:solidFill>
                    <a:srgbClr val="00B050"/>
                  </a:solidFill>
                  <a:sym typeface="Symbol" pitchFamily="18" charset="2"/>
                </a:rPr>
                <a:t> </a:t>
              </a:r>
              <a:r>
                <a:rPr kumimoji="1" lang="en-US" sz="2300" b="1" dirty="0">
                  <a:solidFill>
                    <a:srgbClr val="00B050"/>
                  </a:solidFill>
                  <a:sym typeface="Symbol" pitchFamily="18" charset="2"/>
                </a:rPr>
                <a:t>1</a:t>
              </a:r>
              <a:endParaRPr kumimoji="1" lang="en-US" sz="2300" b="1" dirty="0">
                <a:solidFill>
                  <a:srgbClr val="00B050"/>
                </a:solidFill>
              </a:endParaRPr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EA924650-088C-A433-56C9-09906B822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628" y="4444961"/>
              <a:ext cx="400123" cy="503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57200" indent="-457200" algn="ctr">
                <a:tabLst>
                  <a:tab pos="457200" algn="l"/>
                </a:tabLst>
              </a:pPr>
              <a:r>
                <a:rPr kumimoji="1" lang="en-US" sz="2300" b="1" dirty="0">
                  <a:solidFill>
                    <a:srgbClr val="00B050"/>
                  </a:solidFill>
                  <a:sym typeface="Symbol" pitchFamily="18" charset="2"/>
                </a:rPr>
                <a:t>n</a:t>
              </a:r>
              <a:endParaRPr kumimoji="1" lang="en-US" sz="2300" b="1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304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  <p:bldP spid="120" grpId="0"/>
      <p:bldP spid="9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0"/>
          <p:cNvSpPr>
            <a:spLocks noChangeArrowheads="1"/>
          </p:cNvSpPr>
          <p:nvPr/>
        </p:nvSpPr>
        <p:spPr bwMode="auto">
          <a:xfrm>
            <a:off x="344489" y="838200"/>
            <a:ext cx="7223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en-US" sz="2800" b="1" dirty="0">
                <a:solidFill>
                  <a:srgbClr val="6600CC"/>
                </a:solidFill>
                <a:sym typeface="Wingdings" pitchFamily="2" charset="2"/>
              </a:rPr>
              <a:t>X</a:t>
            </a:r>
            <a:r>
              <a:rPr kumimoji="1" lang="en-US" sz="2800" b="1" dirty="0">
                <a:solidFill>
                  <a:srgbClr val="6600CC"/>
                </a:solidFill>
              </a:rPr>
              <a:t> </a:t>
            </a:r>
          </a:p>
        </p:txBody>
      </p:sp>
      <p:sp>
        <p:nvSpPr>
          <p:cNvPr id="198" name="Rectangle 10"/>
          <p:cNvSpPr>
            <a:spLocks noChangeArrowheads="1"/>
          </p:cNvSpPr>
          <p:nvPr/>
        </p:nvSpPr>
        <p:spPr bwMode="auto">
          <a:xfrm>
            <a:off x="911932" y="1364850"/>
            <a:ext cx="1535574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th-TH" sz="2800" b="1" dirty="0">
                <a:solidFill>
                  <a:srgbClr val="6600CC"/>
                </a:solidFill>
                <a:sym typeface="Wingdings" pitchFamily="2" charset="2"/>
              </a:rPr>
              <a:t>โดยที่ </a:t>
            </a:r>
            <a:r>
              <a:rPr kumimoji="1" lang="en-US" sz="2800" b="1" dirty="0">
                <a:solidFill>
                  <a:srgbClr val="6600CC"/>
                </a:solidFill>
                <a:sym typeface="Wingdings" pitchFamily="2" charset="2"/>
              </a:rPr>
              <a:t>p</a:t>
            </a:r>
            <a:endParaRPr kumimoji="1" lang="en-US" sz="2800" b="1" dirty="0">
              <a:solidFill>
                <a:srgbClr val="6600CC"/>
              </a:solidFill>
            </a:endParaRPr>
          </a:p>
        </p:txBody>
      </p:sp>
      <p:sp>
        <p:nvSpPr>
          <p:cNvPr id="199" name="Rectangle 10"/>
          <p:cNvSpPr>
            <a:spLocks noChangeArrowheads="1"/>
          </p:cNvSpPr>
          <p:nvPr/>
        </p:nvSpPr>
        <p:spPr bwMode="auto">
          <a:xfrm>
            <a:off x="713232" y="838200"/>
            <a:ext cx="769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en-US" sz="2800" b="1" dirty="0">
                <a:solidFill>
                  <a:srgbClr val="6600CC"/>
                </a:solidFill>
                <a:sym typeface="Wingdings" pitchFamily="2" charset="2"/>
              </a:rPr>
              <a:t>= </a:t>
            </a:r>
            <a:r>
              <a:rPr kumimoji="1" lang="th-TH" sz="2800" b="1" dirty="0">
                <a:solidFill>
                  <a:srgbClr val="6600CC"/>
                </a:solidFill>
                <a:sym typeface="Wingdings" pitchFamily="2" charset="2"/>
              </a:rPr>
              <a:t>จำนวนครั้งที่เกิด </a:t>
            </a:r>
            <a:r>
              <a:rPr kumimoji="1" lang="en-US" sz="2800" b="1" dirty="0">
                <a:solidFill>
                  <a:srgbClr val="6600CC"/>
                </a:solidFill>
              </a:rPr>
              <a:t>s </a:t>
            </a:r>
            <a:r>
              <a:rPr kumimoji="1" lang="th-TH" sz="2800" b="1" dirty="0">
                <a:solidFill>
                  <a:srgbClr val="6600CC"/>
                </a:solidFill>
              </a:rPr>
              <a:t>ในการลอง</a:t>
            </a:r>
            <a:r>
              <a:rPr kumimoji="1" lang="th-TH" sz="2800" b="1" dirty="0" err="1">
                <a:solidFill>
                  <a:srgbClr val="6600CC"/>
                </a:solidFill>
              </a:rPr>
              <a:t>แบร์นูลลิ</a:t>
            </a:r>
            <a:r>
              <a:rPr kumimoji="1" lang="th-TH" sz="2800" b="1" dirty="0">
                <a:solidFill>
                  <a:srgbClr val="6600CC"/>
                </a:solidFill>
              </a:rPr>
              <a:t>อิสระ </a:t>
            </a:r>
            <a:r>
              <a:rPr kumimoji="1" lang="en-US" sz="2800" b="1" dirty="0">
                <a:solidFill>
                  <a:srgbClr val="6600CC"/>
                </a:solidFill>
              </a:rPr>
              <a:t>n </a:t>
            </a:r>
          </a:p>
        </p:txBody>
      </p:sp>
      <p:sp>
        <p:nvSpPr>
          <p:cNvPr id="200" name="Rectangle 10"/>
          <p:cNvSpPr>
            <a:spLocks noChangeArrowheads="1"/>
          </p:cNvSpPr>
          <p:nvPr/>
        </p:nvSpPr>
        <p:spPr bwMode="auto">
          <a:xfrm>
            <a:off x="5410200" y="838200"/>
            <a:ext cx="838200" cy="52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th-TH" sz="2800" b="1" dirty="0">
                <a:solidFill>
                  <a:srgbClr val="6600CC"/>
                </a:solidFill>
              </a:rPr>
              <a:t>ครั้ง</a:t>
            </a:r>
            <a:r>
              <a:rPr kumimoji="1" lang="en-US" sz="2800" b="1" dirty="0">
                <a:solidFill>
                  <a:srgbClr val="6600CC"/>
                </a:solidFill>
              </a:rPr>
              <a:t> </a:t>
            </a:r>
          </a:p>
        </p:txBody>
      </p:sp>
      <p:sp>
        <p:nvSpPr>
          <p:cNvPr id="201" name="Rectangle 10"/>
          <p:cNvSpPr>
            <a:spLocks noChangeArrowheads="1"/>
          </p:cNvSpPr>
          <p:nvPr/>
        </p:nvSpPr>
        <p:spPr bwMode="auto">
          <a:xfrm>
            <a:off x="1828800" y="1371600"/>
            <a:ext cx="4800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en-US" sz="2800" b="1" dirty="0">
                <a:solidFill>
                  <a:srgbClr val="6600CC"/>
                </a:solidFill>
                <a:sym typeface="Wingdings" pitchFamily="2" charset="2"/>
              </a:rPr>
              <a:t>= </a:t>
            </a:r>
            <a:r>
              <a:rPr kumimoji="1" lang="th-TH" sz="2800" b="1" dirty="0">
                <a:solidFill>
                  <a:srgbClr val="6600CC"/>
                </a:solidFill>
                <a:sym typeface="Wingdings" pitchFamily="2" charset="2"/>
              </a:rPr>
              <a:t>ความน่าจะเป็นของการเกิด </a:t>
            </a:r>
            <a:r>
              <a:rPr kumimoji="1" lang="en-US" sz="2800" b="1" dirty="0">
                <a:solidFill>
                  <a:srgbClr val="6600CC"/>
                </a:solidFill>
              </a:rPr>
              <a:t>s</a:t>
            </a:r>
          </a:p>
        </p:txBody>
      </p:sp>
      <p:sp>
        <p:nvSpPr>
          <p:cNvPr id="204" name="Rectangle 12"/>
          <p:cNvSpPr>
            <a:spLocks noChangeArrowheads="1"/>
          </p:cNvSpPr>
          <p:nvPr/>
        </p:nvSpPr>
        <p:spPr bwMode="auto">
          <a:xfrm>
            <a:off x="346275" y="3281425"/>
            <a:ext cx="1025325" cy="5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tabLst>
                <a:tab pos="457200" algn="l"/>
              </a:tabLst>
            </a:pPr>
            <a:r>
              <a:rPr kumimoji="1" lang="en-US" sz="2800" b="1" dirty="0">
                <a:solidFill>
                  <a:srgbClr val="7030A0"/>
                </a:solidFill>
                <a:sym typeface="Wingdings" pitchFamily="2" charset="2"/>
              </a:rPr>
              <a:t>X</a:t>
            </a:r>
          </a:p>
        </p:txBody>
      </p:sp>
      <p:sp>
        <p:nvSpPr>
          <p:cNvPr id="205" name="Text Box 33"/>
          <p:cNvSpPr txBox="1">
            <a:spLocks noChangeArrowheads="1"/>
          </p:cNvSpPr>
          <p:nvPr/>
        </p:nvSpPr>
        <p:spPr bwMode="auto">
          <a:xfrm>
            <a:off x="304800" y="4124980"/>
            <a:ext cx="30194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2800" b="1" dirty="0">
                <a:solidFill>
                  <a:srgbClr val="006600"/>
                </a:solidFill>
              </a:rPr>
              <a:t>เมื่อ </a:t>
            </a:r>
            <a:r>
              <a:rPr lang="en-US" sz="2800" b="1" dirty="0">
                <a:solidFill>
                  <a:srgbClr val="006600"/>
                </a:solidFill>
              </a:rPr>
              <a:t>n  </a:t>
            </a:r>
            <a:r>
              <a:rPr lang="en-US" sz="2200" b="1" dirty="0">
                <a:solidFill>
                  <a:srgbClr val="006600"/>
                </a:solidFill>
                <a:sym typeface="Symbol" pitchFamily="18" charset="2"/>
              </a:rPr>
              <a:t>  </a:t>
            </a:r>
            <a:r>
              <a:rPr lang="en-US" sz="2200" b="1" dirty="0">
                <a:solidFill>
                  <a:srgbClr val="006600"/>
                </a:solidFill>
              </a:rPr>
              <a:t> </a:t>
            </a:r>
            <a:r>
              <a:rPr lang="th-TH" sz="2800" b="1" dirty="0">
                <a:solidFill>
                  <a:srgbClr val="006600"/>
                </a:solidFill>
              </a:rPr>
              <a:t>และ </a:t>
            </a:r>
            <a:r>
              <a:rPr lang="en-US" sz="2800" b="1" dirty="0">
                <a:solidFill>
                  <a:srgbClr val="006600"/>
                </a:solidFill>
              </a:rPr>
              <a:t>p  </a:t>
            </a:r>
            <a:r>
              <a:rPr lang="en-US" sz="2200" b="1" dirty="0">
                <a:solidFill>
                  <a:srgbClr val="006600"/>
                </a:solidFill>
                <a:sym typeface="Symbol" pitchFamily="18" charset="2"/>
              </a:rPr>
              <a:t>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 0.5</a:t>
            </a:r>
            <a:endParaRPr lang="th-TH" sz="2800" b="1" dirty="0">
              <a:solidFill>
                <a:srgbClr val="006600"/>
              </a:solidFill>
              <a:sym typeface="Symbol" pitchFamily="18" charset="2"/>
            </a:endParaRPr>
          </a:p>
        </p:txBody>
      </p:sp>
      <p:grpSp>
        <p:nvGrpSpPr>
          <p:cNvPr id="206" name="Group 34"/>
          <p:cNvGrpSpPr>
            <a:grpSpLocks/>
          </p:cNvGrpSpPr>
          <p:nvPr/>
        </p:nvGrpSpPr>
        <p:grpSpPr bwMode="auto">
          <a:xfrm>
            <a:off x="2316162" y="5029199"/>
            <a:ext cx="3551238" cy="960438"/>
            <a:chOff x="711" y="2140"/>
            <a:chExt cx="2237" cy="605"/>
          </a:xfrm>
        </p:grpSpPr>
        <p:grpSp>
          <p:nvGrpSpPr>
            <p:cNvPr id="207" name="Group 35"/>
            <p:cNvGrpSpPr>
              <a:grpSpLocks/>
            </p:cNvGrpSpPr>
            <p:nvPr/>
          </p:nvGrpSpPr>
          <p:grpSpPr bwMode="auto">
            <a:xfrm>
              <a:off x="711" y="2140"/>
              <a:ext cx="2237" cy="605"/>
              <a:chOff x="327" y="1624"/>
              <a:chExt cx="2237" cy="605"/>
            </a:xfrm>
          </p:grpSpPr>
          <p:grpSp>
            <p:nvGrpSpPr>
              <p:cNvPr id="209" name="Group 36"/>
              <p:cNvGrpSpPr>
                <a:grpSpLocks/>
              </p:cNvGrpSpPr>
              <p:nvPr/>
            </p:nvGrpSpPr>
            <p:grpSpPr bwMode="auto">
              <a:xfrm>
                <a:off x="327" y="1624"/>
                <a:ext cx="1139" cy="597"/>
                <a:chOff x="327" y="1624"/>
                <a:chExt cx="1139" cy="597"/>
              </a:xfrm>
            </p:grpSpPr>
            <p:sp>
              <p:nvSpPr>
                <p:cNvPr id="217" name="Rectangle 37"/>
                <p:cNvSpPr>
                  <a:spLocks noChangeArrowheads="1"/>
                </p:cNvSpPr>
                <p:nvPr/>
              </p:nvSpPr>
              <p:spPr bwMode="auto">
                <a:xfrm>
                  <a:off x="528" y="1624"/>
                  <a:ext cx="649" cy="3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2800" b="1" dirty="0">
                      <a:solidFill>
                        <a:srgbClr val="990033"/>
                      </a:solidFill>
                      <a:sym typeface="Symbol" pitchFamily="18" charset="2"/>
                    </a:rPr>
                    <a:t>X/n – p</a:t>
                  </a:r>
                </a:p>
              </p:txBody>
            </p:sp>
            <p:grpSp>
              <p:nvGrpSpPr>
                <p:cNvPr id="218" name="Group 38"/>
                <p:cNvGrpSpPr>
                  <a:grpSpLocks/>
                </p:cNvGrpSpPr>
                <p:nvPr/>
              </p:nvGrpSpPr>
              <p:grpSpPr bwMode="auto">
                <a:xfrm>
                  <a:off x="327" y="1867"/>
                  <a:ext cx="1139" cy="354"/>
                  <a:chOff x="579" y="1903"/>
                  <a:chExt cx="1139" cy="354"/>
                </a:xfrm>
              </p:grpSpPr>
              <p:sp>
                <p:nvSpPr>
                  <p:cNvPr id="220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579" y="1960"/>
                    <a:ext cx="352" cy="2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dirty="0">
                        <a:solidFill>
                          <a:srgbClr val="990033"/>
                        </a:solidFill>
                        <a:sym typeface="Symbol" pitchFamily="18" charset="2"/>
                      </a:rPr>
                      <a:t></a:t>
                    </a:r>
                    <a:endParaRPr kumimoji="1" lang="en-US" b="1" dirty="0">
                      <a:solidFill>
                        <a:srgbClr val="990033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221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738" y="1982"/>
                    <a:ext cx="691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99003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2800"/>
                  </a:p>
                </p:txBody>
              </p:sp>
              <p:sp>
                <p:nvSpPr>
                  <p:cNvPr id="222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710" y="1903"/>
                    <a:ext cx="1008" cy="3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sz="2800" b="1" dirty="0">
                        <a:solidFill>
                          <a:srgbClr val="990033"/>
                        </a:solidFill>
                        <a:sym typeface="Symbol" pitchFamily="18" charset="2"/>
                      </a:rPr>
                      <a:t>p(1 – p)/n</a:t>
                    </a:r>
                  </a:p>
                </p:txBody>
              </p:sp>
            </p:grpSp>
            <p:sp>
              <p:nvSpPr>
                <p:cNvPr id="219" name="Line 45"/>
                <p:cNvSpPr>
                  <a:spLocks noChangeShapeType="1"/>
                </p:cNvSpPr>
                <p:nvPr/>
              </p:nvSpPr>
              <p:spPr bwMode="auto">
                <a:xfrm>
                  <a:off x="416" y="1898"/>
                  <a:ext cx="806" cy="0"/>
                </a:xfrm>
                <a:prstGeom prst="line">
                  <a:avLst/>
                </a:prstGeom>
                <a:noFill/>
                <a:ln w="28575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800"/>
                </a:p>
              </p:txBody>
            </p:sp>
          </p:grpSp>
          <p:grpSp>
            <p:nvGrpSpPr>
              <p:cNvPr id="210" name="Group 46"/>
              <p:cNvGrpSpPr>
                <a:grpSpLocks/>
              </p:cNvGrpSpPr>
              <p:nvPr/>
            </p:nvGrpSpPr>
            <p:grpSpPr bwMode="auto">
              <a:xfrm>
                <a:off x="1463" y="1624"/>
                <a:ext cx="1101" cy="605"/>
                <a:chOff x="1463" y="1624"/>
                <a:chExt cx="1101" cy="605"/>
              </a:xfrm>
            </p:grpSpPr>
            <p:sp>
              <p:nvSpPr>
                <p:cNvPr id="211" name="Rectangle 47"/>
                <p:cNvSpPr>
                  <a:spLocks noChangeArrowheads="1"/>
                </p:cNvSpPr>
                <p:nvPr/>
              </p:nvSpPr>
              <p:spPr bwMode="auto">
                <a:xfrm>
                  <a:off x="1674" y="1624"/>
                  <a:ext cx="650" cy="3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2800" b="1" dirty="0">
                      <a:solidFill>
                        <a:srgbClr val="990033"/>
                      </a:solidFill>
                      <a:sym typeface="Symbol" pitchFamily="18" charset="2"/>
                    </a:rPr>
                    <a:t>X – </a:t>
                  </a:r>
                  <a:r>
                    <a:rPr kumimoji="1" lang="en-US" sz="2800" b="1" dirty="0" err="1">
                      <a:solidFill>
                        <a:srgbClr val="990033"/>
                      </a:solidFill>
                      <a:sym typeface="Symbol" pitchFamily="18" charset="2"/>
                    </a:rPr>
                    <a:t>np</a:t>
                  </a:r>
                  <a:endParaRPr kumimoji="1" lang="en-US" sz="2800" b="1" dirty="0">
                    <a:solidFill>
                      <a:srgbClr val="990033"/>
                    </a:solidFill>
                    <a:sym typeface="Symbol" pitchFamily="18" charset="2"/>
                  </a:endParaRPr>
                </a:p>
              </p:txBody>
            </p:sp>
            <p:sp>
              <p:nvSpPr>
                <p:cNvPr id="212" name="Line 48"/>
                <p:cNvSpPr>
                  <a:spLocks noChangeShapeType="1"/>
                </p:cNvSpPr>
                <p:nvPr/>
              </p:nvSpPr>
              <p:spPr bwMode="auto">
                <a:xfrm>
                  <a:off x="1528" y="1898"/>
                  <a:ext cx="806" cy="0"/>
                </a:xfrm>
                <a:prstGeom prst="line">
                  <a:avLst/>
                </a:prstGeom>
                <a:noFill/>
                <a:ln w="28575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800"/>
                </a:p>
              </p:txBody>
            </p:sp>
            <p:grpSp>
              <p:nvGrpSpPr>
                <p:cNvPr id="213" name="Group 49"/>
                <p:cNvGrpSpPr>
                  <a:grpSpLocks/>
                </p:cNvGrpSpPr>
                <p:nvPr/>
              </p:nvGrpSpPr>
              <p:grpSpPr bwMode="auto">
                <a:xfrm>
                  <a:off x="1463" y="1866"/>
                  <a:ext cx="1101" cy="363"/>
                  <a:chOff x="1445" y="1902"/>
                  <a:chExt cx="1101" cy="363"/>
                </a:xfrm>
              </p:grpSpPr>
              <p:sp>
                <p:nvSpPr>
                  <p:cNvPr id="214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1445" y="1969"/>
                    <a:ext cx="432" cy="29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dirty="0">
                        <a:solidFill>
                          <a:srgbClr val="990033"/>
                        </a:solidFill>
                        <a:sym typeface="Symbol" pitchFamily="18" charset="2"/>
                      </a:rPr>
                      <a:t></a:t>
                    </a:r>
                  </a:p>
                </p:txBody>
              </p:sp>
              <p:sp>
                <p:nvSpPr>
                  <p:cNvPr id="215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1562" y="1902"/>
                    <a:ext cx="984" cy="339"/>
                  </a:xfrm>
                  <a:prstGeom prst="rect">
                    <a:avLst/>
                  </a:prstGeom>
                  <a:noFill/>
                  <a:ln w="28575"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tabLst>
                        <a:tab pos="457200" algn="l"/>
                      </a:tabLst>
                    </a:pPr>
                    <a:r>
                      <a:rPr kumimoji="1" lang="en-US" sz="2800" b="1" dirty="0" err="1">
                        <a:solidFill>
                          <a:srgbClr val="990033"/>
                        </a:solidFill>
                        <a:sym typeface="Symbol" pitchFamily="18" charset="2"/>
                      </a:rPr>
                      <a:t>np</a:t>
                    </a:r>
                    <a:r>
                      <a:rPr kumimoji="1" lang="en-US" sz="2800" b="1" dirty="0">
                        <a:solidFill>
                          <a:srgbClr val="990033"/>
                        </a:solidFill>
                        <a:sym typeface="Symbol" pitchFamily="18" charset="2"/>
                      </a:rPr>
                      <a:t>(1 – p)</a:t>
                    </a:r>
                  </a:p>
                </p:txBody>
              </p:sp>
              <p:sp>
                <p:nvSpPr>
                  <p:cNvPr id="216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1600" y="1985"/>
                    <a:ext cx="634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99003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2800"/>
                  </a:p>
                </p:txBody>
              </p:sp>
            </p:grpSp>
          </p:grpSp>
        </p:grpSp>
        <p:sp>
          <p:nvSpPr>
            <p:cNvPr id="208" name="Text Box 53"/>
            <p:cNvSpPr txBox="1">
              <a:spLocks noChangeArrowheads="1"/>
            </p:cNvSpPr>
            <p:nvPr/>
          </p:nvSpPr>
          <p:spPr bwMode="auto">
            <a:xfrm>
              <a:off x="1661" y="2244"/>
              <a:ext cx="28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 b="1" dirty="0">
                  <a:solidFill>
                    <a:srgbClr val="990033"/>
                  </a:solidFill>
                </a:rPr>
                <a:t>=</a:t>
              </a:r>
              <a:endParaRPr lang="th-TH" sz="2800" b="1" dirty="0">
                <a:solidFill>
                  <a:srgbClr val="990033"/>
                </a:solidFill>
              </a:endParaRPr>
            </a:p>
          </p:txBody>
        </p:sp>
      </p:grpSp>
      <p:grpSp>
        <p:nvGrpSpPr>
          <p:cNvPr id="223" name="Group 57"/>
          <p:cNvGrpSpPr>
            <a:grpSpLocks/>
          </p:cNvGrpSpPr>
          <p:nvPr/>
        </p:nvGrpSpPr>
        <p:grpSpPr bwMode="auto">
          <a:xfrm>
            <a:off x="5638801" y="5213410"/>
            <a:ext cx="1247310" cy="530225"/>
            <a:chOff x="3936" y="2286"/>
            <a:chExt cx="916" cy="334"/>
          </a:xfrm>
        </p:grpSpPr>
        <p:sp>
          <p:nvSpPr>
            <p:cNvPr id="224" name="Text Box 55"/>
            <p:cNvSpPr txBox="1">
              <a:spLocks noChangeArrowheads="1"/>
            </p:cNvSpPr>
            <p:nvPr/>
          </p:nvSpPr>
          <p:spPr bwMode="auto">
            <a:xfrm>
              <a:off x="3936" y="2290"/>
              <a:ext cx="9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 b="1" dirty="0">
                  <a:solidFill>
                    <a:srgbClr val="990033"/>
                  </a:solidFill>
                </a:rPr>
                <a:t>~  N(0 , 1)</a:t>
              </a:r>
              <a:endParaRPr lang="th-TH" sz="2800" b="1" dirty="0">
                <a:solidFill>
                  <a:srgbClr val="990033"/>
                </a:solidFill>
              </a:endParaRPr>
            </a:p>
          </p:txBody>
        </p:sp>
        <p:sp>
          <p:nvSpPr>
            <p:cNvPr id="225" name="Text Box 56"/>
            <p:cNvSpPr txBox="1">
              <a:spLocks noChangeArrowheads="1"/>
            </p:cNvSpPr>
            <p:nvPr/>
          </p:nvSpPr>
          <p:spPr bwMode="auto">
            <a:xfrm>
              <a:off x="3958" y="2286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 b="1" dirty="0">
                  <a:solidFill>
                    <a:srgbClr val="990033"/>
                  </a:solidFill>
                </a:rPr>
                <a:t>:</a:t>
              </a:r>
              <a:endParaRPr lang="th-TH" sz="2800" b="1" dirty="0">
                <a:solidFill>
                  <a:srgbClr val="990033"/>
                </a:solidFill>
              </a:endParaRPr>
            </a:p>
          </p:txBody>
        </p:sp>
      </p:grpSp>
      <p:sp>
        <p:nvSpPr>
          <p:cNvPr id="227" name="Rectangle 12"/>
          <p:cNvSpPr>
            <a:spLocks noChangeArrowheads="1"/>
          </p:cNvSpPr>
          <p:nvPr/>
        </p:nvSpPr>
        <p:spPr bwMode="auto">
          <a:xfrm>
            <a:off x="685800" y="3276600"/>
            <a:ext cx="1981200" cy="5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tabLst>
                <a:tab pos="457200" algn="l"/>
              </a:tabLst>
            </a:pPr>
            <a:r>
              <a:rPr kumimoji="1" lang="en-US" sz="2800" b="1" dirty="0">
                <a:solidFill>
                  <a:srgbClr val="7030A0"/>
                </a:solidFill>
                <a:sym typeface="Wingdings" pitchFamily="2" charset="2"/>
              </a:rPr>
              <a:t>~ B(n  , p  )</a:t>
            </a:r>
          </a:p>
        </p:txBody>
      </p:sp>
      <p:sp>
        <p:nvSpPr>
          <p:cNvPr id="228" name="AutoShape 38"/>
          <p:cNvSpPr>
            <a:spLocks noChangeArrowheads="1"/>
          </p:cNvSpPr>
          <p:nvPr/>
        </p:nvSpPr>
        <p:spPr bwMode="auto">
          <a:xfrm>
            <a:off x="1600200" y="4772624"/>
            <a:ext cx="6172200" cy="1399576"/>
          </a:xfrm>
          <a:prstGeom prst="roundRect">
            <a:avLst>
              <a:gd name="adj" fmla="val 7726"/>
            </a:avLst>
          </a:prstGeom>
          <a:noFill/>
          <a:ln w="38100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th-TH" sz="2800"/>
          </a:p>
        </p:txBody>
      </p: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131763" y="-36513"/>
            <a:ext cx="8780462" cy="79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kumimoji="1" lang="th-TH" sz="4400" b="1" dirty="0">
                <a:solidFill>
                  <a:srgbClr val="3333FF"/>
                </a:solidFill>
              </a:rPr>
              <a:t>ทบทวนการแจกแจงทวินามและการแจกแจงของตัวสถิติ</a:t>
            </a:r>
          </a:p>
        </p:txBody>
      </p:sp>
      <p:sp>
        <p:nvSpPr>
          <p:cNvPr id="38" name="Rectangle 10"/>
          <p:cNvSpPr>
            <a:spLocks noChangeArrowheads="1"/>
          </p:cNvSpPr>
          <p:nvPr/>
        </p:nvSpPr>
        <p:spPr bwMode="auto">
          <a:xfrm>
            <a:off x="532671" y="983850"/>
            <a:ext cx="419100" cy="3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th-TH" sz="2200" b="1" dirty="0">
                <a:solidFill>
                  <a:srgbClr val="6600CC"/>
                </a:solidFill>
              </a:rPr>
              <a:t>1</a:t>
            </a:r>
            <a:endParaRPr kumimoji="1" lang="en-US" sz="2200" b="1" dirty="0">
              <a:solidFill>
                <a:srgbClr val="6600CC"/>
              </a:solidFill>
            </a:endParaRPr>
          </a:p>
        </p:txBody>
      </p:sp>
      <p:sp>
        <p:nvSpPr>
          <p:cNvPr id="39" name="Rectangle 10"/>
          <p:cNvSpPr>
            <a:spLocks noChangeArrowheads="1"/>
          </p:cNvSpPr>
          <p:nvPr/>
        </p:nvSpPr>
        <p:spPr bwMode="auto">
          <a:xfrm>
            <a:off x="1610868" y="1550778"/>
            <a:ext cx="419100" cy="3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th-TH" sz="2200" b="1" dirty="0">
                <a:solidFill>
                  <a:srgbClr val="6600CC"/>
                </a:solidFill>
              </a:rPr>
              <a:t>1</a:t>
            </a:r>
            <a:endParaRPr kumimoji="1" lang="en-US" sz="2200" b="1" dirty="0">
              <a:solidFill>
                <a:srgbClr val="6600CC"/>
              </a:solidFill>
            </a:endParaRPr>
          </a:p>
        </p:txBody>
      </p:sp>
      <p:sp>
        <p:nvSpPr>
          <p:cNvPr id="40" name="Rectangle 10"/>
          <p:cNvSpPr>
            <a:spLocks noChangeArrowheads="1"/>
          </p:cNvSpPr>
          <p:nvPr/>
        </p:nvSpPr>
        <p:spPr bwMode="auto">
          <a:xfrm>
            <a:off x="5259324" y="990600"/>
            <a:ext cx="419100" cy="3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th-TH" sz="2200" b="1" dirty="0">
                <a:solidFill>
                  <a:srgbClr val="6600CC"/>
                </a:solidFill>
              </a:rPr>
              <a:t>1</a:t>
            </a:r>
            <a:endParaRPr kumimoji="1" lang="en-US" sz="2200" b="1" dirty="0">
              <a:solidFill>
                <a:srgbClr val="6600CC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44424" y="1905000"/>
            <a:ext cx="5980176" cy="533400"/>
            <a:chOff x="344424" y="1905000"/>
            <a:chExt cx="5980176" cy="533400"/>
          </a:xfrm>
        </p:grpSpPr>
        <p:sp>
          <p:nvSpPr>
            <p:cNvPr id="33" name="Rectangle 10"/>
            <p:cNvSpPr>
              <a:spLocks noChangeArrowheads="1"/>
            </p:cNvSpPr>
            <p:nvPr/>
          </p:nvSpPr>
          <p:spPr bwMode="auto">
            <a:xfrm>
              <a:off x="344424" y="1905000"/>
              <a:ext cx="722312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en-US" sz="2800" b="1" dirty="0">
                  <a:solidFill>
                    <a:srgbClr val="0070C0"/>
                  </a:solidFill>
                  <a:sym typeface="Wingdings" pitchFamily="2" charset="2"/>
                </a:rPr>
                <a:t>X</a:t>
              </a:r>
              <a:r>
                <a:rPr kumimoji="1" lang="en-US" sz="2800" b="1" dirty="0">
                  <a:solidFill>
                    <a:srgbClr val="0070C0"/>
                  </a:solidFill>
                </a:rPr>
                <a:t> </a:t>
              </a:r>
            </a:p>
          </p:txBody>
        </p:sp>
        <p:sp>
          <p:nvSpPr>
            <p:cNvPr id="35" name="Rectangle 10"/>
            <p:cNvSpPr>
              <a:spLocks noChangeArrowheads="1"/>
            </p:cNvSpPr>
            <p:nvPr/>
          </p:nvSpPr>
          <p:spPr bwMode="auto">
            <a:xfrm>
              <a:off x="713167" y="1905000"/>
              <a:ext cx="4965257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en-US" sz="2800" b="1" dirty="0">
                  <a:solidFill>
                    <a:srgbClr val="0070C0"/>
                  </a:solidFill>
                  <a:sym typeface="Wingdings" pitchFamily="2" charset="2"/>
                </a:rPr>
                <a:t>= </a:t>
              </a:r>
              <a:r>
                <a:rPr kumimoji="1" lang="th-TH" sz="2800" b="1" dirty="0">
                  <a:solidFill>
                    <a:srgbClr val="0070C0"/>
                  </a:solidFill>
                  <a:sym typeface="Wingdings" pitchFamily="2" charset="2"/>
                </a:rPr>
                <a:t>จำนวนครั้งที่เกิด </a:t>
              </a:r>
              <a:r>
                <a:rPr kumimoji="1" lang="en-US" sz="2800" b="1" dirty="0">
                  <a:solidFill>
                    <a:srgbClr val="0070C0"/>
                  </a:solidFill>
                </a:rPr>
                <a:t>s </a:t>
              </a:r>
              <a:r>
                <a:rPr kumimoji="1" lang="th-TH" sz="2800" b="1" dirty="0">
                  <a:solidFill>
                    <a:srgbClr val="0070C0"/>
                  </a:solidFill>
                </a:rPr>
                <a:t>ในการลอง</a:t>
              </a:r>
              <a:r>
                <a:rPr kumimoji="1" lang="th-TH" sz="2800" b="1" dirty="0" err="1">
                  <a:solidFill>
                    <a:srgbClr val="0070C0"/>
                  </a:solidFill>
                </a:rPr>
                <a:t>แบร์นูลลิ</a:t>
              </a:r>
              <a:r>
                <a:rPr kumimoji="1" lang="th-TH" sz="2800" b="1" dirty="0">
                  <a:solidFill>
                    <a:srgbClr val="0070C0"/>
                  </a:solidFill>
                </a:rPr>
                <a:t>อิสระ </a:t>
              </a:r>
              <a:r>
                <a:rPr kumimoji="1" lang="en-US" sz="2800" b="1" dirty="0">
                  <a:solidFill>
                    <a:srgbClr val="0070C0"/>
                  </a:solidFill>
                </a:rPr>
                <a:t>n </a:t>
              </a:r>
            </a:p>
          </p:txBody>
        </p:sp>
        <p:sp>
          <p:nvSpPr>
            <p:cNvPr id="37" name="Rectangle 10"/>
            <p:cNvSpPr>
              <a:spLocks noChangeArrowheads="1"/>
            </p:cNvSpPr>
            <p:nvPr/>
          </p:nvSpPr>
          <p:spPr bwMode="auto">
            <a:xfrm>
              <a:off x="5486400" y="1911750"/>
              <a:ext cx="838200" cy="526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th-TH" sz="2800" b="1" dirty="0">
                  <a:solidFill>
                    <a:srgbClr val="0070C0"/>
                  </a:solidFill>
                </a:rPr>
                <a:t>ครั้ง</a:t>
              </a:r>
              <a:r>
                <a:rPr kumimoji="1" lang="en-US" sz="2800" b="1" dirty="0">
                  <a:solidFill>
                    <a:srgbClr val="0070C0"/>
                  </a:solidFill>
                </a:rPr>
                <a:t> </a:t>
              </a:r>
            </a:p>
          </p:txBody>
        </p:sp>
        <p:sp>
          <p:nvSpPr>
            <p:cNvPr id="41" name="Rectangle 10"/>
            <p:cNvSpPr>
              <a:spLocks noChangeArrowheads="1"/>
            </p:cNvSpPr>
            <p:nvPr/>
          </p:nvSpPr>
          <p:spPr bwMode="auto">
            <a:xfrm>
              <a:off x="518985" y="2011521"/>
              <a:ext cx="419100" cy="387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th-TH" sz="2200" b="1" dirty="0">
                  <a:solidFill>
                    <a:srgbClr val="0070C0"/>
                  </a:solidFill>
                </a:rPr>
                <a:t>2</a:t>
              </a:r>
              <a:endParaRPr kumimoji="1" lang="en-US" sz="2200" b="1" dirty="0">
                <a:solidFill>
                  <a:srgbClr val="0070C0"/>
                </a:solidFill>
              </a:endParaRPr>
            </a:p>
          </p:txBody>
        </p:sp>
        <p:sp>
          <p:nvSpPr>
            <p:cNvPr id="42" name="Rectangle 10"/>
            <p:cNvSpPr>
              <a:spLocks noChangeArrowheads="1"/>
            </p:cNvSpPr>
            <p:nvPr/>
          </p:nvSpPr>
          <p:spPr bwMode="auto">
            <a:xfrm>
              <a:off x="5258829" y="2032686"/>
              <a:ext cx="419100" cy="387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th-TH" sz="2200" b="1" dirty="0">
                  <a:solidFill>
                    <a:srgbClr val="0070C0"/>
                  </a:solidFill>
                </a:rPr>
                <a:t>2</a:t>
              </a:r>
              <a:endParaRPr kumimoji="1" lang="en-US" sz="22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911867" y="2431650"/>
            <a:ext cx="4334441" cy="560745"/>
            <a:chOff x="911867" y="2431650"/>
            <a:chExt cx="4334441" cy="560745"/>
          </a:xfrm>
        </p:grpSpPr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911867" y="2431650"/>
              <a:ext cx="1535574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th-TH" sz="2800" b="1" dirty="0">
                  <a:solidFill>
                    <a:srgbClr val="0070C0"/>
                  </a:solidFill>
                  <a:sym typeface="Wingdings" pitchFamily="2" charset="2"/>
                </a:rPr>
                <a:t>โดยที่ </a:t>
              </a:r>
              <a:r>
                <a:rPr kumimoji="1" lang="en-US" sz="2800" b="1" dirty="0">
                  <a:solidFill>
                    <a:srgbClr val="0070C0"/>
                  </a:solidFill>
                  <a:sym typeface="Wingdings" pitchFamily="2" charset="2"/>
                </a:rPr>
                <a:t>p</a:t>
              </a:r>
              <a:endParaRPr kumimoji="1" lang="en-US" sz="2800" b="1" dirty="0">
                <a:solidFill>
                  <a:srgbClr val="0070C0"/>
                </a:solidFill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1828800" y="2438400"/>
              <a:ext cx="3417508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en-US" sz="2800" b="1" dirty="0">
                  <a:solidFill>
                    <a:srgbClr val="0070C0"/>
                  </a:solidFill>
                  <a:sym typeface="Wingdings" pitchFamily="2" charset="2"/>
                </a:rPr>
                <a:t>= </a:t>
              </a:r>
              <a:r>
                <a:rPr kumimoji="1" lang="th-TH" sz="2800" b="1" dirty="0">
                  <a:solidFill>
                    <a:srgbClr val="0070C0"/>
                  </a:solidFill>
                  <a:sym typeface="Wingdings" pitchFamily="2" charset="2"/>
                </a:rPr>
                <a:t>ความน่าจะเป็นของการเกิด </a:t>
              </a:r>
              <a:r>
                <a:rPr kumimoji="1" lang="en-US" sz="2800" b="1" dirty="0">
                  <a:solidFill>
                    <a:srgbClr val="0070C0"/>
                  </a:solidFill>
                </a:rPr>
                <a:t>s</a:t>
              </a:r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1640953" y="2604645"/>
              <a:ext cx="419100" cy="387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th-TH" sz="2200" b="1" dirty="0">
                  <a:solidFill>
                    <a:srgbClr val="0070C0"/>
                  </a:solidFill>
                </a:rPr>
                <a:t>2</a:t>
              </a:r>
              <a:endParaRPr kumimoji="1" lang="en-US" sz="22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46" name="Rectangle 10"/>
          <p:cNvSpPr>
            <a:spLocks noChangeArrowheads="1"/>
          </p:cNvSpPr>
          <p:nvPr/>
        </p:nvSpPr>
        <p:spPr bwMode="auto">
          <a:xfrm>
            <a:off x="526564" y="3449207"/>
            <a:ext cx="419100" cy="3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th-TH" sz="2200" b="1" dirty="0">
                <a:solidFill>
                  <a:srgbClr val="6600CC"/>
                </a:solidFill>
              </a:rPr>
              <a:t>1</a:t>
            </a:r>
            <a:endParaRPr kumimoji="1" lang="en-US" sz="2200" b="1" dirty="0">
              <a:solidFill>
                <a:srgbClr val="6600CC"/>
              </a:solidFill>
            </a:endParaRPr>
          </a:p>
        </p:txBody>
      </p:sp>
      <p:sp>
        <p:nvSpPr>
          <p:cNvPr id="47" name="Rectangle 10"/>
          <p:cNvSpPr>
            <a:spLocks noChangeArrowheads="1"/>
          </p:cNvSpPr>
          <p:nvPr/>
        </p:nvSpPr>
        <p:spPr bwMode="auto">
          <a:xfrm>
            <a:off x="1247001" y="3455772"/>
            <a:ext cx="419100" cy="3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th-TH" sz="2200" b="1" dirty="0">
                <a:solidFill>
                  <a:srgbClr val="6600CC"/>
                </a:solidFill>
              </a:rPr>
              <a:t>1</a:t>
            </a:r>
            <a:endParaRPr kumimoji="1" lang="en-US" sz="2200" b="1" dirty="0">
              <a:solidFill>
                <a:srgbClr val="6600CC"/>
              </a:solidFill>
            </a:endParaRPr>
          </a:p>
        </p:txBody>
      </p:sp>
      <p:sp>
        <p:nvSpPr>
          <p:cNvPr id="48" name="Rectangle 10"/>
          <p:cNvSpPr>
            <a:spLocks noChangeArrowheads="1"/>
          </p:cNvSpPr>
          <p:nvPr/>
        </p:nvSpPr>
        <p:spPr bwMode="auto">
          <a:xfrm>
            <a:off x="1576515" y="3492843"/>
            <a:ext cx="419100" cy="3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th-TH" sz="2200" b="1" dirty="0">
                <a:solidFill>
                  <a:srgbClr val="6600CC"/>
                </a:solidFill>
              </a:rPr>
              <a:t>1</a:t>
            </a:r>
            <a:endParaRPr kumimoji="1" lang="en-US" sz="2200" b="1" dirty="0">
              <a:solidFill>
                <a:srgbClr val="6600CC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057400" y="3276600"/>
            <a:ext cx="3082725" cy="591636"/>
            <a:chOff x="2057400" y="3276600"/>
            <a:chExt cx="3082725" cy="591636"/>
          </a:xfrm>
        </p:grpSpPr>
        <p:sp>
          <p:nvSpPr>
            <p:cNvPr id="50" name="Rectangle 12"/>
            <p:cNvSpPr>
              <a:spLocks noChangeArrowheads="1"/>
            </p:cNvSpPr>
            <p:nvPr/>
          </p:nvSpPr>
          <p:spPr bwMode="auto">
            <a:xfrm>
              <a:off x="2743200" y="3281425"/>
              <a:ext cx="1025325" cy="538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2800" b="1" dirty="0">
                  <a:solidFill>
                    <a:srgbClr val="0070C0"/>
                  </a:solidFill>
                  <a:sym typeface="Wingdings" pitchFamily="2" charset="2"/>
                </a:rPr>
                <a:t>X</a:t>
              </a:r>
            </a:p>
          </p:txBody>
        </p:sp>
        <p:sp>
          <p:nvSpPr>
            <p:cNvPr id="51" name="Rectangle 12"/>
            <p:cNvSpPr>
              <a:spLocks noChangeArrowheads="1"/>
            </p:cNvSpPr>
            <p:nvPr/>
          </p:nvSpPr>
          <p:spPr bwMode="auto">
            <a:xfrm>
              <a:off x="3158925" y="3276600"/>
              <a:ext cx="1981200" cy="538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2800" b="1" dirty="0">
                  <a:solidFill>
                    <a:srgbClr val="0070C0"/>
                  </a:solidFill>
                  <a:sym typeface="Wingdings" pitchFamily="2" charset="2"/>
                </a:rPr>
                <a:t>~ B(n  , p  )</a:t>
              </a:r>
            </a:p>
          </p:txBody>
        </p:sp>
        <p:sp>
          <p:nvSpPr>
            <p:cNvPr id="52" name="Rectangle 10"/>
            <p:cNvSpPr>
              <a:spLocks noChangeArrowheads="1"/>
            </p:cNvSpPr>
            <p:nvPr/>
          </p:nvSpPr>
          <p:spPr bwMode="auto">
            <a:xfrm>
              <a:off x="2923489" y="3449207"/>
              <a:ext cx="419100" cy="387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th-TH" sz="2200" b="1" dirty="0">
                  <a:solidFill>
                    <a:srgbClr val="0070C0"/>
                  </a:solidFill>
                </a:rPr>
                <a:t>2</a:t>
              </a:r>
              <a:endParaRPr kumimoji="1" lang="en-US" sz="2200" b="1" dirty="0">
                <a:solidFill>
                  <a:srgbClr val="0070C0"/>
                </a:solidFill>
              </a:endParaRPr>
            </a:p>
          </p:txBody>
        </p:sp>
        <p:sp>
          <p:nvSpPr>
            <p:cNvPr id="53" name="Rectangle 10"/>
            <p:cNvSpPr>
              <a:spLocks noChangeArrowheads="1"/>
            </p:cNvSpPr>
            <p:nvPr/>
          </p:nvSpPr>
          <p:spPr bwMode="auto">
            <a:xfrm>
              <a:off x="3718068" y="3480486"/>
              <a:ext cx="419100" cy="387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th-TH" sz="2200" b="1" dirty="0">
                  <a:solidFill>
                    <a:srgbClr val="0070C0"/>
                  </a:solidFill>
                </a:rPr>
                <a:t>2</a:t>
              </a:r>
              <a:endParaRPr kumimoji="1" lang="en-US" sz="2200" b="1" dirty="0">
                <a:solidFill>
                  <a:srgbClr val="0070C0"/>
                </a:solidFill>
              </a:endParaRPr>
            </a:p>
          </p:txBody>
        </p:sp>
        <p:sp>
          <p:nvSpPr>
            <p:cNvPr id="54" name="Rectangle 10"/>
            <p:cNvSpPr>
              <a:spLocks noChangeArrowheads="1"/>
            </p:cNvSpPr>
            <p:nvPr/>
          </p:nvSpPr>
          <p:spPr bwMode="auto">
            <a:xfrm>
              <a:off x="4072296" y="3468129"/>
              <a:ext cx="419100" cy="387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th-TH" sz="2200" b="1" dirty="0">
                  <a:solidFill>
                    <a:srgbClr val="0070C0"/>
                  </a:solidFill>
                </a:rPr>
                <a:t>2</a:t>
              </a:r>
              <a:endParaRPr kumimoji="1" lang="en-US" sz="2200" b="1" dirty="0">
                <a:solidFill>
                  <a:srgbClr val="0070C0"/>
                </a:solidFill>
              </a:endParaRPr>
            </a:p>
          </p:txBody>
        </p:sp>
        <p:sp>
          <p:nvSpPr>
            <p:cNvPr id="55" name="Rectangle 12"/>
            <p:cNvSpPr>
              <a:spLocks noChangeArrowheads="1"/>
            </p:cNvSpPr>
            <p:nvPr/>
          </p:nvSpPr>
          <p:spPr bwMode="auto">
            <a:xfrm>
              <a:off x="2057400" y="3276600"/>
              <a:ext cx="1025325" cy="538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th-TH" sz="2800" b="1" dirty="0">
                  <a:solidFill>
                    <a:srgbClr val="FF0000"/>
                  </a:solidFill>
                  <a:sym typeface="Wingdings" pitchFamily="2" charset="2"/>
                </a:rPr>
                <a:t>และ</a:t>
              </a:r>
              <a:endParaRPr kumimoji="1" lang="en-US" sz="2800" b="1" dirty="0">
                <a:solidFill>
                  <a:srgbClr val="FF0000"/>
                </a:solidFill>
                <a:sym typeface="Wingdings" pitchFamily="2" charset="2"/>
              </a:endParaRPr>
            </a:p>
          </p:txBody>
        </p:sp>
      </p:grpSp>
      <p:sp>
        <p:nvSpPr>
          <p:cNvPr id="58" name="Rectangle 10"/>
          <p:cNvSpPr>
            <a:spLocks noChangeArrowheads="1"/>
          </p:cNvSpPr>
          <p:nvPr/>
        </p:nvSpPr>
        <p:spPr bwMode="auto">
          <a:xfrm>
            <a:off x="849528" y="4285164"/>
            <a:ext cx="419100" cy="3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th-TH" sz="2200" b="1" dirty="0">
                <a:solidFill>
                  <a:srgbClr val="006600"/>
                </a:solidFill>
              </a:rPr>
              <a:t>1</a:t>
            </a:r>
            <a:endParaRPr kumimoji="1" lang="en-US" sz="2200" b="1" dirty="0">
              <a:solidFill>
                <a:srgbClr val="006600"/>
              </a:solidFill>
            </a:endParaRPr>
          </a:p>
        </p:txBody>
      </p:sp>
      <p:sp>
        <p:nvSpPr>
          <p:cNvPr id="59" name="Rectangle 10"/>
          <p:cNvSpPr>
            <a:spLocks noChangeArrowheads="1"/>
          </p:cNvSpPr>
          <p:nvPr/>
        </p:nvSpPr>
        <p:spPr bwMode="auto">
          <a:xfrm>
            <a:off x="2134629" y="4343400"/>
            <a:ext cx="419100" cy="3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tabLst>
                <a:tab pos="1652588" algn="l"/>
              </a:tabLst>
            </a:pPr>
            <a:r>
              <a:rPr kumimoji="1" lang="th-TH" sz="2200" b="1" dirty="0">
                <a:solidFill>
                  <a:srgbClr val="006600"/>
                </a:solidFill>
              </a:rPr>
              <a:t>1</a:t>
            </a:r>
            <a:endParaRPr kumimoji="1" lang="en-US" sz="2200" b="1" dirty="0">
              <a:solidFill>
                <a:srgbClr val="00660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124200" y="4114800"/>
            <a:ext cx="3019425" cy="628707"/>
            <a:chOff x="3276600" y="4114800"/>
            <a:chExt cx="3019425" cy="628707"/>
          </a:xfrm>
        </p:grpSpPr>
        <p:sp>
          <p:nvSpPr>
            <p:cNvPr id="57" name="Text Box 33"/>
            <p:cNvSpPr txBox="1">
              <a:spLocks noChangeArrowheads="1"/>
            </p:cNvSpPr>
            <p:nvPr/>
          </p:nvSpPr>
          <p:spPr bwMode="auto">
            <a:xfrm>
              <a:off x="3276600" y="4114800"/>
              <a:ext cx="301942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th-TH" sz="2800" b="1" dirty="0">
                  <a:solidFill>
                    <a:srgbClr val="FF0000"/>
                  </a:solidFill>
                </a:rPr>
                <a:t>และ</a:t>
              </a:r>
              <a:r>
                <a:rPr lang="th-TH" sz="2800" b="1" dirty="0">
                  <a:solidFill>
                    <a:srgbClr val="006600"/>
                  </a:solidFill>
                </a:rPr>
                <a:t>  </a:t>
              </a:r>
              <a:r>
                <a:rPr lang="en-US" sz="2800" b="1" dirty="0">
                  <a:solidFill>
                    <a:srgbClr val="006600"/>
                  </a:solidFill>
                </a:rPr>
                <a:t>n  </a:t>
              </a:r>
              <a:r>
                <a:rPr lang="en-US" sz="2200" b="1" dirty="0">
                  <a:solidFill>
                    <a:srgbClr val="006600"/>
                  </a:solidFill>
                  <a:sym typeface="Symbol" pitchFamily="18" charset="2"/>
                </a:rPr>
                <a:t>  </a:t>
              </a:r>
              <a:r>
                <a:rPr lang="en-US" sz="2200" b="1" dirty="0">
                  <a:solidFill>
                    <a:srgbClr val="006600"/>
                  </a:solidFill>
                </a:rPr>
                <a:t> </a:t>
              </a:r>
              <a:r>
                <a:rPr lang="th-TH" sz="2800" b="1" dirty="0">
                  <a:solidFill>
                    <a:srgbClr val="006600"/>
                  </a:solidFill>
                </a:rPr>
                <a:t>และ </a:t>
              </a:r>
              <a:r>
                <a:rPr lang="en-US" sz="2800" b="1" dirty="0">
                  <a:solidFill>
                    <a:srgbClr val="006600"/>
                  </a:solidFill>
                </a:rPr>
                <a:t>p  </a:t>
              </a:r>
              <a:r>
                <a:rPr lang="en-US" sz="2200" b="1" dirty="0">
                  <a:solidFill>
                    <a:srgbClr val="006600"/>
                  </a:solidFill>
                  <a:sym typeface="Symbol" pitchFamily="18" charset="2"/>
                </a:rPr>
                <a:t></a:t>
              </a:r>
              <a:r>
                <a:rPr lang="en-US" sz="2800" b="1" dirty="0">
                  <a:solidFill>
                    <a:srgbClr val="006600"/>
                  </a:solidFill>
                  <a:sym typeface="Symbol" pitchFamily="18" charset="2"/>
                </a:rPr>
                <a:t> 0.5</a:t>
              </a:r>
              <a:endParaRPr lang="th-TH" sz="2800" b="1" dirty="0">
                <a:solidFill>
                  <a:srgbClr val="006600"/>
                </a:solidFill>
                <a:sym typeface="Symbol" pitchFamily="18" charset="2"/>
              </a:endParaRPr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3924300" y="4304271"/>
              <a:ext cx="419100" cy="387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th-TH" sz="2200" b="1" dirty="0">
                  <a:solidFill>
                    <a:srgbClr val="006600"/>
                  </a:solidFill>
                </a:rPr>
                <a:t>2</a:t>
              </a:r>
              <a:endParaRPr kumimoji="1" lang="en-US" sz="2200" b="1" dirty="0">
                <a:solidFill>
                  <a:srgbClr val="006600"/>
                </a:solidFill>
              </a:endParaRPr>
            </a:p>
          </p:txBody>
        </p:sp>
        <p:sp>
          <p:nvSpPr>
            <p:cNvPr id="61" name="Rectangle 10"/>
            <p:cNvSpPr>
              <a:spLocks noChangeArrowheads="1"/>
            </p:cNvSpPr>
            <p:nvPr/>
          </p:nvSpPr>
          <p:spPr bwMode="auto">
            <a:xfrm>
              <a:off x="5207343" y="4355757"/>
              <a:ext cx="419100" cy="387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tabLst>
                  <a:tab pos="1652588" algn="l"/>
                </a:tabLst>
              </a:pPr>
              <a:r>
                <a:rPr kumimoji="1" lang="th-TH" sz="2200" b="1" dirty="0">
                  <a:solidFill>
                    <a:srgbClr val="006600"/>
                  </a:solidFill>
                </a:rPr>
                <a:t>2</a:t>
              </a:r>
              <a:endParaRPr kumimoji="1" lang="en-US" sz="2200" b="1" dirty="0">
                <a:solidFill>
                  <a:srgbClr val="006600"/>
                </a:solidFill>
              </a:endParaRPr>
            </a:p>
          </p:txBody>
        </p:sp>
      </p:grpSp>
      <p:sp>
        <p:nvSpPr>
          <p:cNvPr id="87" name="AutoShape 38"/>
          <p:cNvSpPr>
            <a:spLocks noChangeArrowheads="1"/>
          </p:cNvSpPr>
          <p:nvPr/>
        </p:nvSpPr>
        <p:spPr bwMode="auto">
          <a:xfrm>
            <a:off x="1587842" y="4724400"/>
            <a:ext cx="6260757" cy="1515400"/>
          </a:xfrm>
          <a:prstGeom prst="roundRect">
            <a:avLst>
              <a:gd name="adj" fmla="val 7726"/>
            </a:avLst>
          </a:prstGeom>
          <a:solidFill>
            <a:schemeClr val="bg1"/>
          </a:solidFill>
          <a:ln w="38100">
            <a:solidFill>
              <a:srgbClr val="3A05A3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 sz="2800"/>
          </a:p>
        </p:txBody>
      </p:sp>
      <p:grpSp>
        <p:nvGrpSpPr>
          <p:cNvPr id="88" name="Group 98"/>
          <p:cNvGrpSpPr>
            <a:grpSpLocks/>
          </p:cNvGrpSpPr>
          <p:nvPr/>
        </p:nvGrpSpPr>
        <p:grpSpPr bwMode="auto">
          <a:xfrm>
            <a:off x="2224431" y="4792686"/>
            <a:ext cx="3067218" cy="1422400"/>
            <a:chOff x="813" y="3092"/>
            <a:chExt cx="1958" cy="896"/>
          </a:xfrm>
        </p:grpSpPr>
        <p:sp>
          <p:nvSpPr>
            <p:cNvPr id="89" name="Rectangle 67"/>
            <p:cNvSpPr>
              <a:spLocks noChangeArrowheads="1"/>
            </p:cNvSpPr>
            <p:nvPr/>
          </p:nvSpPr>
          <p:spPr bwMode="auto">
            <a:xfrm>
              <a:off x="1008" y="3412"/>
              <a:ext cx="1254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2800" b="1" dirty="0">
                  <a:solidFill>
                    <a:srgbClr val="3A05A3"/>
                  </a:solidFill>
                  <a:sym typeface="Symbol" pitchFamily="18" charset="2"/>
                </a:rPr>
                <a:t>p</a:t>
              </a:r>
              <a:r>
                <a:rPr kumimoji="1" lang="en-US" sz="2800" b="1" baseline="-25000" dirty="0">
                  <a:solidFill>
                    <a:srgbClr val="3A05A3"/>
                  </a:solidFill>
                  <a:sym typeface="Symbol" pitchFamily="18" charset="2"/>
                </a:rPr>
                <a:t>1</a:t>
              </a:r>
              <a:r>
                <a:rPr kumimoji="1" lang="en-US" sz="2800" b="1" dirty="0">
                  <a:solidFill>
                    <a:srgbClr val="3A05A3"/>
                  </a:solidFill>
                  <a:sym typeface="Symbol" pitchFamily="18" charset="2"/>
                </a:rPr>
                <a:t>(1 – p</a:t>
              </a:r>
              <a:r>
                <a:rPr kumimoji="1" lang="en-US" sz="2800" b="1" baseline="-25000" dirty="0">
                  <a:solidFill>
                    <a:srgbClr val="3A05A3"/>
                  </a:solidFill>
                  <a:sym typeface="Symbol" pitchFamily="18" charset="2"/>
                </a:rPr>
                <a:t>1</a:t>
              </a:r>
              <a:r>
                <a:rPr kumimoji="1" lang="en-US" sz="2800" b="1" dirty="0">
                  <a:solidFill>
                    <a:srgbClr val="3A05A3"/>
                  </a:solidFill>
                  <a:sym typeface="Symbol" pitchFamily="18" charset="2"/>
                </a:rPr>
                <a:t>)</a:t>
              </a:r>
            </a:p>
          </p:txBody>
        </p:sp>
        <p:sp>
          <p:nvSpPr>
            <p:cNvPr id="90" name="Rectangle 69"/>
            <p:cNvSpPr>
              <a:spLocks noChangeArrowheads="1"/>
            </p:cNvSpPr>
            <p:nvPr/>
          </p:nvSpPr>
          <p:spPr bwMode="auto">
            <a:xfrm>
              <a:off x="1192" y="3606"/>
              <a:ext cx="267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2800" b="1" dirty="0">
                  <a:solidFill>
                    <a:srgbClr val="3A05A3"/>
                  </a:solidFill>
                  <a:sym typeface="Symbol" pitchFamily="18" charset="2"/>
                </a:rPr>
                <a:t>n</a:t>
              </a:r>
              <a:r>
                <a:rPr kumimoji="1" lang="en-US" sz="2800" b="1" baseline="-25000" dirty="0">
                  <a:solidFill>
                    <a:srgbClr val="3A05A3"/>
                  </a:solidFill>
                  <a:sym typeface="Symbol" pitchFamily="18" charset="2"/>
                </a:rPr>
                <a:t>1</a:t>
              </a:r>
            </a:p>
          </p:txBody>
        </p:sp>
        <p:grpSp>
          <p:nvGrpSpPr>
            <p:cNvPr id="91" name="Group 93"/>
            <p:cNvGrpSpPr>
              <a:grpSpLocks/>
            </p:cNvGrpSpPr>
            <p:nvPr/>
          </p:nvGrpSpPr>
          <p:grpSpPr bwMode="auto">
            <a:xfrm>
              <a:off x="813" y="3092"/>
              <a:ext cx="1958" cy="341"/>
              <a:chOff x="813" y="3092"/>
              <a:chExt cx="1958" cy="341"/>
            </a:xfrm>
          </p:grpSpPr>
          <p:sp>
            <p:nvSpPr>
              <p:cNvPr id="102" name="Line 82"/>
              <p:cNvSpPr>
                <a:spLocks noChangeShapeType="1"/>
              </p:cNvSpPr>
              <p:nvPr/>
            </p:nvSpPr>
            <p:spPr bwMode="auto">
              <a:xfrm>
                <a:off x="813" y="3403"/>
                <a:ext cx="1958" cy="0"/>
              </a:xfrm>
              <a:prstGeom prst="line">
                <a:avLst/>
              </a:prstGeom>
              <a:noFill/>
              <a:ln w="28575">
                <a:solidFill>
                  <a:srgbClr val="38059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800">
                  <a:solidFill>
                    <a:srgbClr val="3A05A3"/>
                  </a:solidFill>
                </a:endParaRPr>
              </a:p>
            </p:txBody>
          </p:sp>
          <p:grpSp>
            <p:nvGrpSpPr>
              <p:cNvPr id="103" name="Group 92"/>
              <p:cNvGrpSpPr>
                <a:grpSpLocks/>
              </p:cNvGrpSpPr>
              <p:nvPr/>
            </p:nvGrpSpPr>
            <p:grpSpPr bwMode="auto">
              <a:xfrm>
                <a:off x="866" y="3092"/>
                <a:ext cx="1895" cy="341"/>
                <a:chOff x="826" y="3148"/>
                <a:chExt cx="1895" cy="341"/>
              </a:xfrm>
            </p:grpSpPr>
            <p:sp>
              <p:nvSpPr>
                <p:cNvPr id="104" name="Rectangle 62"/>
                <p:cNvSpPr>
                  <a:spLocks noChangeArrowheads="1"/>
                </p:cNvSpPr>
                <p:nvPr/>
              </p:nvSpPr>
              <p:spPr bwMode="auto">
                <a:xfrm>
                  <a:off x="826" y="3148"/>
                  <a:ext cx="842" cy="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2800" b="1" dirty="0">
                      <a:solidFill>
                        <a:srgbClr val="3A05A3"/>
                      </a:solidFill>
                      <a:sym typeface="Symbol" pitchFamily="18" charset="2"/>
                    </a:rPr>
                    <a:t>(X</a:t>
                  </a:r>
                  <a:r>
                    <a:rPr kumimoji="1" lang="en-US" sz="2800" b="1" baseline="-25000" dirty="0">
                      <a:solidFill>
                        <a:srgbClr val="3A05A3"/>
                      </a:solidFill>
                      <a:sym typeface="Symbol" pitchFamily="18" charset="2"/>
                    </a:rPr>
                    <a:t>1</a:t>
                  </a:r>
                  <a:r>
                    <a:rPr kumimoji="1" lang="en-US" sz="2800" b="1" dirty="0">
                      <a:solidFill>
                        <a:srgbClr val="3A05A3"/>
                      </a:solidFill>
                      <a:sym typeface="Symbol" pitchFamily="18" charset="2"/>
                    </a:rPr>
                    <a:t>/n</a:t>
                  </a:r>
                  <a:r>
                    <a:rPr kumimoji="1" lang="en-US" sz="2800" b="1" baseline="-25000" dirty="0">
                      <a:solidFill>
                        <a:srgbClr val="3A05A3"/>
                      </a:solidFill>
                      <a:sym typeface="Symbol" pitchFamily="18" charset="2"/>
                    </a:rPr>
                    <a:t>1</a:t>
                  </a:r>
                  <a:r>
                    <a:rPr kumimoji="1" lang="en-US" sz="2800" b="1" dirty="0">
                      <a:solidFill>
                        <a:srgbClr val="3A05A3"/>
                      </a:solidFill>
                      <a:sym typeface="Symbol" pitchFamily="18" charset="2"/>
                    </a:rPr>
                    <a:t> – p</a:t>
                  </a:r>
                  <a:r>
                    <a:rPr kumimoji="1" lang="en-US" sz="2800" b="1" baseline="-25000" dirty="0">
                      <a:solidFill>
                        <a:srgbClr val="3A05A3"/>
                      </a:solidFill>
                      <a:sym typeface="Symbol" pitchFamily="18" charset="2"/>
                    </a:rPr>
                    <a:t>1</a:t>
                  </a:r>
                  <a:r>
                    <a:rPr kumimoji="1" lang="en-US" sz="2800" b="1" dirty="0">
                      <a:solidFill>
                        <a:srgbClr val="3A05A3"/>
                      </a:solidFill>
                      <a:sym typeface="Symbol" pitchFamily="18" charset="2"/>
                    </a:rPr>
                    <a:t>)</a:t>
                  </a:r>
                </a:p>
              </p:txBody>
            </p:sp>
            <p:sp>
              <p:nvSpPr>
                <p:cNvPr id="105" name="Rectangle 83"/>
                <p:cNvSpPr>
                  <a:spLocks noChangeArrowheads="1"/>
                </p:cNvSpPr>
                <p:nvPr/>
              </p:nvSpPr>
              <p:spPr bwMode="auto">
                <a:xfrm>
                  <a:off x="1865" y="3148"/>
                  <a:ext cx="856" cy="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tabLst>
                      <a:tab pos="457200" algn="l"/>
                    </a:tabLst>
                  </a:pPr>
                  <a:r>
                    <a:rPr kumimoji="1" lang="en-US" sz="2800" b="1" dirty="0">
                      <a:solidFill>
                        <a:srgbClr val="3A05A3"/>
                      </a:solidFill>
                      <a:sym typeface="Symbol" pitchFamily="18" charset="2"/>
                    </a:rPr>
                    <a:t>(X</a:t>
                  </a:r>
                  <a:r>
                    <a:rPr kumimoji="1" lang="en-US" sz="2800" b="1" baseline="-25000" dirty="0">
                      <a:solidFill>
                        <a:srgbClr val="3A05A3"/>
                      </a:solidFill>
                      <a:sym typeface="Symbol" pitchFamily="18" charset="2"/>
                    </a:rPr>
                    <a:t>2</a:t>
                  </a:r>
                  <a:r>
                    <a:rPr kumimoji="1" lang="en-US" sz="2800" b="1" dirty="0">
                      <a:solidFill>
                        <a:srgbClr val="3A05A3"/>
                      </a:solidFill>
                      <a:sym typeface="Symbol" pitchFamily="18" charset="2"/>
                    </a:rPr>
                    <a:t>/n</a:t>
                  </a:r>
                  <a:r>
                    <a:rPr kumimoji="1" lang="en-US" sz="2800" b="1" baseline="-25000" dirty="0">
                      <a:solidFill>
                        <a:srgbClr val="3A05A3"/>
                      </a:solidFill>
                      <a:sym typeface="Symbol" pitchFamily="18" charset="2"/>
                    </a:rPr>
                    <a:t>2</a:t>
                  </a:r>
                  <a:r>
                    <a:rPr kumimoji="1" lang="en-US" sz="2800" b="1" dirty="0">
                      <a:solidFill>
                        <a:srgbClr val="3A05A3"/>
                      </a:solidFill>
                      <a:sym typeface="Symbol" pitchFamily="18" charset="2"/>
                    </a:rPr>
                    <a:t> – p</a:t>
                  </a:r>
                  <a:r>
                    <a:rPr kumimoji="1" lang="en-US" sz="2800" b="1" baseline="-25000" dirty="0">
                      <a:solidFill>
                        <a:srgbClr val="3A05A3"/>
                      </a:solidFill>
                      <a:sym typeface="Symbol" pitchFamily="18" charset="2"/>
                    </a:rPr>
                    <a:t>2</a:t>
                  </a:r>
                  <a:r>
                    <a:rPr kumimoji="1" lang="en-US" sz="2800" b="1" dirty="0">
                      <a:solidFill>
                        <a:srgbClr val="3A05A3"/>
                      </a:solidFill>
                      <a:sym typeface="Symbol" pitchFamily="18" charset="2"/>
                    </a:rPr>
                    <a:t>)</a:t>
                  </a:r>
                </a:p>
              </p:txBody>
            </p:sp>
            <p:sp>
              <p:nvSpPr>
                <p:cNvPr id="106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1657" y="3159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sz="2800" b="1" dirty="0">
                      <a:solidFill>
                        <a:srgbClr val="3A05A3"/>
                      </a:solidFill>
                    </a:rPr>
                    <a:t>–</a:t>
                  </a:r>
                  <a:endParaRPr lang="th-TH" sz="2800" b="1" dirty="0">
                    <a:solidFill>
                      <a:srgbClr val="3A05A3"/>
                    </a:solidFill>
                  </a:endParaRPr>
                </a:p>
              </p:txBody>
            </p:sp>
          </p:grpSp>
        </p:grpSp>
        <p:sp>
          <p:nvSpPr>
            <p:cNvPr id="92" name="Rectangle 85"/>
            <p:cNvSpPr>
              <a:spLocks noChangeArrowheads="1"/>
            </p:cNvSpPr>
            <p:nvPr/>
          </p:nvSpPr>
          <p:spPr bwMode="auto">
            <a:xfrm>
              <a:off x="1921" y="3414"/>
              <a:ext cx="742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2800" b="1" dirty="0">
                  <a:solidFill>
                    <a:srgbClr val="3A05A3"/>
                  </a:solidFill>
                  <a:sym typeface="Symbol" pitchFamily="18" charset="2"/>
                </a:rPr>
                <a:t>p</a:t>
              </a:r>
              <a:r>
                <a:rPr kumimoji="1" lang="en-US" sz="2800" b="1" baseline="-25000" dirty="0">
                  <a:solidFill>
                    <a:srgbClr val="3A05A3"/>
                  </a:solidFill>
                  <a:sym typeface="Symbol" pitchFamily="18" charset="2"/>
                </a:rPr>
                <a:t>2</a:t>
              </a:r>
              <a:r>
                <a:rPr kumimoji="1" lang="en-US" sz="2800" b="1" dirty="0">
                  <a:solidFill>
                    <a:srgbClr val="3A05A3"/>
                  </a:solidFill>
                  <a:sym typeface="Symbol" pitchFamily="18" charset="2"/>
                </a:rPr>
                <a:t>(1 – p</a:t>
              </a:r>
              <a:r>
                <a:rPr kumimoji="1" lang="en-US" sz="2800" b="1" baseline="-25000" dirty="0">
                  <a:solidFill>
                    <a:srgbClr val="3A05A3"/>
                  </a:solidFill>
                  <a:sym typeface="Symbol" pitchFamily="18" charset="2"/>
                </a:rPr>
                <a:t>2</a:t>
              </a:r>
              <a:r>
                <a:rPr kumimoji="1" lang="en-US" sz="2800" b="1" dirty="0">
                  <a:solidFill>
                    <a:srgbClr val="3A05A3"/>
                  </a:solidFill>
                  <a:sym typeface="Symbol" pitchFamily="18" charset="2"/>
                </a:rPr>
                <a:t>)</a:t>
              </a:r>
            </a:p>
          </p:txBody>
        </p:sp>
        <p:sp>
          <p:nvSpPr>
            <p:cNvPr id="93" name="Rectangle 86"/>
            <p:cNvSpPr>
              <a:spLocks noChangeArrowheads="1"/>
            </p:cNvSpPr>
            <p:nvPr/>
          </p:nvSpPr>
          <p:spPr bwMode="auto">
            <a:xfrm>
              <a:off x="2089" y="3614"/>
              <a:ext cx="267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2800" b="1" dirty="0">
                  <a:solidFill>
                    <a:srgbClr val="3A05A3"/>
                  </a:solidFill>
                  <a:sym typeface="Symbol" pitchFamily="18" charset="2"/>
                </a:rPr>
                <a:t>n</a:t>
              </a:r>
              <a:r>
                <a:rPr kumimoji="1" lang="en-US" sz="2800" b="1" baseline="-25000" dirty="0">
                  <a:solidFill>
                    <a:srgbClr val="3A05A3"/>
                  </a:solidFill>
                  <a:sym typeface="Symbol" pitchFamily="18" charset="2"/>
                </a:rPr>
                <a:t>2</a:t>
              </a:r>
            </a:p>
          </p:txBody>
        </p:sp>
        <p:sp>
          <p:nvSpPr>
            <p:cNvPr id="94" name="Text Box 87"/>
            <p:cNvSpPr txBox="1">
              <a:spLocks noChangeArrowheads="1"/>
            </p:cNvSpPr>
            <p:nvPr/>
          </p:nvSpPr>
          <p:spPr bwMode="auto">
            <a:xfrm>
              <a:off x="1705" y="3544"/>
              <a:ext cx="33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b="1" dirty="0">
                  <a:solidFill>
                    <a:srgbClr val="3A05A3"/>
                  </a:solidFill>
                </a:rPr>
                <a:t>+</a:t>
              </a:r>
              <a:endParaRPr lang="th-TH" sz="2800" b="1" dirty="0">
                <a:solidFill>
                  <a:srgbClr val="3A05A3"/>
                </a:solidFill>
              </a:endParaRPr>
            </a:p>
          </p:txBody>
        </p:sp>
        <p:sp>
          <p:nvSpPr>
            <p:cNvPr id="95" name="Line 94"/>
            <p:cNvSpPr>
              <a:spLocks noChangeShapeType="1"/>
            </p:cNvSpPr>
            <p:nvPr/>
          </p:nvSpPr>
          <p:spPr bwMode="auto">
            <a:xfrm>
              <a:off x="1037" y="3705"/>
              <a:ext cx="634" cy="0"/>
            </a:xfrm>
            <a:prstGeom prst="line">
              <a:avLst/>
            </a:prstGeom>
            <a:noFill/>
            <a:ln w="28575">
              <a:solidFill>
                <a:srgbClr val="3805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800">
                <a:solidFill>
                  <a:srgbClr val="3A05A3"/>
                </a:solidFill>
              </a:endParaRPr>
            </a:p>
          </p:txBody>
        </p:sp>
        <p:sp>
          <p:nvSpPr>
            <p:cNvPr id="96" name="Line 95"/>
            <p:cNvSpPr>
              <a:spLocks noChangeShapeType="1"/>
            </p:cNvSpPr>
            <p:nvPr/>
          </p:nvSpPr>
          <p:spPr bwMode="auto">
            <a:xfrm>
              <a:off x="1951" y="3705"/>
              <a:ext cx="634" cy="0"/>
            </a:xfrm>
            <a:prstGeom prst="line">
              <a:avLst/>
            </a:prstGeom>
            <a:noFill/>
            <a:ln w="28575">
              <a:solidFill>
                <a:srgbClr val="3805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800">
                <a:solidFill>
                  <a:srgbClr val="3A05A3"/>
                </a:solidFill>
              </a:endParaRPr>
            </a:p>
          </p:txBody>
        </p:sp>
        <p:grpSp>
          <p:nvGrpSpPr>
            <p:cNvPr id="97" name="Group 97"/>
            <p:cNvGrpSpPr>
              <a:grpSpLocks/>
            </p:cNvGrpSpPr>
            <p:nvPr/>
          </p:nvGrpSpPr>
          <p:grpSpPr bwMode="auto">
            <a:xfrm>
              <a:off x="890" y="3476"/>
              <a:ext cx="1795" cy="398"/>
              <a:chOff x="890" y="3476"/>
              <a:chExt cx="1795" cy="398"/>
            </a:xfrm>
          </p:grpSpPr>
          <p:grpSp>
            <p:nvGrpSpPr>
              <p:cNvPr id="98" name="Group 91"/>
              <p:cNvGrpSpPr>
                <a:grpSpLocks/>
              </p:cNvGrpSpPr>
              <p:nvPr/>
            </p:nvGrpSpPr>
            <p:grpSpPr bwMode="auto">
              <a:xfrm>
                <a:off x="890" y="3476"/>
                <a:ext cx="128" cy="398"/>
                <a:chOff x="640" y="3504"/>
                <a:chExt cx="128" cy="398"/>
              </a:xfrm>
            </p:grpSpPr>
            <p:sp>
              <p:nvSpPr>
                <p:cNvPr id="100" name="Line 88"/>
                <p:cNvSpPr>
                  <a:spLocks noChangeShapeType="1"/>
                </p:cNvSpPr>
                <p:nvPr/>
              </p:nvSpPr>
              <p:spPr bwMode="auto">
                <a:xfrm flipH="1">
                  <a:off x="685" y="3504"/>
                  <a:ext cx="83" cy="394"/>
                </a:xfrm>
                <a:prstGeom prst="line">
                  <a:avLst/>
                </a:prstGeom>
                <a:noFill/>
                <a:ln w="28575">
                  <a:solidFill>
                    <a:srgbClr val="3805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800">
                    <a:solidFill>
                      <a:srgbClr val="3A05A3"/>
                    </a:solidFill>
                  </a:endParaRPr>
                </a:p>
              </p:txBody>
            </p:sp>
            <p:sp>
              <p:nvSpPr>
                <p:cNvPr id="101" name="Line 89"/>
                <p:cNvSpPr>
                  <a:spLocks noChangeShapeType="1"/>
                </p:cNvSpPr>
                <p:nvPr/>
              </p:nvSpPr>
              <p:spPr bwMode="auto">
                <a:xfrm flipH="1" flipV="1">
                  <a:off x="640" y="3787"/>
                  <a:ext cx="48" cy="115"/>
                </a:xfrm>
                <a:prstGeom prst="line">
                  <a:avLst/>
                </a:prstGeom>
                <a:noFill/>
                <a:ln w="28575">
                  <a:solidFill>
                    <a:srgbClr val="3805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800">
                    <a:solidFill>
                      <a:srgbClr val="3A05A3"/>
                    </a:solidFill>
                  </a:endParaRPr>
                </a:p>
              </p:txBody>
            </p:sp>
          </p:grpSp>
          <p:sp>
            <p:nvSpPr>
              <p:cNvPr id="99" name="Line 96"/>
              <p:cNvSpPr>
                <a:spLocks noChangeShapeType="1"/>
              </p:cNvSpPr>
              <p:nvPr/>
            </p:nvSpPr>
            <p:spPr bwMode="auto">
              <a:xfrm>
                <a:off x="1015" y="3484"/>
                <a:ext cx="1670" cy="0"/>
              </a:xfrm>
              <a:prstGeom prst="line">
                <a:avLst/>
              </a:prstGeom>
              <a:noFill/>
              <a:ln w="28575">
                <a:solidFill>
                  <a:srgbClr val="38059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800">
                  <a:solidFill>
                    <a:srgbClr val="3A05A3"/>
                  </a:solidFill>
                </a:endParaRPr>
              </a:p>
            </p:txBody>
          </p:sp>
        </p:grpSp>
      </p:grpSp>
      <p:grpSp>
        <p:nvGrpSpPr>
          <p:cNvPr id="107" name="Group 106"/>
          <p:cNvGrpSpPr>
            <a:grpSpLocks/>
          </p:cNvGrpSpPr>
          <p:nvPr/>
        </p:nvGrpSpPr>
        <p:grpSpPr bwMode="auto">
          <a:xfrm>
            <a:off x="5544817" y="4997970"/>
            <a:ext cx="1729422" cy="538163"/>
            <a:chOff x="3936" y="2281"/>
            <a:chExt cx="1104" cy="339"/>
          </a:xfrm>
        </p:grpSpPr>
        <p:sp>
          <p:nvSpPr>
            <p:cNvPr id="108" name="Text Box 80"/>
            <p:cNvSpPr txBox="1">
              <a:spLocks noChangeArrowheads="1"/>
            </p:cNvSpPr>
            <p:nvPr/>
          </p:nvSpPr>
          <p:spPr bwMode="auto">
            <a:xfrm>
              <a:off x="3936" y="2290"/>
              <a:ext cx="110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 b="1" dirty="0">
                  <a:solidFill>
                    <a:srgbClr val="38059F"/>
                  </a:solidFill>
                </a:rPr>
                <a:t>~   </a:t>
              </a:r>
              <a:r>
                <a:rPr lang="en-US" sz="2800" b="1" dirty="0">
                  <a:solidFill>
                    <a:srgbClr val="3A05A3"/>
                  </a:solidFill>
                </a:rPr>
                <a:t>N(0 , 1)</a:t>
              </a:r>
              <a:endParaRPr lang="th-TH" sz="2800" b="1" dirty="0">
                <a:solidFill>
                  <a:srgbClr val="3A05A3"/>
                </a:solidFill>
              </a:endParaRPr>
            </a:p>
          </p:txBody>
        </p:sp>
        <p:sp>
          <p:nvSpPr>
            <p:cNvPr id="109" name="Text Box 81"/>
            <p:cNvSpPr txBox="1">
              <a:spLocks noChangeArrowheads="1"/>
            </p:cNvSpPr>
            <p:nvPr/>
          </p:nvSpPr>
          <p:spPr bwMode="auto">
            <a:xfrm>
              <a:off x="3950" y="2281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 b="1" dirty="0">
                  <a:solidFill>
                    <a:srgbClr val="38059F"/>
                  </a:solidFill>
                </a:rPr>
                <a:t>:</a:t>
              </a:r>
              <a:endParaRPr lang="th-TH" sz="2800" b="1" dirty="0">
                <a:solidFill>
                  <a:srgbClr val="38059F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5FC01-EC7C-43B5-B548-A2A298A7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61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6" grpId="0"/>
      <p:bldP spid="47" grpId="0"/>
      <p:bldP spid="48" grpId="0"/>
      <p:bldP spid="58" grpId="0"/>
      <p:bldP spid="59" grpId="0"/>
      <p:bldP spid="8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1" name="Freeform 15"/>
          <p:cNvSpPr>
            <a:spLocks/>
          </p:cNvSpPr>
          <p:nvPr/>
        </p:nvSpPr>
        <p:spPr bwMode="auto">
          <a:xfrm>
            <a:off x="4438650" y="1619250"/>
            <a:ext cx="1076325" cy="1638300"/>
          </a:xfrm>
          <a:custGeom>
            <a:avLst/>
            <a:gdLst>
              <a:gd name="T0" fmla="*/ 0 w 678"/>
              <a:gd name="T1" fmla="*/ 1638300 h 1032"/>
              <a:gd name="T2" fmla="*/ 0 w 678"/>
              <a:gd name="T3" fmla="*/ 0 h 1032"/>
              <a:gd name="T4" fmla="*/ 152400 w 678"/>
              <a:gd name="T5" fmla="*/ 57150 h 1032"/>
              <a:gd name="T6" fmla="*/ 333375 w 678"/>
              <a:gd name="T7" fmla="*/ 247650 h 1032"/>
              <a:gd name="T8" fmla="*/ 447675 w 678"/>
              <a:gd name="T9" fmla="*/ 457200 h 1032"/>
              <a:gd name="T10" fmla="*/ 581025 w 678"/>
              <a:gd name="T11" fmla="*/ 685800 h 1032"/>
              <a:gd name="T12" fmla="*/ 666750 w 678"/>
              <a:gd name="T13" fmla="*/ 857250 h 1032"/>
              <a:gd name="T14" fmla="*/ 752475 w 678"/>
              <a:gd name="T15" fmla="*/ 990600 h 1032"/>
              <a:gd name="T16" fmla="*/ 838200 w 678"/>
              <a:gd name="T17" fmla="*/ 1143000 h 1032"/>
              <a:gd name="T18" fmla="*/ 901700 w 678"/>
              <a:gd name="T19" fmla="*/ 1238250 h 1032"/>
              <a:gd name="T20" fmla="*/ 1027113 w 678"/>
              <a:gd name="T21" fmla="*/ 1352550 h 1032"/>
              <a:gd name="T22" fmla="*/ 1076325 w 678"/>
              <a:gd name="T23" fmla="*/ 1381125 h 1032"/>
              <a:gd name="T24" fmla="*/ 1076325 w 678"/>
              <a:gd name="T25" fmla="*/ 1638300 h 1032"/>
              <a:gd name="T26" fmla="*/ 0 w 678"/>
              <a:gd name="T27" fmla="*/ 1638300 h 103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78"/>
              <a:gd name="T43" fmla="*/ 0 h 1032"/>
              <a:gd name="T44" fmla="*/ 678 w 678"/>
              <a:gd name="T45" fmla="*/ 1032 h 103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78" h="1032">
                <a:moveTo>
                  <a:pt x="0" y="1032"/>
                </a:moveTo>
                <a:lnTo>
                  <a:pt x="0" y="0"/>
                </a:lnTo>
                <a:lnTo>
                  <a:pt x="96" y="36"/>
                </a:lnTo>
                <a:lnTo>
                  <a:pt x="210" y="156"/>
                </a:lnTo>
                <a:lnTo>
                  <a:pt x="282" y="288"/>
                </a:lnTo>
                <a:lnTo>
                  <a:pt x="366" y="432"/>
                </a:lnTo>
                <a:lnTo>
                  <a:pt x="420" y="540"/>
                </a:lnTo>
                <a:lnTo>
                  <a:pt x="474" y="624"/>
                </a:lnTo>
                <a:lnTo>
                  <a:pt x="528" y="720"/>
                </a:lnTo>
                <a:lnTo>
                  <a:pt x="568" y="780"/>
                </a:lnTo>
                <a:lnTo>
                  <a:pt x="647" y="852"/>
                </a:lnTo>
                <a:lnTo>
                  <a:pt x="678" y="870"/>
                </a:lnTo>
                <a:lnTo>
                  <a:pt x="67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137232" name="Freeform 16"/>
          <p:cNvSpPr>
            <a:spLocks/>
          </p:cNvSpPr>
          <p:nvPr/>
        </p:nvSpPr>
        <p:spPr bwMode="auto">
          <a:xfrm>
            <a:off x="3371850" y="1619250"/>
            <a:ext cx="1066800" cy="1657350"/>
          </a:xfrm>
          <a:custGeom>
            <a:avLst/>
            <a:gdLst>
              <a:gd name="T0" fmla="*/ 1066800 w 666"/>
              <a:gd name="T1" fmla="*/ 1657350 h 1044"/>
              <a:gd name="T2" fmla="*/ 1066800 w 666"/>
              <a:gd name="T3" fmla="*/ 0 h 1044"/>
              <a:gd name="T4" fmla="*/ 922638 w 666"/>
              <a:gd name="T5" fmla="*/ 95250 h 1044"/>
              <a:gd name="T6" fmla="*/ 759254 w 666"/>
              <a:gd name="T7" fmla="*/ 285750 h 1044"/>
              <a:gd name="T8" fmla="*/ 682368 w 666"/>
              <a:gd name="T9" fmla="*/ 514350 h 1044"/>
              <a:gd name="T10" fmla="*/ 528595 w 666"/>
              <a:gd name="T11" fmla="*/ 742950 h 1044"/>
              <a:gd name="T12" fmla="*/ 451708 w 666"/>
              <a:gd name="T13" fmla="*/ 895350 h 1044"/>
              <a:gd name="T14" fmla="*/ 336378 w 666"/>
              <a:gd name="T15" fmla="*/ 1047750 h 1044"/>
              <a:gd name="T16" fmla="*/ 221049 w 666"/>
              <a:gd name="T17" fmla="*/ 1200150 h 1044"/>
              <a:gd name="T18" fmla="*/ 172995 w 666"/>
              <a:gd name="T19" fmla="*/ 1257300 h 1044"/>
              <a:gd name="T20" fmla="*/ 48054 w 666"/>
              <a:gd name="T21" fmla="*/ 1371600 h 1044"/>
              <a:gd name="T22" fmla="*/ 0 w 666"/>
              <a:gd name="T23" fmla="*/ 1400175 h 1044"/>
              <a:gd name="T24" fmla="*/ 0 w 666"/>
              <a:gd name="T25" fmla="*/ 1657350 h 1044"/>
              <a:gd name="T26" fmla="*/ 1066800 w 666"/>
              <a:gd name="T27" fmla="*/ 1657350 h 104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66"/>
              <a:gd name="T43" fmla="*/ 0 h 1044"/>
              <a:gd name="T44" fmla="*/ 666 w 666"/>
              <a:gd name="T45" fmla="*/ 1044 h 104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66" h="1044">
                <a:moveTo>
                  <a:pt x="666" y="1044"/>
                </a:moveTo>
                <a:lnTo>
                  <a:pt x="666" y="0"/>
                </a:lnTo>
                <a:lnTo>
                  <a:pt x="576" y="60"/>
                </a:lnTo>
                <a:lnTo>
                  <a:pt x="474" y="180"/>
                </a:lnTo>
                <a:lnTo>
                  <a:pt x="426" y="324"/>
                </a:lnTo>
                <a:lnTo>
                  <a:pt x="330" y="468"/>
                </a:lnTo>
                <a:lnTo>
                  <a:pt x="282" y="564"/>
                </a:lnTo>
                <a:lnTo>
                  <a:pt x="210" y="660"/>
                </a:lnTo>
                <a:lnTo>
                  <a:pt x="138" y="756"/>
                </a:lnTo>
                <a:lnTo>
                  <a:pt x="108" y="792"/>
                </a:lnTo>
                <a:lnTo>
                  <a:pt x="30" y="864"/>
                </a:lnTo>
                <a:lnTo>
                  <a:pt x="0" y="882"/>
                </a:lnTo>
                <a:lnTo>
                  <a:pt x="0" y="1044"/>
                </a:lnTo>
                <a:lnTo>
                  <a:pt x="666" y="1044"/>
                </a:lnTo>
                <a:close/>
              </a:path>
            </a:pathLst>
          </a:custGeom>
          <a:solidFill>
            <a:srgbClr val="CCFFCC"/>
          </a:solidFill>
          <a:ln w="12700">
            <a:solidFill>
              <a:srgbClr val="CCFFCC"/>
            </a:solidFill>
            <a:round/>
            <a:headEnd/>
            <a:tailEnd/>
          </a:ln>
        </p:spPr>
        <p:txBody>
          <a:bodyPr/>
          <a:lstStyle/>
          <a:p>
            <a:endParaRPr lang="th-TH"/>
          </a:p>
        </p:txBody>
      </p:sp>
      <p:grpSp>
        <p:nvGrpSpPr>
          <p:cNvPr id="2" name="Group 128"/>
          <p:cNvGrpSpPr>
            <a:grpSpLocks/>
          </p:cNvGrpSpPr>
          <p:nvPr/>
        </p:nvGrpSpPr>
        <p:grpSpPr bwMode="auto">
          <a:xfrm>
            <a:off x="3352800" y="3051175"/>
            <a:ext cx="2162175" cy="273050"/>
            <a:chOff x="2112" y="1922"/>
            <a:chExt cx="1362" cy="172"/>
          </a:xfrm>
        </p:grpSpPr>
        <p:sp>
          <p:nvSpPr>
            <p:cNvPr id="18500" name="Line 27"/>
            <p:cNvSpPr>
              <a:spLocks noChangeShapeType="1"/>
            </p:cNvSpPr>
            <p:nvPr/>
          </p:nvSpPr>
          <p:spPr bwMode="auto">
            <a:xfrm>
              <a:off x="2112" y="1968"/>
              <a:ext cx="0" cy="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Line 28"/>
            <p:cNvSpPr>
              <a:spLocks noChangeShapeType="1"/>
            </p:cNvSpPr>
            <p:nvPr/>
          </p:nvSpPr>
          <p:spPr bwMode="auto">
            <a:xfrm>
              <a:off x="3474" y="1922"/>
              <a:ext cx="0" cy="14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7"/>
          <p:cNvGrpSpPr>
            <a:grpSpLocks/>
          </p:cNvGrpSpPr>
          <p:nvPr/>
        </p:nvGrpSpPr>
        <p:grpSpPr bwMode="auto">
          <a:xfrm>
            <a:off x="3336925" y="2317750"/>
            <a:ext cx="2165350" cy="609600"/>
            <a:chOff x="2102" y="1460"/>
            <a:chExt cx="1364" cy="384"/>
          </a:xfrm>
        </p:grpSpPr>
        <p:sp>
          <p:nvSpPr>
            <p:cNvPr id="18495" name="Text Box 21"/>
            <p:cNvSpPr txBox="1">
              <a:spLocks noChangeArrowheads="1"/>
            </p:cNvSpPr>
            <p:nvPr/>
          </p:nvSpPr>
          <p:spPr bwMode="auto">
            <a:xfrm>
              <a:off x="2406" y="1460"/>
              <a:ext cx="77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400" b="1"/>
                <a:t>95%</a:t>
              </a:r>
            </a:p>
          </p:txBody>
        </p:sp>
        <p:sp>
          <p:nvSpPr>
            <p:cNvPr id="18496" name="Line 29"/>
            <p:cNvSpPr>
              <a:spLocks noChangeShapeType="1"/>
            </p:cNvSpPr>
            <p:nvPr/>
          </p:nvSpPr>
          <p:spPr bwMode="auto">
            <a:xfrm>
              <a:off x="2112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30"/>
            <p:cNvSpPr>
              <a:spLocks noChangeShapeType="1"/>
            </p:cNvSpPr>
            <p:nvPr/>
          </p:nvSpPr>
          <p:spPr bwMode="auto">
            <a:xfrm>
              <a:off x="3464" y="163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35"/>
            <p:cNvSpPr>
              <a:spLocks noChangeShapeType="1"/>
            </p:cNvSpPr>
            <p:nvPr/>
          </p:nvSpPr>
          <p:spPr bwMode="auto">
            <a:xfrm flipH="1">
              <a:off x="2102" y="1678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Line 36"/>
            <p:cNvSpPr>
              <a:spLocks noChangeShapeType="1"/>
            </p:cNvSpPr>
            <p:nvPr/>
          </p:nvSpPr>
          <p:spPr bwMode="auto">
            <a:xfrm>
              <a:off x="2986" y="168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2895600" y="3159125"/>
            <a:ext cx="1066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 dirty="0"/>
              <a:t>– 1.96</a:t>
            </a:r>
            <a:endParaRPr lang="th-TH" sz="3200" b="1" dirty="0"/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5165725" y="3155950"/>
            <a:ext cx="7016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200" b="1" dirty="0"/>
              <a:t>1.96</a:t>
            </a:r>
            <a:endParaRPr lang="th-TH" sz="3200" b="1" dirty="0"/>
          </a:p>
        </p:txBody>
      </p:sp>
      <p:grpSp>
        <p:nvGrpSpPr>
          <p:cNvPr id="4" name="Group 126"/>
          <p:cNvGrpSpPr>
            <a:grpSpLocks/>
          </p:cNvGrpSpPr>
          <p:nvPr/>
        </p:nvGrpSpPr>
        <p:grpSpPr bwMode="auto">
          <a:xfrm>
            <a:off x="2819400" y="1600200"/>
            <a:ext cx="3289300" cy="2141539"/>
            <a:chOff x="1776" y="1008"/>
            <a:chExt cx="2072" cy="1349"/>
          </a:xfrm>
        </p:grpSpPr>
        <p:sp>
          <p:nvSpPr>
            <p:cNvPr id="18490" name="Line 17"/>
            <p:cNvSpPr>
              <a:spLocks noChangeShapeType="1"/>
            </p:cNvSpPr>
            <p:nvPr/>
          </p:nvSpPr>
          <p:spPr bwMode="auto">
            <a:xfrm>
              <a:off x="2796" y="1008"/>
              <a:ext cx="0" cy="105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Freeform 18"/>
            <p:cNvSpPr>
              <a:spLocks/>
            </p:cNvSpPr>
            <p:nvPr/>
          </p:nvSpPr>
          <p:spPr bwMode="auto">
            <a:xfrm>
              <a:off x="2818" y="1028"/>
              <a:ext cx="1030" cy="991"/>
            </a:xfrm>
            <a:custGeom>
              <a:avLst/>
              <a:gdLst>
                <a:gd name="T0" fmla="*/ 1029 w 1030"/>
                <a:gd name="T1" fmla="*/ 990 h 991"/>
                <a:gd name="T2" fmla="*/ 921 w 1030"/>
                <a:gd name="T3" fmla="*/ 980 h 991"/>
                <a:gd name="T4" fmla="*/ 866 w 1030"/>
                <a:gd name="T5" fmla="*/ 967 h 991"/>
                <a:gd name="T6" fmla="*/ 813 w 1030"/>
                <a:gd name="T7" fmla="*/ 952 h 991"/>
                <a:gd name="T8" fmla="*/ 758 w 1030"/>
                <a:gd name="T9" fmla="*/ 929 h 991"/>
                <a:gd name="T10" fmla="*/ 703 w 1030"/>
                <a:gd name="T11" fmla="*/ 897 h 991"/>
                <a:gd name="T12" fmla="*/ 651 w 1030"/>
                <a:gd name="T13" fmla="*/ 857 h 991"/>
                <a:gd name="T14" fmla="*/ 541 w 1030"/>
                <a:gd name="T15" fmla="*/ 743 h 991"/>
                <a:gd name="T16" fmla="*/ 433 w 1030"/>
                <a:gd name="T17" fmla="*/ 581 h 991"/>
                <a:gd name="T18" fmla="*/ 325 w 1030"/>
                <a:gd name="T19" fmla="*/ 386 h 991"/>
                <a:gd name="T20" fmla="*/ 270 w 1030"/>
                <a:gd name="T21" fmla="*/ 287 h 991"/>
                <a:gd name="T22" fmla="*/ 215 w 1030"/>
                <a:gd name="T23" fmla="*/ 196 h 991"/>
                <a:gd name="T24" fmla="*/ 163 w 1030"/>
                <a:gd name="T25" fmla="*/ 116 h 991"/>
                <a:gd name="T26" fmla="*/ 108 w 1030"/>
                <a:gd name="T27" fmla="*/ 53 h 991"/>
                <a:gd name="T28" fmla="*/ 53 w 1030"/>
                <a:gd name="T29" fmla="*/ 13 h 991"/>
                <a:gd name="T30" fmla="*/ 0 w 1030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0"/>
                <a:gd name="T49" fmla="*/ 0 h 991"/>
                <a:gd name="T50" fmla="*/ 1030 w 1030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0" h="991">
                  <a:moveTo>
                    <a:pt x="1029" y="990"/>
                  </a:moveTo>
                  <a:lnTo>
                    <a:pt x="921" y="980"/>
                  </a:lnTo>
                  <a:lnTo>
                    <a:pt x="866" y="967"/>
                  </a:lnTo>
                  <a:lnTo>
                    <a:pt x="813" y="952"/>
                  </a:lnTo>
                  <a:lnTo>
                    <a:pt x="758" y="929"/>
                  </a:lnTo>
                  <a:lnTo>
                    <a:pt x="703" y="897"/>
                  </a:lnTo>
                  <a:lnTo>
                    <a:pt x="651" y="857"/>
                  </a:lnTo>
                  <a:lnTo>
                    <a:pt x="541" y="743"/>
                  </a:lnTo>
                  <a:lnTo>
                    <a:pt x="433" y="581"/>
                  </a:lnTo>
                  <a:lnTo>
                    <a:pt x="325" y="386"/>
                  </a:lnTo>
                  <a:lnTo>
                    <a:pt x="270" y="287"/>
                  </a:lnTo>
                  <a:lnTo>
                    <a:pt x="215" y="196"/>
                  </a:lnTo>
                  <a:lnTo>
                    <a:pt x="163" y="116"/>
                  </a:lnTo>
                  <a:lnTo>
                    <a:pt x="108" y="53"/>
                  </a:lnTo>
                  <a:lnTo>
                    <a:pt x="53" y="13"/>
                  </a:lnTo>
                  <a:lnTo>
                    <a:pt x="0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2" name="Freeform 19"/>
            <p:cNvSpPr>
              <a:spLocks/>
            </p:cNvSpPr>
            <p:nvPr/>
          </p:nvSpPr>
          <p:spPr bwMode="auto">
            <a:xfrm>
              <a:off x="1778" y="1028"/>
              <a:ext cx="1041" cy="991"/>
            </a:xfrm>
            <a:custGeom>
              <a:avLst/>
              <a:gdLst>
                <a:gd name="T0" fmla="*/ 0 w 1032"/>
                <a:gd name="T1" fmla="*/ 990 h 991"/>
                <a:gd name="T2" fmla="*/ 109 w 1032"/>
                <a:gd name="T3" fmla="*/ 980 h 991"/>
                <a:gd name="T4" fmla="*/ 164 w 1032"/>
                <a:gd name="T5" fmla="*/ 967 h 991"/>
                <a:gd name="T6" fmla="*/ 220 w 1032"/>
                <a:gd name="T7" fmla="*/ 952 h 991"/>
                <a:gd name="T8" fmla="*/ 273 w 1032"/>
                <a:gd name="T9" fmla="*/ 929 h 991"/>
                <a:gd name="T10" fmla="*/ 329 w 1032"/>
                <a:gd name="T11" fmla="*/ 897 h 991"/>
                <a:gd name="T12" fmla="*/ 384 w 1032"/>
                <a:gd name="T13" fmla="*/ 857 h 991"/>
                <a:gd name="T14" fmla="*/ 492 w 1032"/>
                <a:gd name="T15" fmla="*/ 743 h 991"/>
                <a:gd name="T16" fmla="*/ 601 w 1032"/>
                <a:gd name="T17" fmla="*/ 581 h 991"/>
                <a:gd name="T18" fmla="*/ 712 w 1032"/>
                <a:gd name="T19" fmla="*/ 386 h 991"/>
                <a:gd name="T20" fmla="*/ 766 w 1032"/>
                <a:gd name="T21" fmla="*/ 287 h 991"/>
                <a:gd name="T22" fmla="*/ 821 w 1032"/>
                <a:gd name="T23" fmla="*/ 196 h 991"/>
                <a:gd name="T24" fmla="*/ 876 w 1032"/>
                <a:gd name="T25" fmla="*/ 116 h 991"/>
                <a:gd name="T26" fmla="*/ 929 w 1032"/>
                <a:gd name="T27" fmla="*/ 53 h 991"/>
                <a:gd name="T28" fmla="*/ 985 w 1032"/>
                <a:gd name="T29" fmla="*/ 13 h 991"/>
                <a:gd name="T30" fmla="*/ 1040 w 1032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2"/>
                <a:gd name="T49" fmla="*/ 0 h 991"/>
                <a:gd name="T50" fmla="*/ 1032 w 1032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2" h="991">
                  <a:moveTo>
                    <a:pt x="0" y="990"/>
                  </a:moveTo>
                  <a:lnTo>
                    <a:pt x="108" y="980"/>
                  </a:lnTo>
                  <a:lnTo>
                    <a:pt x="163" y="967"/>
                  </a:lnTo>
                  <a:lnTo>
                    <a:pt x="218" y="952"/>
                  </a:lnTo>
                  <a:lnTo>
                    <a:pt x="271" y="929"/>
                  </a:lnTo>
                  <a:lnTo>
                    <a:pt x="326" y="897"/>
                  </a:lnTo>
                  <a:lnTo>
                    <a:pt x="381" y="857"/>
                  </a:lnTo>
                  <a:lnTo>
                    <a:pt x="488" y="743"/>
                  </a:lnTo>
                  <a:lnTo>
                    <a:pt x="596" y="581"/>
                  </a:lnTo>
                  <a:lnTo>
                    <a:pt x="706" y="386"/>
                  </a:lnTo>
                  <a:lnTo>
                    <a:pt x="759" y="287"/>
                  </a:lnTo>
                  <a:lnTo>
                    <a:pt x="814" y="196"/>
                  </a:lnTo>
                  <a:lnTo>
                    <a:pt x="868" y="116"/>
                  </a:lnTo>
                  <a:lnTo>
                    <a:pt x="921" y="53"/>
                  </a:lnTo>
                  <a:lnTo>
                    <a:pt x="976" y="13"/>
                  </a:lnTo>
                  <a:lnTo>
                    <a:pt x="1031" y="0"/>
                  </a:lnTo>
                </a:path>
              </a:pathLst>
            </a:custGeom>
            <a:noFill/>
            <a:ln w="50800" cap="rnd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3" name="Freeform 20"/>
            <p:cNvSpPr>
              <a:spLocks/>
            </p:cNvSpPr>
            <p:nvPr/>
          </p:nvSpPr>
          <p:spPr bwMode="auto">
            <a:xfrm>
              <a:off x="1776" y="2071"/>
              <a:ext cx="2072" cy="5"/>
            </a:xfrm>
            <a:custGeom>
              <a:avLst/>
              <a:gdLst>
                <a:gd name="T0" fmla="*/ 0 w 2072"/>
                <a:gd name="T1" fmla="*/ 5 h 5"/>
                <a:gd name="T2" fmla="*/ 12 w 2072"/>
                <a:gd name="T3" fmla="*/ 0 h 5"/>
                <a:gd name="T4" fmla="*/ 2072 w 2072"/>
                <a:gd name="T5" fmla="*/ 0 h 5"/>
                <a:gd name="T6" fmla="*/ 0 60000 65536"/>
                <a:gd name="T7" fmla="*/ 0 60000 65536"/>
                <a:gd name="T8" fmla="*/ 0 60000 65536"/>
                <a:gd name="T9" fmla="*/ 0 w 2072"/>
                <a:gd name="T10" fmla="*/ 0 h 5"/>
                <a:gd name="T11" fmla="*/ 2072 w 2072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2" h="5">
                  <a:moveTo>
                    <a:pt x="0" y="5"/>
                  </a:moveTo>
                  <a:lnTo>
                    <a:pt x="12" y="0"/>
                  </a:lnTo>
                  <a:lnTo>
                    <a:pt x="2072" y="0"/>
                  </a:lnTo>
                </a:path>
              </a:pathLst>
            </a:custGeom>
            <a:noFill/>
            <a:ln w="508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494" name="Text Box 40"/>
            <p:cNvSpPr txBox="1">
              <a:spLocks noChangeArrowheads="1"/>
            </p:cNvSpPr>
            <p:nvPr/>
          </p:nvSpPr>
          <p:spPr bwMode="auto">
            <a:xfrm>
              <a:off x="2633" y="1989"/>
              <a:ext cx="33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3200" b="1" dirty="0">
                  <a:sym typeface="Symbol" pitchFamily="18" charset="2"/>
                </a:rPr>
                <a:t>0</a:t>
              </a:r>
              <a:endParaRPr lang="th-TH" sz="3200" b="1" dirty="0">
                <a:sym typeface="Symbol" pitchFamily="18" charset="2"/>
              </a:endParaRPr>
            </a:p>
          </p:txBody>
        </p:sp>
      </p:grpSp>
      <p:sp>
        <p:nvSpPr>
          <p:cNvPr id="70" name="Rectangle 2"/>
          <p:cNvSpPr>
            <a:spLocks noChangeArrowheads="1"/>
          </p:cNvSpPr>
          <p:nvPr/>
        </p:nvSpPr>
        <p:spPr bwMode="auto">
          <a:xfrm>
            <a:off x="228600" y="118110"/>
            <a:ext cx="868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kumimoji="1" lang="th-TH" sz="4800" b="1" dirty="0">
                <a:solidFill>
                  <a:srgbClr val="0000FF"/>
                </a:solidFill>
              </a:rPr>
              <a:t>การประมาณช่วงความเชื่อมั่นของสัดส่วนประชากร</a:t>
            </a:r>
            <a:endParaRPr kumimoji="1" lang="th-TH" sz="4800" dirty="0">
              <a:solidFill>
                <a:srgbClr val="0000FF"/>
              </a:solidFill>
            </a:endParaRPr>
          </a:p>
        </p:txBody>
      </p:sp>
      <p:sp>
        <p:nvSpPr>
          <p:cNvPr id="71" name="Rectangle 43"/>
          <p:cNvSpPr>
            <a:spLocks noChangeArrowheads="1"/>
          </p:cNvSpPr>
          <p:nvPr/>
        </p:nvSpPr>
        <p:spPr bwMode="auto">
          <a:xfrm>
            <a:off x="228599" y="3581400"/>
            <a:ext cx="5935663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/>
            <a:r>
              <a:rPr lang="th-TH" sz="4000" b="1" dirty="0">
                <a:solidFill>
                  <a:srgbClr val="7030A0"/>
                </a:solidFill>
              </a:rPr>
              <a:t>ช่วงความเชื่อมั่น </a:t>
            </a:r>
            <a:r>
              <a:rPr lang="en-US" sz="4000" b="1" dirty="0">
                <a:solidFill>
                  <a:srgbClr val="7030A0"/>
                </a:solidFill>
              </a:rPr>
              <a:t>95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% 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ของ 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p</a:t>
            </a:r>
            <a:r>
              <a:rPr lang="en-US" sz="4000" b="1" baseline="-25000" dirty="0">
                <a:solidFill>
                  <a:srgbClr val="7030A0"/>
                </a:solidFill>
                <a:sym typeface="Symbol" pitchFamily="18" charset="2"/>
              </a:rPr>
              <a:t>1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 – p</a:t>
            </a:r>
            <a:r>
              <a:rPr lang="en-US" sz="4000" b="1" baseline="-25000" dirty="0">
                <a:solidFill>
                  <a:srgbClr val="7030A0"/>
                </a:solidFill>
                <a:sym typeface="Symbol" pitchFamily="18" charset="2"/>
              </a:rPr>
              <a:t>2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คือ</a:t>
            </a:r>
          </a:p>
          <a:p>
            <a:pPr marL="571500" indent="-571500"/>
            <a:r>
              <a:rPr lang="th-TH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r>
              <a:rPr lang="en-US" sz="4000" b="1" dirty="0">
                <a:solidFill>
                  <a:srgbClr val="7030A0"/>
                </a:solidFill>
                <a:sym typeface="Symbol" pitchFamily="18" charset="2"/>
              </a:rPr>
              <a:t> </a:t>
            </a:r>
            <a:endParaRPr lang="th-TH" sz="4000" b="1" dirty="0">
              <a:solidFill>
                <a:srgbClr val="7030A0"/>
              </a:solidFill>
              <a:sym typeface="Symbol" pitchFamily="18" charset="2"/>
            </a:endParaRPr>
          </a:p>
        </p:txBody>
      </p:sp>
      <p:sp>
        <p:nvSpPr>
          <p:cNvPr id="131" name="Rectangle 43"/>
          <p:cNvSpPr>
            <a:spLocks noChangeArrowheads="1"/>
          </p:cNvSpPr>
          <p:nvPr/>
        </p:nvSpPr>
        <p:spPr bwMode="auto">
          <a:xfrm>
            <a:off x="1140778" y="267652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2" name="Rectangle 43"/>
          <p:cNvSpPr>
            <a:spLocks noChangeArrowheads="1"/>
          </p:cNvSpPr>
          <p:nvPr/>
        </p:nvSpPr>
        <p:spPr bwMode="auto">
          <a:xfrm>
            <a:off x="6067266" y="2671445"/>
            <a:ext cx="1628934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71500" indent="-571500" algn="ctr"/>
            <a:r>
              <a:rPr lang="en-US" sz="2800" b="1" dirty="0">
                <a:solidFill>
                  <a:srgbClr val="00660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006600"/>
                </a:solidFill>
                <a:sym typeface="Symbol"/>
              </a:rPr>
              <a:t>/2 =</a:t>
            </a:r>
            <a:r>
              <a:rPr lang="en-US" sz="3200" b="1" dirty="0">
                <a:solidFill>
                  <a:srgbClr val="006600"/>
                </a:solidFill>
              </a:rPr>
              <a:t> 0.025 </a:t>
            </a:r>
            <a:endParaRPr lang="th-TH" sz="32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667000" y="2966408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 flipH="1">
            <a:off x="5615940" y="2983230"/>
            <a:ext cx="544830" cy="279712"/>
          </a:xfrm>
          <a:custGeom>
            <a:avLst/>
            <a:gdLst>
              <a:gd name="connsiteX0" fmla="*/ 0 w 480060"/>
              <a:gd name="connsiteY0" fmla="*/ 16822 h 279712"/>
              <a:gd name="connsiteX1" fmla="*/ 228600 w 480060"/>
              <a:gd name="connsiteY1" fmla="*/ 28252 h 279712"/>
              <a:gd name="connsiteX2" fmla="*/ 480060 w 480060"/>
              <a:gd name="connsiteY2" fmla="*/ 279712 h 279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" h="279712">
                <a:moveTo>
                  <a:pt x="0" y="16822"/>
                </a:moveTo>
                <a:cubicBezTo>
                  <a:pt x="74295" y="629"/>
                  <a:pt x="148590" y="-15563"/>
                  <a:pt x="228600" y="28252"/>
                </a:cubicBezTo>
                <a:cubicBezTo>
                  <a:pt x="308610" y="72067"/>
                  <a:pt x="394335" y="175889"/>
                  <a:pt x="480060" y="279712"/>
                </a:cubicBezTo>
              </a:path>
            </a:pathLst>
          </a:custGeom>
          <a:ln w="19050">
            <a:solidFill>
              <a:srgbClr val="0066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228600" y="528319"/>
            <a:ext cx="8721525" cy="1082041"/>
            <a:chOff x="346275" y="528319"/>
            <a:chExt cx="8721525" cy="1082041"/>
          </a:xfrm>
        </p:grpSpPr>
        <p:sp>
          <p:nvSpPr>
            <p:cNvPr id="113" name="Rectangle 12"/>
            <p:cNvSpPr>
              <a:spLocks noChangeArrowheads="1"/>
            </p:cNvSpPr>
            <p:nvPr/>
          </p:nvSpPr>
          <p:spPr bwMode="auto">
            <a:xfrm>
              <a:off x="346275" y="766825"/>
              <a:ext cx="1025325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3600" b="1" dirty="0">
                  <a:solidFill>
                    <a:srgbClr val="FF0000"/>
                  </a:solidFill>
                  <a:sym typeface="Wingdings" pitchFamily="2" charset="2"/>
                </a:rPr>
                <a:t>X</a:t>
              </a:r>
              <a:r>
                <a:rPr kumimoji="1" lang="en-US" sz="3600" b="1" baseline="-25000" dirty="0">
                  <a:solidFill>
                    <a:srgbClr val="FF0000"/>
                  </a:solidFill>
                  <a:sym typeface="Wingdings" pitchFamily="2" charset="2"/>
                </a:rPr>
                <a:t>i</a:t>
              </a:r>
            </a:p>
          </p:txBody>
        </p:sp>
        <p:sp>
          <p:nvSpPr>
            <p:cNvPr id="115" name="Text Box 33"/>
            <p:cNvSpPr txBox="1">
              <a:spLocks noChangeArrowheads="1"/>
            </p:cNvSpPr>
            <p:nvPr/>
          </p:nvSpPr>
          <p:spPr bwMode="auto">
            <a:xfrm>
              <a:off x="3733800" y="769620"/>
              <a:ext cx="53340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th-TH" sz="3600" b="1" dirty="0">
                  <a:solidFill>
                    <a:srgbClr val="006600"/>
                  </a:solidFill>
                </a:rPr>
                <a:t>เมื่อ </a:t>
              </a:r>
              <a:r>
                <a:rPr lang="en-US" sz="3600" b="1" dirty="0" err="1">
                  <a:solidFill>
                    <a:srgbClr val="006600"/>
                  </a:solidFill>
                </a:rPr>
                <a:t>n</a:t>
              </a:r>
              <a:r>
                <a:rPr lang="en-US" sz="3600" b="1" baseline="-25000" dirty="0" err="1">
                  <a:solidFill>
                    <a:srgbClr val="006600"/>
                  </a:solidFill>
                </a:rPr>
                <a:t>i</a:t>
              </a:r>
              <a:r>
                <a:rPr lang="en-US" sz="3600" b="1" dirty="0">
                  <a:solidFill>
                    <a:srgbClr val="006600"/>
                  </a:solidFill>
                </a:rPr>
                <a:t>  </a:t>
              </a:r>
              <a:r>
                <a:rPr lang="en-US" sz="2800" b="1" dirty="0">
                  <a:solidFill>
                    <a:srgbClr val="006600"/>
                  </a:solidFill>
                  <a:sym typeface="Symbol" pitchFamily="18" charset="2"/>
                </a:rPr>
                <a:t> </a:t>
              </a:r>
              <a:r>
                <a:rPr lang="en-US" sz="3600" b="1" dirty="0">
                  <a:solidFill>
                    <a:srgbClr val="006600"/>
                  </a:solidFill>
                </a:rPr>
                <a:t> </a:t>
              </a:r>
              <a:r>
                <a:rPr lang="th-TH" sz="3600" b="1" dirty="0">
                  <a:solidFill>
                    <a:srgbClr val="006600"/>
                  </a:solidFill>
                </a:rPr>
                <a:t>และ </a:t>
              </a:r>
              <a:r>
                <a:rPr lang="en-US" sz="3600" b="1" dirty="0">
                  <a:solidFill>
                    <a:srgbClr val="006600"/>
                  </a:solidFill>
                </a:rPr>
                <a:t>p</a:t>
              </a:r>
              <a:r>
                <a:rPr lang="en-US" sz="3600" b="1" baseline="-25000" dirty="0">
                  <a:solidFill>
                    <a:srgbClr val="006600"/>
                  </a:solidFill>
                </a:rPr>
                <a:t>i</a:t>
              </a:r>
              <a:r>
                <a:rPr lang="en-US" sz="3600" b="1" dirty="0">
                  <a:solidFill>
                    <a:srgbClr val="006600"/>
                  </a:solidFill>
                </a:rPr>
                <a:t>  </a:t>
              </a:r>
              <a:r>
                <a:rPr lang="en-US" sz="2800" b="1" dirty="0">
                  <a:solidFill>
                    <a:srgbClr val="006600"/>
                  </a:solidFill>
                  <a:sym typeface="Symbol" pitchFamily="18" charset="2"/>
                </a:rPr>
                <a:t></a:t>
              </a:r>
              <a:r>
                <a:rPr lang="en-US" sz="3600" b="1" dirty="0">
                  <a:solidFill>
                    <a:srgbClr val="006600"/>
                  </a:solidFill>
                  <a:sym typeface="Symbol" pitchFamily="18" charset="2"/>
                </a:rPr>
                <a:t> 0.5 </a:t>
              </a:r>
              <a:r>
                <a:rPr lang="th-TH" sz="3600" b="1" dirty="0">
                  <a:solidFill>
                    <a:srgbClr val="7030A0"/>
                  </a:solidFill>
                  <a:sym typeface="Symbol" pitchFamily="18" charset="2"/>
                </a:rPr>
                <a:t>โดยที่ </a:t>
              </a:r>
              <a:r>
                <a:rPr lang="en-US" sz="3600" b="1" dirty="0">
                  <a:solidFill>
                    <a:srgbClr val="7030A0"/>
                  </a:solidFill>
                  <a:sym typeface="Symbol" pitchFamily="18" charset="2"/>
                </a:rPr>
                <a:t>i = 1, 2</a:t>
              </a:r>
              <a:endParaRPr lang="th-TH" sz="3600" b="1" dirty="0">
                <a:solidFill>
                  <a:srgbClr val="7030A0"/>
                </a:solidFill>
                <a:sym typeface="Symbol" pitchFamily="18" charset="2"/>
              </a:endParaRPr>
            </a:p>
          </p:txBody>
        </p:sp>
        <p:sp>
          <p:nvSpPr>
            <p:cNvPr id="152" name="Rectangle 12"/>
            <p:cNvSpPr>
              <a:spLocks noChangeArrowheads="1"/>
            </p:cNvSpPr>
            <p:nvPr/>
          </p:nvSpPr>
          <p:spPr bwMode="auto">
            <a:xfrm>
              <a:off x="685800" y="762000"/>
              <a:ext cx="18288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tabLst>
                  <a:tab pos="457200" algn="l"/>
                </a:tabLst>
              </a:pPr>
              <a:r>
                <a:rPr kumimoji="1" lang="en-US" sz="3600" b="1" dirty="0">
                  <a:solidFill>
                    <a:srgbClr val="FF0000"/>
                  </a:solidFill>
                  <a:sym typeface="Wingdings" pitchFamily="2" charset="2"/>
                </a:rPr>
                <a:t>~ B(</a:t>
              </a:r>
              <a:r>
                <a:rPr kumimoji="1" lang="en-US" sz="3600" b="1" dirty="0" err="1">
                  <a:solidFill>
                    <a:srgbClr val="FF0000"/>
                  </a:solidFill>
                  <a:sym typeface="Wingdings" pitchFamily="2" charset="2"/>
                </a:rPr>
                <a:t>n</a:t>
              </a:r>
              <a:r>
                <a:rPr kumimoji="1" lang="en-US" sz="3600" b="1" baseline="-25000" dirty="0" err="1">
                  <a:solidFill>
                    <a:srgbClr val="FF0000"/>
                  </a:solidFill>
                  <a:sym typeface="Wingdings" pitchFamily="2" charset="2"/>
                </a:rPr>
                <a:t>i</a:t>
              </a:r>
              <a:r>
                <a:rPr kumimoji="1" lang="en-US" sz="3600" b="1" dirty="0">
                  <a:solidFill>
                    <a:srgbClr val="FF0000"/>
                  </a:solidFill>
                  <a:sym typeface="Wingdings" pitchFamily="2" charset="2"/>
                </a:rPr>
                <a:t> , p</a:t>
              </a:r>
              <a:r>
                <a:rPr kumimoji="1" lang="en-US" sz="3600" b="1" baseline="-25000" dirty="0">
                  <a:solidFill>
                    <a:srgbClr val="FF0000"/>
                  </a:solidFill>
                  <a:sym typeface="Wingdings" pitchFamily="2" charset="2"/>
                </a:rPr>
                <a:t>i</a:t>
              </a:r>
              <a:r>
                <a:rPr kumimoji="1" lang="en-US" sz="3600" b="1" dirty="0">
                  <a:solidFill>
                    <a:srgbClr val="FF0000"/>
                  </a:solidFill>
                  <a:sym typeface="Wingdings" pitchFamily="2" charset="2"/>
                </a:rPr>
                <a:t>)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2099310" y="528319"/>
              <a:ext cx="1771650" cy="1082041"/>
              <a:chOff x="6512232" y="853439"/>
              <a:chExt cx="1771650" cy="1082041"/>
            </a:xfrm>
          </p:grpSpPr>
          <p:sp>
            <p:nvSpPr>
              <p:cNvPr id="153" name="Rectangle 37"/>
              <p:cNvSpPr>
                <a:spLocks noChangeArrowheads="1"/>
              </p:cNvSpPr>
              <p:nvPr/>
            </p:nvSpPr>
            <p:spPr bwMode="auto">
              <a:xfrm>
                <a:off x="6512232" y="1093786"/>
                <a:ext cx="1282327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th-TH" sz="3600" b="1" dirty="0">
                    <a:solidFill>
                      <a:srgbClr val="990033"/>
                    </a:solidFill>
                    <a:sym typeface="Symbol" pitchFamily="18" charset="2"/>
                  </a:rPr>
                  <a:t>และ </a:t>
                </a:r>
                <a:r>
                  <a:rPr kumimoji="1" lang="en-US" sz="3600" b="1" dirty="0">
                    <a:solidFill>
                      <a:srgbClr val="990033"/>
                    </a:solidFill>
                    <a:sym typeface="Symbol" pitchFamily="18" charset="2"/>
                  </a:rPr>
                  <a:t>p</a:t>
                </a:r>
                <a:r>
                  <a:rPr kumimoji="1" lang="en-US" sz="3600" b="1" baseline="-25000" dirty="0">
                    <a:solidFill>
                      <a:srgbClr val="990033"/>
                    </a:solidFill>
                    <a:sym typeface="Symbol" pitchFamily="18" charset="2"/>
                  </a:rPr>
                  <a:t>i</a:t>
                </a:r>
                <a:r>
                  <a:rPr kumimoji="1" lang="en-US" sz="3600" b="1" dirty="0">
                    <a:solidFill>
                      <a:srgbClr val="990033"/>
                    </a:solidFill>
                    <a:sym typeface="Symbol" pitchFamily="18" charset="2"/>
                  </a:rPr>
                  <a:t> = </a:t>
                </a:r>
              </a:p>
            </p:txBody>
          </p:sp>
          <p:sp>
            <p:nvSpPr>
              <p:cNvPr id="155" name="Rectangle 37"/>
              <p:cNvSpPr>
                <a:spLocks noChangeArrowheads="1"/>
              </p:cNvSpPr>
              <p:nvPr/>
            </p:nvSpPr>
            <p:spPr bwMode="auto">
              <a:xfrm>
                <a:off x="7069701" y="1032510"/>
                <a:ext cx="1111562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3600" b="1" dirty="0">
                    <a:solidFill>
                      <a:srgbClr val="990033"/>
                    </a:solidFill>
                    <a:sym typeface="Symbol" pitchFamily="18" charset="2"/>
                  </a:rPr>
                  <a:t>^</a:t>
                </a:r>
              </a:p>
            </p:txBody>
          </p:sp>
          <p:sp>
            <p:nvSpPr>
              <p:cNvPr id="156" name="Rectangle 37"/>
              <p:cNvSpPr>
                <a:spLocks noChangeArrowheads="1"/>
              </p:cNvSpPr>
              <p:nvPr/>
            </p:nvSpPr>
            <p:spPr bwMode="auto">
              <a:xfrm>
                <a:off x="7656441" y="853439"/>
                <a:ext cx="627441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3600" b="1" dirty="0">
                    <a:solidFill>
                      <a:srgbClr val="990033"/>
                    </a:solidFill>
                    <a:sym typeface="Symbol" pitchFamily="18" charset="2"/>
                  </a:rPr>
                  <a:t>X</a:t>
                </a:r>
                <a:r>
                  <a:rPr kumimoji="1" lang="en-US" sz="3600" b="1" baseline="-25000" dirty="0">
                    <a:solidFill>
                      <a:srgbClr val="990033"/>
                    </a:solidFill>
                    <a:sym typeface="Symbol" pitchFamily="18" charset="2"/>
                  </a:rPr>
                  <a:t>i</a:t>
                </a:r>
              </a:p>
            </p:txBody>
          </p:sp>
          <p:sp>
            <p:nvSpPr>
              <p:cNvPr id="171" name="Rectangle 37"/>
              <p:cNvSpPr>
                <a:spLocks noChangeArrowheads="1"/>
              </p:cNvSpPr>
              <p:nvPr/>
            </p:nvSpPr>
            <p:spPr bwMode="auto">
              <a:xfrm>
                <a:off x="7724460" y="1173480"/>
                <a:ext cx="491093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tabLst>
                    <a:tab pos="457200" algn="l"/>
                  </a:tabLst>
                </a:pPr>
                <a:r>
                  <a:rPr kumimoji="1" lang="en-US" sz="3600" b="1" dirty="0" err="1">
                    <a:solidFill>
                      <a:srgbClr val="990033"/>
                    </a:solidFill>
                    <a:sym typeface="Symbol" pitchFamily="18" charset="2"/>
                  </a:rPr>
                  <a:t>n</a:t>
                </a:r>
                <a:r>
                  <a:rPr kumimoji="1" lang="en-US" sz="3600" b="1" baseline="-25000" dirty="0" err="1">
                    <a:solidFill>
                      <a:srgbClr val="990033"/>
                    </a:solidFill>
                    <a:sym typeface="Symbol" pitchFamily="18" charset="2"/>
                  </a:rPr>
                  <a:t>i</a:t>
                </a:r>
                <a:endParaRPr kumimoji="1" lang="en-US" sz="3600" b="1" baseline="-25000" dirty="0">
                  <a:solidFill>
                    <a:srgbClr val="990033"/>
                  </a:solidFill>
                  <a:sym typeface="Symbol" pitchFamily="18" charset="2"/>
                </a:endParaRPr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 flipH="1">
                <a:off x="7724179" y="1413510"/>
                <a:ext cx="365760" cy="0"/>
              </a:xfrm>
              <a:prstGeom prst="line">
                <a:avLst/>
              </a:prstGeom>
              <a:ln w="19050">
                <a:solidFill>
                  <a:srgbClr val="99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Rectangle 18"/>
          <p:cNvSpPr>
            <a:spLocks noChangeArrowheads="1"/>
          </p:cNvSpPr>
          <p:nvPr/>
        </p:nvSpPr>
        <p:spPr bwMode="auto">
          <a:xfrm>
            <a:off x="-22859" y="1321722"/>
            <a:ext cx="4857750" cy="184943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th-TH" sz="3600">
              <a:solidFill>
                <a:srgbClr val="7030A0"/>
              </a:solidFill>
            </a:endParaRPr>
          </a:p>
        </p:txBody>
      </p:sp>
      <p:sp>
        <p:nvSpPr>
          <p:cNvPr id="128" name="Rectangle 43"/>
          <p:cNvSpPr>
            <a:spLocks noChangeArrowheads="1"/>
          </p:cNvSpPr>
          <p:nvPr/>
        </p:nvSpPr>
        <p:spPr bwMode="auto">
          <a:xfrm>
            <a:off x="4953000" y="1283979"/>
            <a:ext cx="2176256" cy="6699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571500" indent="-571500"/>
            <a:r>
              <a:rPr lang="th-TH" sz="3200" b="1" dirty="0">
                <a:solidFill>
                  <a:srgbClr val="7030A0"/>
                </a:solidFill>
              </a:rPr>
              <a:t>ให้  </a:t>
            </a:r>
            <a:r>
              <a:rPr lang="en-US" sz="3200" b="1" dirty="0">
                <a:solidFill>
                  <a:srgbClr val="7030A0"/>
                </a:solidFill>
              </a:rPr>
              <a:t>1 – </a:t>
            </a:r>
            <a:r>
              <a:rPr lang="en-US" sz="2600" b="1" dirty="0">
                <a:solidFill>
                  <a:srgbClr val="7030A0"/>
                </a:solidFill>
                <a:sym typeface="Symbol"/>
              </a:rPr>
              <a:t></a:t>
            </a:r>
            <a:r>
              <a:rPr lang="en-US" sz="3200" b="1" dirty="0">
                <a:solidFill>
                  <a:srgbClr val="7030A0"/>
                </a:solidFill>
                <a:sym typeface="Symbol"/>
              </a:rPr>
              <a:t> =</a:t>
            </a:r>
            <a:r>
              <a:rPr lang="en-US" sz="3200" b="1" dirty="0">
                <a:solidFill>
                  <a:srgbClr val="7030A0"/>
                </a:solidFill>
              </a:rPr>
              <a:t> 0.95 </a:t>
            </a:r>
            <a:endParaRPr lang="th-TH" sz="3200" b="1" dirty="0">
              <a:solidFill>
                <a:srgbClr val="7030A0"/>
              </a:solidFill>
              <a:sym typeface="Symbol" pitchFamily="18" charset="2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52400" y="4088558"/>
            <a:ext cx="6726555" cy="1063752"/>
            <a:chOff x="283845" y="4306824"/>
            <a:chExt cx="6726555" cy="1063752"/>
          </a:xfrm>
        </p:grpSpPr>
        <p:grpSp>
          <p:nvGrpSpPr>
            <p:cNvPr id="23" name="Group 22"/>
            <p:cNvGrpSpPr/>
            <p:nvPr/>
          </p:nvGrpSpPr>
          <p:grpSpPr>
            <a:xfrm>
              <a:off x="283845" y="4312309"/>
              <a:ext cx="6726555" cy="1058267"/>
              <a:chOff x="228600" y="4312309"/>
              <a:chExt cx="6582727" cy="1058267"/>
            </a:xfrm>
          </p:grpSpPr>
          <p:sp>
            <p:nvSpPr>
              <p:cNvPr id="183" name="Rectangle 42"/>
              <p:cNvSpPr>
                <a:spLocks noChangeArrowheads="1"/>
              </p:cNvSpPr>
              <p:nvPr/>
            </p:nvSpPr>
            <p:spPr bwMode="auto">
              <a:xfrm>
                <a:off x="5407024" y="4547616"/>
                <a:ext cx="1404303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  <a:tabLst>
                    <a:tab pos="457200" algn="l"/>
                  </a:tabLst>
                </a:pPr>
                <a:r>
                  <a:rPr kumimoji="1" lang="en-US" sz="3600" b="1" u="sng" dirty="0">
                    <a:solidFill>
                      <a:srgbClr val="7030A0"/>
                    </a:solidFill>
                    <a:sym typeface="Symbol" pitchFamily="18" charset="2"/>
                  </a:rPr>
                  <a:t>&lt;</a:t>
                </a:r>
                <a:r>
                  <a:rPr kumimoji="1" lang="en-US" sz="3600" b="1" dirty="0">
                    <a:solidFill>
                      <a:srgbClr val="7030A0"/>
                    </a:solidFill>
                    <a:sym typeface="Symbol" pitchFamily="18" charset="2"/>
                  </a:rPr>
                  <a:t>  p</a:t>
                </a:r>
                <a:r>
                  <a:rPr kumimoji="1" lang="en-US" sz="3600" b="1" baseline="-25000" dirty="0">
                    <a:solidFill>
                      <a:srgbClr val="7030A0"/>
                    </a:solidFill>
                    <a:sym typeface="Symbol" pitchFamily="18" charset="2"/>
                  </a:rPr>
                  <a:t>1</a:t>
                </a:r>
                <a:r>
                  <a:rPr kumimoji="1" lang="en-US" sz="3600" b="1" dirty="0">
                    <a:solidFill>
                      <a:srgbClr val="7030A0"/>
                    </a:solidFill>
                    <a:sym typeface="Symbol" pitchFamily="18" charset="2"/>
                  </a:rPr>
                  <a:t> – p</a:t>
                </a:r>
                <a:r>
                  <a:rPr kumimoji="1" lang="en-US" sz="3600" b="1" baseline="-25000" dirty="0">
                    <a:solidFill>
                      <a:srgbClr val="7030A0"/>
                    </a:solidFill>
                    <a:sym typeface="Symbol" pitchFamily="18" charset="2"/>
                  </a:rPr>
                  <a:t>2</a:t>
                </a:r>
                <a:r>
                  <a:rPr kumimoji="1" lang="en-US" sz="3600" b="1" dirty="0">
                    <a:solidFill>
                      <a:srgbClr val="7030A0"/>
                    </a:solidFill>
                    <a:sym typeface="Symbol" pitchFamily="18" charset="2"/>
                  </a:rPr>
                  <a:t> </a:t>
                </a: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228600" y="4312309"/>
                <a:ext cx="4974962" cy="1058267"/>
                <a:chOff x="228600" y="4312309"/>
                <a:chExt cx="4974962" cy="1058267"/>
              </a:xfrm>
            </p:grpSpPr>
            <p:grpSp>
              <p:nvGrpSpPr>
                <p:cNvPr id="14" name="Group 13"/>
                <p:cNvGrpSpPr/>
                <p:nvPr/>
              </p:nvGrpSpPr>
              <p:grpSpPr>
                <a:xfrm>
                  <a:off x="228600" y="4477748"/>
                  <a:ext cx="2171220" cy="715981"/>
                  <a:chOff x="648181" y="5231076"/>
                  <a:chExt cx="2171220" cy="715981"/>
                </a:xfrm>
              </p:grpSpPr>
              <p:grpSp>
                <p:nvGrpSpPr>
                  <p:cNvPr id="125" name="Group 97"/>
                  <p:cNvGrpSpPr>
                    <a:grpSpLocks/>
                  </p:cNvGrpSpPr>
                  <p:nvPr/>
                </p:nvGrpSpPr>
                <p:grpSpPr bwMode="auto">
                  <a:xfrm>
                    <a:off x="678026" y="5231076"/>
                    <a:ext cx="1016000" cy="646113"/>
                    <a:chOff x="2742" y="937"/>
                    <a:chExt cx="640" cy="407"/>
                  </a:xfrm>
                  <a:noFill/>
                </p:grpSpPr>
                <p:sp>
                  <p:nvSpPr>
                    <p:cNvPr id="184" name="Text Box 2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742" y="937"/>
                      <a:ext cx="288" cy="40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9pPr>
                    </a:lstStyle>
                    <a:p>
                      <a:pPr algn="ctr" eaLnBrk="1" hangingPunct="1">
                        <a:spcBef>
                          <a:spcPts val="0"/>
                        </a:spcBef>
                      </a:pPr>
                      <a:r>
                        <a:rPr lang="en-US" sz="3600" b="1" dirty="0">
                          <a:solidFill>
                            <a:srgbClr val="7030A0"/>
                          </a:solidFill>
                        </a:rPr>
                        <a:t>^</a:t>
                      </a:r>
                      <a:endParaRPr lang="en-US" sz="3600" b="1" dirty="0">
                        <a:solidFill>
                          <a:srgbClr val="7030A0"/>
                        </a:solidFill>
                        <a:sym typeface="Symbol" pitchFamily="18" charset="2"/>
                      </a:endParaRPr>
                    </a:p>
                  </p:txBody>
                </p:sp>
                <p:sp>
                  <p:nvSpPr>
                    <p:cNvPr id="185" name="Text Box 9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94" y="937"/>
                      <a:ext cx="288" cy="40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9pPr>
                    </a:lstStyle>
                    <a:p>
                      <a:pPr algn="ctr" eaLnBrk="1" hangingPunct="1">
                        <a:spcBef>
                          <a:spcPts val="0"/>
                        </a:spcBef>
                      </a:pPr>
                      <a:r>
                        <a:rPr lang="en-US" sz="3600" b="1" dirty="0">
                          <a:solidFill>
                            <a:srgbClr val="7030A0"/>
                          </a:solidFill>
                        </a:rPr>
                        <a:t>^</a:t>
                      </a:r>
                      <a:endParaRPr lang="en-US" sz="3600" b="1" dirty="0">
                        <a:solidFill>
                          <a:srgbClr val="7030A0"/>
                        </a:solidFill>
                        <a:sym typeface="Symbol" pitchFamily="18" charset="2"/>
                      </a:endParaRPr>
                    </a:p>
                  </p:txBody>
                </p:sp>
              </p:grpSp>
              <p:sp>
                <p:nvSpPr>
                  <p:cNvPr id="186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48181" y="5300944"/>
                    <a:ext cx="2171220" cy="6461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ts val="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(p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 – p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) – 1.96 </a:t>
                    </a:r>
                    <a:endParaRPr lang="en-US" sz="3600" b="1" dirty="0">
                      <a:solidFill>
                        <a:srgbClr val="7030A0"/>
                      </a:solidFill>
                      <a:sym typeface="Symbol" pitchFamily="18" charset="2"/>
                    </a:endParaRPr>
                  </a:p>
                </p:txBody>
              </p:sp>
            </p:grpSp>
            <p:grpSp>
              <p:nvGrpSpPr>
                <p:cNvPr id="16" name="Group 15"/>
                <p:cNvGrpSpPr/>
                <p:nvPr/>
              </p:nvGrpSpPr>
              <p:grpSpPr>
                <a:xfrm>
                  <a:off x="2200008" y="4312309"/>
                  <a:ext cx="3003554" cy="1058267"/>
                  <a:chOff x="666919" y="5665470"/>
                  <a:chExt cx="3003554" cy="1058267"/>
                </a:xfrm>
              </p:grpSpPr>
              <p:sp>
                <p:nvSpPr>
                  <p:cNvPr id="126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28168" y="5736853"/>
                    <a:ext cx="1560095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>
                      <a:spcBef>
                        <a:spcPts val="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p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(1 – p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) </a:t>
                    </a:r>
                    <a:endParaRPr lang="th-TH" sz="3600" b="1" dirty="0">
                      <a:solidFill>
                        <a:srgbClr val="7030A0"/>
                      </a:solidFill>
                    </a:endParaRPr>
                  </a:p>
                </p:txBody>
              </p:sp>
              <p:grpSp>
                <p:nvGrpSpPr>
                  <p:cNvPr id="127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666919" y="5813693"/>
                    <a:ext cx="3003554" cy="755653"/>
                    <a:chOff x="2685" y="1216"/>
                    <a:chExt cx="1892" cy="476"/>
                  </a:xfrm>
                  <a:noFill/>
                </p:grpSpPr>
                <p:grpSp>
                  <p:nvGrpSpPr>
                    <p:cNvPr id="163" name="Group 11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85" y="1216"/>
                      <a:ext cx="98" cy="476"/>
                      <a:chOff x="2685" y="1216"/>
                      <a:chExt cx="98" cy="476"/>
                    </a:xfrm>
                    <a:grpFill/>
                  </p:grpSpPr>
                  <p:sp>
                    <p:nvSpPr>
                      <p:cNvPr id="168" name="Line 27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737" y="1216"/>
                        <a:ext cx="46" cy="476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7030A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>
                          <a:spcBef>
                            <a:spcPts val="0"/>
                          </a:spcBef>
                        </a:pPr>
                        <a:endParaRPr lang="en-US" sz="3600"/>
                      </a:p>
                    </p:txBody>
                  </p:sp>
                  <p:sp>
                    <p:nvSpPr>
                      <p:cNvPr id="178" name="Line 2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85" y="1631"/>
                        <a:ext cx="48" cy="58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7030A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>
                          <a:spcBef>
                            <a:spcPts val="0"/>
                          </a:spcBef>
                        </a:pPr>
                        <a:endParaRPr lang="en-US" sz="3600">
                          <a:solidFill>
                            <a:srgbClr val="7030A0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67" name="Line 10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79" y="1223"/>
                      <a:ext cx="1798" cy="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endParaRPr lang="en-US" sz="3600"/>
                    </a:p>
                  </p:txBody>
                </p:sp>
              </p:grpSp>
              <p:grpSp>
                <p:nvGrpSpPr>
                  <p:cNvPr id="136" name="Group 135"/>
                  <p:cNvGrpSpPr/>
                  <p:nvPr/>
                </p:nvGrpSpPr>
                <p:grpSpPr>
                  <a:xfrm>
                    <a:off x="863646" y="5964848"/>
                    <a:ext cx="2728499" cy="758889"/>
                    <a:chOff x="226261" y="2066607"/>
                    <a:chExt cx="2728499" cy="758889"/>
                  </a:xfrm>
                </p:grpSpPr>
                <p:grpSp>
                  <p:nvGrpSpPr>
                    <p:cNvPr id="137" name="Group 136"/>
                    <p:cNvGrpSpPr/>
                    <p:nvPr/>
                  </p:nvGrpSpPr>
                  <p:grpSpPr>
                    <a:xfrm>
                      <a:off x="226261" y="2179260"/>
                      <a:ext cx="1197828" cy="646113"/>
                      <a:chOff x="283411" y="2179260"/>
                      <a:chExt cx="1197828" cy="646113"/>
                    </a:xfrm>
                  </p:grpSpPr>
                  <p:sp>
                    <p:nvSpPr>
                      <p:cNvPr id="159" name="Text Box 9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573004" y="2179260"/>
                        <a:ext cx="685800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9pPr>
                      </a:lstStyle>
                      <a:p>
                        <a:pPr algn="ctr">
                          <a:spcBef>
                            <a:spcPts val="0"/>
                          </a:spcBef>
                        </a:pPr>
                        <a:r>
                          <a:rPr lang="en-US" sz="3600" b="1" dirty="0">
                            <a:solidFill>
                              <a:srgbClr val="7030A0"/>
                            </a:solidFill>
                          </a:rPr>
                          <a:t>n</a:t>
                        </a:r>
                        <a:r>
                          <a:rPr lang="en-US" sz="3600" b="1" baseline="-25000" dirty="0">
                            <a:solidFill>
                              <a:srgbClr val="7030A0"/>
                            </a:solidFill>
                          </a:rPr>
                          <a:t>1</a:t>
                        </a:r>
                        <a:endParaRPr lang="th-TH" sz="3600" b="1" dirty="0">
                          <a:solidFill>
                            <a:srgbClr val="7030A0"/>
                          </a:solidFill>
                        </a:endParaRPr>
                      </a:p>
                    </p:txBody>
                  </p:sp>
                  <p:sp>
                    <p:nvSpPr>
                      <p:cNvPr id="160" name="Line 9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3411" y="2383536"/>
                        <a:ext cx="1197828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7030A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>
                          <a:spcBef>
                            <a:spcPts val="0"/>
                          </a:spcBef>
                        </a:pPr>
                        <a:endParaRPr lang="en-US" sz="3600"/>
                      </a:p>
                    </p:txBody>
                  </p:sp>
                </p:grpSp>
                <p:grpSp>
                  <p:nvGrpSpPr>
                    <p:cNvPr id="138" name="Group 137"/>
                    <p:cNvGrpSpPr/>
                    <p:nvPr/>
                  </p:nvGrpSpPr>
                  <p:grpSpPr>
                    <a:xfrm>
                      <a:off x="1756932" y="2179383"/>
                      <a:ext cx="1197828" cy="646113"/>
                      <a:chOff x="1283223" y="2179383"/>
                      <a:chExt cx="1197828" cy="646113"/>
                    </a:xfrm>
                  </p:grpSpPr>
                  <p:sp>
                    <p:nvSpPr>
                      <p:cNvPr id="144" name="Text Box 9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542507" y="2179383"/>
                        <a:ext cx="685800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ngsana New" pitchFamily="18" charset="-34"/>
                            <a:cs typeface="Angsana New" pitchFamily="18" charset="-34"/>
                          </a:defRPr>
                        </a:lvl9pPr>
                      </a:lstStyle>
                      <a:p>
                        <a:pPr algn="ctr">
                          <a:spcBef>
                            <a:spcPts val="0"/>
                          </a:spcBef>
                        </a:pPr>
                        <a:r>
                          <a:rPr lang="en-US" sz="3600" b="1" dirty="0">
                            <a:solidFill>
                              <a:srgbClr val="7030A0"/>
                            </a:solidFill>
                          </a:rPr>
                          <a:t>n</a:t>
                        </a:r>
                        <a:r>
                          <a:rPr lang="en-US" sz="3600" b="1" baseline="-25000" dirty="0">
                            <a:solidFill>
                              <a:srgbClr val="7030A0"/>
                            </a:solidFill>
                          </a:rPr>
                          <a:t>2</a:t>
                        </a:r>
                        <a:endParaRPr lang="th-TH" sz="3600" b="1" dirty="0">
                          <a:solidFill>
                            <a:srgbClr val="7030A0"/>
                          </a:solidFill>
                        </a:endParaRPr>
                      </a:p>
                    </p:txBody>
                  </p:sp>
                  <p:sp>
                    <p:nvSpPr>
                      <p:cNvPr id="149" name="Line 9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83223" y="2374582"/>
                        <a:ext cx="1197828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7030A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>
                          <a:spcBef>
                            <a:spcPts val="0"/>
                          </a:spcBef>
                        </a:pPr>
                        <a:endParaRPr lang="en-US" sz="3600"/>
                      </a:p>
                    </p:txBody>
                  </p:sp>
                </p:grpSp>
                <p:sp>
                  <p:nvSpPr>
                    <p:cNvPr id="139" name="Text Box 9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80769" y="2066607"/>
                      <a:ext cx="411481" cy="64611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>
                      <a:spAutoFit/>
                    </a:bodyPr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en-US" sz="3600" b="1" dirty="0">
                          <a:solidFill>
                            <a:srgbClr val="7030A0"/>
                          </a:solidFill>
                        </a:rPr>
                        <a:t>+</a:t>
                      </a:r>
                      <a:endParaRPr lang="th-TH" sz="3600" b="1" dirty="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  <p:sp>
                <p:nvSpPr>
                  <p:cNvPr id="192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820704" y="5666312"/>
                    <a:ext cx="477093" cy="7620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ts val="0"/>
                      </a:spcBef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^</a:t>
                    </a:r>
                  </a:p>
                </p:txBody>
              </p:sp>
              <p:sp>
                <p:nvSpPr>
                  <p:cNvPr id="193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1621457" y="5665470"/>
                    <a:ext cx="477093" cy="7620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ts val="0"/>
                      </a:spcBef>
                      <a:tabLst>
                        <a:tab pos="457200" algn="l"/>
                      </a:tabLst>
                    </a:pPr>
                    <a:r>
                      <a:rPr kumimoji="1" lang="en-US" sz="3600" b="1" dirty="0">
                        <a:solidFill>
                          <a:srgbClr val="7030A0"/>
                        </a:solidFill>
                        <a:sym typeface="Symbol" pitchFamily="18" charset="2"/>
                      </a:rPr>
                      <a:t>^</a:t>
                    </a:r>
                  </a:p>
                </p:txBody>
              </p:sp>
            </p:grpSp>
          </p:grpSp>
        </p:grpSp>
        <p:sp>
          <p:nvSpPr>
            <p:cNvPr id="129" name="Text Box 23"/>
            <p:cNvSpPr txBox="1">
              <a:spLocks noChangeArrowheads="1"/>
            </p:cNvSpPr>
            <p:nvPr/>
          </p:nvSpPr>
          <p:spPr bwMode="auto">
            <a:xfrm>
              <a:off x="3983658" y="4378207"/>
              <a:ext cx="159418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3600" b="1" dirty="0">
                  <a:solidFill>
                    <a:srgbClr val="7030A0"/>
                  </a:solidFill>
                </a:rPr>
                <a:t>p</a:t>
              </a:r>
              <a:r>
                <a:rPr lang="en-US" sz="3600" b="1" baseline="-25000" dirty="0">
                  <a:solidFill>
                    <a:srgbClr val="7030A0"/>
                  </a:solidFill>
                </a:rPr>
                <a:t>2</a:t>
              </a:r>
              <a:r>
                <a:rPr lang="en-US" sz="3600" b="1" dirty="0">
                  <a:solidFill>
                    <a:srgbClr val="7030A0"/>
                  </a:solidFill>
                </a:rPr>
                <a:t>(1 – p</a:t>
              </a:r>
              <a:r>
                <a:rPr lang="en-US" sz="3600" b="1" baseline="-25000" dirty="0">
                  <a:solidFill>
                    <a:srgbClr val="7030A0"/>
                  </a:solidFill>
                </a:rPr>
                <a:t>2</a:t>
              </a:r>
              <a:r>
                <a:rPr lang="en-US" sz="3600" b="1" dirty="0">
                  <a:solidFill>
                    <a:srgbClr val="7030A0"/>
                  </a:solidFill>
                </a:rPr>
                <a:t>) </a:t>
              </a:r>
              <a:endParaRPr lang="th-TH" sz="3600" b="1" dirty="0">
                <a:solidFill>
                  <a:srgbClr val="7030A0"/>
                </a:solidFill>
              </a:endParaRPr>
            </a:p>
          </p:txBody>
        </p:sp>
        <p:sp>
          <p:nvSpPr>
            <p:cNvPr id="130" name="Rectangle 42"/>
            <p:cNvSpPr>
              <a:spLocks noChangeArrowheads="1"/>
            </p:cNvSpPr>
            <p:nvPr/>
          </p:nvSpPr>
          <p:spPr bwMode="auto">
            <a:xfrm>
              <a:off x="3976031" y="4307666"/>
              <a:ext cx="487517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  <a:tabLst>
                  <a:tab pos="457200" algn="l"/>
                </a:tabLst>
              </a:pP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^</a:t>
              </a:r>
            </a:p>
          </p:txBody>
        </p:sp>
        <p:sp>
          <p:nvSpPr>
            <p:cNvPr id="133" name="Rectangle 42"/>
            <p:cNvSpPr>
              <a:spLocks noChangeArrowheads="1"/>
            </p:cNvSpPr>
            <p:nvPr/>
          </p:nvSpPr>
          <p:spPr bwMode="auto">
            <a:xfrm>
              <a:off x="4794280" y="4306824"/>
              <a:ext cx="487517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  <a:tabLst>
                  <a:tab pos="457200" algn="l"/>
                </a:tabLst>
              </a:pP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^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556000" y="4812458"/>
            <a:ext cx="5475623" cy="1067642"/>
            <a:chOff x="3617615" y="4952158"/>
            <a:chExt cx="5475623" cy="1067642"/>
          </a:xfrm>
        </p:grpSpPr>
        <p:grpSp>
          <p:nvGrpSpPr>
            <p:cNvPr id="142" name="Group 141"/>
            <p:cNvGrpSpPr/>
            <p:nvPr/>
          </p:nvGrpSpPr>
          <p:grpSpPr>
            <a:xfrm>
              <a:off x="3617615" y="4961533"/>
              <a:ext cx="5407491" cy="1058267"/>
              <a:chOff x="-88307" y="4312309"/>
              <a:chExt cx="5291869" cy="1058267"/>
            </a:xfrm>
          </p:grpSpPr>
          <p:grpSp>
            <p:nvGrpSpPr>
              <p:cNvPr id="145" name="Group 144"/>
              <p:cNvGrpSpPr/>
              <p:nvPr/>
            </p:nvGrpSpPr>
            <p:grpSpPr>
              <a:xfrm>
                <a:off x="-88307" y="4477748"/>
                <a:ext cx="2479780" cy="715981"/>
                <a:chOff x="331274" y="5231076"/>
                <a:chExt cx="2479780" cy="715981"/>
              </a:xfrm>
            </p:grpSpPr>
            <p:grpSp>
              <p:nvGrpSpPr>
                <p:cNvPr id="176" name="Group 97"/>
                <p:cNvGrpSpPr>
                  <a:grpSpLocks/>
                </p:cNvGrpSpPr>
                <p:nvPr/>
              </p:nvGrpSpPr>
              <p:grpSpPr bwMode="auto">
                <a:xfrm>
                  <a:off x="678026" y="5231076"/>
                  <a:ext cx="1016000" cy="646113"/>
                  <a:chOff x="2742" y="937"/>
                  <a:chExt cx="640" cy="407"/>
                </a:xfrm>
                <a:noFill/>
              </p:grpSpPr>
              <p:sp>
                <p:nvSpPr>
                  <p:cNvPr id="179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42" y="937"/>
                    <a:ext cx="288" cy="407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algn="ctr" eaLnBrk="1" hangingPunct="1">
                      <a:spcBef>
                        <a:spcPts val="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^</a:t>
                    </a:r>
                    <a:endParaRPr lang="en-US" sz="3600" b="1" dirty="0">
                      <a:solidFill>
                        <a:srgbClr val="7030A0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180" name="Text Box 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94" y="937"/>
                    <a:ext cx="288" cy="407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algn="ctr" eaLnBrk="1" hangingPunct="1">
                      <a:spcBef>
                        <a:spcPts val="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^</a:t>
                    </a:r>
                    <a:endParaRPr lang="en-US" sz="3600" b="1" dirty="0">
                      <a:solidFill>
                        <a:srgbClr val="7030A0"/>
                      </a:solidFill>
                      <a:sym typeface="Symbol" pitchFamily="18" charset="2"/>
                    </a:endParaRPr>
                  </a:p>
                </p:txBody>
              </p:sp>
            </p:grpSp>
            <p:sp>
              <p:nvSpPr>
                <p:cNvPr id="177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331274" y="5300944"/>
                  <a:ext cx="2479780" cy="6461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 eaLnBrk="1" hangingPunct="1">
                    <a:spcBef>
                      <a:spcPts val="0"/>
                    </a:spcBef>
                  </a:pPr>
                  <a:r>
                    <a:rPr kumimoji="1" lang="en-US" sz="3600" b="1" u="sng" dirty="0">
                      <a:solidFill>
                        <a:srgbClr val="7030A0"/>
                      </a:solidFill>
                      <a:sym typeface="Symbol" pitchFamily="18" charset="2"/>
                    </a:rPr>
                    <a:t>&lt;</a:t>
                  </a: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  </a:t>
                  </a:r>
                  <a:r>
                    <a:rPr lang="en-US" sz="3600" b="1" dirty="0">
                      <a:solidFill>
                        <a:srgbClr val="7030A0"/>
                      </a:solidFill>
                    </a:rPr>
                    <a:t>(p</a:t>
                  </a:r>
                  <a:r>
                    <a:rPr lang="en-US" sz="3600" b="1" baseline="-25000" dirty="0">
                      <a:solidFill>
                        <a:srgbClr val="7030A0"/>
                      </a:solidFill>
                    </a:rPr>
                    <a:t>1</a:t>
                  </a:r>
                  <a:r>
                    <a:rPr lang="en-US" sz="3600" b="1" dirty="0">
                      <a:solidFill>
                        <a:srgbClr val="7030A0"/>
                      </a:solidFill>
                    </a:rPr>
                    <a:t> – p</a:t>
                  </a:r>
                  <a:r>
                    <a:rPr lang="en-US" sz="3600" b="1" baseline="-25000" dirty="0">
                      <a:solidFill>
                        <a:srgbClr val="7030A0"/>
                      </a:solidFill>
                    </a:rPr>
                    <a:t>2</a:t>
                  </a:r>
                  <a:r>
                    <a:rPr lang="en-US" sz="3600" b="1" dirty="0">
                      <a:solidFill>
                        <a:srgbClr val="7030A0"/>
                      </a:solidFill>
                    </a:rPr>
                    <a:t>) + 1.96 </a:t>
                  </a:r>
                  <a:endParaRPr lang="en-US" sz="3600" b="1" dirty="0">
                    <a:solidFill>
                      <a:srgbClr val="7030A0"/>
                    </a:solidFill>
                    <a:sym typeface="Symbol" pitchFamily="18" charset="2"/>
                  </a:endParaRPr>
                </a:p>
              </p:txBody>
            </p:sp>
          </p:grpSp>
          <p:grpSp>
            <p:nvGrpSpPr>
              <p:cNvPr id="146" name="Group 145"/>
              <p:cNvGrpSpPr/>
              <p:nvPr/>
            </p:nvGrpSpPr>
            <p:grpSpPr>
              <a:xfrm>
                <a:off x="2200008" y="4312309"/>
                <a:ext cx="3003554" cy="1058267"/>
                <a:chOff x="666919" y="5665470"/>
                <a:chExt cx="3003554" cy="1058267"/>
              </a:xfrm>
            </p:grpSpPr>
            <p:sp>
              <p:nvSpPr>
                <p:cNvPr id="147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828168" y="5736853"/>
                  <a:ext cx="1560095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>
                    <a:spcBef>
                      <a:spcPts val="0"/>
                    </a:spcBef>
                  </a:pPr>
                  <a:r>
                    <a:rPr lang="en-US" sz="3600" b="1" dirty="0">
                      <a:solidFill>
                        <a:srgbClr val="7030A0"/>
                      </a:solidFill>
                    </a:rPr>
                    <a:t>p</a:t>
                  </a:r>
                  <a:r>
                    <a:rPr lang="en-US" sz="3600" b="1" baseline="-25000" dirty="0">
                      <a:solidFill>
                        <a:srgbClr val="7030A0"/>
                      </a:solidFill>
                    </a:rPr>
                    <a:t>1</a:t>
                  </a:r>
                  <a:r>
                    <a:rPr lang="en-US" sz="3600" b="1" dirty="0">
                      <a:solidFill>
                        <a:srgbClr val="7030A0"/>
                      </a:solidFill>
                    </a:rPr>
                    <a:t>(1 – p</a:t>
                  </a:r>
                  <a:r>
                    <a:rPr lang="en-US" sz="3600" b="1" baseline="-25000" dirty="0">
                      <a:solidFill>
                        <a:srgbClr val="7030A0"/>
                      </a:solidFill>
                    </a:rPr>
                    <a:t>1</a:t>
                  </a:r>
                  <a:r>
                    <a:rPr lang="en-US" sz="3600" b="1" dirty="0">
                      <a:solidFill>
                        <a:srgbClr val="7030A0"/>
                      </a:solidFill>
                    </a:rPr>
                    <a:t>) </a:t>
                  </a:r>
                  <a:endParaRPr lang="th-TH" sz="3600" b="1" dirty="0">
                    <a:solidFill>
                      <a:srgbClr val="7030A0"/>
                    </a:solidFill>
                  </a:endParaRPr>
                </a:p>
              </p:txBody>
            </p:sp>
            <p:grpSp>
              <p:nvGrpSpPr>
                <p:cNvPr id="148" name="Group 111"/>
                <p:cNvGrpSpPr>
                  <a:grpSpLocks/>
                </p:cNvGrpSpPr>
                <p:nvPr/>
              </p:nvGrpSpPr>
              <p:grpSpPr bwMode="auto">
                <a:xfrm>
                  <a:off x="666919" y="5813693"/>
                  <a:ext cx="3003554" cy="755653"/>
                  <a:chOff x="2685" y="1216"/>
                  <a:chExt cx="1892" cy="476"/>
                </a:xfrm>
                <a:noFill/>
              </p:grpSpPr>
              <p:grpSp>
                <p:nvGrpSpPr>
                  <p:cNvPr id="170" name="Group 110"/>
                  <p:cNvGrpSpPr>
                    <a:grpSpLocks/>
                  </p:cNvGrpSpPr>
                  <p:nvPr/>
                </p:nvGrpSpPr>
                <p:grpSpPr bwMode="auto">
                  <a:xfrm>
                    <a:off x="2685" y="1216"/>
                    <a:ext cx="98" cy="476"/>
                    <a:chOff x="2685" y="1216"/>
                    <a:chExt cx="98" cy="476"/>
                  </a:xfrm>
                  <a:grpFill/>
                </p:grpSpPr>
                <p:sp>
                  <p:nvSpPr>
                    <p:cNvPr id="173" name="Line 2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737" y="1216"/>
                      <a:ext cx="46" cy="476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endParaRPr lang="en-US" sz="3600"/>
                    </a:p>
                  </p:txBody>
                </p:sp>
                <p:sp>
                  <p:nvSpPr>
                    <p:cNvPr id="175" name="Line 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5" y="1631"/>
                      <a:ext cx="48" cy="58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endParaRPr lang="en-US" sz="360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  <p:sp>
                <p:nvSpPr>
                  <p:cNvPr id="172" name="Line 108"/>
                  <p:cNvSpPr>
                    <a:spLocks noChangeShapeType="1"/>
                  </p:cNvSpPr>
                  <p:nvPr/>
                </p:nvSpPr>
                <p:spPr bwMode="auto">
                  <a:xfrm>
                    <a:off x="2779" y="1223"/>
                    <a:ext cx="1798" cy="0"/>
                  </a:xfrm>
                  <a:prstGeom prst="line">
                    <a:avLst/>
                  </a:prstGeom>
                  <a:grp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spcBef>
                        <a:spcPts val="0"/>
                      </a:spcBef>
                    </a:pPr>
                    <a:endParaRPr lang="en-US" sz="3600"/>
                  </a:p>
                </p:txBody>
              </p:sp>
            </p:grpSp>
            <p:grpSp>
              <p:nvGrpSpPr>
                <p:cNvPr id="151" name="Group 150"/>
                <p:cNvGrpSpPr/>
                <p:nvPr/>
              </p:nvGrpSpPr>
              <p:grpSpPr>
                <a:xfrm>
                  <a:off x="863646" y="5964848"/>
                  <a:ext cx="2728499" cy="758889"/>
                  <a:chOff x="226261" y="2066607"/>
                  <a:chExt cx="2728499" cy="758889"/>
                </a:xfrm>
              </p:grpSpPr>
              <p:grpSp>
                <p:nvGrpSpPr>
                  <p:cNvPr id="158" name="Group 157"/>
                  <p:cNvGrpSpPr/>
                  <p:nvPr/>
                </p:nvGrpSpPr>
                <p:grpSpPr>
                  <a:xfrm>
                    <a:off x="226261" y="2179260"/>
                    <a:ext cx="1197828" cy="646113"/>
                    <a:chOff x="283411" y="2179260"/>
                    <a:chExt cx="1197828" cy="646113"/>
                  </a:xfrm>
                </p:grpSpPr>
                <p:sp>
                  <p:nvSpPr>
                    <p:cNvPr id="166" name="Text Box 9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73004" y="2179260"/>
                      <a:ext cx="685800" cy="64611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en-US" sz="3600" b="1" dirty="0">
                          <a:solidFill>
                            <a:srgbClr val="7030A0"/>
                          </a:solidFill>
                        </a:rPr>
                        <a:t>n</a:t>
                      </a:r>
                      <a:r>
                        <a:rPr lang="en-US" sz="3600" b="1" baseline="-25000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th-TH" sz="3600" b="1" dirty="0">
                        <a:solidFill>
                          <a:srgbClr val="7030A0"/>
                        </a:solidFill>
                      </a:endParaRPr>
                    </a:p>
                  </p:txBody>
                </p:sp>
                <p:sp>
                  <p:nvSpPr>
                    <p:cNvPr id="169" name="Line 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3411" y="2383536"/>
                      <a:ext cx="1197828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endParaRPr lang="en-US" sz="3600"/>
                    </a:p>
                  </p:txBody>
                </p:sp>
              </p:grpSp>
              <p:grpSp>
                <p:nvGrpSpPr>
                  <p:cNvPr id="161" name="Group 160"/>
                  <p:cNvGrpSpPr/>
                  <p:nvPr/>
                </p:nvGrpSpPr>
                <p:grpSpPr>
                  <a:xfrm>
                    <a:off x="1756932" y="2179383"/>
                    <a:ext cx="1197828" cy="646113"/>
                    <a:chOff x="1283223" y="2179383"/>
                    <a:chExt cx="1197828" cy="646113"/>
                  </a:xfrm>
                </p:grpSpPr>
                <p:sp>
                  <p:nvSpPr>
                    <p:cNvPr id="164" name="Text Box 9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542507" y="2179383"/>
                      <a:ext cx="685800" cy="64611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en-US" sz="3600" b="1" dirty="0">
                          <a:solidFill>
                            <a:srgbClr val="7030A0"/>
                          </a:solidFill>
                        </a:rPr>
                        <a:t>n</a:t>
                      </a:r>
                      <a:r>
                        <a:rPr lang="en-US" sz="3600" b="1" baseline="-25000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th-TH" sz="3600" b="1" dirty="0">
                        <a:solidFill>
                          <a:srgbClr val="7030A0"/>
                        </a:solidFill>
                      </a:endParaRPr>
                    </a:p>
                  </p:txBody>
                </p:sp>
                <p:sp>
                  <p:nvSpPr>
                    <p:cNvPr id="165" name="Line 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83223" y="2374582"/>
                      <a:ext cx="1197828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endParaRPr lang="en-US" sz="3600"/>
                    </a:p>
                  </p:txBody>
                </p:sp>
              </p:grpSp>
              <p:sp>
                <p:nvSpPr>
                  <p:cNvPr id="162" name="Text Box 9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68838" y="2066607"/>
                    <a:ext cx="411481" cy="6461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algn="ctr">
                      <a:spcBef>
                        <a:spcPts val="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+</a:t>
                    </a:r>
                    <a:endParaRPr lang="th-TH" sz="3600" b="1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sp>
              <p:nvSpPr>
                <p:cNvPr id="154" name="Rectangle 42"/>
                <p:cNvSpPr>
                  <a:spLocks noChangeArrowheads="1"/>
                </p:cNvSpPr>
                <p:nvPr/>
              </p:nvSpPr>
              <p:spPr bwMode="auto">
                <a:xfrm>
                  <a:off x="820704" y="5666312"/>
                  <a:ext cx="477093" cy="76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spcBef>
                      <a:spcPts val="0"/>
                    </a:spcBef>
                    <a:tabLst>
                      <a:tab pos="457200" algn="l"/>
                    </a:tabLst>
                  </a:pP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^</a:t>
                  </a:r>
                </a:p>
              </p:txBody>
            </p:sp>
            <p:sp>
              <p:nvSpPr>
                <p:cNvPr id="157" name="Rectangle 42"/>
                <p:cNvSpPr>
                  <a:spLocks noChangeArrowheads="1"/>
                </p:cNvSpPr>
                <p:nvPr/>
              </p:nvSpPr>
              <p:spPr bwMode="auto">
                <a:xfrm>
                  <a:off x="1621457" y="5665470"/>
                  <a:ext cx="477093" cy="76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spcBef>
                      <a:spcPts val="0"/>
                    </a:spcBef>
                    <a:tabLst>
                      <a:tab pos="457200" algn="l"/>
                    </a:tabLst>
                  </a:pPr>
                  <a:r>
                    <a:rPr kumimoji="1" lang="en-US" sz="3600" b="1" dirty="0">
                      <a:solidFill>
                        <a:srgbClr val="7030A0"/>
                      </a:solidFill>
                      <a:sym typeface="Symbol" pitchFamily="18" charset="2"/>
                    </a:rPr>
                    <a:t>^</a:t>
                  </a:r>
                </a:p>
              </p:txBody>
            </p:sp>
          </p:grpSp>
        </p:grpSp>
        <p:sp>
          <p:nvSpPr>
            <p:cNvPr id="181" name="Text Box 23"/>
            <p:cNvSpPr txBox="1">
              <a:spLocks noChangeArrowheads="1"/>
            </p:cNvSpPr>
            <p:nvPr/>
          </p:nvSpPr>
          <p:spPr bwMode="auto">
            <a:xfrm>
              <a:off x="7665642" y="5023541"/>
              <a:ext cx="142759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3600" b="1" dirty="0">
                  <a:solidFill>
                    <a:srgbClr val="7030A0"/>
                  </a:solidFill>
                </a:rPr>
                <a:t>p</a:t>
              </a:r>
              <a:r>
                <a:rPr lang="en-US" sz="3600" b="1" baseline="-25000" dirty="0">
                  <a:solidFill>
                    <a:srgbClr val="7030A0"/>
                  </a:solidFill>
                </a:rPr>
                <a:t>2</a:t>
              </a:r>
              <a:r>
                <a:rPr lang="en-US" sz="3600" b="1" dirty="0">
                  <a:solidFill>
                    <a:srgbClr val="7030A0"/>
                  </a:solidFill>
                </a:rPr>
                <a:t>(1 – p</a:t>
              </a:r>
              <a:r>
                <a:rPr lang="en-US" sz="3600" b="1" baseline="-25000" dirty="0">
                  <a:solidFill>
                    <a:srgbClr val="7030A0"/>
                  </a:solidFill>
                </a:rPr>
                <a:t>2</a:t>
              </a:r>
              <a:r>
                <a:rPr lang="en-US" sz="3600" b="1" dirty="0">
                  <a:solidFill>
                    <a:srgbClr val="7030A0"/>
                  </a:solidFill>
                </a:rPr>
                <a:t>) </a:t>
              </a:r>
              <a:endParaRPr lang="th-TH" sz="3600" b="1" dirty="0">
                <a:solidFill>
                  <a:srgbClr val="7030A0"/>
                </a:solidFill>
              </a:endParaRPr>
            </a:p>
          </p:txBody>
        </p:sp>
        <p:sp>
          <p:nvSpPr>
            <p:cNvPr id="182" name="Rectangle 42"/>
            <p:cNvSpPr>
              <a:spLocks noChangeArrowheads="1"/>
            </p:cNvSpPr>
            <p:nvPr/>
          </p:nvSpPr>
          <p:spPr bwMode="auto">
            <a:xfrm>
              <a:off x="7658015" y="4953000"/>
              <a:ext cx="487517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  <a:tabLst>
                  <a:tab pos="457200" algn="l"/>
                </a:tabLst>
              </a:pP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^</a:t>
              </a:r>
            </a:p>
          </p:txBody>
        </p:sp>
        <p:sp>
          <p:nvSpPr>
            <p:cNvPr id="187" name="Rectangle 42"/>
            <p:cNvSpPr>
              <a:spLocks noChangeArrowheads="1"/>
            </p:cNvSpPr>
            <p:nvPr/>
          </p:nvSpPr>
          <p:spPr bwMode="auto">
            <a:xfrm>
              <a:off x="8476264" y="4952158"/>
              <a:ext cx="487517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  <a:tabLst>
                  <a:tab pos="457200" algn="l"/>
                </a:tabLst>
              </a:pPr>
              <a:r>
                <a:rPr kumimoji="1" lang="en-US" sz="3600" b="1" dirty="0">
                  <a:solidFill>
                    <a:srgbClr val="7030A0"/>
                  </a:solidFill>
                  <a:sym typeface="Symbol" pitchFamily="18" charset="2"/>
                </a:rPr>
                <a:t>^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10273" y="1218534"/>
            <a:ext cx="4196551" cy="1327369"/>
            <a:chOff x="-228600" y="1218534"/>
            <a:chExt cx="4196551" cy="1327369"/>
          </a:xfrm>
        </p:grpSpPr>
        <p:grpSp>
          <p:nvGrpSpPr>
            <p:cNvPr id="12" name="Group 11"/>
            <p:cNvGrpSpPr/>
            <p:nvPr/>
          </p:nvGrpSpPr>
          <p:grpSpPr>
            <a:xfrm>
              <a:off x="-228600" y="1218534"/>
              <a:ext cx="4196551" cy="1327369"/>
              <a:chOff x="-305434" y="1218534"/>
              <a:chExt cx="4196551" cy="1327369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-305434" y="1218534"/>
                <a:ext cx="2635250" cy="1327369"/>
                <a:chOff x="-305434" y="1218534"/>
                <a:chExt cx="2635250" cy="1327369"/>
              </a:xfrm>
            </p:grpSpPr>
            <p:grpSp>
              <p:nvGrpSpPr>
                <p:cNvPr id="83" name="Group 97"/>
                <p:cNvGrpSpPr>
                  <a:grpSpLocks/>
                </p:cNvGrpSpPr>
                <p:nvPr/>
              </p:nvGrpSpPr>
              <p:grpSpPr bwMode="auto">
                <a:xfrm>
                  <a:off x="-305434" y="1218534"/>
                  <a:ext cx="2635250" cy="720725"/>
                  <a:chOff x="2524" y="865"/>
                  <a:chExt cx="1660" cy="454"/>
                </a:xfrm>
                <a:noFill/>
              </p:grpSpPr>
              <p:sp>
                <p:nvSpPr>
                  <p:cNvPr id="101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24" y="912"/>
                    <a:ext cx="1660" cy="407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(p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 – p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) – (p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1</a:t>
                    </a: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 – p</a:t>
                    </a:r>
                    <a:r>
                      <a:rPr lang="en-US" sz="3600" b="1" baseline="-25000" dirty="0">
                        <a:solidFill>
                          <a:srgbClr val="7030A0"/>
                        </a:solidFill>
                      </a:rPr>
                      <a:t>2</a:t>
                    </a: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) </a:t>
                    </a:r>
                    <a:r>
                      <a:rPr lang="th-TH" sz="3600" b="1" dirty="0">
                        <a:solidFill>
                          <a:srgbClr val="7030A0"/>
                        </a:solidFill>
                      </a:rPr>
                      <a:t>  </a:t>
                    </a:r>
                    <a:endParaRPr lang="en-US" sz="3600" b="1" dirty="0">
                      <a:solidFill>
                        <a:srgbClr val="7030A0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102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58" y="865"/>
                    <a:ext cx="288" cy="407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^</a:t>
                    </a:r>
                    <a:endParaRPr lang="en-US" sz="3600" b="1" dirty="0">
                      <a:solidFill>
                        <a:srgbClr val="7030A0"/>
                      </a:solidFill>
                      <a:sym typeface="Symbol" pitchFamily="18" charset="2"/>
                    </a:endParaRPr>
                  </a:p>
                </p:txBody>
              </p:sp>
              <p:sp>
                <p:nvSpPr>
                  <p:cNvPr id="103" name="Text Box 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18" y="865"/>
                    <a:ext cx="288" cy="407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sz="3600" b="1" dirty="0">
                        <a:solidFill>
                          <a:srgbClr val="7030A0"/>
                        </a:solidFill>
                      </a:rPr>
                      <a:t>^</a:t>
                    </a:r>
                    <a:endParaRPr lang="en-US" sz="3600" b="1" dirty="0">
                      <a:solidFill>
                        <a:srgbClr val="7030A0"/>
                      </a:solidFill>
                      <a:sym typeface="Symbol" pitchFamily="18" charset="2"/>
                    </a:endParaRPr>
                  </a:p>
                </p:txBody>
              </p:sp>
            </p:grpSp>
            <p:sp>
              <p:nvSpPr>
                <p:cNvPr id="98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31128" y="1899572"/>
                  <a:ext cx="1594057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sz="3600" b="1" dirty="0">
                      <a:solidFill>
                        <a:srgbClr val="7030A0"/>
                      </a:solidFill>
                    </a:rPr>
                    <a:t> V(p</a:t>
                  </a:r>
                  <a:r>
                    <a:rPr lang="en-US" sz="3600" b="1" baseline="-25000" dirty="0">
                      <a:solidFill>
                        <a:srgbClr val="7030A0"/>
                      </a:solidFill>
                    </a:rPr>
                    <a:t>1</a:t>
                  </a:r>
                  <a:r>
                    <a:rPr lang="en-US" sz="3600" b="1" dirty="0">
                      <a:solidFill>
                        <a:srgbClr val="7030A0"/>
                      </a:solidFill>
                    </a:rPr>
                    <a:t> – p</a:t>
                  </a:r>
                  <a:r>
                    <a:rPr lang="en-US" sz="3600" b="1" baseline="-25000" dirty="0">
                      <a:solidFill>
                        <a:srgbClr val="7030A0"/>
                      </a:solidFill>
                    </a:rPr>
                    <a:t>2</a:t>
                  </a:r>
                  <a:r>
                    <a:rPr lang="en-US" sz="3600" b="1" dirty="0">
                      <a:solidFill>
                        <a:srgbClr val="7030A0"/>
                      </a:solidFill>
                    </a:rPr>
                    <a:t>) </a:t>
                  </a:r>
                  <a:endParaRPr lang="th-TH" sz="3600" b="1" dirty="0">
                    <a:solidFill>
                      <a:srgbClr val="7030A0"/>
                    </a:solidFill>
                  </a:endParaRPr>
                </a:p>
              </p:txBody>
            </p:sp>
            <p:grpSp>
              <p:nvGrpSpPr>
                <p:cNvPr id="88" name="Group 111"/>
                <p:cNvGrpSpPr>
                  <a:grpSpLocks/>
                </p:cNvGrpSpPr>
                <p:nvPr/>
              </p:nvGrpSpPr>
              <p:grpSpPr bwMode="auto">
                <a:xfrm>
                  <a:off x="105727" y="1964661"/>
                  <a:ext cx="1576388" cy="504826"/>
                  <a:chOff x="2733" y="1247"/>
                  <a:chExt cx="993" cy="318"/>
                </a:xfrm>
                <a:noFill/>
              </p:grpSpPr>
              <p:grpSp>
                <p:nvGrpSpPr>
                  <p:cNvPr id="90" name="Group 110"/>
                  <p:cNvGrpSpPr>
                    <a:grpSpLocks/>
                  </p:cNvGrpSpPr>
                  <p:nvPr/>
                </p:nvGrpSpPr>
                <p:grpSpPr bwMode="auto">
                  <a:xfrm>
                    <a:off x="2733" y="1248"/>
                    <a:ext cx="90" cy="317"/>
                    <a:chOff x="2733" y="1248"/>
                    <a:chExt cx="90" cy="317"/>
                  </a:xfrm>
                  <a:grpFill/>
                </p:grpSpPr>
                <p:sp>
                  <p:nvSpPr>
                    <p:cNvPr id="92" name="Line 2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777" y="1248"/>
                      <a:ext cx="46" cy="317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 sz="3600"/>
                    </a:p>
                  </p:txBody>
                </p:sp>
                <p:sp>
                  <p:nvSpPr>
                    <p:cNvPr id="93" name="Line 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33" y="1499"/>
                      <a:ext cx="48" cy="58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7030A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 sz="3600">
                        <a:solidFill>
                          <a:srgbClr val="7030A0"/>
                        </a:solidFill>
                      </a:endParaRPr>
                    </a:p>
                  </p:txBody>
                </p:sp>
              </p:grpSp>
              <p:sp>
                <p:nvSpPr>
                  <p:cNvPr id="91" name="Line 108"/>
                  <p:cNvSpPr>
                    <a:spLocks noChangeShapeType="1"/>
                  </p:cNvSpPr>
                  <p:nvPr/>
                </p:nvSpPr>
                <p:spPr bwMode="auto">
                  <a:xfrm>
                    <a:off x="2819" y="1247"/>
                    <a:ext cx="907" cy="0"/>
                  </a:xfrm>
                  <a:prstGeom prst="line">
                    <a:avLst/>
                  </a:prstGeom>
                  <a:grp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3600"/>
                  </a:p>
                </p:txBody>
              </p:sp>
            </p:grpSp>
            <p:sp>
              <p:nvSpPr>
                <p:cNvPr id="85" name="Line 117"/>
                <p:cNvSpPr>
                  <a:spLocks noChangeShapeType="1"/>
                </p:cNvSpPr>
                <p:nvPr/>
              </p:nvSpPr>
              <p:spPr bwMode="auto">
                <a:xfrm>
                  <a:off x="-229234" y="1861472"/>
                  <a:ext cx="2378075" cy="0"/>
                </a:xfrm>
                <a:prstGeom prst="line">
                  <a:avLst/>
                </a:prstGeom>
                <a:noFill/>
                <a:ln w="19050">
                  <a:solidFill>
                    <a:srgbClr val="7030A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3600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2224406" y="1450383"/>
                <a:ext cx="1666711" cy="728302"/>
                <a:chOff x="2190116" y="1450383"/>
                <a:chExt cx="1666711" cy="728302"/>
              </a:xfrm>
            </p:grpSpPr>
            <p:sp>
              <p:nvSpPr>
                <p:cNvPr id="116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2190116" y="1470660"/>
                  <a:ext cx="1666711" cy="7080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4000" b="1" dirty="0">
                      <a:solidFill>
                        <a:srgbClr val="7030A0"/>
                      </a:solidFill>
                    </a:rPr>
                    <a:t>~  N(0 , 1)</a:t>
                  </a:r>
                  <a:endParaRPr lang="th-TH" sz="4000" b="1" dirty="0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117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2212742" y="1450383"/>
                  <a:ext cx="301583" cy="7080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4000" b="1" dirty="0">
                      <a:solidFill>
                        <a:srgbClr val="7030A0"/>
                      </a:solidFill>
                    </a:rPr>
                    <a:t>:</a:t>
                  </a:r>
                  <a:endParaRPr lang="th-TH" sz="4000" b="1" dirty="0">
                    <a:solidFill>
                      <a:srgbClr val="7030A0"/>
                    </a:solidFill>
                  </a:endParaRPr>
                </a:p>
              </p:txBody>
            </p:sp>
          </p:grpSp>
        </p:grpSp>
        <p:sp>
          <p:nvSpPr>
            <p:cNvPr id="188" name="Text Box 21"/>
            <p:cNvSpPr txBox="1">
              <a:spLocks noChangeArrowheads="1"/>
            </p:cNvSpPr>
            <p:nvPr/>
          </p:nvSpPr>
          <p:spPr bwMode="auto">
            <a:xfrm>
              <a:off x="547116" y="1828863"/>
              <a:ext cx="457200" cy="6461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3600" b="1" dirty="0">
                  <a:solidFill>
                    <a:srgbClr val="7030A0"/>
                  </a:solidFill>
                </a:rPr>
                <a:t>^</a:t>
              </a:r>
              <a:endParaRPr lang="en-US" sz="3600" b="1" dirty="0">
                <a:solidFill>
                  <a:srgbClr val="7030A0"/>
                </a:solidFill>
                <a:sym typeface="Symbol" pitchFamily="18" charset="2"/>
              </a:endParaRPr>
            </a:p>
          </p:txBody>
        </p:sp>
        <p:sp>
          <p:nvSpPr>
            <p:cNvPr id="189" name="Text Box 96"/>
            <p:cNvSpPr txBox="1">
              <a:spLocks noChangeArrowheads="1"/>
            </p:cNvSpPr>
            <p:nvPr/>
          </p:nvSpPr>
          <p:spPr bwMode="auto">
            <a:xfrm>
              <a:off x="1118616" y="1828863"/>
              <a:ext cx="457200" cy="6461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3600" b="1" dirty="0">
                  <a:solidFill>
                    <a:srgbClr val="7030A0"/>
                  </a:solidFill>
                </a:rPr>
                <a:t>^</a:t>
              </a:r>
              <a:endParaRPr lang="en-US" sz="3600" b="1" dirty="0">
                <a:solidFill>
                  <a:srgbClr val="7030A0"/>
                </a:solidFill>
                <a:sym typeface="Symbol" pitchFamily="18" charset="2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6200" y="5715000"/>
            <a:ext cx="4770863" cy="1090140"/>
            <a:chOff x="152400" y="5740079"/>
            <a:chExt cx="4770863" cy="1090140"/>
          </a:xfrm>
        </p:grpSpPr>
        <p:grpSp>
          <p:nvGrpSpPr>
            <p:cNvPr id="190" name="Group 189"/>
            <p:cNvGrpSpPr/>
            <p:nvPr/>
          </p:nvGrpSpPr>
          <p:grpSpPr>
            <a:xfrm>
              <a:off x="152400" y="6022964"/>
              <a:ext cx="1891618" cy="713647"/>
              <a:chOff x="207962" y="1828863"/>
              <a:chExt cx="1905078" cy="749614"/>
            </a:xfrm>
          </p:grpSpPr>
          <p:sp>
            <p:nvSpPr>
              <p:cNvPr id="232" name="Text Box 23"/>
              <p:cNvSpPr txBox="1">
                <a:spLocks noChangeArrowheads="1"/>
              </p:cNvSpPr>
              <p:nvPr/>
            </p:nvSpPr>
            <p:spPr bwMode="auto">
              <a:xfrm>
                <a:off x="207962" y="1899572"/>
                <a:ext cx="1905078" cy="6789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3600" b="1" dirty="0">
                    <a:solidFill>
                      <a:srgbClr val="00B050"/>
                    </a:solidFill>
                  </a:rPr>
                  <a:t> V(p</a:t>
                </a:r>
                <a:r>
                  <a:rPr lang="en-US" sz="3600" b="1" baseline="-25000" dirty="0">
                    <a:solidFill>
                      <a:srgbClr val="00B050"/>
                    </a:solidFill>
                  </a:rPr>
                  <a:t>1</a:t>
                </a:r>
                <a:r>
                  <a:rPr lang="en-US" sz="3600" b="1" dirty="0">
                    <a:solidFill>
                      <a:srgbClr val="00B050"/>
                    </a:solidFill>
                  </a:rPr>
                  <a:t> – p</a:t>
                </a:r>
                <a:r>
                  <a:rPr lang="en-US" sz="3600" b="1" baseline="-25000" dirty="0">
                    <a:solidFill>
                      <a:srgbClr val="00B050"/>
                    </a:solidFill>
                  </a:rPr>
                  <a:t>2</a:t>
                </a:r>
                <a:r>
                  <a:rPr lang="en-US" sz="3600" b="1" dirty="0">
                    <a:solidFill>
                      <a:srgbClr val="00B050"/>
                    </a:solidFill>
                  </a:rPr>
                  <a:t>) =    </a:t>
                </a:r>
                <a:endParaRPr lang="th-TH" sz="3600" b="1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207" name="Text Box 21"/>
              <p:cNvSpPr txBox="1">
                <a:spLocks noChangeArrowheads="1"/>
              </p:cNvSpPr>
              <p:nvPr/>
            </p:nvSpPr>
            <p:spPr bwMode="auto">
              <a:xfrm>
                <a:off x="547116" y="1828863"/>
                <a:ext cx="457200" cy="6789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3600" b="1" dirty="0">
                    <a:solidFill>
                      <a:srgbClr val="00B050"/>
                    </a:solidFill>
                  </a:rPr>
                  <a:t>^</a:t>
                </a:r>
                <a:endParaRPr lang="en-US" sz="3600" b="1" dirty="0">
                  <a:solidFill>
                    <a:srgbClr val="00B050"/>
                  </a:solidFill>
                  <a:sym typeface="Symbol" pitchFamily="18" charset="2"/>
                </a:endParaRPr>
              </a:p>
            </p:txBody>
          </p:sp>
          <p:sp>
            <p:nvSpPr>
              <p:cNvPr id="208" name="Text Box 96"/>
              <p:cNvSpPr txBox="1">
                <a:spLocks noChangeArrowheads="1"/>
              </p:cNvSpPr>
              <p:nvPr/>
            </p:nvSpPr>
            <p:spPr bwMode="auto">
              <a:xfrm>
                <a:off x="1118616" y="1828863"/>
                <a:ext cx="457200" cy="6789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3600" b="1" dirty="0">
                    <a:solidFill>
                      <a:srgbClr val="00B050"/>
                    </a:solidFill>
                  </a:rPr>
                  <a:t>^</a:t>
                </a:r>
                <a:endParaRPr lang="en-US" sz="3600" b="1" dirty="0">
                  <a:solidFill>
                    <a:srgbClr val="00B050"/>
                  </a:solidFill>
                  <a:sym typeface="Symbol" pitchFamily="18" charset="2"/>
                </a:endParaRPr>
              </a:p>
            </p:txBody>
          </p:sp>
        </p:grpSp>
        <p:sp>
          <p:nvSpPr>
            <p:cNvPr id="242" name="Text Box 21"/>
            <p:cNvSpPr txBox="1">
              <a:spLocks noChangeArrowheads="1"/>
            </p:cNvSpPr>
            <p:nvPr/>
          </p:nvSpPr>
          <p:spPr bwMode="auto">
            <a:xfrm>
              <a:off x="201629" y="5948664"/>
              <a:ext cx="457200" cy="6461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ngsana New" pitchFamily="18" charset="-34"/>
                  <a:cs typeface="Angsana New" pitchFamily="18" charset="-34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3600" b="1" dirty="0">
                  <a:solidFill>
                    <a:srgbClr val="00B050"/>
                  </a:solidFill>
                </a:rPr>
                <a:t>^</a:t>
              </a:r>
              <a:endParaRPr lang="en-US" sz="3600" b="1" dirty="0">
                <a:solidFill>
                  <a:srgbClr val="00B050"/>
                </a:solidFill>
                <a:sym typeface="Symbol" pitchFamily="18" charset="2"/>
              </a:endParaRPr>
            </a:p>
          </p:txBody>
        </p:sp>
        <p:grpSp>
          <p:nvGrpSpPr>
            <p:cNvPr id="243" name="Group 242"/>
            <p:cNvGrpSpPr/>
            <p:nvPr/>
          </p:nvGrpSpPr>
          <p:grpSpPr>
            <a:xfrm>
              <a:off x="1905000" y="5740079"/>
              <a:ext cx="3018263" cy="1090140"/>
              <a:chOff x="6087675" y="4980285"/>
              <a:chExt cx="3018263" cy="804808"/>
            </a:xfrm>
          </p:grpSpPr>
          <p:grpSp>
            <p:nvGrpSpPr>
              <p:cNvPr id="249" name="Group 248"/>
              <p:cNvGrpSpPr/>
              <p:nvPr/>
            </p:nvGrpSpPr>
            <p:grpSpPr>
              <a:xfrm>
                <a:off x="6087675" y="4980285"/>
                <a:ext cx="2888087" cy="804808"/>
                <a:chOff x="795848" y="5684222"/>
                <a:chExt cx="2826334" cy="804808"/>
              </a:xfrm>
            </p:grpSpPr>
            <p:sp>
              <p:nvSpPr>
                <p:cNvPr id="250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803312" y="5755605"/>
                  <a:ext cx="1560095" cy="4771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ngsana New" pitchFamily="18" charset="-34"/>
                      <a:cs typeface="Angsana New" pitchFamily="18" charset="-34"/>
                    </a:defRPr>
                  </a:lvl9pPr>
                </a:lstStyle>
                <a:p>
                  <a:pPr>
                    <a:spcBef>
                      <a:spcPts val="0"/>
                    </a:spcBef>
                  </a:pPr>
                  <a:r>
                    <a:rPr lang="en-US" sz="3600" b="1" dirty="0">
                      <a:solidFill>
                        <a:srgbClr val="00B050"/>
                      </a:solidFill>
                    </a:rPr>
                    <a:t>p</a:t>
                  </a:r>
                  <a:r>
                    <a:rPr lang="en-US" sz="3600" b="1" baseline="-25000" dirty="0">
                      <a:solidFill>
                        <a:srgbClr val="00B050"/>
                      </a:solidFill>
                    </a:rPr>
                    <a:t>1</a:t>
                  </a:r>
                  <a:r>
                    <a:rPr lang="en-US" sz="3600" b="1" dirty="0">
                      <a:solidFill>
                        <a:srgbClr val="00B050"/>
                      </a:solidFill>
                    </a:rPr>
                    <a:t>(1 – p</a:t>
                  </a:r>
                  <a:r>
                    <a:rPr lang="en-US" sz="3600" b="1" baseline="-25000" dirty="0">
                      <a:solidFill>
                        <a:srgbClr val="00B050"/>
                      </a:solidFill>
                    </a:rPr>
                    <a:t>1</a:t>
                  </a:r>
                  <a:r>
                    <a:rPr lang="en-US" sz="3600" b="1" dirty="0">
                      <a:solidFill>
                        <a:srgbClr val="00B050"/>
                      </a:solidFill>
                    </a:rPr>
                    <a:t>)</a:t>
                  </a:r>
                  <a:endParaRPr lang="th-TH" sz="3600" b="1" dirty="0">
                    <a:solidFill>
                      <a:srgbClr val="00B050"/>
                    </a:solidFill>
                  </a:endParaRPr>
                </a:p>
              </p:txBody>
            </p:sp>
            <p:grpSp>
              <p:nvGrpSpPr>
                <p:cNvPr id="252" name="Group 251"/>
                <p:cNvGrpSpPr/>
                <p:nvPr/>
              </p:nvGrpSpPr>
              <p:grpSpPr>
                <a:xfrm>
                  <a:off x="863646" y="5927344"/>
                  <a:ext cx="2758536" cy="561686"/>
                  <a:chOff x="226261" y="2029103"/>
                  <a:chExt cx="2758536" cy="561686"/>
                </a:xfrm>
              </p:grpSpPr>
              <p:grpSp>
                <p:nvGrpSpPr>
                  <p:cNvPr id="255" name="Group 254"/>
                  <p:cNvGrpSpPr/>
                  <p:nvPr/>
                </p:nvGrpSpPr>
                <p:grpSpPr>
                  <a:xfrm>
                    <a:off x="226261" y="2113628"/>
                    <a:ext cx="1197828" cy="477161"/>
                    <a:chOff x="283411" y="2113628"/>
                    <a:chExt cx="1197828" cy="477161"/>
                  </a:xfrm>
                </p:grpSpPr>
                <p:sp>
                  <p:nvSpPr>
                    <p:cNvPr id="260" name="Text Box 9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22717" y="2113628"/>
                      <a:ext cx="685800" cy="47716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en-US" sz="3600" b="1" dirty="0">
                          <a:solidFill>
                            <a:srgbClr val="00B050"/>
                          </a:solidFill>
                        </a:rPr>
                        <a:t>n</a:t>
                      </a:r>
                      <a:r>
                        <a:rPr lang="en-US" sz="3600" b="1" baseline="-250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th-TH" sz="3600" b="1" dirty="0">
                        <a:solidFill>
                          <a:srgbClr val="00B050"/>
                        </a:solidFill>
                      </a:endParaRPr>
                    </a:p>
                  </p:txBody>
                </p:sp>
                <p:sp>
                  <p:nvSpPr>
                    <p:cNvPr id="261" name="Line 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3411" y="2271024"/>
                      <a:ext cx="1197828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B05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endParaRPr lang="en-US" sz="3600">
                        <a:solidFill>
                          <a:srgbClr val="00B050"/>
                        </a:solidFill>
                      </a:endParaRPr>
                    </a:p>
                  </p:txBody>
                </p:sp>
              </p:grpSp>
              <p:grpSp>
                <p:nvGrpSpPr>
                  <p:cNvPr id="256" name="Group 255"/>
                  <p:cNvGrpSpPr/>
                  <p:nvPr/>
                </p:nvGrpSpPr>
                <p:grpSpPr>
                  <a:xfrm>
                    <a:off x="1786969" y="2104375"/>
                    <a:ext cx="1197828" cy="477161"/>
                    <a:chOff x="1313260" y="2104375"/>
                    <a:chExt cx="1197828" cy="477161"/>
                  </a:xfrm>
                </p:grpSpPr>
                <p:sp>
                  <p:nvSpPr>
                    <p:cNvPr id="258" name="Text Box 9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589145" y="2104375"/>
                      <a:ext cx="685800" cy="47716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en-US" sz="3600" b="1" dirty="0">
                          <a:solidFill>
                            <a:srgbClr val="00B050"/>
                          </a:solidFill>
                        </a:rPr>
                        <a:t>n</a:t>
                      </a:r>
                      <a:r>
                        <a:rPr lang="en-US" sz="3600" b="1" baseline="-25000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th-TH" sz="3600" b="1" dirty="0">
                        <a:solidFill>
                          <a:srgbClr val="00B050"/>
                        </a:solidFill>
                      </a:endParaRPr>
                    </a:p>
                  </p:txBody>
                </p:sp>
                <p:sp>
                  <p:nvSpPr>
                    <p:cNvPr id="259" name="Line 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13260" y="2273528"/>
                      <a:ext cx="1197828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B05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endParaRPr lang="en-US" sz="3600">
                        <a:solidFill>
                          <a:srgbClr val="00B050"/>
                        </a:solidFill>
                      </a:endParaRPr>
                    </a:p>
                  </p:txBody>
                </p:sp>
              </p:grpSp>
              <p:sp>
                <p:nvSpPr>
                  <p:cNvPr id="257" name="Text Box 9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68838" y="2029103"/>
                    <a:ext cx="411481" cy="47716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ngsana New" pitchFamily="18" charset="-34"/>
                        <a:cs typeface="Angsana New" pitchFamily="18" charset="-34"/>
                      </a:defRPr>
                    </a:lvl9pPr>
                  </a:lstStyle>
                  <a:p>
                    <a:pPr algn="ctr">
                      <a:spcBef>
                        <a:spcPts val="0"/>
                      </a:spcBef>
                    </a:pPr>
                    <a:r>
                      <a:rPr lang="en-US" sz="3600" b="1" dirty="0">
                        <a:solidFill>
                          <a:srgbClr val="00B050"/>
                        </a:solidFill>
                      </a:rPr>
                      <a:t>+</a:t>
                    </a:r>
                    <a:endParaRPr lang="th-TH" sz="3600" b="1" dirty="0">
                      <a:solidFill>
                        <a:srgbClr val="00B050"/>
                      </a:solidFill>
                    </a:endParaRPr>
                  </a:p>
                </p:txBody>
              </p:sp>
            </p:grpSp>
            <p:sp>
              <p:nvSpPr>
                <p:cNvPr id="253" name="Rectangle 42"/>
                <p:cNvSpPr>
                  <a:spLocks noChangeArrowheads="1"/>
                </p:cNvSpPr>
                <p:nvPr/>
              </p:nvSpPr>
              <p:spPr bwMode="auto">
                <a:xfrm>
                  <a:off x="795848" y="5685064"/>
                  <a:ext cx="477093" cy="76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spcBef>
                      <a:spcPts val="0"/>
                    </a:spcBef>
                    <a:tabLst>
                      <a:tab pos="457200" algn="l"/>
                    </a:tabLst>
                  </a:pPr>
                  <a:r>
                    <a:rPr kumimoji="1" lang="en-US" sz="3600" b="1" dirty="0">
                      <a:solidFill>
                        <a:srgbClr val="00B050"/>
                      </a:solidFill>
                      <a:sym typeface="Symbol" pitchFamily="18" charset="2"/>
                    </a:rPr>
                    <a:t>^</a:t>
                  </a:r>
                </a:p>
              </p:txBody>
            </p:sp>
            <p:sp>
              <p:nvSpPr>
                <p:cNvPr id="254" name="Rectangle 42"/>
                <p:cNvSpPr>
                  <a:spLocks noChangeArrowheads="1"/>
                </p:cNvSpPr>
                <p:nvPr/>
              </p:nvSpPr>
              <p:spPr bwMode="auto">
                <a:xfrm>
                  <a:off x="1596602" y="5684222"/>
                  <a:ext cx="477093" cy="76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spcBef>
                      <a:spcPts val="0"/>
                    </a:spcBef>
                    <a:tabLst>
                      <a:tab pos="457200" algn="l"/>
                    </a:tabLst>
                  </a:pPr>
                  <a:r>
                    <a:rPr kumimoji="1" lang="en-US" sz="3600" b="1" dirty="0">
                      <a:solidFill>
                        <a:srgbClr val="00B050"/>
                      </a:solidFill>
                      <a:sym typeface="Symbol" pitchFamily="18" charset="2"/>
                    </a:rPr>
                    <a:t>^</a:t>
                  </a:r>
                </a:p>
              </p:txBody>
            </p:sp>
          </p:grpSp>
          <p:sp>
            <p:nvSpPr>
              <p:cNvPr id="245" name="Text Box 23"/>
              <p:cNvSpPr txBox="1">
                <a:spLocks noChangeArrowheads="1"/>
              </p:cNvSpPr>
              <p:nvPr/>
            </p:nvSpPr>
            <p:spPr bwMode="auto">
              <a:xfrm>
                <a:off x="7678342" y="5047165"/>
                <a:ext cx="1427596" cy="4771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ngsana New" pitchFamily="18" charset="-34"/>
                    <a:cs typeface="Angsana New" pitchFamily="18" charset="-34"/>
                  </a:defRPr>
                </a:lvl9pPr>
              </a:lstStyle>
              <a:p>
                <a:pPr>
                  <a:spcBef>
                    <a:spcPts val="0"/>
                  </a:spcBef>
                </a:pPr>
                <a:r>
                  <a:rPr lang="en-US" sz="3600" b="1" dirty="0">
                    <a:solidFill>
                      <a:srgbClr val="00B050"/>
                    </a:solidFill>
                  </a:rPr>
                  <a:t>p</a:t>
                </a:r>
                <a:r>
                  <a:rPr lang="en-US" sz="3600" b="1" baseline="-25000" dirty="0">
                    <a:solidFill>
                      <a:srgbClr val="00B050"/>
                    </a:solidFill>
                  </a:rPr>
                  <a:t>2</a:t>
                </a:r>
                <a:r>
                  <a:rPr lang="en-US" sz="3600" b="1" dirty="0">
                    <a:solidFill>
                      <a:srgbClr val="00B050"/>
                    </a:solidFill>
                  </a:rPr>
                  <a:t>(1 – p</a:t>
                </a:r>
                <a:r>
                  <a:rPr lang="en-US" sz="3600" b="1" baseline="-25000" dirty="0">
                    <a:solidFill>
                      <a:srgbClr val="00B050"/>
                    </a:solidFill>
                  </a:rPr>
                  <a:t>2</a:t>
                </a:r>
                <a:r>
                  <a:rPr lang="en-US" sz="3600" b="1" dirty="0">
                    <a:solidFill>
                      <a:srgbClr val="00B050"/>
                    </a:solidFill>
                  </a:rPr>
                  <a:t>)</a:t>
                </a:r>
                <a:endParaRPr lang="th-TH" sz="3600" b="1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246" name="Rectangle 42"/>
              <p:cNvSpPr>
                <a:spLocks noChangeArrowheads="1"/>
              </p:cNvSpPr>
              <p:nvPr/>
            </p:nvSpPr>
            <p:spPr bwMode="auto">
              <a:xfrm>
                <a:off x="7658015" y="4990504"/>
                <a:ext cx="487517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  <a:tabLst>
                    <a:tab pos="457200" algn="l"/>
                  </a:tabLst>
                </a:pPr>
                <a:r>
                  <a:rPr kumimoji="1" lang="en-US" sz="3600" b="1" dirty="0">
                    <a:solidFill>
                      <a:srgbClr val="00B050"/>
                    </a:solidFill>
                    <a:sym typeface="Symbol" pitchFamily="18" charset="2"/>
                  </a:rPr>
                  <a:t>^</a:t>
                </a:r>
              </a:p>
            </p:txBody>
          </p:sp>
          <p:sp>
            <p:nvSpPr>
              <p:cNvPr id="247" name="Rectangle 42"/>
              <p:cNvSpPr>
                <a:spLocks noChangeArrowheads="1"/>
              </p:cNvSpPr>
              <p:nvPr/>
            </p:nvSpPr>
            <p:spPr bwMode="auto">
              <a:xfrm>
                <a:off x="8476264" y="4989662"/>
                <a:ext cx="487517" cy="76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ts val="0"/>
                  </a:spcBef>
                  <a:tabLst>
                    <a:tab pos="457200" algn="l"/>
                  </a:tabLst>
                </a:pPr>
                <a:r>
                  <a:rPr kumimoji="1" lang="en-US" sz="3600" b="1" dirty="0">
                    <a:solidFill>
                      <a:srgbClr val="00B050"/>
                    </a:solidFill>
                    <a:sym typeface="Symbol" pitchFamily="18" charset="2"/>
                  </a:rPr>
                  <a:t>^</a:t>
                </a:r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642FE-E812-4A45-8C15-0335E6D7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6C73E-FBCA-4CF2-8E6A-3573AB9B483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7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746246347D7F4792C1A3903781635D" ma:contentTypeVersion="3" ma:contentTypeDescription="Create a new document." ma:contentTypeScope="" ma:versionID="cb02b0854ccafec3bffed6dd44e163d6">
  <xsd:schema xmlns:xsd="http://www.w3.org/2001/XMLSchema" xmlns:xs="http://www.w3.org/2001/XMLSchema" xmlns:p="http://schemas.microsoft.com/office/2006/metadata/properties" xmlns:ns2="be450e9a-ef92-4cdb-a4ab-9ff71cad7892" targetNamespace="http://schemas.microsoft.com/office/2006/metadata/properties" ma:root="true" ma:fieldsID="f5ba5446dcdfb28e6b62b374b870fdb3" ns2:_="">
    <xsd:import namespace="be450e9a-ef92-4cdb-a4ab-9ff71cad78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450e9a-ef92-4cdb-a4ab-9ff71cad78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F948D42-3173-40D8-8C09-93063034AB86}"/>
</file>

<file path=customXml/itemProps2.xml><?xml version="1.0" encoding="utf-8"?>
<ds:datastoreItem xmlns:ds="http://schemas.openxmlformats.org/officeDocument/2006/customXml" ds:itemID="{0FE486AE-AAA6-4A05-855F-F4D4EA117601}"/>
</file>

<file path=customXml/itemProps3.xml><?xml version="1.0" encoding="utf-8"?>
<ds:datastoreItem xmlns:ds="http://schemas.openxmlformats.org/officeDocument/2006/customXml" ds:itemID="{436211C5-4D8B-4E8D-93A7-CB5EB03E031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6021</TotalTime>
  <Words>2282</Words>
  <Application>Microsoft Office PowerPoint</Application>
  <PresentationFormat>On-screen Show (4:3)</PresentationFormat>
  <Paragraphs>504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Angsana New</vt:lpstr>
      <vt:lpstr>Arial</vt:lpstr>
      <vt:lpstr>Calibri</vt:lpstr>
      <vt:lpstr>Symbol</vt:lpstr>
      <vt:lpstr>Times New Roman</vt:lpstr>
      <vt:lpstr>Wingdings</vt:lpstr>
      <vt:lpstr>Office Theme</vt:lpstr>
      <vt:lpstr>Equation</vt:lpstr>
      <vt:lpstr>การประมาณด้วยช่วง (Interval Estimation)</vt:lpstr>
      <vt:lpstr>การอนุมานเชิงสถิติ (Statistical Inference)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การทดสอบสมมุติฐาน (Testing of Hypothesis)</dc:title>
  <dc:creator>AS</dc:creator>
  <cp:lastModifiedBy>Ramidha Srihera</cp:lastModifiedBy>
  <cp:revision>228</cp:revision>
  <cp:lastPrinted>2019-08-13T04:25:17Z</cp:lastPrinted>
  <dcterms:created xsi:type="dcterms:W3CDTF">2002-04-27T13:30:26Z</dcterms:created>
  <dcterms:modified xsi:type="dcterms:W3CDTF">2025-07-24T06:15:57Z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0x010100D5746246347D7F4792C1A3903781635D</vt:lpwstr>
  </property>
</Properties>
</file>