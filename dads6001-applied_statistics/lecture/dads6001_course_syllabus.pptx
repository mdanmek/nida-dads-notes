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3" r:id="rId1"/>
  </p:sldMasterIdLst>
  <p:notesMasterIdLst>
    <p:notesMasterId r:id="rId7"/>
  </p:notesMasterIdLst>
  <p:handoutMasterIdLst>
    <p:handoutMasterId r:id="rId8"/>
  </p:handoutMasterIdLst>
  <p:sldIdLst>
    <p:sldId id="699" r:id="rId2"/>
    <p:sldId id="700" r:id="rId3"/>
    <p:sldId id="726" r:id="rId4"/>
    <p:sldId id="732" r:id="rId5"/>
    <p:sldId id="720" r:id="rId6"/>
  </p:sldIdLst>
  <p:sldSz cx="9144000" cy="6858000" type="screen4x3"/>
  <p:notesSz cx="6881813" cy="9296400"/>
  <p:defaultTextStyle>
    <a:defPPr>
      <a:defRPr lang="th-TH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ngsana New" pitchFamily="18" charset="-34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ngsana New" pitchFamily="18" charset="-34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ngsana New" pitchFamily="18" charset="-34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ngsana New" pitchFamily="18" charset="-34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ngsana New" pitchFamily="18" charset="-34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ngsana New" pitchFamily="18" charset="-34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ngsana New" pitchFamily="18" charset="-34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ngsana New" pitchFamily="18" charset="-34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ngsana New" pitchFamily="18" charset="-34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97FF"/>
    <a:srgbClr val="0BC0F9"/>
    <a:srgbClr val="FFD9FF"/>
    <a:srgbClr val="0000FF"/>
    <a:srgbClr val="008000"/>
    <a:srgbClr val="0066CC"/>
    <a:srgbClr val="996633"/>
    <a:srgbClr val="DDFFDD"/>
    <a:srgbClr val="FF31C9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2" autoAdjust="0"/>
    <p:restoredTop sz="90426" autoAdjust="0"/>
  </p:normalViewPr>
  <p:slideViewPr>
    <p:cSldViewPr>
      <p:cViewPr varScale="1">
        <p:scale>
          <a:sx n="63" d="100"/>
          <a:sy n="63" d="100"/>
        </p:scale>
        <p:origin x="65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2362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869" cy="465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21" tIns="45661" rIns="91321" bIns="45661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145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7337" y="0"/>
            <a:ext cx="2982869" cy="465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21" tIns="45661" rIns="91321" bIns="45661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145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47"/>
            <a:ext cx="2982869" cy="465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21" tIns="45661" rIns="91321" bIns="45661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145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7337" y="8829647"/>
            <a:ext cx="2982869" cy="465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21" tIns="45661" rIns="91321" bIns="45661" numCol="1" anchor="b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fld id="{CC4D0F9E-691D-4A14-A9B0-87ACA0416AAF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677484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869" cy="4652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337" y="0"/>
            <a:ext cx="2982869" cy="4652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C03DB971-3E84-4190-85A5-45A666CD56A5}" type="datetimeFigureOut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6013" y="696913"/>
            <a:ext cx="4649787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861" y="4416312"/>
            <a:ext cx="5506093" cy="41829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47"/>
            <a:ext cx="2982869" cy="4652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337" y="8829647"/>
            <a:ext cx="2982869" cy="4652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87D3A047-8819-4F25-B292-DEFF05ECA0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1845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234232-AD4D-493D-8ED4-957CA10EBFC1}" type="slidenum">
              <a:rPr lang="en-US" smtClean="0"/>
              <a:pPr>
                <a:defRPr/>
              </a:pPr>
              <a:t>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8837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8536A-0A0E-DFA7-E487-10AEA0ABC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4DCA57-F17E-CA0D-AEC7-4A8EC5322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82284D-0544-B914-EB42-6DA589DC8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A7DD6-8E41-4F40-F71C-C6DC19CEE8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234232-AD4D-493D-8ED4-957CA10EBFC1}" type="slidenum">
              <a:rPr lang="en-US" smtClean="0"/>
              <a:pPr>
                <a:defRPr/>
              </a:pPr>
              <a:t>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70140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DB70FC-0FA5-4A52-84BF-B98AE19F9E0D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0456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0BF06E-0389-4F4C-BC9E-D0298803DB5C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96004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D82CFF-0927-4439-8670-8B369C1926CE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50916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9540EB-1521-4965-875E-26ABBF2461B7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8995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C6CBC5-B500-4F5E-B438-44988AC3294A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70807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6D02FD-35A0-429F-B2A3-F94A6A77D6A2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14739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6F7541-8A31-4401-8445-2053790082D8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52381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EE1D93-6255-4FBA-8B7C-C52BF079FBB2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43970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0C6E95-531F-4BBF-941A-D3AB29134965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93328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F92768-6F95-4FCB-86BB-D3B70E2DBF83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79364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1D06B4-D4EE-4BEB-A66B-67998F7B7509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57526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928E21C-5686-47B2-8180-2A8AAF713738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66760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4" r:id="rId1"/>
    <p:sldLayoutId id="2147484075" r:id="rId2"/>
    <p:sldLayoutId id="2147484076" r:id="rId3"/>
    <p:sldLayoutId id="2147484077" r:id="rId4"/>
    <p:sldLayoutId id="2147484078" r:id="rId5"/>
    <p:sldLayoutId id="2147484079" r:id="rId6"/>
    <p:sldLayoutId id="2147484080" r:id="rId7"/>
    <p:sldLayoutId id="2147484081" r:id="rId8"/>
    <p:sldLayoutId id="2147484082" r:id="rId9"/>
    <p:sldLayoutId id="2147484083" r:id="rId10"/>
    <p:sldLayoutId id="2147484084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/>
          <p:cNvSpPr txBox="1">
            <a:spLocks noChangeArrowheads="1"/>
          </p:cNvSpPr>
          <p:nvPr/>
        </p:nvSpPr>
        <p:spPr bwMode="auto">
          <a:xfrm>
            <a:off x="76200" y="304800"/>
            <a:ext cx="35052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sz="3200" b="1" kern="0" dirty="0">
                <a:solidFill>
                  <a:srgbClr val="CC00CC"/>
                </a:solidFill>
                <a:latin typeface="Angsana New" pitchFamily="18" charset="-34"/>
              </a:rPr>
              <a:t>Course Description: </a:t>
            </a:r>
          </a:p>
        </p:txBody>
      </p:sp>
      <p:sp>
        <p:nvSpPr>
          <p:cNvPr id="24" name="Rectangle 2"/>
          <p:cNvSpPr txBox="1">
            <a:spLocks noChangeArrowheads="1"/>
          </p:cNvSpPr>
          <p:nvPr/>
        </p:nvSpPr>
        <p:spPr bwMode="auto">
          <a:xfrm>
            <a:off x="123173" y="2931089"/>
            <a:ext cx="2057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sz="3200" b="1" kern="0" dirty="0">
                <a:solidFill>
                  <a:srgbClr val="CC00CC"/>
                </a:solidFill>
                <a:latin typeface="Angsana New" pitchFamily="18" charset="-34"/>
              </a:rPr>
              <a:t>Textbook:  </a:t>
            </a:r>
          </a:p>
        </p:txBody>
      </p:sp>
      <p:sp>
        <p:nvSpPr>
          <p:cNvPr id="26" name="Rectangle 2"/>
          <p:cNvSpPr txBox="1">
            <a:spLocks noChangeArrowheads="1"/>
          </p:cNvSpPr>
          <p:nvPr/>
        </p:nvSpPr>
        <p:spPr bwMode="auto">
          <a:xfrm>
            <a:off x="173736" y="825674"/>
            <a:ext cx="8741664" cy="2305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algn="thaiDist">
              <a:lnSpc>
                <a:spcPts val="2500"/>
              </a:lnSpc>
              <a:tabLst>
                <a:tab pos="363538" algn="l"/>
              </a:tabLst>
            </a:pPr>
            <a:r>
              <a:rPr lang="en-US" sz="2800" b="1" dirty="0">
                <a:solidFill>
                  <a:srgbClr val="00206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This course is aimed at probability theory applied for Statistics; central limit theorem; statistical inference including null hypothesis statistical testing and estimation; inference for means, proportions</a:t>
            </a:r>
            <a:r>
              <a:rPr lang="en-US" sz="2800" b="1">
                <a:solidFill>
                  <a:srgbClr val="00206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variance, </a:t>
            </a:r>
            <a:r>
              <a:rPr lang="en-US" sz="2800" b="1" dirty="0">
                <a:solidFill>
                  <a:srgbClr val="00206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and correlations; analysis of variance; higher-way analysis of variance; chi-squared test, multiple regression and correlation analysis, introduction to computational-intensive statistics including resampling method, permutation test, jackknifing, bootstrapping, Markov chain and Monte Carlo methods; Introduction to Bayesian inference.</a:t>
            </a:r>
          </a:p>
        </p:txBody>
      </p:sp>
      <p:sp>
        <p:nvSpPr>
          <p:cNvPr id="9" name="Text Box 79"/>
          <p:cNvSpPr txBox="1">
            <a:spLocks noChangeArrowheads="1"/>
          </p:cNvSpPr>
          <p:nvPr/>
        </p:nvSpPr>
        <p:spPr bwMode="auto">
          <a:xfrm>
            <a:off x="0" y="0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sz="3600" b="1" dirty="0">
                <a:solidFill>
                  <a:srgbClr val="0070C0"/>
                </a:solidFill>
                <a:latin typeface="Angsana New" pitchFamily="18" charset="-34"/>
                <a:cs typeface="Angsana New" pitchFamily="18" charset="-34"/>
              </a:rPr>
              <a:t>D</a:t>
            </a:r>
            <a:r>
              <a:rPr lang="en-US" sz="3600" b="1" dirty="0">
                <a:solidFill>
                  <a:srgbClr val="0070C0"/>
                </a:solidFill>
                <a:latin typeface="Angsana New" pitchFamily="18" charset="-34"/>
                <a:cs typeface="Angsana New" pitchFamily="18" charset="-34"/>
              </a:rPr>
              <a:t>AD</a:t>
            </a:r>
            <a:r>
              <a:rPr lang="en-GB" sz="3600" b="1" dirty="0">
                <a:solidFill>
                  <a:srgbClr val="0070C0"/>
                </a:solidFill>
                <a:latin typeface="Angsana New" pitchFamily="18" charset="-34"/>
                <a:cs typeface="Angsana New" pitchFamily="18" charset="-34"/>
              </a:rPr>
              <a:t>S 600</a:t>
            </a:r>
            <a:r>
              <a:rPr lang="en-US" sz="3600" b="1" dirty="0">
                <a:solidFill>
                  <a:srgbClr val="0070C0"/>
                </a:solidFill>
                <a:latin typeface="Angsana New" pitchFamily="18" charset="-34"/>
                <a:cs typeface="Angsana New" pitchFamily="18" charset="-34"/>
              </a:rPr>
              <a:t>1</a:t>
            </a:r>
            <a:r>
              <a:rPr lang="en-GB" sz="3600" b="1" dirty="0">
                <a:solidFill>
                  <a:srgbClr val="0070C0"/>
                </a:solidFill>
                <a:latin typeface="Angsana New" pitchFamily="18" charset="-34"/>
                <a:cs typeface="Angsana New" pitchFamily="18" charset="-34"/>
              </a:rPr>
              <a:t> Applied Modern </a:t>
            </a:r>
            <a:r>
              <a:rPr lang="en-US" sz="36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Statistical Analysis </a:t>
            </a:r>
            <a:endParaRPr lang="en-US" sz="3600" b="1" dirty="0">
              <a:solidFill>
                <a:srgbClr val="0033CC"/>
              </a:solidFill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177452" y="4406105"/>
            <a:ext cx="8890348" cy="2429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marL="514350" indent="-514350" algn="l" eaLnBrk="1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600" b="1" kern="0" dirty="0">
                <a:solidFill>
                  <a:srgbClr val="00B0F0"/>
                </a:solidFill>
                <a:latin typeface="Angsana New" pitchFamily="18" charset="-34"/>
              </a:rPr>
              <a:t>Berenson, M., Levine, D.M., and </a:t>
            </a:r>
            <a:r>
              <a:rPr lang="en-US" sz="2600" b="1" kern="0" dirty="0" err="1">
                <a:solidFill>
                  <a:srgbClr val="00B0F0"/>
                </a:solidFill>
                <a:latin typeface="Angsana New" pitchFamily="18" charset="-34"/>
              </a:rPr>
              <a:t>Krehbiel</a:t>
            </a:r>
            <a:r>
              <a:rPr lang="en-US" sz="2600" b="1" kern="0" dirty="0">
                <a:solidFill>
                  <a:srgbClr val="00B0F0"/>
                </a:solidFill>
                <a:latin typeface="Angsana New" pitchFamily="18" charset="-34"/>
              </a:rPr>
              <a:t>, T.C. (2012).  </a:t>
            </a:r>
            <a:r>
              <a:rPr lang="en-US" sz="2600" b="1" i="1" kern="0" dirty="0">
                <a:solidFill>
                  <a:srgbClr val="00B0F0"/>
                </a:solidFill>
                <a:latin typeface="Angsana New" pitchFamily="18" charset="-34"/>
              </a:rPr>
              <a:t>Basic Business Statistics: Concepts and Applications</a:t>
            </a:r>
            <a:r>
              <a:rPr lang="en-US" sz="2600" b="1" kern="0" dirty="0">
                <a:solidFill>
                  <a:srgbClr val="00B0F0"/>
                </a:solidFill>
                <a:latin typeface="Angsana New" pitchFamily="18" charset="-34"/>
              </a:rPr>
              <a:t>, 12</a:t>
            </a:r>
            <a:r>
              <a:rPr lang="en-US" sz="2600" b="1" kern="0" baseline="30000" dirty="0">
                <a:solidFill>
                  <a:srgbClr val="00B0F0"/>
                </a:solidFill>
                <a:latin typeface="Angsana New" pitchFamily="18" charset="-34"/>
              </a:rPr>
              <a:t>th</a:t>
            </a:r>
            <a:r>
              <a:rPr lang="en-US" sz="2600" b="1" kern="0" dirty="0">
                <a:solidFill>
                  <a:srgbClr val="00B0F0"/>
                </a:solidFill>
                <a:latin typeface="Angsana New" pitchFamily="18" charset="-34"/>
              </a:rPr>
              <a:t> edition, Pearson.</a:t>
            </a:r>
          </a:p>
          <a:p>
            <a:pPr marL="514350" indent="-514350" algn="l" eaLnBrk="1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AutoNum type="arabicPeriod" startAt="2"/>
            </a:pPr>
            <a:r>
              <a:rPr lang="en-US" sz="2600" b="1" dirty="0" err="1">
                <a:solidFill>
                  <a:srgbClr val="00B0F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Efron</a:t>
            </a:r>
            <a:r>
              <a:rPr lang="en-US" sz="2600" b="1" dirty="0">
                <a:solidFill>
                  <a:srgbClr val="00B0F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B. and Hastie, T. (2016). </a:t>
            </a:r>
            <a:r>
              <a:rPr lang="en-US" sz="2600" b="1" i="1" dirty="0">
                <a:solidFill>
                  <a:srgbClr val="00B0F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Computer Age Statistical Inference: Algorithm,     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i="1" dirty="0">
                <a:solidFill>
                  <a:srgbClr val="00B0F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        Evidence, and Data Science</a:t>
            </a:r>
            <a:r>
              <a:rPr lang="en-US" sz="2600" b="1" dirty="0">
                <a:solidFill>
                  <a:srgbClr val="00B0F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. Cambridge University Press. </a:t>
            </a:r>
          </a:p>
          <a:p>
            <a:pPr marL="514350" indent="-514350" algn="l" eaLnBrk="1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AutoNum type="arabicPeriod" startAt="3"/>
            </a:pPr>
            <a:r>
              <a:rPr lang="en-US" sz="2600" b="1" dirty="0">
                <a:solidFill>
                  <a:srgbClr val="00B0F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Mendenhall, W. and </a:t>
            </a:r>
            <a:r>
              <a:rPr lang="en-US" sz="2600" b="1" dirty="0" err="1">
                <a:solidFill>
                  <a:srgbClr val="00B0F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Sincich</a:t>
            </a:r>
            <a:r>
              <a:rPr lang="en-US" sz="2600" b="1" dirty="0">
                <a:solidFill>
                  <a:srgbClr val="00B0F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T. (1996).  </a:t>
            </a:r>
            <a:r>
              <a:rPr lang="en-US" sz="2600" b="1" i="1" dirty="0">
                <a:solidFill>
                  <a:srgbClr val="00B0F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A Second Course in Statistics: Regression Analysis</a:t>
            </a:r>
            <a:r>
              <a:rPr lang="en-US" sz="2600" b="1" dirty="0">
                <a:solidFill>
                  <a:srgbClr val="00B0F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5th edition, Prentice Hall.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00B0F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4.      Weiss, N</a:t>
            </a:r>
            <a:r>
              <a:rPr lang="th-TH" sz="2600" b="1" dirty="0">
                <a:solidFill>
                  <a:srgbClr val="00B0F0"/>
                </a:solidFill>
                <a:latin typeface="Angsana New" panose="02020603050405020304" pitchFamily="18" charset="-34"/>
              </a:rPr>
              <a:t>.</a:t>
            </a:r>
            <a:r>
              <a:rPr lang="en-US" sz="2600" b="1" dirty="0">
                <a:solidFill>
                  <a:srgbClr val="00B0F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A</a:t>
            </a:r>
            <a:r>
              <a:rPr lang="th-TH" sz="2600" b="1" dirty="0">
                <a:solidFill>
                  <a:srgbClr val="00B0F0"/>
                </a:solidFill>
                <a:latin typeface="Angsana New" panose="02020603050405020304" pitchFamily="18" charset="-34"/>
              </a:rPr>
              <a:t>. (</a:t>
            </a:r>
            <a:r>
              <a:rPr lang="en-US" sz="2600" b="1" dirty="0">
                <a:solidFill>
                  <a:srgbClr val="00B0F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2017</a:t>
            </a:r>
            <a:r>
              <a:rPr lang="th-TH" sz="2600" b="1" dirty="0">
                <a:solidFill>
                  <a:srgbClr val="00B0F0"/>
                </a:solidFill>
                <a:latin typeface="Angsana New" panose="02020603050405020304" pitchFamily="18" charset="-34"/>
              </a:rPr>
              <a:t>). </a:t>
            </a:r>
            <a:r>
              <a:rPr lang="en-US" sz="2600" b="1" i="1" dirty="0">
                <a:solidFill>
                  <a:srgbClr val="00B0F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Introductory Statistics, </a:t>
            </a:r>
            <a:r>
              <a:rPr lang="en-US" sz="2600" b="1" dirty="0">
                <a:solidFill>
                  <a:srgbClr val="00B0F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10</a:t>
            </a:r>
            <a:r>
              <a:rPr lang="en-US" sz="2600" b="1" baseline="30000" dirty="0">
                <a:solidFill>
                  <a:srgbClr val="00B0F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th</a:t>
            </a:r>
            <a:r>
              <a:rPr lang="en-US" sz="2600" b="1" dirty="0">
                <a:solidFill>
                  <a:srgbClr val="00B0F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edition, Global Edition</a:t>
            </a:r>
            <a:r>
              <a:rPr lang="th-TH" sz="2600" b="1" dirty="0">
                <a:solidFill>
                  <a:srgbClr val="00B0F0"/>
                </a:solidFill>
                <a:latin typeface="Angsana New" panose="02020603050405020304" pitchFamily="18" charset="-34"/>
              </a:rPr>
              <a:t>. </a:t>
            </a:r>
            <a:r>
              <a:rPr lang="en-US" sz="2600" b="1" dirty="0">
                <a:solidFill>
                  <a:srgbClr val="00B0F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Pearson.</a:t>
            </a:r>
          </a:p>
          <a:p>
            <a:pPr marL="514350" indent="-514350" algn="l" eaLnBrk="1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AutoNum type="arabicPeriod" startAt="3"/>
            </a:pPr>
            <a:endParaRPr lang="en-US" sz="2800" b="1" dirty="0">
              <a:solidFill>
                <a:srgbClr val="00B0F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236538" indent="-236538" algn="l" eaLnBrk="1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i="1" dirty="0">
                <a:solidFill>
                  <a:srgbClr val="00B0F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endParaRPr lang="en-US" sz="2800" b="1" i="1" kern="0" dirty="0">
              <a:solidFill>
                <a:srgbClr val="00B0F0"/>
              </a:solidFill>
              <a:latin typeface="Angsana New" pitchFamily="18" charset="-34"/>
              <a:cs typeface="Angsana New" panose="02020603050405020304" pitchFamily="18" charset="-34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76200" y="3860626"/>
            <a:ext cx="3276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sz="3200" b="1" kern="0" dirty="0">
                <a:solidFill>
                  <a:srgbClr val="CC00CC"/>
                </a:solidFill>
                <a:latin typeface="Angsana New" pitchFamily="18" charset="-34"/>
              </a:rPr>
              <a:t>Additional Reading:  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152400" y="3460094"/>
            <a:ext cx="8991600" cy="819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algn="l" eaLnBrk="1" hangingPunct="1">
              <a:lnSpc>
                <a:spcPts val="2500"/>
              </a:lnSpc>
              <a:tabLst>
                <a:tab pos="363538" algn="l"/>
              </a:tabLst>
            </a:pPr>
            <a:r>
              <a:rPr lang="en-US" sz="2800" b="1" kern="0" dirty="0">
                <a:solidFill>
                  <a:srgbClr val="00B050"/>
                </a:solidFill>
                <a:latin typeface="Angsana New" pitchFamily="18" charset="-34"/>
              </a:rPr>
              <a:t>	</a:t>
            </a:r>
            <a:r>
              <a:rPr lang="en-US" sz="2800" b="1" kern="0" dirty="0" err="1">
                <a:solidFill>
                  <a:srgbClr val="00B050"/>
                </a:solidFill>
                <a:latin typeface="Angsana New" pitchFamily="18" charset="-34"/>
              </a:rPr>
              <a:t>Agresti</a:t>
            </a:r>
            <a:r>
              <a:rPr lang="en-US" sz="2800" b="1" kern="0" dirty="0">
                <a:solidFill>
                  <a:srgbClr val="00B050"/>
                </a:solidFill>
                <a:latin typeface="Angsana New" pitchFamily="18" charset="-34"/>
              </a:rPr>
              <a:t>, A., Franklin, C. and </a:t>
            </a:r>
            <a:r>
              <a:rPr lang="en-US" sz="2800" b="1" kern="0" dirty="0" err="1">
                <a:solidFill>
                  <a:srgbClr val="00B050"/>
                </a:solidFill>
                <a:latin typeface="Angsana New" pitchFamily="18" charset="-34"/>
              </a:rPr>
              <a:t>Klingenberg</a:t>
            </a:r>
            <a:r>
              <a:rPr lang="en-US" sz="2800" b="1" kern="0" dirty="0">
                <a:solidFill>
                  <a:srgbClr val="00B050"/>
                </a:solidFill>
                <a:latin typeface="Angsana New" pitchFamily="18" charset="-34"/>
              </a:rPr>
              <a:t>, B. (2018). </a:t>
            </a:r>
            <a:r>
              <a:rPr lang="en-US" sz="2800" b="1" i="1" kern="0" dirty="0">
                <a:solidFill>
                  <a:srgbClr val="00B050"/>
                </a:solidFill>
                <a:latin typeface="Angsana New" pitchFamily="18" charset="-34"/>
              </a:rPr>
              <a:t>Statistics: The Art and Science of Learning from Data</a:t>
            </a:r>
            <a:r>
              <a:rPr lang="en-US" sz="2800" b="1" kern="0" dirty="0">
                <a:solidFill>
                  <a:srgbClr val="00B050"/>
                </a:solidFill>
                <a:latin typeface="Angsana New" pitchFamily="18" charset="-34"/>
              </a:rPr>
              <a:t>, 4</a:t>
            </a:r>
            <a:r>
              <a:rPr lang="en-US" sz="2800" b="1" kern="0" baseline="30000" dirty="0">
                <a:solidFill>
                  <a:srgbClr val="00B050"/>
                </a:solidFill>
                <a:latin typeface="Angsana New" pitchFamily="18" charset="-34"/>
              </a:rPr>
              <a:t>th</a:t>
            </a:r>
            <a:r>
              <a:rPr lang="en-US" sz="2800" b="1" kern="0" dirty="0">
                <a:solidFill>
                  <a:srgbClr val="00B050"/>
                </a:solidFill>
                <a:latin typeface="Angsana New" pitchFamily="18" charset="-34"/>
              </a:rPr>
              <a:t> edition, Global Edition.  Pearson.</a:t>
            </a:r>
          </a:p>
        </p:txBody>
      </p:sp>
    </p:spTree>
    <p:extLst>
      <p:ext uri="{BB962C8B-B14F-4D97-AF65-F5344CB8AC3E}">
        <p14:creationId xmlns:p14="http://schemas.microsoft.com/office/powerpoint/2010/main" val="382475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6" grpId="0"/>
      <p:bldP spid="9" grpId="0"/>
      <p:bldP spid="8" grpId="0"/>
      <p:bldP spid="10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4099">
            <a:extLst>
              <a:ext uri="{FF2B5EF4-FFF2-40B4-BE49-F238E27FC236}">
                <a16:creationId xmlns:a16="http://schemas.microsoft.com/office/drawing/2014/main" id="{BDD9D5C9-F223-4B58-9B9F-E8BE90EABB8D}"/>
              </a:ext>
            </a:extLst>
          </p:cNvPr>
          <p:cNvGrpSpPr/>
          <p:nvPr/>
        </p:nvGrpSpPr>
        <p:grpSpPr>
          <a:xfrm>
            <a:off x="1828800" y="4335043"/>
            <a:ext cx="4152688" cy="464780"/>
            <a:chOff x="1811286" y="5330567"/>
            <a:chExt cx="4152688" cy="438063"/>
          </a:xfrm>
        </p:grpSpPr>
        <p:sp>
          <p:nvSpPr>
            <p:cNvPr id="20" name="TextBox 22">
              <a:extLst>
                <a:ext uri="{FF2B5EF4-FFF2-40B4-BE49-F238E27FC236}">
                  <a16:creationId xmlns:a16="http://schemas.microsoft.com/office/drawing/2014/main" id="{E126198D-8CBA-4A28-A444-118CA44F2F6B}"/>
                </a:ext>
              </a:extLst>
            </p:cNvPr>
            <p:cNvSpPr txBox="1"/>
            <p:nvPr/>
          </p:nvSpPr>
          <p:spPr>
            <a:xfrm>
              <a:off x="1811286" y="5332035"/>
              <a:ext cx="1295400" cy="435127"/>
            </a:xfrm>
            <a:prstGeom prst="rect">
              <a:avLst/>
            </a:prstGeom>
            <a:solidFill>
              <a:srgbClr val="006600"/>
            </a:solidFill>
            <a:ln>
              <a:solidFill>
                <a:srgbClr val="0066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E - mail</a:t>
              </a:r>
              <a:endParaRPr lang="th-TH" sz="2400" b="1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21" name="TextBox 24">
              <a:extLst>
                <a:ext uri="{FF2B5EF4-FFF2-40B4-BE49-F238E27FC236}">
                  <a16:creationId xmlns:a16="http://schemas.microsoft.com/office/drawing/2014/main" id="{2721FBB5-D14F-4BDA-A545-1516A914A79F}"/>
                </a:ext>
              </a:extLst>
            </p:cNvPr>
            <p:cNvSpPr txBox="1"/>
            <p:nvPr/>
          </p:nvSpPr>
          <p:spPr>
            <a:xfrm>
              <a:off x="3159319" y="5330567"/>
              <a:ext cx="2804655" cy="438063"/>
            </a:xfrm>
            <a:prstGeom prst="rect">
              <a:avLst/>
            </a:prstGeom>
            <a:solidFill>
              <a:srgbClr val="006600"/>
            </a:solidFill>
            <a:ln>
              <a:solidFill>
                <a:srgbClr val="0066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si-ramidha.sri@nida.ac.th</a:t>
              </a:r>
              <a:endParaRPr lang="th-TH" sz="2400" b="1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sp>
        <p:nvSpPr>
          <p:cNvPr id="25" name="Rectangle 2">
            <a:extLst>
              <a:ext uri="{FF2B5EF4-FFF2-40B4-BE49-F238E27FC236}">
                <a16:creationId xmlns:a16="http://schemas.microsoft.com/office/drawing/2014/main" id="{BFD04AEB-494E-417C-BE6D-A4E9D74D9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12" y="838200"/>
            <a:ext cx="18669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sz="2800" b="1" kern="0" dirty="0">
                <a:solidFill>
                  <a:srgbClr val="FF31C9"/>
                </a:solidFill>
                <a:latin typeface="Angsana New" pitchFamily="18" charset="-34"/>
              </a:rPr>
              <a:t>Grading: </a:t>
            </a: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C8C020D0-C62F-4E9B-AA65-0699A0DD3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750" y="3531170"/>
            <a:ext cx="8985740" cy="887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algn="l" eaLnBrk="1" hangingPunct="1">
              <a:lnSpc>
                <a:spcPct val="70000"/>
              </a:lnSpc>
              <a:tabLst>
                <a:tab pos="1595438" algn="l"/>
                <a:tab pos="4857750" algn="l"/>
              </a:tabLst>
            </a:pPr>
            <a:r>
              <a:rPr lang="en-US" sz="2800" b="1" kern="0" dirty="0">
                <a:solidFill>
                  <a:srgbClr val="FF31C9"/>
                </a:solidFill>
                <a:latin typeface="Angsana New" pitchFamily="18" charset="-34"/>
              </a:rPr>
              <a:t>Contact:</a:t>
            </a:r>
            <a:r>
              <a:rPr lang="en-US" sz="2800" b="1" kern="0" dirty="0">
                <a:solidFill>
                  <a:srgbClr val="0000FF"/>
                </a:solidFill>
                <a:latin typeface="Angsana New" pitchFamily="18" charset="-34"/>
              </a:rPr>
              <a:t>            </a:t>
            </a:r>
            <a:r>
              <a:rPr lang="en-US" sz="2800" b="1" kern="0" dirty="0" err="1">
                <a:solidFill>
                  <a:srgbClr val="0000FF"/>
                </a:solidFill>
                <a:latin typeface="Angsana New" pitchFamily="18" charset="-34"/>
              </a:rPr>
              <a:t>Asst.Prof.Dr</a:t>
            </a:r>
            <a:r>
              <a:rPr lang="en-US" sz="2800" b="1" kern="0" dirty="0">
                <a:solidFill>
                  <a:srgbClr val="0000FF"/>
                </a:solidFill>
                <a:latin typeface="Angsana New" pitchFamily="18" charset="-34"/>
              </a:rPr>
              <a:t>. </a:t>
            </a:r>
            <a:r>
              <a:rPr lang="en-US" sz="2800" b="1" kern="0" dirty="0" err="1">
                <a:solidFill>
                  <a:srgbClr val="0000FF"/>
                </a:solidFill>
                <a:latin typeface="Angsana New" pitchFamily="18" charset="-34"/>
              </a:rPr>
              <a:t>Ramidha</a:t>
            </a:r>
            <a:r>
              <a:rPr lang="en-US" sz="2800" b="1" kern="0" dirty="0">
                <a:solidFill>
                  <a:srgbClr val="0000FF"/>
                </a:solidFill>
                <a:latin typeface="Angsana New" pitchFamily="18" charset="-34"/>
              </a:rPr>
              <a:t> </a:t>
            </a:r>
            <a:r>
              <a:rPr lang="en-US" sz="2800" b="1" kern="0" dirty="0" err="1">
                <a:solidFill>
                  <a:srgbClr val="0000FF"/>
                </a:solidFill>
                <a:latin typeface="Angsana New" pitchFamily="18" charset="-34"/>
              </a:rPr>
              <a:t>Srihera</a:t>
            </a:r>
            <a:endParaRPr lang="en-US" sz="2800" b="1" kern="0" dirty="0">
              <a:solidFill>
                <a:srgbClr val="0000FF"/>
              </a:solidFill>
              <a:latin typeface="Angsana New" pitchFamily="18" charset="-34"/>
            </a:endParaRPr>
          </a:p>
          <a:p>
            <a:pPr algn="l" eaLnBrk="1" hangingPunct="1">
              <a:lnSpc>
                <a:spcPct val="70000"/>
              </a:lnSpc>
              <a:tabLst>
                <a:tab pos="1595438" algn="l"/>
                <a:tab pos="4857750" algn="l"/>
              </a:tabLst>
            </a:pPr>
            <a:r>
              <a:rPr lang="en-US" sz="2800" b="1" kern="0" dirty="0">
                <a:solidFill>
                  <a:srgbClr val="0000FF"/>
                </a:solidFill>
                <a:latin typeface="Angsana New" pitchFamily="18" charset="-34"/>
              </a:rPr>
              <a:t>                           </a:t>
            </a:r>
          </a:p>
        </p:txBody>
      </p:sp>
      <p:sp>
        <p:nvSpPr>
          <p:cNvPr id="34" name="Text Box 79"/>
          <p:cNvSpPr txBox="1">
            <a:spLocks noChangeArrowheads="1"/>
          </p:cNvSpPr>
          <p:nvPr/>
        </p:nvSpPr>
        <p:spPr bwMode="auto">
          <a:xfrm>
            <a:off x="0" y="0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sz="3600" b="1" dirty="0">
                <a:solidFill>
                  <a:srgbClr val="0070C0"/>
                </a:solidFill>
                <a:latin typeface="Angsana New" pitchFamily="18" charset="-34"/>
                <a:cs typeface="Angsana New" pitchFamily="18" charset="-34"/>
              </a:rPr>
              <a:t>DADS 6001 Applied Modern </a:t>
            </a:r>
            <a:r>
              <a:rPr lang="en-US" sz="36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Statistical Analysis </a:t>
            </a:r>
            <a:endParaRPr lang="en-US" sz="3600" b="1" dirty="0">
              <a:solidFill>
                <a:srgbClr val="0033CC"/>
              </a:solidFill>
              <a:latin typeface="Angsana New" pitchFamily="18" charset="-34"/>
              <a:cs typeface="Angsana New" pitchFamily="18" charset="-34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828800" y="1443395"/>
            <a:ext cx="3528426" cy="1528288"/>
            <a:chOff x="1801412" y="2870639"/>
            <a:chExt cx="2832557" cy="1470007"/>
          </a:xfrm>
        </p:grpSpPr>
        <p:sp>
          <p:nvSpPr>
            <p:cNvPr id="6" name="TextBox 12">
              <a:extLst>
                <a:ext uri="{FF2B5EF4-FFF2-40B4-BE49-F238E27FC236}">
                  <a16:creationId xmlns:a16="http://schemas.microsoft.com/office/drawing/2014/main" id="{AD8D06F0-9F9B-488F-9856-11CCAAFA2F79}"/>
                </a:ext>
              </a:extLst>
            </p:cNvPr>
            <p:cNvSpPr txBox="1"/>
            <p:nvPr/>
          </p:nvSpPr>
          <p:spPr>
            <a:xfrm>
              <a:off x="1812972" y="3375430"/>
              <a:ext cx="1769484" cy="461665"/>
            </a:xfrm>
            <a:prstGeom prst="rect">
              <a:avLst/>
            </a:prstGeom>
            <a:solidFill>
              <a:srgbClr val="006600"/>
            </a:solidFill>
            <a:ln>
              <a:solidFill>
                <a:srgbClr val="006600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Angsana New" panose="02020603050405020304" pitchFamily="18" charset="-34"/>
                </a:rPr>
                <a:t>Final Examination</a:t>
              </a:r>
              <a:endParaRPr lang="th-TH" sz="2400" b="1" dirty="0">
                <a:solidFill>
                  <a:schemeClr val="bg1"/>
                </a:solidFill>
                <a:latin typeface="Angsana New" panose="02020603050405020304" pitchFamily="18" charset="-34"/>
              </a:endParaRPr>
            </a:p>
          </p:txBody>
        </p:sp>
        <p:sp>
          <p:nvSpPr>
            <p:cNvPr id="12" name="TextBox 14">
              <a:extLst>
                <a:ext uri="{FF2B5EF4-FFF2-40B4-BE49-F238E27FC236}">
                  <a16:creationId xmlns:a16="http://schemas.microsoft.com/office/drawing/2014/main" id="{F8E6C455-8B25-4520-A894-26B7E5A382B6}"/>
                </a:ext>
              </a:extLst>
            </p:cNvPr>
            <p:cNvSpPr txBox="1"/>
            <p:nvPr/>
          </p:nvSpPr>
          <p:spPr>
            <a:xfrm>
              <a:off x="1810041" y="2873806"/>
              <a:ext cx="1771135" cy="461665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2400" b="1" dirty="0">
                  <a:solidFill>
                    <a:srgbClr val="0066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Midterm Examination</a:t>
              </a:r>
              <a:endParaRPr lang="th-TH" sz="2400" b="1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88C138C4-3042-45E7-A8F5-D4DCFB27D3D3}"/>
                </a:ext>
              </a:extLst>
            </p:cNvPr>
            <p:cNvSpPr txBox="1"/>
            <p:nvPr/>
          </p:nvSpPr>
          <p:spPr>
            <a:xfrm>
              <a:off x="3654856" y="2870639"/>
              <a:ext cx="972545" cy="461665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6600"/>
                  </a:solidFill>
                  <a:latin typeface="Angsana New" panose="02020603050405020304" pitchFamily="18" charset="-34"/>
                </a:rPr>
                <a:t>30</a:t>
              </a:r>
              <a:r>
                <a:rPr lang="en-US" sz="2400" b="1" dirty="0">
                  <a:solidFill>
                    <a:srgbClr val="0066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%</a:t>
              </a:r>
              <a:endParaRPr lang="th-TH" sz="2400" b="1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31" name="TextBox 14">
              <a:extLst>
                <a:ext uri="{FF2B5EF4-FFF2-40B4-BE49-F238E27FC236}">
                  <a16:creationId xmlns:a16="http://schemas.microsoft.com/office/drawing/2014/main" id="{F8E6C455-8B25-4520-A894-26B7E5A382B6}"/>
                </a:ext>
              </a:extLst>
            </p:cNvPr>
            <p:cNvSpPr txBox="1"/>
            <p:nvPr/>
          </p:nvSpPr>
          <p:spPr>
            <a:xfrm>
              <a:off x="1801412" y="3878981"/>
              <a:ext cx="1771135" cy="461665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lang="en-US" sz="2400" b="1" dirty="0">
                  <a:solidFill>
                    <a:srgbClr val="008000"/>
                  </a:solidFill>
                  <a:latin typeface="Angsana New" panose="02020603050405020304" pitchFamily="18" charset="-34"/>
                </a:rPr>
                <a:t>Assignments &amp; Others</a:t>
              </a:r>
              <a:endParaRPr lang="th-TH" sz="2400" b="1" dirty="0">
                <a:solidFill>
                  <a:srgbClr val="008000"/>
                </a:solidFill>
                <a:latin typeface="Angsana New" panose="02020603050405020304" pitchFamily="18" charset="-34"/>
              </a:endParaRPr>
            </a:p>
          </p:txBody>
        </p:sp>
        <p:sp>
          <p:nvSpPr>
            <p:cNvPr id="32" name="TextBox 11">
              <a:extLst>
                <a:ext uri="{FF2B5EF4-FFF2-40B4-BE49-F238E27FC236}">
                  <a16:creationId xmlns:a16="http://schemas.microsoft.com/office/drawing/2014/main" id="{88C138C4-3042-45E7-A8F5-D4DCFB27D3D3}"/>
                </a:ext>
              </a:extLst>
            </p:cNvPr>
            <p:cNvSpPr txBox="1"/>
            <p:nvPr/>
          </p:nvSpPr>
          <p:spPr>
            <a:xfrm>
              <a:off x="3661424" y="3875814"/>
              <a:ext cx="972545" cy="461665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6600"/>
                  </a:solidFill>
                  <a:latin typeface="Angsana New" panose="02020603050405020304" pitchFamily="18" charset="-34"/>
                </a:rPr>
                <a:t>3</a:t>
              </a:r>
              <a:r>
                <a:rPr lang="en-US" sz="2400" b="1" dirty="0">
                  <a:solidFill>
                    <a:srgbClr val="0066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0%</a:t>
              </a:r>
              <a:endParaRPr lang="th-TH" sz="2400" b="1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33" name="TextBox 7">
              <a:extLst>
                <a:ext uri="{FF2B5EF4-FFF2-40B4-BE49-F238E27FC236}">
                  <a16:creationId xmlns:a16="http://schemas.microsoft.com/office/drawing/2014/main" id="{C7518A82-5F65-4115-A5D4-619223F71B14}"/>
                </a:ext>
              </a:extLst>
            </p:cNvPr>
            <p:cNvSpPr txBox="1"/>
            <p:nvPr/>
          </p:nvSpPr>
          <p:spPr>
            <a:xfrm>
              <a:off x="3654856" y="3371304"/>
              <a:ext cx="972545" cy="461665"/>
            </a:xfrm>
            <a:prstGeom prst="rect">
              <a:avLst/>
            </a:prstGeom>
            <a:solidFill>
              <a:srgbClr val="006600"/>
            </a:solidFill>
            <a:ln>
              <a:solidFill>
                <a:srgbClr val="00660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40%</a:t>
              </a:r>
              <a:endParaRPr lang="th-TH" sz="2400" b="1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8561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"/>
          <p:cNvSpPr txBox="1">
            <a:spLocks noChangeArrowheads="1"/>
          </p:cNvSpPr>
          <p:nvPr/>
        </p:nvSpPr>
        <p:spPr bwMode="auto">
          <a:xfrm>
            <a:off x="0" y="92764"/>
            <a:ext cx="9144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GB" sz="4000" b="1" dirty="0">
                <a:solidFill>
                  <a:srgbClr val="0000FF"/>
                </a:solidFill>
                <a:latin typeface="Angsana New" pitchFamily="18" charset="-34"/>
                <a:cs typeface="Angsana New" pitchFamily="18" charset="-34"/>
              </a:rPr>
              <a:t>   DADS</a:t>
            </a:r>
            <a:r>
              <a:rPr lang="en-GB" sz="2800" b="1" dirty="0">
                <a:solidFill>
                  <a:srgbClr val="0000FF"/>
                </a:solidFill>
                <a:latin typeface="Angsana New" pitchFamily="18" charset="-34"/>
                <a:cs typeface="Angsana New" pitchFamily="18" charset="-34"/>
              </a:rPr>
              <a:t> </a:t>
            </a:r>
            <a:r>
              <a:rPr lang="en-GB" sz="4000" b="1" dirty="0">
                <a:solidFill>
                  <a:srgbClr val="0000FF"/>
                </a:solidFill>
                <a:latin typeface="Angsana New" pitchFamily="18" charset="-34"/>
                <a:cs typeface="Angsana New" pitchFamily="18" charset="-34"/>
              </a:rPr>
              <a:t>6001 Applied Modern </a:t>
            </a:r>
            <a:r>
              <a:rPr lang="en-US" sz="4000" b="1" dirty="0">
                <a:solidFill>
                  <a:srgbClr val="0000FF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Statistical Analysis </a:t>
            </a:r>
            <a:r>
              <a:rPr lang="en-US" sz="4000" b="1" kern="0" dirty="0">
                <a:solidFill>
                  <a:srgbClr val="0000FF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</a:t>
            </a:r>
            <a:r>
              <a:rPr lang="en-US" sz="4000" b="1" kern="0" baseline="30000" dirty="0">
                <a:solidFill>
                  <a:srgbClr val="0000FF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st</a:t>
            </a:r>
            <a:r>
              <a:rPr lang="en-US" sz="4000" b="1" kern="0" dirty="0">
                <a:solidFill>
                  <a:srgbClr val="0000FF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Half)</a:t>
            </a:r>
          </a:p>
        </p:txBody>
      </p:sp>
      <p:sp>
        <p:nvSpPr>
          <p:cNvPr id="27" name="Rectangle 2"/>
          <p:cNvSpPr txBox="1">
            <a:spLocks noChangeArrowheads="1"/>
          </p:cNvSpPr>
          <p:nvPr/>
        </p:nvSpPr>
        <p:spPr bwMode="auto">
          <a:xfrm>
            <a:off x="304800" y="526582"/>
            <a:ext cx="90678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sz="3200" b="1" kern="0" dirty="0">
                <a:solidFill>
                  <a:srgbClr val="CC00CC"/>
                </a:solidFill>
                <a:latin typeface="Angsana New" pitchFamily="18" charset="-34"/>
              </a:rPr>
              <a:t>Class Schedule: Saturday at Lab 4, 10th FL. , Siam. Building  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304800" y="1371600"/>
            <a:ext cx="8406102" cy="5575657"/>
            <a:chOff x="118078" y="1188213"/>
            <a:chExt cx="8406102" cy="5575657"/>
          </a:xfrm>
        </p:grpSpPr>
        <p:grpSp>
          <p:nvGrpSpPr>
            <p:cNvPr id="17" name="Group 16"/>
            <p:cNvGrpSpPr/>
            <p:nvPr/>
          </p:nvGrpSpPr>
          <p:grpSpPr>
            <a:xfrm>
              <a:off x="118078" y="1188213"/>
              <a:ext cx="8368471" cy="5575657"/>
              <a:chOff x="118078" y="1188213"/>
              <a:chExt cx="8368471" cy="5575657"/>
            </a:xfrm>
          </p:grpSpPr>
          <p:grpSp>
            <p:nvGrpSpPr>
              <p:cNvPr id="4" name="Group 3"/>
              <p:cNvGrpSpPr/>
              <p:nvPr/>
            </p:nvGrpSpPr>
            <p:grpSpPr>
              <a:xfrm>
                <a:off x="122360" y="2149234"/>
                <a:ext cx="6450548" cy="714582"/>
                <a:chOff x="122360" y="2149234"/>
                <a:chExt cx="6450548" cy="714582"/>
              </a:xfrm>
            </p:grpSpPr>
            <p:sp>
              <p:nvSpPr>
                <p:cNvPr id="6" name="Rectangle 3"/>
                <p:cNvSpPr txBox="1">
                  <a:spLocks noChangeArrowheads="1"/>
                </p:cNvSpPr>
                <p:nvPr/>
              </p:nvSpPr>
              <p:spPr bwMode="auto">
                <a:xfrm>
                  <a:off x="122360" y="2249710"/>
                  <a:ext cx="1546316" cy="457200"/>
                </a:xfrm>
                <a:prstGeom prst="rect">
                  <a:avLst/>
                </a:prstGeom>
                <a:solidFill>
                  <a:srgbClr val="0066FF"/>
                </a:solidFill>
                <a:ln w="9525">
                  <a:solidFill>
                    <a:srgbClr val="0066FF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>
                    <a:defRPr/>
                  </a:pPr>
                  <a:r>
                    <a:rPr lang="th-TH" sz="2800" b="1" kern="0" dirty="0">
                      <a:solidFill>
                        <a:schemeClr val="bg1">
                          <a:lumMod val="95000"/>
                        </a:schemeClr>
                      </a:solidFill>
                      <a:latin typeface="Angsana New" panose="02020603050405020304" pitchFamily="18" charset="-34"/>
                    </a:rPr>
                    <a:t>1</a:t>
                  </a:r>
                  <a:r>
                    <a:rPr lang="en-US" sz="2800" b="1" kern="0" dirty="0">
                      <a:solidFill>
                        <a:schemeClr val="bg1">
                          <a:lumMod val="95000"/>
                        </a:schemeClr>
                      </a:solidFill>
                      <a:latin typeface="Angsana New" panose="02020603050405020304" pitchFamily="18" charset="-34"/>
                    </a:rPr>
                    <a:t>5</a:t>
                  </a:r>
                  <a:r>
                    <a:rPr lang="th-TH" sz="2800" b="1" kern="0" dirty="0">
                      <a:solidFill>
                        <a:schemeClr val="bg1">
                          <a:lumMod val="95000"/>
                        </a:schemeClr>
                      </a:solidFill>
                      <a:latin typeface="Angsana New" panose="02020603050405020304" pitchFamily="18" charset="-34"/>
                    </a:rPr>
                    <a:t>/0</a:t>
                  </a:r>
                  <a:r>
                    <a:rPr lang="en-US" sz="2800" b="1" kern="0" dirty="0">
                      <a:solidFill>
                        <a:schemeClr val="bg1">
                          <a:lumMod val="95000"/>
                        </a:schemeClr>
                      </a:solidFill>
                      <a:latin typeface="Angsana New" panose="02020603050405020304" pitchFamily="18" charset="-34"/>
                    </a:rPr>
                    <a:t>8</a:t>
                  </a:r>
                  <a:r>
                    <a:rPr lang="th-TH" sz="2800" b="1" kern="0" dirty="0">
                      <a:solidFill>
                        <a:schemeClr val="bg1">
                          <a:lumMod val="95000"/>
                        </a:schemeClr>
                      </a:solidFill>
                      <a:latin typeface="Angsana New" panose="02020603050405020304" pitchFamily="18" charset="-34"/>
                    </a:rPr>
                    <a:t>/2</a:t>
                  </a:r>
                  <a:r>
                    <a:rPr lang="en-US" sz="2800" b="1" kern="0" dirty="0">
                      <a:solidFill>
                        <a:schemeClr val="bg1">
                          <a:lumMod val="95000"/>
                        </a:schemeClr>
                      </a:solidFill>
                      <a:latin typeface="Angsana New" panose="02020603050405020304" pitchFamily="18" charset="-34"/>
                    </a:rPr>
                    <a:t>026</a:t>
                  </a:r>
                  <a:endParaRPr lang="th-TH" sz="2800" b="1" kern="0" dirty="0">
                    <a:solidFill>
                      <a:schemeClr val="bg1">
                        <a:lumMod val="95000"/>
                      </a:schemeClr>
                    </a:solidFill>
                    <a:latin typeface="Angsana New" panose="02020603050405020304" pitchFamily="18" charset="-34"/>
                  </a:endParaRPr>
                </a:p>
              </p:txBody>
            </p:sp>
            <p:sp>
              <p:nvSpPr>
                <p:cNvPr id="13" name="Rectangle 3"/>
                <p:cNvSpPr txBox="1">
                  <a:spLocks noChangeArrowheads="1"/>
                </p:cNvSpPr>
                <p:nvPr/>
              </p:nvSpPr>
              <p:spPr bwMode="auto">
                <a:xfrm>
                  <a:off x="1765351" y="2149234"/>
                  <a:ext cx="4807557" cy="714582"/>
                </a:xfrm>
                <a:prstGeom prst="rect">
                  <a:avLst/>
                </a:prstGeom>
                <a:solidFill>
                  <a:srgbClr val="0066FF"/>
                </a:solidFill>
                <a:ln w="9525">
                  <a:solidFill>
                    <a:srgbClr val="0066FF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>
                    <a:defRPr/>
                  </a:pPr>
                  <a:r>
                    <a:rPr lang="en-US" sz="2400" b="1" kern="0" dirty="0">
                      <a:solidFill>
                        <a:schemeClr val="bg1"/>
                      </a:solidFill>
                      <a:latin typeface="Angsana New" panose="02020603050405020304" pitchFamily="18" charset="-34"/>
                    </a:rPr>
                    <a:t>Basic Concept of Estimation and </a:t>
                  </a:r>
                </a:p>
                <a:p>
                  <a:pPr>
                    <a:defRPr/>
                  </a:pPr>
                  <a:r>
                    <a:rPr lang="en-US" sz="2400" b="1" kern="0" dirty="0">
                      <a:solidFill>
                        <a:schemeClr val="bg1"/>
                      </a:solidFill>
                      <a:latin typeface="Angsana New" panose="02020603050405020304" pitchFamily="18" charset="-34"/>
                    </a:rPr>
                    <a:t>Constructing Confidence Interval</a:t>
                  </a:r>
                  <a:endParaRPr lang="th-TH" sz="2400" b="1" kern="0" dirty="0">
                    <a:solidFill>
                      <a:schemeClr val="bg1"/>
                    </a:solidFill>
                    <a:latin typeface="Angsana New" panose="02020603050405020304" pitchFamily="18" charset="-34"/>
                  </a:endParaRPr>
                </a:p>
              </p:txBody>
            </p:sp>
          </p:grpSp>
          <p:grpSp>
            <p:nvGrpSpPr>
              <p:cNvPr id="8" name="Group 7"/>
              <p:cNvGrpSpPr/>
              <p:nvPr/>
            </p:nvGrpSpPr>
            <p:grpSpPr>
              <a:xfrm>
                <a:off x="122360" y="3821696"/>
                <a:ext cx="6450548" cy="457200"/>
                <a:chOff x="122360" y="3821696"/>
                <a:chExt cx="6450548" cy="457200"/>
              </a:xfrm>
            </p:grpSpPr>
            <p:sp>
              <p:nvSpPr>
                <p:cNvPr id="9" name="Rectangle 3"/>
                <p:cNvSpPr txBox="1">
                  <a:spLocks noChangeArrowheads="1"/>
                </p:cNvSpPr>
                <p:nvPr/>
              </p:nvSpPr>
              <p:spPr bwMode="auto">
                <a:xfrm>
                  <a:off x="122360" y="3821696"/>
                  <a:ext cx="1546316" cy="457200"/>
                </a:xfrm>
                <a:prstGeom prst="rect">
                  <a:avLst/>
                </a:prstGeom>
                <a:solidFill>
                  <a:srgbClr val="FFEBFF"/>
                </a:solidFill>
                <a:ln w="9525">
                  <a:solidFill>
                    <a:srgbClr val="FFEBFF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>
                    <a:defRPr/>
                  </a:pPr>
                  <a:r>
                    <a:rPr lang="en-US" sz="2800" b="1" kern="0" dirty="0">
                      <a:solidFill>
                        <a:srgbClr val="002060"/>
                      </a:solidFill>
                      <a:latin typeface="Angsana New" panose="02020603050405020304" pitchFamily="18" charset="-34"/>
                    </a:rPr>
                    <a:t>05/09/2026</a:t>
                  </a:r>
                  <a:endParaRPr lang="th-TH" sz="2800" b="1" kern="0" dirty="0">
                    <a:solidFill>
                      <a:srgbClr val="002060"/>
                    </a:solidFill>
                    <a:latin typeface="Angsana New" panose="02020603050405020304" pitchFamily="18" charset="-34"/>
                  </a:endParaRPr>
                </a:p>
              </p:txBody>
            </p:sp>
            <p:sp>
              <p:nvSpPr>
                <p:cNvPr id="16" name="Rectangle 3"/>
                <p:cNvSpPr txBox="1">
                  <a:spLocks noChangeArrowheads="1"/>
                </p:cNvSpPr>
                <p:nvPr/>
              </p:nvSpPr>
              <p:spPr bwMode="auto">
                <a:xfrm>
                  <a:off x="1765351" y="3827853"/>
                  <a:ext cx="4807557" cy="379879"/>
                </a:xfrm>
                <a:prstGeom prst="rect">
                  <a:avLst/>
                </a:prstGeom>
                <a:solidFill>
                  <a:srgbClr val="FFEBFF"/>
                </a:solidFill>
                <a:ln w="9525">
                  <a:solidFill>
                    <a:srgbClr val="FFEBFF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>
                    <a:defRPr/>
                  </a:pPr>
                  <a:r>
                    <a:rPr lang="en-US" sz="2400" b="1" dirty="0">
                      <a:solidFill>
                        <a:srgbClr val="002060"/>
                      </a:solidFill>
                      <a:latin typeface="Angsana New" panose="02020603050405020304" pitchFamily="18" charset="-34"/>
                    </a:rPr>
                    <a:t>Basic Concept of Hypothesis Testing: </a:t>
                  </a:r>
                </a:p>
                <a:p>
                  <a:pPr>
                    <a:defRPr/>
                  </a:pPr>
                  <a:r>
                    <a:rPr lang="en-US" sz="2400" b="1" dirty="0">
                      <a:solidFill>
                        <a:srgbClr val="002060"/>
                      </a:solidFill>
                      <a:latin typeface="Angsana New" panose="02020603050405020304" pitchFamily="18" charset="-34"/>
                    </a:rPr>
                    <a:t>One Population Mean</a:t>
                  </a:r>
                  <a:endParaRPr lang="en-US" sz="2800" dirty="0">
                    <a:latin typeface="Angsana New" panose="02020603050405020304" pitchFamily="18" charset="-34"/>
                  </a:endParaRPr>
                </a:p>
              </p:txBody>
            </p:sp>
          </p:grpSp>
          <p:grpSp>
            <p:nvGrpSpPr>
              <p:cNvPr id="2" name="Group 1"/>
              <p:cNvGrpSpPr/>
              <p:nvPr/>
            </p:nvGrpSpPr>
            <p:grpSpPr>
              <a:xfrm>
                <a:off x="122806" y="1188213"/>
                <a:ext cx="6450102" cy="480991"/>
                <a:chOff x="122806" y="1188213"/>
                <a:chExt cx="6450102" cy="480991"/>
              </a:xfrm>
            </p:grpSpPr>
            <p:sp>
              <p:nvSpPr>
                <p:cNvPr id="25" name="Rectangle 3"/>
                <p:cNvSpPr txBox="1">
                  <a:spLocks noChangeArrowheads="1"/>
                </p:cNvSpPr>
                <p:nvPr/>
              </p:nvSpPr>
              <p:spPr bwMode="auto">
                <a:xfrm>
                  <a:off x="122806" y="1188213"/>
                  <a:ext cx="1543235" cy="45720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9525">
                  <a:solidFill>
                    <a:schemeClr val="accent2">
                      <a:lumMod val="75000"/>
                    </a:schemeClr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>
                    <a:defRPr/>
                  </a:pPr>
                  <a:r>
                    <a:rPr lang="en-US" sz="2800" b="1" kern="0" dirty="0">
                      <a:solidFill>
                        <a:schemeClr val="bg1">
                          <a:lumMod val="95000"/>
                        </a:schemeClr>
                      </a:solidFill>
                      <a:latin typeface="Angsana New" panose="02020603050405020304" pitchFamily="18" charset="-34"/>
                    </a:rPr>
                    <a:t>Date</a:t>
                  </a:r>
                  <a:endParaRPr lang="th-TH" sz="2800" b="1" kern="0" dirty="0">
                    <a:solidFill>
                      <a:schemeClr val="bg1">
                        <a:lumMod val="95000"/>
                      </a:schemeClr>
                    </a:solidFill>
                    <a:latin typeface="Angsana New" panose="02020603050405020304" pitchFamily="18" charset="-34"/>
                  </a:endParaRPr>
                </a:p>
              </p:txBody>
            </p:sp>
            <p:sp>
              <p:nvSpPr>
                <p:cNvPr id="26" name="Rectangle 3"/>
                <p:cNvSpPr txBox="1">
                  <a:spLocks noChangeArrowheads="1"/>
                </p:cNvSpPr>
                <p:nvPr/>
              </p:nvSpPr>
              <p:spPr bwMode="auto">
                <a:xfrm>
                  <a:off x="1765351" y="1194370"/>
                  <a:ext cx="4807557" cy="474834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9525">
                  <a:solidFill>
                    <a:schemeClr val="accent2">
                      <a:lumMod val="75000"/>
                    </a:schemeClr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>
                    <a:defRPr/>
                  </a:pPr>
                  <a:r>
                    <a:rPr lang="en-US" sz="2800" b="1" kern="0" dirty="0">
                      <a:solidFill>
                        <a:schemeClr val="bg1">
                          <a:lumMod val="95000"/>
                        </a:schemeClr>
                      </a:solidFill>
                      <a:latin typeface="Angsana New" panose="02020603050405020304" pitchFamily="18" charset="-34"/>
                    </a:rPr>
                    <a:t>                                 Topic</a:t>
                  </a:r>
                  <a:endParaRPr lang="th-TH" sz="2800" b="1" kern="0" dirty="0">
                    <a:solidFill>
                      <a:schemeClr val="bg1">
                        <a:lumMod val="95000"/>
                      </a:schemeClr>
                    </a:solidFill>
                    <a:latin typeface="Angsana New" panose="02020603050405020304" pitchFamily="18" charset="-34"/>
                  </a:endParaRPr>
                </a:p>
              </p:txBody>
            </p:sp>
          </p:grpSp>
          <p:grpSp>
            <p:nvGrpSpPr>
              <p:cNvPr id="5" name="Group 4"/>
              <p:cNvGrpSpPr/>
              <p:nvPr/>
            </p:nvGrpSpPr>
            <p:grpSpPr>
              <a:xfrm>
                <a:off x="119808" y="2772727"/>
                <a:ext cx="6440348" cy="470967"/>
                <a:chOff x="119808" y="2772727"/>
                <a:chExt cx="6440348" cy="470967"/>
              </a:xfrm>
            </p:grpSpPr>
            <p:sp>
              <p:nvSpPr>
                <p:cNvPr id="28" name="Rectangle 3"/>
                <p:cNvSpPr txBox="1">
                  <a:spLocks noChangeArrowheads="1"/>
                </p:cNvSpPr>
                <p:nvPr/>
              </p:nvSpPr>
              <p:spPr bwMode="auto">
                <a:xfrm>
                  <a:off x="119808" y="2772727"/>
                  <a:ext cx="1546316" cy="457200"/>
                </a:xfrm>
                <a:prstGeom prst="rect">
                  <a:avLst/>
                </a:prstGeom>
                <a:solidFill>
                  <a:srgbClr val="FFEBFF"/>
                </a:solidFill>
                <a:ln w="9525">
                  <a:solidFill>
                    <a:srgbClr val="FFEBFF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>
                    <a:defRPr/>
                  </a:pPr>
                  <a:r>
                    <a:rPr lang="en-US" sz="2800" b="1" kern="0" dirty="0">
                      <a:solidFill>
                        <a:srgbClr val="002060"/>
                      </a:solidFill>
                      <a:latin typeface="Angsana New" panose="02020603050405020304" pitchFamily="18" charset="-34"/>
                    </a:rPr>
                    <a:t>22</a:t>
                  </a:r>
                  <a:r>
                    <a:rPr lang="th-TH" sz="2800" b="1" kern="0" dirty="0">
                      <a:solidFill>
                        <a:srgbClr val="002060"/>
                      </a:solidFill>
                      <a:latin typeface="Angsana New" panose="02020603050405020304" pitchFamily="18" charset="-34"/>
                    </a:rPr>
                    <a:t>/0</a:t>
                  </a:r>
                  <a:r>
                    <a:rPr lang="en-US" sz="2800" b="1" kern="0" dirty="0">
                      <a:solidFill>
                        <a:srgbClr val="002060"/>
                      </a:solidFill>
                      <a:latin typeface="Angsana New" panose="02020603050405020304" pitchFamily="18" charset="-34"/>
                    </a:rPr>
                    <a:t>8</a:t>
                  </a:r>
                  <a:r>
                    <a:rPr lang="th-TH" sz="2800" b="1" kern="0" dirty="0">
                      <a:solidFill>
                        <a:srgbClr val="002060"/>
                      </a:solidFill>
                      <a:latin typeface="Angsana New" panose="02020603050405020304" pitchFamily="18" charset="-34"/>
                    </a:rPr>
                    <a:t>/2</a:t>
                  </a:r>
                  <a:r>
                    <a:rPr lang="en-US" sz="2800" b="1" kern="0" dirty="0">
                      <a:solidFill>
                        <a:srgbClr val="002060"/>
                      </a:solidFill>
                      <a:latin typeface="Angsana New" panose="02020603050405020304" pitchFamily="18" charset="-34"/>
                    </a:rPr>
                    <a:t>026</a:t>
                  </a:r>
                  <a:endParaRPr lang="th-TH" sz="2800" b="1" dirty="0">
                    <a:solidFill>
                      <a:srgbClr val="002060"/>
                    </a:solidFill>
                    <a:latin typeface="Angsana New" panose="02020603050405020304" pitchFamily="18" charset="-34"/>
                  </a:endParaRPr>
                </a:p>
              </p:txBody>
            </p:sp>
            <p:sp>
              <p:nvSpPr>
                <p:cNvPr id="29" name="Rectangle 3"/>
                <p:cNvSpPr txBox="1">
                  <a:spLocks noChangeArrowheads="1"/>
                </p:cNvSpPr>
                <p:nvPr/>
              </p:nvSpPr>
              <p:spPr bwMode="auto">
                <a:xfrm>
                  <a:off x="1752599" y="2863815"/>
                  <a:ext cx="4807557" cy="379879"/>
                </a:xfrm>
                <a:prstGeom prst="rect">
                  <a:avLst/>
                </a:prstGeom>
                <a:solidFill>
                  <a:srgbClr val="FFEBFF"/>
                </a:solidFill>
                <a:ln w="9525">
                  <a:solidFill>
                    <a:srgbClr val="FFEBFF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>
                    <a:defRPr/>
                  </a:pPr>
                  <a:r>
                    <a:rPr lang="en-US" sz="2800" b="1" kern="0" spc="-100" dirty="0">
                      <a:solidFill>
                        <a:srgbClr val="002060"/>
                      </a:solidFill>
                      <a:latin typeface="Angsana New" panose="02020603050405020304" pitchFamily="18" charset="-34"/>
                    </a:rPr>
                    <a:t>Constructing Confidence Interval (cont.)</a:t>
                  </a:r>
                  <a:endParaRPr lang="th-TH" sz="2800" b="1" kern="0" spc="-100" dirty="0">
                    <a:solidFill>
                      <a:srgbClr val="002060"/>
                    </a:solidFill>
                    <a:latin typeface="Angsana New" panose="02020603050405020304" pitchFamily="18" charset="-34"/>
                  </a:endParaRPr>
                </a:p>
              </p:txBody>
            </p:sp>
          </p:grpSp>
          <p:grpSp>
            <p:nvGrpSpPr>
              <p:cNvPr id="14" name="Group 13"/>
              <p:cNvGrpSpPr/>
              <p:nvPr/>
            </p:nvGrpSpPr>
            <p:grpSpPr>
              <a:xfrm>
                <a:off x="130084" y="5938679"/>
                <a:ext cx="8356465" cy="825191"/>
                <a:chOff x="130084" y="5938679"/>
                <a:chExt cx="8356465" cy="825191"/>
              </a:xfrm>
            </p:grpSpPr>
            <p:sp>
              <p:nvSpPr>
                <p:cNvPr id="32" name="Rectangle 3"/>
                <p:cNvSpPr txBox="1">
                  <a:spLocks noChangeArrowheads="1"/>
                </p:cNvSpPr>
                <p:nvPr/>
              </p:nvSpPr>
              <p:spPr bwMode="auto">
                <a:xfrm>
                  <a:off x="130084" y="5943033"/>
                  <a:ext cx="1546316" cy="817334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>
                    <a:lnSpc>
                      <a:spcPts val="2400"/>
                    </a:lnSpc>
                    <a:defRPr/>
                  </a:pPr>
                  <a:r>
                    <a:rPr lang="en-US" sz="2800" b="1" kern="0" dirty="0">
                      <a:solidFill>
                        <a:schemeClr val="bg1">
                          <a:lumMod val="95000"/>
                        </a:schemeClr>
                      </a:solidFill>
                      <a:latin typeface="Angsana New" pitchFamily="18" charset="-34"/>
                    </a:rPr>
                    <a:t>03/10/2026 to</a:t>
                  </a:r>
                </a:p>
                <a:p>
                  <a:pPr algn="ctr">
                    <a:lnSpc>
                      <a:spcPts val="2400"/>
                    </a:lnSpc>
                    <a:defRPr/>
                  </a:pPr>
                  <a:r>
                    <a:rPr lang="en-US" sz="2800" b="1" kern="0" dirty="0">
                      <a:solidFill>
                        <a:schemeClr val="bg1">
                          <a:lumMod val="95000"/>
                        </a:schemeClr>
                      </a:solidFill>
                      <a:latin typeface="Angsana New" pitchFamily="18" charset="-34"/>
                    </a:rPr>
                    <a:t>16/10/2026</a:t>
                  </a:r>
                  <a:endParaRPr lang="th-TH" sz="2800" b="1" kern="0" dirty="0">
                    <a:solidFill>
                      <a:schemeClr val="bg1">
                        <a:lumMod val="95000"/>
                      </a:schemeClr>
                    </a:solidFill>
                    <a:latin typeface="Angsana New" pitchFamily="18" charset="-34"/>
                  </a:endParaRPr>
                </a:p>
              </p:txBody>
            </p:sp>
            <p:sp>
              <p:nvSpPr>
                <p:cNvPr id="33" name="Rectangle 3"/>
                <p:cNvSpPr txBox="1">
                  <a:spLocks noChangeArrowheads="1"/>
                </p:cNvSpPr>
                <p:nvPr/>
              </p:nvSpPr>
              <p:spPr bwMode="auto">
                <a:xfrm>
                  <a:off x="1757309" y="5938679"/>
                  <a:ext cx="6729240" cy="825191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>
                    <a:defRPr/>
                  </a:pPr>
                  <a:r>
                    <a:rPr lang="en-US" sz="3600" b="1" kern="0" dirty="0">
                      <a:solidFill>
                        <a:schemeClr val="bg1">
                          <a:lumMod val="95000"/>
                        </a:schemeClr>
                      </a:solidFill>
                      <a:latin typeface="Angsana New" panose="02020603050405020304" pitchFamily="18" charset="-34"/>
                    </a:rPr>
                    <a:t>Midterm Exam</a:t>
                  </a:r>
                  <a:endParaRPr lang="th-TH" sz="3600" b="1" kern="0" dirty="0">
                    <a:solidFill>
                      <a:schemeClr val="bg1">
                        <a:lumMod val="95000"/>
                      </a:schemeClr>
                    </a:solidFill>
                    <a:latin typeface="Angsana New" panose="02020603050405020304" pitchFamily="18" charset="-34"/>
                  </a:endParaRPr>
                </a:p>
              </p:txBody>
            </p:sp>
          </p:grpSp>
          <p:grpSp>
            <p:nvGrpSpPr>
              <p:cNvPr id="7" name="Group 6"/>
              <p:cNvGrpSpPr/>
              <p:nvPr/>
            </p:nvGrpSpPr>
            <p:grpSpPr>
              <a:xfrm>
                <a:off x="126886" y="3295148"/>
                <a:ext cx="6470902" cy="457200"/>
                <a:chOff x="126886" y="3295148"/>
                <a:chExt cx="6470902" cy="457200"/>
              </a:xfrm>
            </p:grpSpPr>
            <p:sp>
              <p:nvSpPr>
                <p:cNvPr id="31" name="Rectangle 3"/>
                <p:cNvSpPr txBox="1">
                  <a:spLocks noChangeArrowheads="1"/>
                </p:cNvSpPr>
                <p:nvPr/>
              </p:nvSpPr>
              <p:spPr bwMode="auto">
                <a:xfrm>
                  <a:off x="126886" y="3295148"/>
                  <a:ext cx="1546316" cy="457200"/>
                </a:xfrm>
                <a:prstGeom prst="rect">
                  <a:avLst/>
                </a:prstGeom>
                <a:solidFill>
                  <a:srgbClr val="0066FF"/>
                </a:solidFill>
                <a:ln w="9525">
                  <a:solidFill>
                    <a:srgbClr val="0066FF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>
                    <a:defRPr/>
                  </a:pPr>
                  <a:r>
                    <a:rPr lang="en-US" sz="2800" b="1" kern="0" dirty="0">
                      <a:solidFill>
                        <a:schemeClr val="bg1">
                          <a:lumMod val="95000"/>
                        </a:schemeClr>
                      </a:solidFill>
                      <a:latin typeface="Angsana New" panose="02020603050405020304" pitchFamily="18" charset="-34"/>
                    </a:rPr>
                    <a:t>29/08/2026</a:t>
                  </a:r>
                  <a:endParaRPr lang="th-TH" sz="2800" b="1" kern="0" dirty="0">
                    <a:solidFill>
                      <a:schemeClr val="bg1">
                        <a:lumMod val="95000"/>
                      </a:schemeClr>
                    </a:solidFill>
                    <a:latin typeface="Angsana New" panose="02020603050405020304" pitchFamily="18" charset="-34"/>
                  </a:endParaRPr>
                </a:p>
              </p:txBody>
            </p:sp>
            <p:sp>
              <p:nvSpPr>
                <p:cNvPr id="37" name="Rectangle 3"/>
                <p:cNvSpPr txBox="1">
                  <a:spLocks noChangeArrowheads="1"/>
                </p:cNvSpPr>
                <p:nvPr/>
              </p:nvSpPr>
              <p:spPr bwMode="auto">
                <a:xfrm>
                  <a:off x="1790231" y="3297225"/>
                  <a:ext cx="4807557" cy="418162"/>
                </a:xfrm>
                <a:prstGeom prst="rect">
                  <a:avLst/>
                </a:prstGeom>
                <a:solidFill>
                  <a:srgbClr val="0066FF"/>
                </a:solidFill>
                <a:ln w="9525">
                  <a:solidFill>
                    <a:srgbClr val="0066FF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>
                    <a:defRPr/>
                  </a:pPr>
                  <a:r>
                    <a:rPr lang="en-US" sz="2800" b="1" kern="0" dirty="0">
                      <a:solidFill>
                        <a:schemeClr val="bg1"/>
                      </a:solidFill>
                      <a:latin typeface="Angsana New" panose="02020603050405020304" pitchFamily="18" charset="-34"/>
                    </a:rPr>
                    <a:t>Jackknife and Bootstrap Methods</a:t>
                  </a:r>
                  <a:endParaRPr lang="th-TH" sz="2800" b="1" kern="0" dirty="0">
                    <a:solidFill>
                      <a:schemeClr val="bg1"/>
                    </a:solidFill>
                    <a:latin typeface="Angsana New" panose="02020603050405020304" pitchFamily="18" charset="-34"/>
                  </a:endParaRPr>
                </a:p>
              </p:txBody>
            </p:sp>
          </p:grpSp>
          <p:grpSp>
            <p:nvGrpSpPr>
              <p:cNvPr id="12" name="Group 11"/>
              <p:cNvGrpSpPr/>
              <p:nvPr/>
            </p:nvGrpSpPr>
            <p:grpSpPr>
              <a:xfrm>
                <a:off x="127122" y="5390420"/>
                <a:ext cx="6450548" cy="461887"/>
                <a:chOff x="127122" y="5390420"/>
                <a:chExt cx="6450548" cy="461887"/>
              </a:xfrm>
            </p:grpSpPr>
            <p:sp>
              <p:nvSpPr>
                <p:cNvPr id="39" name="Rectangle 3"/>
                <p:cNvSpPr txBox="1">
                  <a:spLocks noChangeArrowheads="1"/>
                </p:cNvSpPr>
                <p:nvPr/>
              </p:nvSpPr>
              <p:spPr bwMode="auto">
                <a:xfrm>
                  <a:off x="127122" y="5395107"/>
                  <a:ext cx="1546316" cy="457200"/>
                </a:xfrm>
                <a:prstGeom prst="rect">
                  <a:avLst/>
                </a:prstGeom>
                <a:solidFill>
                  <a:srgbClr val="0066FF"/>
                </a:solidFill>
                <a:ln w="9525">
                  <a:solidFill>
                    <a:srgbClr val="0066FF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>
                    <a:defRPr/>
                  </a:pPr>
                  <a:r>
                    <a:rPr lang="en-US" sz="2800" b="1" kern="0" dirty="0">
                      <a:solidFill>
                        <a:schemeClr val="bg1"/>
                      </a:solidFill>
                      <a:latin typeface="Angsana New" panose="02020603050405020304" pitchFamily="18" charset="-34"/>
                    </a:rPr>
                    <a:t>  26/09/2026</a:t>
                  </a:r>
                  <a:endParaRPr lang="th-TH" sz="2800" b="1" kern="0" dirty="0">
                    <a:solidFill>
                      <a:schemeClr val="bg1"/>
                    </a:solidFill>
                    <a:latin typeface="Angsana New" panose="02020603050405020304" pitchFamily="18" charset="-34"/>
                  </a:endParaRPr>
                </a:p>
              </p:txBody>
            </p:sp>
            <p:sp>
              <p:nvSpPr>
                <p:cNvPr id="40" name="Rectangle 3"/>
                <p:cNvSpPr txBox="1">
                  <a:spLocks noChangeArrowheads="1"/>
                </p:cNvSpPr>
                <p:nvPr/>
              </p:nvSpPr>
              <p:spPr bwMode="auto">
                <a:xfrm>
                  <a:off x="1770113" y="5390420"/>
                  <a:ext cx="4807557" cy="457769"/>
                </a:xfrm>
                <a:prstGeom prst="rect">
                  <a:avLst/>
                </a:prstGeom>
                <a:solidFill>
                  <a:srgbClr val="0066FF"/>
                </a:solidFill>
                <a:ln w="9525">
                  <a:solidFill>
                    <a:srgbClr val="0066FF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>
                    <a:defRPr/>
                  </a:pPr>
                  <a:r>
                    <a:rPr lang="en-US" sz="2800" b="1" kern="0" dirty="0">
                      <a:solidFill>
                        <a:schemeClr val="bg1"/>
                      </a:solidFill>
                      <a:latin typeface="Angsana New" panose="02020603050405020304" pitchFamily="18" charset="-34"/>
                    </a:rPr>
                    <a:t> </a:t>
                  </a:r>
                </a:p>
                <a:p>
                  <a:pPr>
                    <a:defRPr/>
                  </a:pPr>
                  <a:r>
                    <a:rPr lang="en-US" sz="2400" b="1" kern="0" dirty="0">
                      <a:solidFill>
                        <a:schemeClr val="bg1"/>
                      </a:solidFill>
                      <a:latin typeface="Angsana New" panose="02020603050405020304" pitchFamily="18" charset="-34"/>
                    </a:rPr>
                    <a:t>Permutation  </a:t>
                  </a:r>
                  <a:endParaRPr lang="th-TH" sz="2400" b="1" kern="0" dirty="0">
                    <a:solidFill>
                      <a:schemeClr val="bg1"/>
                    </a:solidFill>
                    <a:latin typeface="Angsana New" pitchFamily="18" charset="-34"/>
                  </a:endParaRPr>
                </a:p>
                <a:p>
                  <a:pPr>
                    <a:defRPr/>
                  </a:pPr>
                  <a:endParaRPr lang="th-TH" sz="2800" b="1" kern="0" dirty="0">
                    <a:solidFill>
                      <a:schemeClr val="bg1"/>
                    </a:solidFill>
                    <a:latin typeface="Angsana New" panose="02020603050405020304" pitchFamily="18" charset="-34"/>
                  </a:endParaRPr>
                </a:p>
              </p:txBody>
            </p:sp>
          </p:grpSp>
          <p:grpSp>
            <p:nvGrpSpPr>
              <p:cNvPr id="11" name="Group 10"/>
              <p:cNvGrpSpPr/>
              <p:nvPr/>
            </p:nvGrpSpPr>
            <p:grpSpPr>
              <a:xfrm>
                <a:off x="123313" y="4844628"/>
                <a:ext cx="7386165" cy="576140"/>
                <a:chOff x="123313" y="4844628"/>
                <a:chExt cx="7386165" cy="576140"/>
              </a:xfrm>
            </p:grpSpPr>
            <p:sp>
              <p:nvSpPr>
                <p:cNvPr id="56" name="Rectangle 3"/>
                <p:cNvSpPr txBox="1">
                  <a:spLocks noChangeArrowheads="1"/>
                </p:cNvSpPr>
                <p:nvPr/>
              </p:nvSpPr>
              <p:spPr bwMode="auto">
                <a:xfrm>
                  <a:off x="123313" y="4870691"/>
                  <a:ext cx="1546316" cy="457200"/>
                </a:xfrm>
                <a:prstGeom prst="rect">
                  <a:avLst/>
                </a:prstGeom>
                <a:solidFill>
                  <a:srgbClr val="FFEBFF"/>
                </a:solidFill>
                <a:ln w="9525">
                  <a:solidFill>
                    <a:srgbClr val="FFEBFF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>
                    <a:defRPr/>
                  </a:pPr>
                  <a:r>
                    <a:rPr lang="en-US" sz="2800" b="1" kern="0" dirty="0">
                      <a:solidFill>
                        <a:srgbClr val="002060"/>
                      </a:solidFill>
                      <a:latin typeface="Angsana New" panose="02020603050405020304" pitchFamily="18" charset="-34"/>
                    </a:rPr>
                    <a:t>19/09/2026</a:t>
                  </a:r>
                  <a:endParaRPr lang="th-TH" sz="2800" b="1" kern="0" dirty="0">
                    <a:solidFill>
                      <a:srgbClr val="002060"/>
                    </a:solidFill>
                    <a:latin typeface="Angsana New" panose="02020603050405020304" pitchFamily="18" charset="-34"/>
                  </a:endParaRPr>
                </a:p>
              </p:txBody>
            </p:sp>
            <p:sp>
              <p:nvSpPr>
                <p:cNvPr id="41" name="Rectangle 3"/>
                <p:cNvSpPr txBox="1">
                  <a:spLocks noChangeArrowheads="1"/>
                </p:cNvSpPr>
                <p:nvPr/>
              </p:nvSpPr>
              <p:spPr bwMode="auto">
                <a:xfrm>
                  <a:off x="1673202" y="4844628"/>
                  <a:ext cx="5836276" cy="576140"/>
                </a:xfrm>
                <a:prstGeom prst="rect">
                  <a:avLst/>
                </a:prstGeom>
                <a:solidFill>
                  <a:srgbClr val="FFEBFF"/>
                </a:solidFill>
                <a:ln w="9525">
                  <a:solidFill>
                    <a:srgbClr val="FFEBFF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>
                    <a:defRPr/>
                  </a:pPr>
                  <a:r>
                    <a:rPr lang="en-US" sz="2400" b="1" kern="0" dirty="0">
                      <a:solidFill>
                        <a:srgbClr val="002060"/>
                      </a:solidFill>
                      <a:latin typeface="Angsana New" panose="02020603050405020304" pitchFamily="18" charset="-34"/>
                    </a:rPr>
                    <a:t>Hypothesis Testing: Two Population Means(cont</a:t>
                  </a:r>
                  <a:r>
                    <a:rPr lang="en-US" sz="2800" b="1" kern="0" dirty="0">
                      <a:solidFill>
                        <a:srgbClr val="002060"/>
                      </a:solidFill>
                      <a:latin typeface="Angsana New" panose="02020603050405020304" pitchFamily="18" charset="-34"/>
                    </a:rPr>
                    <a:t>.) </a:t>
                  </a:r>
                  <a:endParaRPr lang="th-TH" sz="2800" b="1" kern="0" dirty="0">
                    <a:solidFill>
                      <a:srgbClr val="002060"/>
                    </a:solidFill>
                    <a:latin typeface="Angsana New" pitchFamily="18" charset="-34"/>
                  </a:endParaRPr>
                </a:p>
              </p:txBody>
            </p:sp>
          </p:grpSp>
          <p:grpSp>
            <p:nvGrpSpPr>
              <p:cNvPr id="10" name="Group 9"/>
              <p:cNvGrpSpPr/>
              <p:nvPr/>
            </p:nvGrpSpPr>
            <p:grpSpPr>
              <a:xfrm>
                <a:off x="118078" y="4322784"/>
                <a:ext cx="6454830" cy="480107"/>
                <a:chOff x="118078" y="4322784"/>
                <a:chExt cx="6454830" cy="480107"/>
              </a:xfrm>
            </p:grpSpPr>
            <p:sp>
              <p:nvSpPr>
                <p:cNvPr id="35" name="Rectangle 3"/>
                <p:cNvSpPr txBox="1">
                  <a:spLocks noChangeArrowheads="1"/>
                </p:cNvSpPr>
                <p:nvPr/>
              </p:nvSpPr>
              <p:spPr bwMode="auto">
                <a:xfrm>
                  <a:off x="118078" y="4345691"/>
                  <a:ext cx="1546316" cy="457200"/>
                </a:xfrm>
                <a:prstGeom prst="rect">
                  <a:avLst/>
                </a:prstGeom>
                <a:solidFill>
                  <a:srgbClr val="0066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>
                    <a:defRPr/>
                  </a:pPr>
                  <a:r>
                    <a:rPr lang="en-US" sz="2800" b="1" kern="0" dirty="0">
                      <a:solidFill>
                        <a:schemeClr val="bg1"/>
                      </a:solidFill>
                      <a:latin typeface="Angsana New" panose="02020603050405020304" pitchFamily="18" charset="-34"/>
                    </a:rPr>
                    <a:t>12/09/2026</a:t>
                  </a:r>
                  <a:endParaRPr lang="th-TH" sz="2800" b="1" kern="0" dirty="0">
                    <a:solidFill>
                      <a:schemeClr val="bg1"/>
                    </a:solidFill>
                    <a:latin typeface="Angsana New" panose="02020603050405020304" pitchFamily="18" charset="-34"/>
                  </a:endParaRPr>
                </a:p>
              </p:txBody>
            </p:sp>
            <p:sp>
              <p:nvSpPr>
                <p:cNvPr id="36" name="Rectangle 3"/>
                <p:cNvSpPr txBox="1">
                  <a:spLocks noChangeArrowheads="1"/>
                </p:cNvSpPr>
                <p:nvPr/>
              </p:nvSpPr>
              <p:spPr bwMode="auto">
                <a:xfrm>
                  <a:off x="1765351" y="4322784"/>
                  <a:ext cx="4807557" cy="476292"/>
                </a:xfrm>
                <a:prstGeom prst="rect">
                  <a:avLst/>
                </a:prstGeom>
                <a:solidFill>
                  <a:srgbClr val="0066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>
                    <a:defRPr/>
                  </a:pPr>
                  <a:r>
                    <a:rPr lang="en-US" sz="2400" b="1" kern="0" spc="-100" dirty="0">
                      <a:solidFill>
                        <a:schemeClr val="bg1"/>
                      </a:solidFill>
                      <a:latin typeface="Angsana New" panose="02020603050405020304" pitchFamily="18" charset="-34"/>
                    </a:rPr>
                    <a:t> </a:t>
                  </a:r>
                </a:p>
                <a:p>
                  <a:pPr>
                    <a:defRPr/>
                  </a:pPr>
                  <a:r>
                    <a:rPr lang="en-US" sz="2400" b="1" kern="0" spc="-100" dirty="0">
                      <a:solidFill>
                        <a:schemeClr val="bg1"/>
                      </a:solidFill>
                      <a:latin typeface="Angsana New" panose="02020603050405020304" pitchFamily="18" charset="-34"/>
                    </a:rPr>
                    <a:t>Hypothesis Testing: Two Population Means </a:t>
                  </a:r>
                </a:p>
                <a:p>
                  <a:pPr>
                    <a:defRPr/>
                  </a:pPr>
                  <a:endParaRPr lang="th-TH" sz="2400" b="1" kern="0" spc="-100" dirty="0">
                    <a:solidFill>
                      <a:schemeClr val="bg1"/>
                    </a:solidFill>
                    <a:latin typeface="Angsana New" panose="02020603050405020304" pitchFamily="18" charset="-34"/>
                  </a:endParaRPr>
                </a:p>
              </p:txBody>
            </p:sp>
          </p:grpSp>
          <p:grpSp>
            <p:nvGrpSpPr>
              <p:cNvPr id="3" name="Group 2"/>
              <p:cNvGrpSpPr/>
              <p:nvPr/>
            </p:nvGrpSpPr>
            <p:grpSpPr>
              <a:xfrm>
                <a:off x="118078" y="1708733"/>
                <a:ext cx="6531985" cy="457200"/>
                <a:chOff x="118078" y="1708733"/>
                <a:chExt cx="6531985" cy="457200"/>
              </a:xfrm>
            </p:grpSpPr>
            <p:sp>
              <p:nvSpPr>
                <p:cNvPr id="30" name="Rectangle 3"/>
                <p:cNvSpPr txBox="1">
                  <a:spLocks noChangeArrowheads="1"/>
                </p:cNvSpPr>
                <p:nvPr/>
              </p:nvSpPr>
              <p:spPr bwMode="auto">
                <a:xfrm>
                  <a:off x="118078" y="1708733"/>
                  <a:ext cx="1546316" cy="457200"/>
                </a:xfrm>
                <a:prstGeom prst="rect">
                  <a:avLst/>
                </a:prstGeom>
                <a:solidFill>
                  <a:srgbClr val="FFEBFF"/>
                </a:solidFill>
                <a:ln w="9525">
                  <a:solidFill>
                    <a:srgbClr val="FFEBFF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>
                    <a:defRPr/>
                  </a:pPr>
                  <a:r>
                    <a:rPr lang="en-US" sz="2800" b="1" kern="0" dirty="0">
                      <a:solidFill>
                        <a:srgbClr val="002060"/>
                      </a:solidFill>
                      <a:latin typeface="Angsana New" panose="02020603050405020304" pitchFamily="18" charset="-34"/>
                    </a:rPr>
                    <a:t>08/08/2026</a:t>
                  </a:r>
                  <a:endParaRPr lang="th-TH" sz="2800" b="1" dirty="0">
                    <a:solidFill>
                      <a:srgbClr val="002060"/>
                    </a:solidFill>
                    <a:latin typeface="Angsana New" panose="02020603050405020304" pitchFamily="18" charset="-34"/>
                  </a:endParaRPr>
                </a:p>
              </p:txBody>
            </p:sp>
            <p:sp>
              <p:nvSpPr>
                <p:cNvPr id="34" name="Rectangle 3"/>
                <p:cNvSpPr txBox="1">
                  <a:spLocks noChangeArrowheads="1"/>
                </p:cNvSpPr>
                <p:nvPr/>
              </p:nvSpPr>
              <p:spPr bwMode="auto">
                <a:xfrm>
                  <a:off x="1752599" y="1731463"/>
                  <a:ext cx="4897464" cy="305305"/>
                </a:xfrm>
                <a:prstGeom prst="rect">
                  <a:avLst/>
                </a:prstGeom>
                <a:solidFill>
                  <a:srgbClr val="FFEBFF"/>
                </a:solidFill>
                <a:ln w="9525">
                  <a:solidFill>
                    <a:srgbClr val="FFEBFF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>
                    <a:defRPr/>
                  </a:pPr>
                  <a:endParaRPr lang="en-US" sz="2400" b="1" kern="0" dirty="0">
                    <a:solidFill>
                      <a:srgbClr val="002060"/>
                    </a:solidFill>
                    <a:latin typeface="Angsana New" panose="02020603050405020304" pitchFamily="18" charset="-34"/>
                  </a:endParaRPr>
                </a:p>
                <a:p>
                  <a:pPr>
                    <a:defRPr/>
                  </a:pPr>
                  <a:r>
                    <a:rPr lang="en-US" sz="2400" b="1" kern="0" dirty="0">
                      <a:solidFill>
                        <a:srgbClr val="002060"/>
                      </a:solidFill>
                      <a:latin typeface="Angsana New" panose="02020603050405020304" pitchFamily="18" charset="-34"/>
                    </a:rPr>
                    <a:t>Introduction to Probability and Sampling Distribution </a:t>
                  </a:r>
                </a:p>
                <a:p>
                  <a:pPr>
                    <a:defRPr/>
                  </a:pPr>
                  <a:endParaRPr lang="th-TH" sz="2000" b="1" kern="0" dirty="0">
                    <a:solidFill>
                      <a:srgbClr val="002060"/>
                    </a:solidFill>
                    <a:latin typeface="Angsana New" panose="02020603050405020304" pitchFamily="18" charset="-34"/>
                  </a:endParaRPr>
                </a:p>
              </p:txBody>
            </p:sp>
          </p:grpSp>
        </p:grpSp>
        <p:sp>
          <p:nvSpPr>
            <p:cNvPr id="38" name="Rectangle 3"/>
            <p:cNvSpPr txBox="1">
              <a:spLocks noChangeArrowheads="1"/>
            </p:cNvSpPr>
            <p:nvPr/>
          </p:nvSpPr>
          <p:spPr bwMode="auto">
            <a:xfrm>
              <a:off x="6654343" y="2255297"/>
              <a:ext cx="1844957" cy="457200"/>
            </a:xfrm>
            <a:prstGeom prst="rect">
              <a:avLst/>
            </a:prstGeom>
            <a:solidFill>
              <a:srgbClr val="0066FF"/>
            </a:solidFill>
            <a:ln w="9525">
              <a:solidFill>
                <a:srgbClr val="0066F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r>
                <a:rPr lang="en-US" sz="2800" b="1" kern="0" dirty="0">
                  <a:solidFill>
                    <a:schemeClr val="bg1"/>
                  </a:solidFill>
                  <a:latin typeface="Angsana New" panose="02020603050405020304" pitchFamily="18" charset="-34"/>
                </a:rPr>
                <a:t>8.1, 8.2,8.3</a:t>
              </a:r>
              <a:endParaRPr lang="th-TH" sz="2800" b="1" kern="0" dirty="0">
                <a:solidFill>
                  <a:schemeClr val="bg1"/>
                </a:solidFill>
                <a:latin typeface="Angsana New" panose="02020603050405020304" pitchFamily="18" charset="-34"/>
              </a:endParaRPr>
            </a:p>
          </p:txBody>
        </p:sp>
        <p:sp>
          <p:nvSpPr>
            <p:cNvPr id="42" name="Rectangle 3"/>
            <p:cNvSpPr txBox="1">
              <a:spLocks noChangeArrowheads="1"/>
            </p:cNvSpPr>
            <p:nvPr/>
          </p:nvSpPr>
          <p:spPr bwMode="auto">
            <a:xfrm>
              <a:off x="6654343" y="3827283"/>
              <a:ext cx="1844957" cy="457200"/>
            </a:xfrm>
            <a:prstGeom prst="rect">
              <a:avLst/>
            </a:prstGeom>
            <a:solidFill>
              <a:srgbClr val="FFEBFF"/>
            </a:solidFill>
            <a:ln w="9525">
              <a:solidFill>
                <a:srgbClr val="FFEBF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r>
                <a:rPr lang="en-US" sz="2800" b="1" dirty="0">
                  <a:solidFill>
                    <a:srgbClr val="002060"/>
                  </a:solidFill>
                  <a:latin typeface="Angsana New" panose="02020603050405020304" pitchFamily="18" charset="-34"/>
                </a:rPr>
                <a:t>   9.1,9.3,9.4</a:t>
              </a:r>
              <a:r>
                <a:rPr lang="en-US" sz="2800" dirty="0">
                  <a:latin typeface="Angsana New" panose="02020603050405020304" pitchFamily="18" charset="-34"/>
                </a:rPr>
                <a:t> </a:t>
              </a:r>
              <a:endParaRPr lang="th-TH" sz="2800" b="1" kern="0" dirty="0">
                <a:latin typeface="Angsana New" pitchFamily="18" charset="-34"/>
              </a:endParaRPr>
            </a:p>
          </p:txBody>
        </p:sp>
        <p:sp>
          <p:nvSpPr>
            <p:cNvPr id="43" name="Rectangle 3"/>
            <p:cNvSpPr txBox="1">
              <a:spLocks noChangeArrowheads="1"/>
            </p:cNvSpPr>
            <p:nvPr/>
          </p:nvSpPr>
          <p:spPr bwMode="auto">
            <a:xfrm>
              <a:off x="6654343" y="1193800"/>
              <a:ext cx="1844957" cy="457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solidFill>
                <a:schemeClr val="accent2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r>
                <a:rPr lang="en-US" sz="2800" b="1" kern="0" dirty="0">
                  <a:solidFill>
                    <a:schemeClr val="bg1">
                      <a:lumMod val="95000"/>
                    </a:schemeClr>
                  </a:solidFill>
                  <a:latin typeface="Angsana New" panose="02020603050405020304" pitchFamily="18" charset="-34"/>
                </a:rPr>
                <a:t>Chapter/Session</a:t>
              </a:r>
              <a:endParaRPr lang="th-TH" sz="2800" b="1" kern="0" dirty="0">
                <a:solidFill>
                  <a:schemeClr val="bg1">
                    <a:lumMod val="95000"/>
                  </a:schemeClr>
                </a:solidFill>
                <a:latin typeface="Angsana New" panose="02020603050405020304" pitchFamily="18" charset="-34"/>
              </a:endParaRPr>
            </a:p>
          </p:txBody>
        </p:sp>
        <p:sp>
          <p:nvSpPr>
            <p:cNvPr id="44" name="Rectangle 3"/>
            <p:cNvSpPr txBox="1">
              <a:spLocks noChangeArrowheads="1"/>
            </p:cNvSpPr>
            <p:nvPr/>
          </p:nvSpPr>
          <p:spPr bwMode="auto">
            <a:xfrm>
              <a:off x="6651793" y="2778314"/>
              <a:ext cx="1844957" cy="457200"/>
            </a:xfrm>
            <a:prstGeom prst="rect">
              <a:avLst/>
            </a:prstGeom>
            <a:solidFill>
              <a:srgbClr val="FFEBFF"/>
            </a:solidFill>
            <a:ln w="9525">
              <a:solidFill>
                <a:srgbClr val="FFEBF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r>
                <a:rPr lang="en-US" sz="2800" b="1" kern="0" spc="-100" dirty="0">
                  <a:solidFill>
                    <a:srgbClr val="002060"/>
                  </a:solidFill>
                  <a:latin typeface="Angsana New" panose="02020603050405020304" pitchFamily="18" charset="-34"/>
                </a:rPr>
                <a:t>8.1,8.2,8.3</a:t>
              </a:r>
              <a:endParaRPr lang="th-TH" sz="2800" b="1" kern="0" spc="-100" dirty="0">
                <a:solidFill>
                  <a:srgbClr val="002060"/>
                </a:solidFill>
                <a:latin typeface="Angsana New" panose="02020603050405020304" pitchFamily="18" charset="-34"/>
              </a:endParaRPr>
            </a:p>
          </p:txBody>
        </p:sp>
        <p:sp>
          <p:nvSpPr>
            <p:cNvPr id="45" name="Rectangle 3"/>
            <p:cNvSpPr txBox="1">
              <a:spLocks noChangeArrowheads="1"/>
            </p:cNvSpPr>
            <p:nvPr/>
          </p:nvSpPr>
          <p:spPr bwMode="auto">
            <a:xfrm>
              <a:off x="6679223" y="3296655"/>
              <a:ext cx="1844957" cy="457200"/>
            </a:xfrm>
            <a:prstGeom prst="rect">
              <a:avLst/>
            </a:prstGeom>
            <a:solidFill>
              <a:srgbClr val="0066FF"/>
            </a:solidFill>
            <a:ln w="9525">
              <a:solidFill>
                <a:srgbClr val="0066F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latin typeface="Angsana New" panose="02020603050405020304" pitchFamily="18" charset="-34"/>
                </a:rPr>
                <a:t>8.5</a:t>
              </a:r>
              <a:endParaRPr lang="th-TH" sz="2800" b="1" kern="0" dirty="0">
                <a:solidFill>
                  <a:schemeClr val="bg1"/>
                </a:solidFill>
                <a:latin typeface="Angsana New" panose="02020603050405020304" pitchFamily="18" charset="-34"/>
              </a:endParaRPr>
            </a:p>
          </p:txBody>
        </p:sp>
        <p:sp>
          <p:nvSpPr>
            <p:cNvPr id="46" name="Rectangle 3"/>
            <p:cNvSpPr txBox="1">
              <a:spLocks noChangeArrowheads="1"/>
            </p:cNvSpPr>
            <p:nvPr/>
          </p:nvSpPr>
          <p:spPr bwMode="auto">
            <a:xfrm>
              <a:off x="6659105" y="5390420"/>
              <a:ext cx="1844957" cy="457200"/>
            </a:xfrm>
            <a:prstGeom prst="rect">
              <a:avLst/>
            </a:prstGeom>
            <a:solidFill>
              <a:srgbClr val="0066FF"/>
            </a:solidFill>
            <a:ln w="9525">
              <a:solidFill>
                <a:srgbClr val="0066F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r>
                <a:rPr lang="en-US" sz="2800" b="1" kern="0" dirty="0">
                  <a:solidFill>
                    <a:schemeClr val="bg1"/>
                  </a:solidFill>
                  <a:latin typeface="Angsana New" panose="02020603050405020304" pitchFamily="18" charset="-34"/>
                </a:rPr>
                <a:t>10.3,11.5</a:t>
              </a:r>
              <a:endParaRPr lang="th-TH" sz="2800" b="1" kern="0" dirty="0">
                <a:solidFill>
                  <a:schemeClr val="bg1"/>
                </a:solidFill>
                <a:latin typeface="Angsana New" panose="02020603050405020304" pitchFamily="18" charset="-34"/>
              </a:endParaRPr>
            </a:p>
          </p:txBody>
        </p:sp>
        <p:sp>
          <p:nvSpPr>
            <p:cNvPr id="47" name="Rectangle 3"/>
            <p:cNvSpPr txBox="1">
              <a:spLocks noChangeArrowheads="1"/>
            </p:cNvSpPr>
            <p:nvPr/>
          </p:nvSpPr>
          <p:spPr bwMode="auto">
            <a:xfrm>
              <a:off x="6646827" y="4870194"/>
              <a:ext cx="1844957" cy="457200"/>
            </a:xfrm>
            <a:prstGeom prst="rect">
              <a:avLst/>
            </a:prstGeom>
            <a:solidFill>
              <a:srgbClr val="FFEBFF"/>
            </a:solidFill>
            <a:ln w="9525">
              <a:solidFill>
                <a:srgbClr val="FFEBF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r>
                <a:rPr lang="en-US" sz="2800" b="1" dirty="0">
                  <a:solidFill>
                    <a:srgbClr val="002060"/>
                  </a:solidFill>
                  <a:latin typeface="Angsana New" panose="02020603050405020304" pitchFamily="18" charset="-34"/>
                </a:rPr>
                <a:t>10.4</a:t>
              </a:r>
              <a:endParaRPr lang="th-TH" sz="2800" b="1" kern="0" dirty="0">
                <a:solidFill>
                  <a:srgbClr val="002060"/>
                </a:solidFill>
                <a:latin typeface="Angsana New" pitchFamily="18" charset="-34"/>
              </a:endParaRPr>
            </a:p>
          </p:txBody>
        </p:sp>
        <p:sp>
          <p:nvSpPr>
            <p:cNvPr id="48" name="Rectangle 3"/>
            <p:cNvSpPr txBox="1">
              <a:spLocks noChangeArrowheads="1"/>
            </p:cNvSpPr>
            <p:nvPr/>
          </p:nvSpPr>
          <p:spPr bwMode="auto">
            <a:xfrm>
              <a:off x="6641592" y="4345194"/>
              <a:ext cx="1844957" cy="457200"/>
            </a:xfrm>
            <a:prstGeom prst="rect">
              <a:avLst/>
            </a:prstGeom>
            <a:solidFill>
              <a:srgbClr val="0066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r>
                <a:rPr lang="en-US" sz="2800" b="1" kern="0" spc="-100" dirty="0">
                  <a:solidFill>
                    <a:schemeClr val="bg1"/>
                  </a:solidFill>
                  <a:latin typeface="Angsana New" panose="02020603050405020304" pitchFamily="18" charset="-34"/>
                </a:rPr>
                <a:t>10.2</a:t>
              </a:r>
              <a:endParaRPr lang="th-TH" sz="2800" b="1" kern="0" spc="-100" dirty="0">
                <a:solidFill>
                  <a:schemeClr val="bg1"/>
                </a:solidFill>
                <a:latin typeface="Angsana New" panose="02020603050405020304" pitchFamily="18" charset="-34"/>
              </a:endParaRPr>
            </a:p>
          </p:txBody>
        </p:sp>
        <p:sp>
          <p:nvSpPr>
            <p:cNvPr id="49" name="Rectangle 3"/>
            <p:cNvSpPr txBox="1">
              <a:spLocks noChangeArrowheads="1"/>
            </p:cNvSpPr>
            <p:nvPr/>
          </p:nvSpPr>
          <p:spPr bwMode="auto">
            <a:xfrm>
              <a:off x="6650063" y="1714320"/>
              <a:ext cx="1844957" cy="457200"/>
            </a:xfrm>
            <a:prstGeom prst="rect">
              <a:avLst/>
            </a:prstGeom>
            <a:solidFill>
              <a:srgbClr val="FFEBFF"/>
            </a:solidFill>
            <a:ln w="9525">
              <a:solidFill>
                <a:srgbClr val="FFEBF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r>
                <a:rPr lang="en-US" sz="2800" b="1" kern="0" dirty="0">
                  <a:solidFill>
                    <a:srgbClr val="002060"/>
                  </a:solidFill>
                  <a:latin typeface="Angsana New" panose="02020603050405020304" pitchFamily="18" charset="-34"/>
                </a:rPr>
                <a:t> 5 &amp; 6</a:t>
              </a:r>
              <a:endParaRPr lang="th-TH" sz="2800" b="1" kern="0" dirty="0">
                <a:solidFill>
                  <a:srgbClr val="002060"/>
                </a:solidFill>
                <a:latin typeface="Angsana New" panose="02020603050405020304" pitchFamily="18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97749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7F849-2A04-3742-6C69-5007C4F4E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">
            <a:extLst>
              <a:ext uri="{FF2B5EF4-FFF2-40B4-BE49-F238E27FC236}">
                <a16:creationId xmlns:a16="http://schemas.microsoft.com/office/drawing/2014/main" id="{795074E8-D459-E2A2-FEFF-33B0BA7C15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2764"/>
            <a:ext cx="9144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GB" sz="4000" b="1">
                <a:solidFill>
                  <a:srgbClr val="0000FF"/>
                </a:solidFill>
                <a:latin typeface="Angsana New" pitchFamily="18" charset="-34"/>
                <a:cs typeface="Angsana New" pitchFamily="18" charset="-34"/>
              </a:rPr>
              <a:t>   DADS</a:t>
            </a:r>
            <a:r>
              <a:rPr lang="en-GB" sz="2800" b="1">
                <a:solidFill>
                  <a:srgbClr val="0000FF"/>
                </a:solidFill>
                <a:latin typeface="Angsana New" pitchFamily="18" charset="-34"/>
                <a:cs typeface="Angsana New" pitchFamily="18" charset="-34"/>
              </a:rPr>
              <a:t> </a:t>
            </a:r>
            <a:r>
              <a:rPr lang="en-GB" sz="4000" b="1">
                <a:solidFill>
                  <a:srgbClr val="0000FF"/>
                </a:solidFill>
                <a:latin typeface="Angsana New" pitchFamily="18" charset="-34"/>
                <a:cs typeface="Angsana New" pitchFamily="18" charset="-34"/>
              </a:rPr>
              <a:t>6001 </a:t>
            </a:r>
            <a:r>
              <a:rPr lang="en-GB" sz="4000" b="1" dirty="0">
                <a:solidFill>
                  <a:srgbClr val="0000FF"/>
                </a:solidFill>
                <a:latin typeface="Angsana New" pitchFamily="18" charset="-34"/>
                <a:cs typeface="Angsana New" pitchFamily="18" charset="-34"/>
              </a:rPr>
              <a:t>Applied Modern </a:t>
            </a:r>
            <a:r>
              <a:rPr lang="en-US" sz="4000" b="1" dirty="0">
                <a:solidFill>
                  <a:srgbClr val="0000FF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Statistical Analysis </a:t>
            </a:r>
            <a:r>
              <a:rPr lang="en-US" sz="4000" b="1" kern="0" dirty="0">
                <a:solidFill>
                  <a:srgbClr val="0000FF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</a:t>
            </a:r>
            <a:r>
              <a:rPr lang="en-US" sz="4000" b="1" kern="0" baseline="30000" dirty="0">
                <a:solidFill>
                  <a:srgbClr val="0000FF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nd</a:t>
            </a:r>
            <a:r>
              <a:rPr lang="en-US" sz="4000" b="1" kern="0" dirty="0">
                <a:solidFill>
                  <a:srgbClr val="0000FF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Half)</a:t>
            </a:r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B9D08CFB-A9DF-C371-4B5F-907CCB676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85800"/>
            <a:ext cx="90678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sz="3200" b="1" kern="0" dirty="0">
                <a:solidFill>
                  <a:srgbClr val="CC00CC"/>
                </a:solidFill>
                <a:latin typeface="Angsana New" pitchFamily="18" charset="-34"/>
              </a:rPr>
              <a:t>Class Schedule: Saturday at Lab 4, 10th FL. , Siam. Building  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D58428B-C09B-0BF6-2054-BCF77E058A55}"/>
              </a:ext>
            </a:extLst>
          </p:cNvPr>
          <p:cNvGrpSpPr/>
          <p:nvPr/>
        </p:nvGrpSpPr>
        <p:grpSpPr>
          <a:xfrm>
            <a:off x="368949" y="1733408"/>
            <a:ext cx="8406102" cy="5031828"/>
            <a:chOff x="118078" y="1183462"/>
            <a:chExt cx="8406102" cy="503182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4ABD8D8-9729-DBC3-A4AD-677930314A65}"/>
                </a:ext>
              </a:extLst>
            </p:cNvPr>
            <p:cNvGrpSpPr/>
            <p:nvPr/>
          </p:nvGrpSpPr>
          <p:grpSpPr>
            <a:xfrm>
              <a:off x="118078" y="1183462"/>
              <a:ext cx="8368471" cy="5031828"/>
              <a:chOff x="118078" y="1183462"/>
              <a:chExt cx="8368471" cy="5031828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3CD0961F-217C-42A7-D488-92ABE734C27C}"/>
                  </a:ext>
                </a:extLst>
              </p:cNvPr>
              <p:cNvGrpSpPr/>
              <p:nvPr/>
            </p:nvGrpSpPr>
            <p:grpSpPr>
              <a:xfrm>
                <a:off x="122360" y="2249710"/>
                <a:ext cx="6450548" cy="463357"/>
                <a:chOff x="122360" y="2249710"/>
                <a:chExt cx="6450548" cy="463357"/>
              </a:xfrm>
            </p:grpSpPr>
            <p:sp>
              <p:nvSpPr>
                <p:cNvPr id="6" name="Rectangle 3">
                  <a:extLst>
                    <a:ext uri="{FF2B5EF4-FFF2-40B4-BE49-F238E27FC236}">
                      <a16:creationId xmlns:a16="http://schemas.microsoft.com/office/drawing/2014/main" id="{92E51CCD-D61E-F65E-A008-71C82C1B1B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2360" y="2249710"/>
                  <a:ext cx="1546316" cy="457200"/>
                </a:xfrm>
                <a:prstGeom prst="rect">
                  <a:avLst/>
                </a:prstGeom>
                <a:solidFill>
                  <a:srgbClr val="0066FF"/>
                </a:solidFill>
                <a:ln w="9525">
                  <a:solidFill>
                    <a:srgbClr val="0066FF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>
                    <a:defRPr/>
                  </a:pPr>
                  <a:r>
                    <a:rPr lang="en-US" sz="2800" b="1" kern="0" dirty="0">
                      <a:solidFill>
                        <a:schemeClr val="bg1">
                          <a:lumMod val="95000"/>
                        </a:schemeClr>
                      </a:solidFill>
                      <a:latin typeface="Angsana New" panose="02020603050405020304" pitchFamily="18" charset="-34"/>
                    </a:rPr>
                    <a:t>24</a:t>
                  </a:r>
                  <a:r>
                    <a:rPr lang="th-TH" sz="2800" b="1" kern="0" dirty="0">
                      <a:solidFill>
                        <a:schemeClr val="bg1">
                          <a:lumMod val="95000"/>
                        </a:schemeClr>
                      </a:solidFill>
                      <a:latin typeface="Angsana New" panose="02020603050405020304" pitchFamily="18" charset="-34"/>
                    </a:rPr>
                    <a:t>/</a:t>
                  </a:r>
                  <a:r>
                    <a:rPr lang="en-US" sz="2800" b="1" kern="0" dirty="0">
                      <a:solidFill>
                        <a:schemeClr val="bg1">
                          <a:lumMod val="95000"/>
                        </a:schemeClr>
                      </a:solidFill>
                      <a:latin typeface="Angsana New" panose="02020603050405020304" pitchFamily="18" charset="-34"/>
                    </a:rPr>
                    <a:t>10</a:t>
                  </a:r>
                  <a:r>
                    <a:rPr lang="th-TH" sz="2800" b="1" kern="0" dirty="0">
                      <a:solidFill>
                        <a:schemeClr val="bg1">
                          <a:lumMod val="95000"/>
                        </a:schemeClr>
                      </a:solidFill>
                      <a:latin typeface="Angsana New" panose="02020603050405020304" pitchFamily="18" charset="-34"/>
                    </a:rPr>
                    <a:t>/2</a:t>
                  </a:r>
                  <a:r>
                    <a:rPr lang="en-US" sz="2800" b="1" kern="0" dirty="0">
                      <a:solidFill>
                        <a:schemeClr val="bg1">
                          <a:lumMod val="95000"/>
                        </a:schemeClr>
                      </a:solidFill>
                      <a:latin typeface="Angsana New" panose="02020603050405020304" pitchFamily="18" charset="-34"/>
                    </a:rPr>
                    <a:t>026</a:t>
                  </a:r>
                  <a:endParaRPr lang="th-TH" sz="2800" b="1" kern="0" dirty="0">
                    <a:solidFill>
                      <a:schemeClr val="bg1">
                        <a:lumMod val="95000"/>
                      </a:schemeClr>
                    </a:solidFill>
                    <a:latin typeface="Angsana New" panose="02020603050405020304" pitchFamily="18" charset="-34"/>
                  </a:endParaRPr>
                </a:p>
              </p:txBody>
            </p:sp>
            <p:sp>
              <p:nvSpPr>
                <p:cNvPr id="13" name="Rectangle 3">
                  <a:extLst>
                    <a:ext uri="{FF2B5EF4-FFF2-40B4-BE49-F238E27FC236}">
                      <a16:creationId xmlns:a16="http://schemas.microsoft.com/office/drawing/2014/main" id="{403573C5-DF18-968C-717F-991AB42E1A4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65351" y="2255867"/>
                  <a:ext cx="4807557" cy="457200"/>
                </a:xfrm>
                <a:prstGeom prst="rect">
                  <a:avLst/>
                </a:prstGeom>
                <a:solidFill>
                  <a:srgbClr val="0066FF"/>
                </a:solidFill>
                <a:ln w="9525">
                  <a:solidFill>
                    <a:srgbClr val="0066FF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>
                    <a:defRPr/>
                  </a:pPr>
                  <a:r>
                    <a:rPr lang="en-US" sz="2800" b="1" kern="0" dirty="0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atin typeface="Angsana New" panose="02020603050405020304" pitchFamily="18" charset="-34"/>
                    </a:rPr>
                    <a:t>Chi-squared Test </a:t>
                  </a:r>
                  <a:endParaRPr lang="th-TH" sz="2800" b="1" kern="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Angsana New" panose="02020603050405020304" pitchFamily="18" charset="-34"/>
                  </a:endParaRP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E2781D1E-39EC-302C-07FB-82E1BA073B8F}"/>
                  </a:ext>
                </a:extLst>
              </p:cNvPr>
              <p:cNvGrpSpPr/>
              <p:nvPr/>
            </p:nvGrpSpPr>
            <p:grpSpPr>
              <a:xfrm>
                <a:off x="122360" y="3821696"/>
                <a:ext cx="6450548" cy="463357"/>
                <a:chOff x="122360" y="3821696"/>
                <a:chExt cx="6450548" cy="463357"/>
              </a:xfrm>
            </p:grpSpPr>
            <p:sp>
              <p:nvSpPr>
                <p:cNvPr id="9" name="Rectangle 3">
                  <a:extLst>
                    <a:ext uri="{FF2B5EF4-FFF2-40B4-BE49-F238E27FC236}">
                      <a16:creationId xmlns:a16="http://schemas.microsoft.com/office/drawing/2014/main" id="{EDF499FA-33F0-2B0F-16BD-79F6963F438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2360" y="3821696"/>
                  <a:ext cx="1546316" cy="457200"/>
                </a:xfrm>
                <a:prstGeom prst="rect">
                  <a:avLst/>
                </a:prstGeom>
                <a:solidFill>
                  <a:srgbClr val="FFEBFF"/>
                </a:solidFill>
                <a:ln w="9525">
                  <a:solidFill>
                    <a:srgbClr val="FFEBFF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>
                    <a:defRPr/>
                  </a:pPr>
                  <a:r>
                    <a:rPr lang="en-US" sz="2800" b="1" kern="0" dirty="0">
                      <a:solidFill>
                        <a:srgbClr val="002060"/>
                      </a:solidFill>
                      <a:latin typeface="Angsana New" panose="02020603050405020304" pitchFamily="18" charset="-34"/>
                    </a:rPr>
                    <a:t>14/11/2026</a:t>
                  </a:r>
                  <a:endParaRPr lang="th-TH" sz="2800" b="1" kern="0" dirty="0">
                    <a:solidFill>
                      <a:srgbClr val="002060"/>
                    </a:solidFill>
                    <a:latin typeface="Angsana New" panose="02020603050405020304" pitchFamily="18" charset="-34"/>
                  </a:endParaRPr>
                </a:p>
              </p:txBody>
            </p:sp>
            <p:sp>
              <p:nvSpPr>
                <p:cNvPr id="16" name="Rectangle 3">
                  <a:extLst>
                    <a:ext uri="{FF2B5EF4-FFF2-40B4-BE49-F238E27FC236}">
                      <a16:creationId xmlns:a16="http://schemas.microsoft.com/office/drawing/2014/main" id="{43DAE2A4-6B3A-C750-0B75-4450A348A26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65351" y="3827853"/>
                  <a:ext cx="4807557" cy="457200"/>
                </a:xfrm>
                <a:prstGeom prst="rect">
                  <a:avLst/>
                </a:prstGeom>
                <a:solidFill>
                  <a:srgbClr val="FFEBFF"/>
                </a:solidFill>
                <a:ln w="9525">
                  <a:solidFill>
                    <a:srgbClr val="FFEBFF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>
                    <a:defRPr/>
                  </a:pPr>
                  <a:r>
                    <a:rPr lang="en-US" sz="2800" b="1" kern="0" dirty="0">
                      <a:solidFill>
                        <a:srgbClr val="002060"/>
                      </a:solidFill>
                      <a:latin typeface="Angsana New" panose="02020603050405020304" pitchFamily="18" charset="-34"/>
                    </a:rPr>
                    <a:t>Basic Concept of Regression Analysis</a:t>
                  </a:r>
                </a:p>
              </p:txBody>
            </p:sp>
          </p:grp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84CB51AE-4A0B-62DF-E81E-678DE0A8C4EE}"/>
                  </a:ext>
                </a:extLst>
              </p:cNvPr>
              <p:cNvGrpSpPr/>
              <p:nvPr/>
            </p:nvGrpSpPr>
            <p:grpSpPr>
              <a:xfrm>
                <a:off x="155990" y="1183462"/>
                <a:ext cx="6416918" cy="468108"/>
                <a:chOff x="155990" y="1183462"/>
                <a:chExt cx="6416918" cy="468108"/>
              </a:xfrm>
            </p:grpSpPr>
            <p:sp>
              <p:nvSpPr>
                <p:cNvPr id="25" name="Rectangle 3">
                  <a:extLst>
                    <a:ext uri="{FF2B5EF4-FFF2-40B4-BE49-F238E27FC236}">
                      <a16:creationId xmlns:a16="http://schemas.microsoft.com/office/drawing/2014/main" id="{51E41F83-785D-1068-B927-BBF3F3C96B2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5990" y="1183462"/>
                  <a:ext cx="1543235" cy="45720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9525">
                  <a:solidFill>
                    <a:schemeClr val="accent2">
                      <a:lumMod val="75000"/>
                    </a:schemeClr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>
                    <a:defRPr/>
                  </a:pPr>
                  <a:r>
                    <a:rPr lang="en-US" sz="2800" b="1" kern="0" dirty="0">
                      <a:solidFill>
                        <a:schemeClr val="bg1">
                          <a:lumMod val="95000"/>
                        </a:schemeClr>
                      </a:solidFill>
                      <a:latin typeface="Angsana New" panose="02020603050405020304" pitchFamily="18" charset="-34"/>
                    </a:rPr>
                    <a:t>Date</a:t>
                  </a:r>
                  <a:endParaRPr lang="th-TH" sz="2800" b="1" kern="0" dirty="0">
                    <a:solidFill>
                      <a:schemeClr val="bg1">
                        <a:lumMod val="95000"/>
                      </a:schemeClr>
                    </a:solidFill>
                    <a:latin typeface="Angsana New" panose="02020603050405020304" pitchFamily="18" charset="-34"/>
                  </a:endParaRPr>
                </a:p>
              </p:txBody>
            </p:sp>
            <p:sp>
              <p:nvSpPr>
                <p:cNvPr id="26" name="Rectangle 3">
                  <a:extLst>
                    <a:ext uri="{FF2B5EF4-FFF2-40B4-BE49-F238E27FC236}">
                      <a16:creationId xmlns:a16="http://schemas.microsoft.com/office/drawing/2014/main" id="{EB8CE243-3C2C-1015-FF49-EAA5FB2B83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65351" y="1194370"/>
                  <a:ext cx="4807557" cy="45720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9525">
                  <a:solidFill>
                    <a:schemeClr val="accent2">
                      <a:lumMod val="75000"/>
                    </a:schemeClr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>
                    <a:defRPr/>
                  </a:pPr>
                  <a:r>
                    <a:rPr lang="en-US" sz="2800" b="1" kern="0" dirty="0">
                      <a:solidFill>
                        <a:schemeClr val="bg1">
                          <a:lumMod val="95000"/>
                        </a:schemeClr>
                      </a:solidFill>
                      <a:latin typeface="Angsana New" panose="02020603050405020304" pitchFamily="18" charset="-34"/>
                    </a:rPr>
                    <a:t>                                 Topic</a:t>
                  </a:r>
                  <a:endParaRPr lang="th-TH" sz="2800" b="1" kern="0" dirty="0">
                    <a:solidFill>
                      <a:schemeClr val="bg1">
                        <a:lumMod val="95000"/>
                      </a:schemeClr>
                    </a:solidFill>
                    <a:latin typeface="Angsana New" panose="02020603050405020304" pitchFamily="18" charset="-34"/>
                  </a:endParaRPr>
                </a:p>
              </p:txBody>
            </p:sp>
          </p:grp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7D62B5BA-E21F-2A34-F242-19F6673C8C4B}"/>
                  </a:ext>
                </a:extLst>
              </p:cNvPr>
              <p:cNvGrpSpPr/>
              <p:nvPr/>
            </p:nvGrpSpPr>
            <p:grpSpPr>
              <a:xfrm>
                <a:off x="119808" y="2772727"/>
                <a:ext cx="6466507" cy="482268"/>
                <a:chOff x="119808" y="2772727"/>
                <a:chExt cx="6466507" cy="482268"/>
              </a:xfrm>
            </p:grpSpPr>
            <p:sp>
              <p:nvSpPr>
                <p:cNvPr id="28" name="Rectangle 3">
                  <a:extLst>
                    <a:ext uri="{FF2B5EF4-FFF2-40B4-BE49-F238E27FC236}">
                      <a16:creationId xmlns:a16="http://schemas.microsoft.com/office/drawing/2014/main" id="{98A3DDD7-8A0E-31C0-88D0-8E6D66605DE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9808" y="2772727"/>
                  <a:ext cx="1546316" cy="457200"/>
                </a:xfrm>
                <a:prstGeom prst="rect">
                  <a:avLst/>
                </a:prstGeom>
                <a:solidFill>
                  <a:srgbClr val="FFEBFF"/>
                </a:solidFill>
                <a:ln w="9525">
                  <a:solidFill>
                    <a:srgbClr val="FFEBFF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>
                    <a:defRPr/>
                  </a:pPr>
                  <a:r>
                    <a:rPr lang="en-US" sz="2800" b="1" kern="0" dirty="0">
                      <a:solidFill>
                        <a:srgbClr val="002060"/>
                      </a:solidFill>
                      <a:latin typeface="Angsana New" panose="02020603050405020304" pitchFamily="18" charset="-34"/>
                    </a:rPr>
                    <a:t>31</a:t>
                  </a:r>
                  <a:r>
                    <a:rPr lang="th-TH" sz="2800" b="1" kern="0" dirty="0">
                      <a:solidFill>
                        <a:srgbClr val="002060"/>
                      </a:solidFill>
                      <a:latin typeface="Angsana New" panose="02020603050405020304" pitchFamily="18" charset="-34"/>
                    </a:rPr>
                    <a:t>/</a:t>
                  </a:r>
                  <a:r>
                    <a:rPr lang="en-US" sz="2800" b="1" kern="0" dirty="0">
                      <a:solidFill>
                        <a:srgbClr val="002060"/>
                      </a:solidFill>
                      <a:latin typeface="Angsana New" panose="02020603050405020304" pitchFamily="18" charset="-34"/>
                    </a:rPr>
                    <a:t>10</a:t>
                  </a:r>
                  <a:r>
                    <a:rPr lang="th-TH" sz="2800" b="1" kern="0" dirty="0">
                      <a:solidFill>
                        <a:srgbClr val="002060"/>
                      </a:solidFill>
                      <a:latin typeface="Angsana New" panose="02020603050405020304" pitchFamily="18" charset="-34"/>
                    </a:rPr>
                    <a:t>/2</a:t>
                  </a:r>
                  <a:r>
                    <a:rPr lang="en-US" sz="2800" b="1" kern="0" dirty="0">
                      <a:solidFill>
                        <a:srgbClr val="002060"/>
                      </a:solidFill>
                      <a:latin typeface="Angsana New" panose="02020603050405020304" pitchFamily="18" charset="-34"/>
                    </a:rPr>
                    <a:t>026</a:t>
                  </a:r>
                  <a:endParaRPr lang="th-TH" sz="2800" b="1" dirty="0">
                    <a:solidFill>
                      <a:srgbClr val="002060"/>
                    </a:solidFill>
                    <a:latin typeface="Angsana New" panose="02020603050405020304" pitchFamily="18" charset="-34"/>
                  </a:endParaRPr>
                </a:p>
              </p:txBody>
            </p:sp>
            <p:sp>
              <p:nvSpPr>
                <p:cNvPr id="29" name="Rectangle 3">
                  <a:extLst>
                    <a:ext uri="{FF2B5EF4-FFF2-40B4-BE49-F238E27FC236}">
                      <a16:creationId xmlns:a16="http://schemas.microsoft.com/office/drawing/2014/main" id="{2E99AA55-2580-B383-44C9-C0CAF994DB4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78758" y="2797795"/>
                  <a:ext cx="4807557" cy="457200"/>
                </a:xfrm>
                <a:prstGeom prst="rect">
                  <a:avLst/>
                </a:prstGeom>
                <a:solidFill>
                  <a:srgbClr val="FFEBFF"/>
                </a:solidFill>
                <a:ln w="9525">
                  <a:solidFill>
                    <a:srgbClr val="FFEBFF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>
                    <a:defRPr/>
                  </a:pPr>
                  <a:endParaRPr lang="en-US" sz="2800" b="1" kern="0" dirty="0">
                    <a:solidFill>
                      <a:srgbClr val="002060"/>
                    </a:solidFill>
                    <a:latin typeface="Angsana New" panose="02020603050405020304" pitchFamily="18" charset="-34"/>
                  </a:endParaRPr>
                </a:p>
                <a:p>
                  <a:pPr>
                    <a:defRPr/>
                  </a:pPr>
                  <a:r>
                    <a:rPr lang="en-US" sz="2800" b="1" kern="0" dirty="0">
                      <a:solidFill>
                        <a:srgbClr val="002060"/>
                      </a:solidFill>
                      <a:latin typeface="Angsana New" panose="02020603050405020304" pitchFamily="18" charset="-34"/>
                    </a:rPr>
                    <a:t>One-way &amp; Multi way ANOVA</a:t>
                  </a:r>
                  <a:r>
                    <a:rPr lang="en-US" sz="2800" dirty="0">
                      <a:latin typeface="Angsana New" panose="02020603050405020304" pitchFamily="18" charset="-34"/>
                    </a:rPr>
                    <a:t>  </a:t>
                  </a:r>
                  <a:endParaRPr lang="th-TH" sz="2800" b="1" kern="0" dirty="0">
                    <a:latin typeface="Angsana New" pitchFamily="18" charset="-34"/>
                  </a:endParaRPr>
                </a:p>
                <a:p>
                  <a:pPr>
                    <a:defRPr/>
                  </a:pPr>
                  <a:r>
                    <a:rPr lang="en-US" sz="2800" dirty="0">
                      <a:latin typeface="Angsana New" panose="02020603050405020304" pitchFamily="18" charset="-34"/>
                    </a:rPr>
                    <a:t> </a:t>
                  </a:r>
                  <a:endParaRPr lang="th-TH" sz="2800" b="1" kern="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Angsana New" panose="02020603050405020304" pitchFamily="18" charset="-34"/>
                  </a:endParaRP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2810FC9-99BA-631A-3FC7-F3B27BCE51BD}"/>
                  </a:ext>
                </a:extLst>
              </p:cNvPr>
              <p:cNvGrpSpPr/>
              <p:nvPr/>
            </p:nvGrpSpPr>
            <p:grpSpPr>
              <a:xfrm>
                <a:off x="130084" y="5390099"/>
                <a:ext cx="8356465" cy="825191"/>
                <a:chOff x="130084" y="5390099"/>
                <a:chExt cx="8356465" cy="825191"/>
              </a:xfrm>
            </p:grpSpPr>
            <p:sp>
              <p:nvSpPr>
                <p:cNvPr id="32" name="Rectangle 3">
                  <a:extLst>
                    <a:ext uri="{FF2B5EF4-FFF2-40B4-BE49-F238E27FC236}">
                      <a16:creationId xmlns:a16="http://schemas.microsoft.com/office/drawing/2014/main" id="{A1DEE242-ABF2-86B7-4410-2A4E919CBF5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0084" y="5394453"/>
                  <a:ext cx="1546316" cy="817334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>
                    <a:lnSpc>
                      <a:spcPts val="2400"/>
                    </a:lnSpc>
                    <a:defRPr/>
                  </a:pPr>
                  <a:r>
                    <a:rPr lang="en-US" sz="2800" b="1" kern="0" dirty="0">
                      <a:solidFill>
                        <a:schemeClr val="bg1">
                          <a:lumMod val="95000"/>
                        </a:schemeClr>
                      </a:solidFill>
                      <a:latin typeface="Angsana New" pitchFamily="18" charset="-34"/>
                    </a:rPr>
                    <a:t>12/12/2026 to</a:t>
                  </a:r>
                </a:p>
                <a:p>
                  <a:pPr algn="ctr">
                    <a:lnSpc>
                      <a:spcPts val="2400"/>
                    </a:lnSpc>
                    <a:defRPr/>
                  </a:pPr>
                  <a:r>
                    <a:rPr lang="en-US" sz="2800" b="1" kern="0" dirty="0">
                      <a:solidFill>
                        <a:schemeClr val="bg1">
                          <a:lumMod val="95000"/>
                        </a:schemeClr>
                      </a:solidFill>
                      <a:latin typeface="Angsana New" pitchFamily="18" charset="-34"/>
                    </a:rPr>
                    <a:t>25/12/2026</a:t>
                  </a:r>
                </a:p>
              </p:txBody>
            </p:sp>
            <p:sp>
              <p:nvSpPr>
                <p:cNvPr id="33" name="Rectangle 3">
                  <a:extLst>
                    <a:ext uri="{FF2B5EF4-FFF2-40B4-BE49-F238E27FC236}">
                      <a16:creationId xmlns:a16="http://schemas.microsoft.com/office/drawing/2014/main" id="{295F1CA5-D5AF-5940-9BCA-151F3B2BFFC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57309" y="5390099"/>
                  <a:ext cx="6729240" cy="825191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>
                    <a:defRPr/>
                  </a:pPr>
                  <a:r>
                    <a:rPr lang="en-US" sz="3600" b="1" kern="0" dirty="0">
                      <a:solidFill>
                        <a:schemeClr val="bg1">
                          <a:lumMod val="95000"/>
                        </a:schemeClr>
                      </a:solidFill>
                      <a:latin typeface="Angsana New" panose="02020603050405020304" pitchFamily="18" charset="-34"/>
                    </a:rPr>
                    <a:t>Final Exam</a:t>
                  </a:r>
                  <a:endParaRPr lang="th-TH" sz="3600" b="1" kern="0" dirty="0">
                    <a:solidFill>
                      <a:schemeClr val="bg1">
                        <a:lumMod val="95000"/>
                      </a:schemeClr>
                    </a:solidFill>
                    <a:latin typeface="Angsana New" panose="02020603050405020304" pitchFamily="18" charset="-34"/>
                  </a:endParaRPr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6BE3995F-14DB-C3A9-CABC-122F7954AC89}"/>
                  </a:ext>
                </a:extLst>
              </p:cNvPr>
              <p:cNvGrpSpPr/>
              <p:nvPr/>
            </p:nvGrpSpPr>
            <p:grpSpPr>
              <a:xfrm>
                <a:off x="126886" y="3295148"/>
                <a:ext cx="6470902" cy="459277"/>
                <a:chOff x="126886" y="3295148"/>
                <a:chExt cx="6470902" cy="459277"/>
              </a:xfrm>
            </p:grpSpPr>
            <p:sp>
              <p:nvSpPr>
                <p:cNvPr id="31" name="Rectangle 3">
                  <a:extLst>
                    <a:ext uri="{FF2B5EF4-FFF2-40B4-BE49-F238E27FC236}">
                      <a16:creationId xmlns:a16="http://schemas.microsoft.com/office/drawing/2014/main" id="{35E76335-0663-D914-0FB9-5141E933F79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6886" y="3295148"/>
                  <a:ext cx="1546316" cy="457200"/>
                </a:xfrm>
                <a:prstGeom prst="rect">
                  <a:avLst/>
                </a:prstGeom>
                <a:solidFill>
                  <a:srgbClr val="0066FF"/>
                </a:solidFill>
                <a:ln w="9525">
                  <a:solidFill>
                    <a:srgbClr val="0066FF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>
                    <a:defRPr/>
                  </a:pPr>
                  <a:r>
                    <a:rPr lang="en-US" sz="2800" b="1" kern="0" dirty="0">
                      <a:solidFill>
                        <a:schemeClr val="bg1">
                          <a:lumMod val="95000"/>
                        </a:schemeClr>
                      </a:solidFill>
                      <a:latin typeface="Angsana New" panose="02020603050405020304" pitchFamily="18" charset="-34"/>
                    </a:rPr>
                    <a:t>07/11/2026</a:t>
                  </a:r>
                  <a:endParaRPr lang="th-TH" sz="2800" b="1" kern="0" dirty="0">
                    <a:solidFill>
                      <a:schemeClr val="bg1">
                        <a:lumMod val="95000"/>
                      </a:schemeClr>
                    </a:solidFill>
                    <a:latin typeface="Angsana New" panose="02020603050405020304" pitchFamily="18" charset="-34"/>
                  </a:endParaRPr>
                </a:p>
              </p:txBody>
            </p:sp>
            <p:sp>
              <p:nvSpPr>
                <p:cNvPr id="37" name="Rectangle 3">
                  <a:extLst>
                    <a:ext uri="{FF2B5EF4-FFF2-40B4-BE49-F238E27FC236}">
                      <a16:creationId xmlns:a16="http://schemas.microsoft.com/office/drawing/2014/main" id="{CDED0A19-0AD3-E886-596C-0CA6C8043F7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90231" y="3297225"/>
                  <a:ext cx="4807557" cy="457200"/>
                </a:xfrm>
                <a:prstGeom prst="rect">
                  <a:avLst/>
                </a:prstGeom>
                <a:solidFill>
                  <a:srgbClr val="0066FF"/>
                </a:solidFill>
                <a:ln w="9525">
                  <a:solidFill>
                    <a:srgbClr val="0066FF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>
                    <a:defRPr/>
                  </a:pPr>
                  <a:endParaRPr lang="en-US" sz="2800" b="1" kern="0" dirty="0">
                    <a:solidFill>
                      <a:srgbClr val="002060"/>
                    </a:solidFill>
                    <a:latin typeface="Angsana New" panose="02020603050405020304" pitchFamily="18" charset="-34"/>
                  </a:endParaRPr>
                </a:p>
                <a:p>
                  <a:pPr>
                    <a:defRPr/>
                  </a:pPr>
                  <a:r>
                    <a:rPr lang="en-US" sz="2800" b="1" kern="0" dirty="0">
                      <a:solidFill>
                        <a:srgbClr val="002060"/>
                      </a:solidFill>
                      <a:latin typeface="Angsana New" panose="02020603050405020304" pitchFamily="18" charset="-34"/>
                    </a:rPr>
                    <a:t>One-way &amp; Multi way ANOVA (cont.)</a:t>
                  </a:r>
                  <a:r>
                    <a:rPr lang="en-US" sz="2800" dirty="0">
                      <a:latin typeface="Angsana New" panose="02020603050405020304" pitchFamily="18" charset="-34"/>
                    </a:rPr>
                    <a:t> </a:t>
                  </a:r>
                  <a:endParaRPr lang="th-TH" sz="2800" b="1" kern="0" dirty="0">
                    <a:latin typeface="Angsana New" pitchFamily="18" charset="-34"/>
                  </a:endParaRPr>
                </a:p>
                <a:p>
                  <a:pPr>
                    <a:defRPr/>
                  </a:pPr>
                  <a:endParaRPr lang="th-TH" sz="2800" b="1" kern="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Angsana New" panose="02020603050405020304" pitchFamily="18" charset="-34"/>
                  </a:endParaRP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FABF33FB-F64B-4450-16CE-C20693D379C5}"/>
                  </a:ext>
                </a:extLst>
              </p:cNvPr>
              <p:cNvGrpSpPr/>
              <p:nvPr/>
            </p:nvGrpSpPr>
            <p:grpSpPr>
              <a:xfrm>
                <a:off x="123313" y="4870691"/>
                <a:ext cx="6445313" cy="497430"/>
                <a:chOff x="123313" y="4870691"/>
                <a:chExt cx="6445313" cy="497430"/>
              </a:xfrm>
            </p:grpSpPr>
            <p:sp>
              <p:nvSpPr>
                <p:cNvPr id="56" name="Rectangle 3">
                  <a:extLst>
                    <a:ext uri="{FF2B5EF4-FFF2-40B4-BE49-F238E27FC236}">
                      <a16:creationId xmlns:a16="http://schemas.microsoft.com/office/drawing/2014/main" id="{82BD4B6E-B881-969A-22EB-9403227371F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3313" y="4870691"/>
                  <a:ext cx="1546316" cy="457200"/>
                </a:xfrm>
                <a:prstGeom prst="rect">
                  <a:avLst/>
                </a:prstGeom>
                <a:solidFill>
                  <a:srgbClr val="FFEBFF"/>
                </a:solidFill>
                <a:ln w="9525">
                  <a:solidFill>
                    <a:srgbClr val="FFEBFF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>
                    <a:defRPr/>
                  </a:pPr>
                  <a:r>
                    <a:rPr lang="en-US" sz="2800" b="1" kern="0" dirty="0">
                      <a:solidFill>
                        <a:srgbClr val="002060"/>
                      </a:solidFill>
                      <a:latin typeface="Angsana New" panose="02020603050405020304" pitchFamily="18" charset="-34"/>
                    </a:rPr>
                    <a:t>28/11/2026</a:t>
                  </a:r>
                  <a:endParaRPr lang="th-TH" sz="2800" b="1" kern="0" dirty="0">
                    <a:solidFill>
                      <a:srgbClr val="002060"/>
                    </a:solidFill>
                    <a:latin typeface="Angsana New" panose="02020603050405020304" pitchFamily="18" charset="-34"/>
                  </a:endParaRPr>
                </a:p>
              </p:txBody>
            </p:sp>
            <p:sp>
              <p:nvSpPr>
                <p:cNvPr id="41" name="Rectangle 3">
                  <a:extLst>
                    <a:ext uri="{FF2B5EF4-FFF2-40B4-BE49-F238E27FC236}">
                      <a16:creationId xmlns:a16="http://schemas.microsoft.com/office/drawing/2014/main" id="{ADF036D3-CC38-B5C9-1868-128E4420A90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61069" y="4910921"/>
                  <a:ext cx="4807557" cy="457200"/>
                </a:xfrm>
                <a:prstGeom prst="rect">
                  <a:avLst/>
                </a:prstGeom>
                <a:solidFill>
                  <a:srgbClr val="FFEBFF"/>
                </a:solidFill>
                <a:ln w="9525">
                  <a:solidFill>
                    <a:srgbClr val="FFEBFF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>
                    <a:defRPr/>
                  </a:pPr>
                  <a:r>
                    <a:rPr lang="en-US" sz="2400" b="1" kern="0" dirty="0">
                      <a:solidFill>
                        <a:srgbClr val="002060"/>
                      </a:solidFill>
                      <a:latin typeface="Angsana New" panose="02020603050405020304" pitchFamily="18" charset="-34"/>
                    </a:rPr>
                    <a:t>Introduction to Bayesian Inference </a:t>
                  </a:r>
                </a:p>
                <a:p>
                  <a:pPr>
                    <a:defRPr/>
                  </a:pPr>
                  <a:r>
                    <a:rPr lang="en-US" sz="2400" b="1" kern="0" dirty="0">
                      <a:solidFill>
                        <a:srgbClr val="002060"/>
                      </a:solidFill>
                      <a:latin typeface="Angsana New" panose="02020603050405020304" pitchFamily="18" charset="-34"/>
                    </a:rPr>
                    <a:t> </a:t>
                  </a:r>
                  <a:endParaRPr lang="th-TH" sz="2400" b="1" kern="0" dirty="0">
                    <a:solidFill>
                      <a:srgbClr val="002060"/>
                    </a:solidFill>
                    <a:latin typeface="Angsana New" panose="02020603050405020304" pitchFamily="18" charset="-34"/>
                  </a:endParaRPr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FC089B42-ED4C-EF15-4E78-2EB3505FF7D8}"/>
                  </a:ext>
                </a:extLst>
              </p:cNvPr>
              <p:cNvGrpSpPr/>
              <p:nvPr/>
            </p:nvGrpSpPr>
            <p:grpSpPr>
              <a:xfrm>
                <a:off x="118078" y="4345691"/>
                <a:ext cx="6442079" cy="457273"/>
                <a:chOff x="118078" y="4345691"/>
                <a:chExt cx="6442079" cy="457273"/>
              </a:xfrm>
            </p:grpSpPr>
            <p:sp>
              <p:nvSpPr>
                <p:cNvPr id="35" name="Rectangle 3">
                  <a:extLst>
                    <a:ext uri="{FF2B5EF4-FFF2-40B4-BE49-F238E27FC236}">
                      <a16:creationId xmlns:a16="http://schemas.microsoft.com/office/drawing/2014/main" id="{E158C121-B918-CB0E-910E-D8728EDA776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8078" y="4345691"/>
                  <a:ext cx="1546316" cy="457200"/>
                </a:xfrm>
                <a:prstGeom prst="rect">
                  <a:avLst/>
                </a:prstGeom>
                <a:solidFill>
                  <a:srgbClr val="0066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>
                    <a:defRPr/>
                  </a:pPr>
                  <a:r>
                    <a:rPr lang="en-US" sz="2800" b="1" kern="0" dirty="0">
                      <a:solidFill>
                        <a:schemeClr val="bg1"/>
                      </a:solidFill>
                      <a:latin typeface="Angsana New" panose="02020603050405020304" pitchFamily="18" charset="-34"/>
                    </a:rPr>
                    <a:t>21/11/2026</a:t>
                  </a:r>
                  <a:endParaRPr lang="th-TH" sz="2800" b="1" kern="0" dirty="0">
                    <a:solidFill>
                      <a:schemeClr val="bg1"/>
                    </a:solidFill>
                    <a:latin typeface="Angsana New" panose="02020603050405020304" pitchFamily="18" charset="-34"/>
                  </a:endParaRPr>
                </a:p>
              </p:txBody>
            </p:sp>
            <p:sp>
              <p:nvSpPr>
                <p:cNvPr id="36" name="Rectangle 3">
                  <a:extLst>
                    <a:ext uri="{FF2B5EF4-FFF2-40B4-BE49-F238E27FC236}">
                      <a16:creationId xmlns:a16="http://schemas.microsoft.com/office/drawing/2014/main" id="{FABD1CA7-D284-F76C-0B10-27D901F8A67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52600" y="4345764"/>
                  <a:ext cx="4807557" cy="457200"/>
                </a:xfrm>
                <a:prstGeom prst="rect">
                  <a:avLst/>
                </a:prstGeom>
                <a:solidFill>
                  <a:srgbClr val="0066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>
                    <a:defRPr/>
                  </a:pPr>
                  <a:endParaRPr lang="th-TH" sz="2800" b="1" kern="0" dirty="0">
                    <a:solidFill>
                      <a:srgbClr val="FFD9FF"/>
                    </a:solidFill>
                    <a:latin typeface="Angsana New" pitchFamily="18" charset="-34"/>
                  </a:endParaRPr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93CB7AC2-60FF-ACFD-9785-7E86EDE16758}"/>
                  </a:ext>
                </a:extLst>
              </p:cNvPr>
              <p:cNvGrpSpPr/>
              <p:nvPr/>
            </p:nvGrpSpPr>
            <p:grpSpPr>
              <a:xfrm>
                <a:off x="118078" y="1708733"/>
                <a:ext cx="6641451" cy="463357"/>
                <a:chOff x="118078" y="1708733"/>
                <a:chExt cx="6641451" cy="463357"/>
              </a:xfrm>
            </p:grpSpPr>
            <p:sp>
              <p:nvSpPr>
                <p:cNvPr id="30" name="Rectangle 3">
                  <a:extLst>
                    <a:ext uri="{FF2B5EF4-FFF2-40B4-BE49-F238E27FC236}">
                      <a16:creationId xmlns:a16="http://schemas.microsoft.com/office/drawing/2014/main" id="{9BB53AFD-2C54-7881-9B36-694AFD417C1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8078" y="1708733"/>
                  <a:ext cx="1546316" cy="457200"/>
                </a:xfrm>
                <a:prstGeom prst="rect">
                  <a:avLst/>
                </a:prstGeom>
                <a:solidFill>
                  <a:srgbClr val="FFEBFF"/>
                </a:solidFill>
                <a:ln w="9525">
                  <a:solidFill>
                    <a:srgbClr val="FFEBFF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>
                    <a:defRPr/>
                  </a:pPr>
                  <a:r>
                    <a:rPr lang="en-US" sz="2800" b="1" kern="0" dirty="0">
                      <a:solidFill>
                        <a:srgbClr val="002060"/>
                      </a:solidFill>
                      <a:latin typeface="Angsana New" panose="02020603050405020304" pitchFamily="18" charset="-34"/>
                    </a:rPr>
                    <a:t>17/10/2026</a:t>
                  </a:r>
                  <a:endParaRPr lang="th-TH" sz="2800" b="1" dirty="0">
                    <a:solidFill>
                      <a:srgbClr val="002060"/>
                    </a:solidFill>
                    <a:latin typeface="Angsana New" panose="02020603050405020304" pitchFamily="18" charset="-34"/>
                  </a:endParaRPr>
                </a:p>
              </p:txBody>
            </p:sp>
            <p:sp>
              <p:nvSpPr>
                <p:cNvPr id="34" name="Rectangle 3">
                  <a:extLst>
                    <a:ext uri="{FF2B5EF4-FFF2-40B4-BE49-F238E27FC236}">
                      <a16:creationId xmlns:a16="http://schemas.microsoft.com/office/drawing/2014/main" id="{80C5D24D-78F0-4071-2D9F-3FF343E9BF5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61071" y="1714890"/>
                  <a:ext cx="4998458" cy="457200"/>
                </a:xfrm>
                <a:prstGeom prst="rect">
                  <a:avLst/>
                </a:prstGeom>
                <a:solidFill>
                  <a:srgbClr val="FFEBFF"/>
                </a:solidFill>
                <a:ln w="9525">
                  <a:solidFill>
                    <a:srgbClr val="FFEBFF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>
                    <a:defRPr/>
                  </a:pPr>
                  <a:r>
                    <a:rPr lang="en-US" sz="2400" b="1" kern="0" dirty="0">
                      <a:latin typeface="Angsana New" panose="02020603050405020304" pitchFamily="18" charset="-34"/>
                    </a:rPr>
                    <a:t>Hypothesis Testing: one-two Population Proportion(s)</a:t>
                  </a:r>
                  <a:endParaRPr lang="th-TH" sz="2400" b="1" kern="0" dirty="0">
                    <a:latin typeface="Angsana New" panose="02020603050405020304" pitchFamily="18" charset="-34"/>
                  </a:endParaRPr>
                </a:p>
              </p:txBody>
            </p:sp>
          </p:grpSp>
        </p:grpSp>
        <p:sp>
          <p:nvSpPr>
            <p:cNvPr id="38" name="Rectangle 3">
              <a:extLst>
                <a:ext uri="{FF2B5EF4-FFF2-40B4-BE49-F238E27FC236}">
                  <a16:creationId xmlns:a16="http://schemas.microsoft.com/office/drawing/2014/main" id="{E030C489-1A4E-BE1F-59C7-DE4E735228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4343" y="2255297"/>
              <a:ext cx="1844957" cy="457200"/>
            </a:xfrm>
            <a:prstGeom prst="rect">
              <a:avLst/>
            </a:prstGeom>
            <a:solidFill>
              <a:srgbClr val="0066FF"/>
            </a:solidFill>
            <a:ln w="9525">
              <a:solidFill>
                <a:srgbClr val="0066F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r>
                <a:rPr lang="en-US" sz="2800" b="1" kern="0" dirty="0">
                  <a:solidFill>
                    <a:schemeClr val="bg1"/>
                  </a:solidFill>
                  <a:latin typeface="Angsana New" panose="02020603050405020304" pitchFamily="18" charset="-34"/>
                </a:rPr>
                <a:t>11.2,11.3</a:t>
              </a:r>
              <a:endParaRPr lang="th-TH" sz="2800" b="1" kern="0" dirty="0">
                <a:solidFill>
                  <a:schemeClr val="bg1"/>
                </a:solidFill>
                <a:latin typeface="Angsana New" panose="02020603050405020304" pitchFamily="18" charset="-34"/>
              </a:endParaRPr>
            </a:p>
          </p:txBody>
        </p:sp>
        <p:sp>
          <p:nvSpPr>
            <p:cNvPr id="42" name="Rectangle 3">
              <a:extLst>
                <a:ext uri="{FF2B5EF4-FFF2-40B4-BE49-F238E27FC236}">
                  <a16:creationId xmlns:a16="http://schemas.microsoft.com/office/drawing/2014/main" id="{143E8A3E-09E5-4CF7-2B5A-9CF0CDE73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4343" y="3827283"/>
              <a:ext cx="1844957" cy="457200"/>
            </a:xfrm>
            <a:prstGeom prst="rect">
              <a:avLst/>
            </a:prstGeom>
            <a:solidFill>
              <a:srgbClr val="FFEBFF"/>
            </a:solidFill>
            <a:ln w="9525">
              <a:solidFill>
                <a:srgbClr val="FFEBF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r>
                <a:rPr lang="en-US" sz="2800" b="1" kern="0" spc="-100" dirty="0">
                  <a:solidFill>
                    <a:srgbClr val="002060"/>
                  </a:solidFill>
                  <a:latin typeface="Angsana New" panose="02020603050405020304" pitchFamily="18" charset="-34"/>
                </a:rPr>
                <a:t>12</a:t>
              </a:r>
              <a:endParaRPr lang="th-TH" sz="2800" b="1" kern="0" spc="-100" dirty="0">
                <a:solidFill>
                  <a:srgbClr val="002060"/>
                </a:solidFill>
                <a:latin typeface="Angsana New" panose="02020603050405020304" pitchFamily="18" charset="-34"/>
              </a:endParaRPr>
            </a:p>
          </p:txBody>
        </p:sp>
        <p:sp>
          <p:nvSpPr>
            <p:cNvPr id="43" name="Rectangle 3">
              <a:extLst>
                <a:ext uri="{FF2B5EF4-FFF2-40B4-BE49-F238E27FC236}">
                  <a16:creationId xmlns:a16="http://schemas.microsoft.com/office/drawing/2014/main" id="{39DD6A56-8ADF-FEDF-4157-9A5F2124E8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4343" y="1193800"/>
              <a:ext cx="1844957" cy="457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solidFill>
                <a:schemeClr val="accent2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r>
                <a:rPr lang="en-US" sz="2800" b="1" kern="0" dirty="0">
                  <a:solidFill>
                    <a:schemeClr val="bg1">
                      <a:lumMod val="95000"/>
                    </a:schemeClr>
                  </a:solidFill>
                  <a:latin typeface="Angsana New" panose="02020603050405020304" pitchFamily="18" charset="-34"/>
                </a:rPr>
                <a:t>Chapter/Session</a:t>
              </a:r>
              <a:endParaRPr lang="th-TH" sz="2800" b="1" kern="0" dirty="0">
                <a:solidFill>
                  <a:schemeClr val="bg1">
                    <a:lumMod val="95000"/>
                  </a:schemeClr>
                </a:solidFill>
                <a:latin typeface="Angsana New" panose="02020603050405020304" pitchFamily="18" charset="-34"/>
              </a:endParaRPr>
            </a:p>
          </p:txBody>
        </p:sp>
        <p:sp>
          <p:nvSpPr>
            <p:cNvPr id="44" name="Rectangle 3">
              <a:extLst>
                <a:ext uri="{FF2B5EF4-FFF2-40B4-BE49-F238E27FC236}">
                  <a16:creationId xmlns:a16="http://schemas.microsoft.com/office/drawing/2014/main" id="{7E248934-FCE1-3A20-54FE-4C2B6B1D16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1793" y="2778314"/>
              <a:ext cx="1844957" cy="457200"/>
            </a:xfrm>
            <a:prstGeom prst="rect">
              <a:avLst/>
            </a:prstGeom>
            <a:solidFill>
              <a:srgbClr val="FFEBFF"/>
            </a:solidFill>
            <a:ln w="9525">
              <a:solidFill>
                <a:srgbClr val="FFEBF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r>
                <a:rPr lang="en-US" sz="2800" b="1" kern="0" spc="-100" dirty="0">
                  <a:solidFill>
                    <a:srgbClr val="002060"/>
                  </a:solidFill>
                  <a:latin typeface="Angsana New" panose="02020603050405020304" pitchFamily="18" charset="-34"/>
                </a:rPr>
                <a:t>14</a:t>
              </a:r>
              <a:endParaRPr lang="th-TH" sz="2800" b="1" kern="0" spc="-100" dirty="0">
                <a:solidFill>
                  <a:srgbClr val="002060"/>
                </a:solidFill>
                <a:latin typeface="Angsana New" panose="02020603050405020304" pitchFamily="18" charset="-34"/>
              </a:endParaRPr>
            </a:p>
          </p:txBody>
        </p:sp>
        <p:sp>
          <p:nvSpPr>
            <p:cNvPr id="45" name="Rectangle 3">
              <a:extLst>
                <a:ext uri="{FF2B5EF4-FFF2-40B4-BE49-F238E27FC236}">
                  <a16:creationId xmlns:a16="http://schemas.microsoft.com/office/drawing/2014/main" id="{8ACB99C1-13C2-D834-2E80-E9A56BA186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9223" y="3296655"/>
              <a:ext cx="1844957" cy="457200"/>
            </a:xfrm>
            <a:prstGeom prst="rect">
              <a:avLst/>
            </a:prstGeom>
            <a:solidFill>
              <a:srgbClr val="0066FF"/>
            </a:solidFill>
            <a:ln w="9525">
              <a:solidFill>
                <a:srgbClr val="0066F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r>
                <a:rPr lang="en-US" sz="2800" b="1" kern="0" dirty="0">
                  <a:solidFill>
                    <a:schemeClr val="bg1"/>
                  </a:solidFill>
                  <a:latin typeface="Angsana New" panose="02020603050405020304" pitchFamily="18" charset="-34"/>
                </a:rPr>
                <a:t>14</a:t>
              </a:r>
              <a:endParaRPr lang="th-TH" sz="2800" b="1" kern="0" dirty="0">
                <a:solidFill>
                  <a:schemeClr val="bg1"/>
                </a:solidFill>
                <a:latin typeface="Angsana New" panose="02020603050405020304" pitchFamily="18" charset="-34"/>
              </a:endParaRPr>
            </a:p>
          </p:txBody>
        </p:sp>
        <p:sp>
          <p:nvSpPr>
            <p:cNvPr id="47" name="Rectangle 3">
              <a:extLst>
                <a:ext uri="{FF2B5EF4-FFF2-40B4-BE49-F238E27FC236}">
                  <a16:creationId xmlns:a16="http://schemas.microsoft.com/office/drawing/2014/main" id="{2EB40726-1A0D-E66F-6473-570F7676BE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6827" y="4870194"/>
              <a:ext cx="1844957" cy="457200"/>
            </a:xfrm>
            <a:prstGeom prst="rect">
              <a:avLst/>
            </a:prstGeom>
            <a:solidFill>
              <a:srgbClr val="FFEBFF"/>
            </a:solidFill>
            <a:ln w="9525">
              <a:solidFill>
                <a:srgbClr val="FFEBF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r>
                <a:rPr lang="en-US" sz="2800" b="1" kern="0" dirty="0">
                  <a:solidFill>
                    <a:srgbClr val="002060"/>
                  </a:solidFill>
                  <a:latin typeface="Angsana New" panose="02020603050405020304" pitchFamily="18" charset="-34"/>
                </a:rPr>
                <a:t>-</a:t>
              </a:r>
              <a:endParaRPr lang="th-TH" sz="2800" b="1" kern="0" dirty="0">
                <a:solidFill>
                  <a:srgbClr val="002060"/>
                </a:solidFill>
                <a:latin typeface="Angsana New" pitchFamily="18" charset="-34"/>
              </a:endParaRPr>
            </a:p>
          </p:txBody>
        </p:sp>
        <p:sp>
          <p:nvSpPr>
            <p:cNvPr id="48" name="Rectangle 3">
              <a:extLst>
                <a:ext uri="{FF2B5EF4-FFF2-40B4-BE49-F238E27FC236}">
                  <a16:creationId xmlns:a16="http://schemas.microsoft.com/office/drawing/2014/main" id="{12D90DE2-9A14-8DD1-6961-B761EC1F86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1592" y="4345194"/>
              <a:ext cx="1844957" cy="457200"/>
            </a:xfrm>
            <a:prstGeom prst="rect">
              <a:avLst/>
            </a:prstGeom>
            <a:solidFill>
              <a:srgbClr val="0066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r>
                <a:rPr lang="en-US" sz="2800" b="1" kern="0" spc="-100" dirty="0">
                  <a:solidFill>
                    <a:schemeClr val="bg1"/>
                  </a:solidFill>
                  <a:latin typeface="Angsana New" panose="02020603050405020304" pitchFamily="18" charset="-34"/>
                </a:rPr>
                <a:t>12</a:t>
              </a:r>
              <a:endParaRPr lang="th-TH" sz="2800" b="1" kern="0" spc="-100" dirty="0">
                <a:solidFill>
                  <a:schemeClr val="bg1"/>
                </a:solidFill>
                <a:latin typeface="Angsana New" panose="02020603050405020304" pitchFamily="18" charset="-34"/>
              </a:endParaRPr>
            </a:p>
          </p:txBody>
        </p:sp>
        <p:sp>
          <p:nvSpPr>
            <p:cNvPr id="49" name="Rectangle 3">
              <a:extLst>
                <a:ext uri="{FF2B5EF4-FFF2-40B4-BE49-F238E27FC236}">
                  <a16:creationId xmlns:a16="http://schemas.microsoft.com/office/drawing/2014/main" id="{04D5B3AC-A2BC-CF60-2F88-A9CA4B82C3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0063" y="1714320"/>
              <a:ext cx="1844957" cy="457200"/>
            </a:xfrm>
            <a:prstGeom prst="rect">
              <a:avLst/>
            </a:prstGeom>
            <a:solidFill>
              <a:srgbClr val="FFEBFF"/>
            </a:solidFill>
            <a:ln w="9525">
              <a:solidFill>
                <a:srgbClr val="FFEBF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r>
                <a:rPr lang="en-US" sz="2800" b="1" kern="0" dirty="0">
                  <a:solidFill>
                    <a:srgbClr val="002060"/>
                  </a:solidFill>
                  <a:latin typeface="Angsana New" panose="02020603050405020304" pitchFamily="18" charset="-34"/>
                </a:rPr>
                <a:t> 9.2</a:t>
              </a:r>
              <a:endParaRPr lang="th-TH" sz="2800" b="1" kern="0" dirty="0">
                <a:solidFill>
                  <a:srgbClr val="002060"/>
                </a:solidFill>
                <a:latin typeface="Angsana New" panose="02020603050405020304" pitchFamily="18" charset="-34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6DF861B0-77C0-52DE-2B8D-9AB0BB21B90D}"/>
              </a:ext>
            </a:extLst>
          </p:cNvPr>
          <p:cNvSpPr txBox="1"/>
          <p:nvPr/>
        </p:nvSpPr>
        <p:spPr>
          <a:xfrm>
            <a:off x="2011940" y="4770902"/>
            <a:ext cx="46868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 b="1" kern="0" dirty="0">
                <a:solidFill>
                  <a:srgbClr val="002060"/>
                </a:solidFill>
                <a:latin typeface="Angsana New" panose="02020603050405020304" pitchFamily="18" charset="-34"/>
              </a:rPr>
              <a:t>Regression Analysis (cont.)</a:t>
            </a:r>
            <a:r>
              <a:rPr lang="en-US" sz="2800" dirty="0">
                <a:latin typeface="Angsana New" panose="02020603050405020304" pitchFamily="18" charset="-34"/>
              </a:rPr>
              <a:t> </a:t>
            </a:r>
            <a:endParaRPr lang="th-TH" sz="2800" b="1" kern="0" dirty="0">
              <a:solidFill>
                <a:schemeClr val="accent3">
                  <a:lumMod val="20000"/>
                  <a:lumOff val="80000"/>
                </a:schemeClr>
              </a:solidFill>
              <a:latin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5849810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1450" y="26989"/>
            <a:ext cx="8794750" cy="715962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en-GB" sz="4000" b="1" dirty="0">
                <a:solidFill>
                  <a:srgbClr val="FF33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Meaning of </a:t>
            </a:r>
            <a:r>
              <a:rPr lang="th-TH" sz="4000" b="1" dirty="0">
                <a:solidFill>
                  <a:srgbClr val="FF33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“</a:t>
            </a:r>
            <a:r>
              <a:rPr lang="en-GB" sz="4000" b="1" dirty="0">
                <a:solidFill>
                  <a:srgbClr val="FF33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Statistics</a:t>
            </a:r>
            <a:r>
              <a:rPr lang="th-TH" sz="4000" b="1" dirty="0">
                <a:solidFill>
                  <a:srgbClr val="FF33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”</a:t>
            </a:r>
          </a:p>
        </p:txBody>
      </p:sp>
      <p:sp>
        <p:nvSpPr>
          <p:cNvPr id="411652" name="Rectangle 4"/>
          <p:cNvSpPr>
            <a:spLocks noChangeArrowheads="1"/>
          </p:cNvSpPr>
          <p:nvPr/>
        </p:nvSpPr>
        <p:spPr bwMode="auto">
          <a:xfrm>
            <a:off x="95838" y="685800"/>
            <a:ext cx="1885362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th-TH" sz="3600" b="1" dirty="0">
                <a:solidFill>
                  <a:srgbClr val="FF3300"/>
                </a:solidFill>
                <a:latin typeface="Angsana New" pitchFamily="18" charset="-34"/>
              </a:rPr>
              <a:t>1. </a:t>
            </a:r>
            <a:r>
              <a:rPr lang="en-US" sz="3600" b="1" dirty="0">
                <a:solidFill>
                  <a:srgbClr val="FF3300"/>
                </a:solidFill>
                <a:latin typeface="Angsana New" pitchFamily="18" charset="-34"/>
              </a:rPr>
              <a:t>Statistics</a:t>
            </a:r>
            <a:endParaRPr lang="en-US" sz="2800" b="1" dirty="0">
              <a:solidFill>
                <a:srgbClr val="00B050"/>
              </a:solidFill>
              <a:latin typeface="Angsana New" pitchFamily="18" charset="-34"/>
            </a:endParaRPr>
          </a:p>
        </p:txBody>
      </p:sp>
      <p:sp>
        <p:nvSpPr>
          <p:cNvPr id="411653" name="Rectangle 5"/>
          <p:cNvSpPr>
            <a:spLocks noChangeArrowheads="1"/>
          </p:cNvSpPr>
          <p:nvPr/>
        </p:nvSpPr>
        <p:spPr bwMode="auto">
          <a:xfrm>
            <a:off x="110127" y="4885835"/>
            <a:ext cx="1776020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th-TH" sz="3600" b="1" dirty="0">
                <a:solidFill>
                  <a:srgbClr val="FF3300"/>
                </a:solidFill>
                <a:latin typeface="Angsana New" pitchFamily="18" charset="-34"/>
              </a:rPr>
              <a:t>2. </a:t>
            </a:r>
            <a:r>
              <a:rPr lang="en-US" sz="3600" b="1" dirty="0">
                <a:solidFill>
                  <a:srgbClr val="FF3300"/>
                </a:solidFill>
                <a:latin typeface="Angsana New" pitchFamily="18" charset="-34"/>
              </a:rPr>
              <a:t>Statistic </a:t>
            </a:r>
          </a:p>
        </p:txBody>
      </p:sp>
      <p:sp>
        <p:nvSpPr>
          <p:cNvPr id="411655" name="Rectangle 7"/>
          <p:cNvSpPr>
            <a:spLocks noChangeArrowheads="1"/>
          </p:cNvSpPr>
          <p:nvPr/>
        </p:nvSpPr>
        <p:spPr bwMode="auto">
          <a:xfrm>
            <a:off x="559473" y="2797764"/>
            <a:ext cx="2717127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sz="3200" b="1" dirty="0">
                <a:solidFill>
                  <a:srgbClr val="008000"/>
                </a:solidFill>
                <a:latin typeface="Angsana New" pitchFamily="18" charset="-34"/>
              </a:rPr>
              <a:t>Descriptive Statistics   </a:t>
            </a:r>
          </a:p>
        </p:txBody>
      </p:sp>
      <p:sp>
        <p:nvSpPr>
          <p:cNvPr id="411657" name="Rectangle 9"/>
          <p:cNvSpPr>
            <a:spLocks noChangeArrowheads="1"/>
          </p:cNvSpPr>
          <p:nvPr/>
        </p:nvSpPr>
        <p:spPr bwMode="auto">
          <a:xfrm>
            <a:off x="1685630" y="5334000"/>
            <a:ext cx="745837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800" b="1" dirty="0">
                <a:solidFill>
                  <a:srgbClr val="0070C0"/>
                </a:solidFill>
                <a:latin typeface="Angsana New" pitchFamily="18" charset="-34"/>
              </a:rPr>
              <a:t>    A function T(X</a:t>
            </a:r>
            <a:r>
              <a:rPr lang="en-US" sz="2800" b="1" baseline="-25000" dirty="0">
                <a:solidFill>
                  <a:srgbClr val="0070C0"/>
                </a:solidFill>
                <a:latin typeface="Angsana New" pitchFamily="18" charset="-34"/>
              </a:rPr>
              <a:t>1</a:t>
            </a:r>
            <a:r>
              <a:rPr lang="en-US" sz="2800" b="1" dirty="0">
                <a:solidFill>
                  <a:srgbClr val="0070C0"/>
                </a:solidFill>
                <a:latin typeface="Angsana New" pitchFamily="18" charset="-34"/>
              </a:rPr>
              <a:t> , X</a:t>
            </a:r>
            <a:r>
              <a:rPr lang="en-US" sz="2800" b="1" baseline="-25000" dirty="0">
                <a:solidFill>
                  <a:srgbClr val="0070C0"/>
                </a:solidFill>
                <a:latin typeface="Angsana New" pitchFamily="18" charset="-34"/>
              </a:rPr>
              <a:t>2</a:t>
            </a:r>
            <a:r>
              <a:rPr lang="en-US" sz="2800" b="1" dirty="0">
                <a:solidFill>
                  <a:srgbClr val="0070C0"/>
                </a:solidFill>
                <a:latin typeface="Angsana New" pitchFamily="18" charset="-34"/>
              </a:rPr>
              <a:t> , … , </a:t>
            </a:r>
            <a:r>
              <a:rPr lang="en-US" sz="2800" b="1" dirty="0" err="1">
                <a:solidFill>
                  <a:srgbClr val="0070C0"/>
                </a:solidFill>
                <a:latin typeface="Angsana New" pitchFamily="18" charset="-34"/>
              </a:rPr>
              <a:t>X</a:t>
            </a:r>
            <a:r>
              <a:rPr lang="en-US" sz="2800" b="1" baseline="-25000" dirty="0" err="1">
                <a:solidFill>
                  <a:srgbClr val="0070C0"/>
                </a:solidFill>
                <a:latin typeface="Angsana New" pitchFamily="18" charset="-34"/>
              </a:rPr>
              <a:t>n</a:t>
            </a:r>
            <a:r>
              <a:rPr lang="en-US" sz="2800" b="1" dirty="0">
                <a:solidFill>
                  <a:srgbClr val="0070C0"/>
                </a:solidFill>
                <a:latin typeface="Angsana New" pitchFamily="18" charset="-34"/>
              </a:rPr>
              <a:t>)</a:t>
            </a:r>
            <a:r>
              <a:rPr lang="th-TH" sz="2800" b="1" dirty="0">
                <a:solidFill>
                  <a:srgbClr val="0070C0"/>
                </a:solidFill>
                <a:latin typeface="Angsana New" pitchFamily="18" charset="-34"/>
              </a:rPr>
              <a:t> </a:t>
            </a:r>
            <a:r>
              <a:rPr lang="en-GB" sz="2800" b="1" dirty="0">
                <a:solidFill>
                  <a:srgbClr val="0070C0"/>
                </a:solidFill>
                <a:latin typeface="Angsana New" pitchFamily="18" charset="-34"/>
              </a:rPr>
              <a:t>of observations from a random sample.</a:t>
            </a:r>
            <a:endParaRPr lang="en-US" sz="2800" b="1" dirty="0">
              <a:solidFill>
                <a:srgbClr val="0070C0"/>
              </a:solidFill>
              <a:latin typeface="Angsana New" pitchFamily="18" charset="-34"/>
            </a:endParaRP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1886146" y="1131790"/>
            <a:ext cx="7239000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800" b="1" dirty="0">
                <a:solidFill>
                  <a:srgbClr val="0070C0"/>
                </a:solidFill>
                <a:latin typeface="Angsana New" pitchFamily="18" charset="-34"/>
              </a:rPr>
              <a:t>studies produce. Its ultimate goal is translating data into knowledge</a:t>
            </a:r>
          </a:p>
          <a:p>
            <a:r>
              <a:rPr lang="en-US" sz="2800" b="1" dirty="0">
                <a:solidFill>
                  <a:srgbClr val="0070C0"/>
                </a:solidFill>
                <a:latin typeface="Angsana New" pitchFamily="18" charset="-34"/>
              </a:rPr>
              <a:t> </a:t>
            </a: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1895573" y="1485293"/>
            <a:ext cx="7239000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800" b="1" dirty="0">
                <a:solidFill>
                  <a:srgbClr val="0070C0"/>
                </a:solidFill>
                <a:latin typeface="Angsana New" pitchFamily="18" charset="-34"/>
              </a:rPr>
              <a:t>and understanding of the world around us.</a:t>
            </a: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1689538" y="787820"/>
            <a:ext cx="7382724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800" b="1" dirty="0">
                <a:solidFill>
                  <a:srgbClr val="0070C0"/>
                </a:solidFill>
                <a:latin typeface="Angsana New" pitchFamily="18" charset="-34"/>
              </a:rPr>
              <a:t>   Art and science of designing studies and analyzing the data that those </a:t>
            </a:r>
          </a:p>
        </p:txBody>
      </p:sp>
      <p:sp>
        <p:nvSpPr>
          <p:cNvPr id="23" name="Rectangle 4"/>
          <p:cNvSpPr>
            <a:spLocks noChangeArrowheads="1"/>
          </p:cNvSpPr>
          <p:nvPr/>
        </p:nvSpPr>
        <p:spPr bwMode="auto">
          <a:xfrm>
            <a:off x="1892398" y="1837228"/>
            <a:ext cx="7165975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800" b="1" dirty="0">
                <a:solidFill>
                  <a:srgbClr val="0D97FF"/>
                </a:solidFill>
                <a:latin typeface="Angsana New" pitchFamily="18" charset="-34"/>
              </a:rPr>
              <a:t>i.e., art and science of learning from data.</a:t>
            </a:r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433389" y="2314066"/>
            <a:ext cx="2843211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Angsana New" pitchFamily="18" charset="-34"/>
              </a:rPr>
              <a:t>Statistical Analyses:</a:t>
            </a:r>
          </a:p>
          <a:p>
            <a:pPr algn="ctr"/>
            <a:endParaRPr lang="en-US" sz="3200" b="1" dirty="0">
              <a:solidFill>
                <a:schemeClr val="accent6">
                  <a:lumMod val="75000"/>
                </a:schemeClr>
              </a:solidFill>
              <a:latin typeface="Angsana New" pitchFamily="18" charset="-34"/>
            </a:endParaRPr>
          </a:p>
        </p:txBody>
      </p:sp>
      <p:sp>
        <p:nvSpPr>
          <p:cNvPr id="25" name="Rectangle 7"/>
          <p:cNvSpPr>
            <a:spLocks noChangeArrowheads="1"/>
          </p:cNvSpPr>
          <p:nvPr/>
        </p:nvSpPr>
        <p:spPr bwMode="auto">
          <a:xfrm>
            <a:off x="572330" y="3571189"/>
            <a:ext cx="2641147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sz="3200" b="1" dirty="0">
                <a:solidFill>
                  <a:srgbClr val="008000"/>
                </a:solidFill>
                <a:latin typeface="Angsana New" pitchFamily="18" charset="-34"/>
              </a:rPr>
              <a:t>Inferential Statistics</a:t>
            </a:r>
          </a:p>
          <a:p>
            <a:pPr algn="ctr"/>
            <a:endParaRPr lang="en-US" sz="3200" b="1" dirty="0">
              <a:solidFill>
                <a:srgbClr val="008000"/>
              </a:solidFill>
              <a:latin typeface="Angsana New" pitchFamily="18" charset="-34"/>
            </a:endParaRPr>
          </a:p>
        </p:txBody>
      </p:sp>
      <p:sp>
        <p:nvSpPr>
          <p:cNvPr id="26" name="Rectangle 7"/>
          <p:cNvSpPr>
            <a:spLocks noChangeArrowheads="1"/>
          </p:cNvSpPr>
          <p:nvPr/>
        </p:nvSpPr>
        <p:spPr bwMode="auto">
          <a:xfrm>
            <a:off x="3026152" y="2825546"/>
            <a:ext cx="6026361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sz="2800" b="1" dirty="0">
                <a:solidFill>
                  <a:srgbClr val="00B050"/>
                </a:solidFill>
                <a:latin typeface="Angsana New" pitchFamily="18" charset="-34"/>
              </a:rPr>
              <a:t>   Methods for summarizing the collected data, usually  </a:t>
            </a:r>
          </a:p>
        </p:txBody>
      </p:sp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3213477" y="3190973"/>
            <a:ext cx="5752723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sz="2800" b="1" dirty="0">
                <a:solidFill>
                  <a:srgbClr val="00B050"/>
                </a:solidFill>
                <a:latin typeface="Angsana New" pitchFamily="18" charset="-34"/>
              </a:rPr>
              <a:t>consist of graphs and numbers (e.g., averages and %).</a:t>
            </a:r>
          </a:p>
        </p:txBody>
      </p:sp>
      <p:sp>
        <p:nvSpPr>
          <p:cNvPr id="28" name="Rectangle 7"/>
          <p:cNvSpPr>
            <a:spLocks noChangeArrowheads="1"/>
          </p:cNvSpPr>
          <p:nvPr/>
        </p:nvSpPr>
        <p:spPr bwMode="auto">
          <a:xfrm>
            <a:off x="3048000" y="3615827"/>
            <a:ext cx="6026361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sz="2800" b="1" dirty="0">
                <a:solidFill>
                  <a:srgbClr val="00B050"/>
                </a:solidFill>
                <a:latin typeface="Angsana New" pitchFamily="18" charset="-34"/>
              </a:rPr>
              <a:t>   Methods of making decisions or predictions about a</a:t>
            </a: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3235325" y="3981254"/>
            <a:ext cx="5752723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sz="2800" b="1" dirty="0">
                <a:solidFill>
                  <a:srgbClr val="00B050"/>
                </a:solidFill>
                <a:latin typeface="Angsana New" pitchFamily="18" charset="-34"/>
              </a:rPr>
              <a:t>population, based on data obtained from a sample of </a:t>
            </a:r>
          </a:p>
        </p:txBody>
      </p:sp>
      <p:sp>
        <p:nvSpPr>
          <p:cNvPr id="30" name="Rectangle 7"/>
          <p:cNvSpPr>
            <a:spLocks noChangeArrowheads="1"/>
          </p:cNvSpPr>
          <p:nvPr/>
        </p:nvSpPr>
        <p:spPr bwMode="auto">
          <a:xfrm>
            <a:off x="3238108" y="4343400"/>
            <a:ext cx="5752723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sz="2800" b="1" dirty="0">
                <a:solidFill>
                  <a:srgbClr val="00B050"/>
                </a:solidFill>
                <a:latin typeface="Angsana New" pitchFamily="18" charset="-34"/>
              </a:rPr>
              <a:t>that population.  </a:t>
            </a:r>
          </a:p>
        </p:txBody>
      </p:sp>
      <p:sp>
        <p:nvSpPr>
          <p:cNvPr id="31" name="Rectangle 4"/>
          <p:cNvSpPr>
            <a:spLocks noChangeArrowheads="1"/>
          </p:cNvSpPr>
          <p:nvPr/>
        </p:nvSpPr>
        <p:spPr bwMode="auto">
          <a:xfrm>
            <a:off x="1723453" y="4999925"/>
            <a:ext cx="7382724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800" b="1" dirty="0">
                <a:solidFill>
                  <a:srgbClr val="0070C0"/>
                </a:solidFill>
                <a:latin typeface="Angsana New" pitchFamily="18" charset="-34"/>
              </a:rPr>
              <a:t>   A numerical summary of a sample taken from the population. </a:t>
            </a:r>
          </a:p>
        </p:txBody>
      </p:sp>
      <p:sp>
        <p:nvSpPr>
          <p:cNvPr id="33" name="Rectangle 9"/>
          <p:cNvSpPr>
            <a:spLocks noChangeArrowheads="1"/>
          </p:cNvSpPr>
          <p:nvPr/>
        </p:nvSpPr>
        <p:spPr bwMode="auto">
          <a:xfrm>
            <a:off x="0" y="6096000"/>
            <a:ext cx="9125146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31825" indent="-631825"/>
            <a:r>
              <a:rPr lang="en-US" sz="2200" b="1" dirty="0">
                <a:solidFill>
                  <a:srgbClr val="0000FF"/>
                </a:solidFill>
                <a:latin typeface="Angsana New" pitchFamily="18" charset="-34"/>
              </a:rPr>
              <a:t>Source: </a:t>
            </a:r>
            <a:r>
              <a:rPr lang="en-US" sz="2200" b="1" dirty="0" err="1">
                <a:solidFill>
                  <a:srgbClr val="0D97FF"/>
                </a:solidFill>
                <a:latin typeface="Angsana New" pitchFamily="18" charset="-34"/>
              </a:rPr>
              <a:t>Agresti</a:t>
            </a:r>
            <a:r>
              <a:rPr lang="en-US" sz="2200" b="1" dirty="0">
                <a:solidFill>
                  <a:srgbClr val="0D97FF"/>
                </a:solidFill>
                <a:latin typeface="Angsana New" pitchFamily="18" charset="-34"/>
              </a:rPr>
              <a:t>, Franklin, and </a:t>
            </a:r>
            <a:r>
              <a:rPr lang="en-US" sz="2200" b="1" dirty="0" err="1">
                <a:solidFill>
                  <a:srgbClr val="0D97FF"/>
                </a:solidFill>
                <a:latin typeface="Angsana New" pitchFamily="18" charset="-34"/>
              </a:rPr>
              <a:t>Klingenberg</a:t>
            </a:r>
            <a:r>
              <a:rPr lang="en-US" sz="2200" b="1" dirty="0">
                <a:solidFill>
                  <a:srgbClr val="0D97FF"/>
                </a:solidFill>
                <a:latin typeface="Angsana New" pitchFamily="18" charset="-34"/>
              </a:rPr>
              <a:t> (2018). Statistics: The Art and Science of Learning from Data, 4</a:t>
            </a:r>
            <a:r>
              <a:rPr lang="en-US" sz="2200" b="1" baseline="30000" dirty="0">
                <a:solidFill>
                  <a:srgbClr val="0D97FF"/>
                </a:solidFill>
                <a:latin typeface="Angsana New" pitchFamily="18" charset="-34"/>
              </a:rPr>
              <a:t>th</a:t>
            </a:r>
            <a:r>
              <a:rPr lang="en-US" sz="2200" b="1" dirty="0">
                <a:solidFill>
                  <a:srgbClr val="0D97FF"/>
                </a:solidFill>
                <a:latin typeface="Angsana New" pitchFamily="18" charset="-34"/>
              </a:rPr>
              <a:t> edition. Pearson Education Limited.</a:t>
            </a:r>
          </a:p>
        </p:txBody>
      </p:sp>
    </p:spTree>
    <p:extLst>
      <p:ext uri="{BB962C8B-B14F-4D97-AF65-F5344CB8AC3E}">
        <p14:creationId xmlns:p14="http://schemas.microsoft.com/office/powerpoint/2010/main" val="3968112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"/>
                                        <p:tgtEl>
                                          <p:spTgt spid="411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411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"/>
                                        <p:tgtEl>
                                          <p:spTgt spid="411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9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300"/>
                                        <p:tgtEl>
                                          <p:spTgt spid="411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300"/>
                                        <p:tgtEl>
                                          <p:spTgt spid="411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1" grpId="0"/>
      <p:bldP spid="411652" grpId="0"/>
      <p:bldP spid="411653" grpId="0"/>
      <p:bldP spid="411655" grpId="0"/>
      <p:bldP spid="411657" grpId="0"/>
      <p:bldP spid="18" grpId="0"/>
      <p:bldP spid="19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746246347D7F4792C1A3903781635D" ma:contentTypeVersion="0" ma:contentTypeDescription="Create a new document." ma:contentTypeScope="" ma:versionID="e6429ada8d22dffbfc0f48a97fd139fe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EAA7EBE-8465-46DA-B9A1-8EDC5389B6EF}"/>
</file>

<file path=customXml/itemProps2.xml><?xml version="1.0" encoding="utf-8"?>
<ds:datastoreItem xmlns:ds="http://schemas.openxmlformats.org/officeDocument/2006/customXml" ds:itemID="{4A79C064-DA70-4BA5-9A03-75C614648E16}"/>
</file>

<file path=customXml/itemProps3.xml><?xml version="1.0" encoding="utf-8"?>
<ds:datastoreItem xmlns:ds="http://schemas.openxmlformats.org/officeDocument/2006/customXml" ds:itemID="{F2B297D6-D901-4745-AA95-4A2BEF496E9D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10791</TotalTime>
  <Words>682</Words>
  <Application>Microsoft Office PowerPoint</Application>
  <PresentationFormat>On-screen Show (4:3)</PresentationFormat>
  <Paragraphs>116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Angsana New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เทคนิคการสุ่มตัวอย่าง</dc:title>
  <dc:creator>pachitjanut</dc:creator>
  <cp:lastModifiedBy>Ramidha Srihera</cp:lastModifiedBy>
  <cp:revision>404</cp:revision>
  <cp:lastPrinted>2019-08-13T04:36:11Z</cp:lastPrinted>
  <dcterms:created xsi:type="dcterms:W3CDTF">2004-11-16T09:27:55Z</dcterms:created>
  <dcterms:modified xsi:type="dcterms:W3CDTF">2026-08-07T09:43:15Z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0x010100D5746246347D7F4792C1A3903781635D</vt:lpwstr>
  </property>
</Properties>
</file>